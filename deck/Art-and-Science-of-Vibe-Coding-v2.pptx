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69571"/>
  </p:normalViewPr>
  <p:slideViewPr>
    <p:cSldViewPr snapToGrid="0" snapToObjects="1">
      <p:cViewPr varScale="1">
        <p:scale>
          <a:sx n="85" d="100"/>
          <a:sy n="85" d="100"/>
        </p:scale>
        <p:origin x="2136" y="176"/>
      </p:cViewPr>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118617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here. The thesis of the whole session is the diagram on the right: a model sits inside a harness, and both sit inside the setup we give them.
Most teams tune only the innermost ring. They argue about which model is best and stop there. Almost everything in this session comes from the two outer rings, because that is where the leverage that nobody is using actually sits.
Say this up front so nobody hears a product pitch. Nothing in this session is exclusive to GitHub Copilot. The demo at the end runs on Copilot in VS Code with GPT-5.6 Terra because I need one fixed setup to compare against itself, and every technique transfers to Codex, Claude Code or anything else with a capable model behind it.
Reveal the rings from the inside out while you talk, so the room watches the scope widen from the model to the harness to the setup.
PRESENTER CUES
1. Opens with the title, the session subtitle and your name. Introduce yourself and name the session in one sentence.
2. Click 1: the model core appears. Say this is the ring everyone argues about.
3. Click 2: the harness ring appears around it. Say the harness decides what the model can actually do.
4. Click 3: the setup ring closes around both. Say this is the ring the whole talk is about, and it is the one most teams never touch.</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session here. Vaswani and colleagues published "Attention Is All You Need" in 2017, and the transformer is still the architecture under the models we use today. Reference: https://arxiv.org/abs/1706.03762
Two accuracy points I want to get right. The paper did not invent attention; it removed recurrence and built the whole architecture out of attention. Earlier work, including Bahdanau and colleagues in 2014, already used attention on top of recurrent models. And when a model generates text it only attends to tokens that came before the one it is producing. Future tokens are masked out, which is why the example on this slide looks backwards along the sentence.
The diagram is illustrative. The weights are the kind of pattern a trained model learns, not numbers pulled from a specific run, and a high weight means a strong learned association, not a verdict that something is correct.
Correction to the version of this talk I gave before: the first public ChatGPT in late 2022 had a context window of a few thousand tokens, not a hundred thousand or two hundred thousand. Those larger windows arrived later. That is exactly why prompting felt like the only lever at the time, and why people got good at it.
Prompting still matters. It matters differently now, which is where the next slide goes.
PRESENTER CUES
1. Opens with the session title, the sentence and the highlighted query token 'it'. Read the sentence out loud and ask the room what 'it' points to.
2. Click 1: the three weighted links wipe back to invoice, overdue and agent. Say the model only looks at tokens that came before 'it'.
3. Click 2: the takeaway rises. Say the weights are learned associations, not a check on what is true.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shift I want people to feel: a prompt used to be one shot in and one shot out, and you were the only thing checking the answer. Now the same model sits inside a loop that can run a command, read what came back and try again.
Be careful about what self-correction means. The agent corrects itself against evidence it can actually see, which is usually a failing test, a compiler error or a diff. Model reasoning is not independent verification. If nothing in the loop produces evidence, more reasoning just produces a more confident wrong answer.
The stopping condition matters as much as the loop. Stop when the acceptance check passes, or when repeated attempts stop producing new evidence. Without that second clause an agent will keep editing.
On context windows: the usable window depends on the model and on the client around it. Advertised capacity is not the same as useful context, since the harness spends part of it on system instructions, tool definitions, history and file content. Filling the window is not a goal.
PRESENTER CUES
1. Opens with the title and the one-shot lane on the left. Say this is what most people still picture when they hear 'prompting'.
2. Click 1: the four loop stages and the arrows between them appear. Walk the ring once, out loud, in order.
3. Click 2: the stopping rule rises in the middle. Emphasise the second half: stop when attempts stop adding evidence.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mental model for the rest of the session. The model reasons, drafts and proposes which tool to call. The harness is everything around it: it assembles the context for each call, runs the loop, executes the tools, keeps state when the context compacts, and applies permissions.
Do not oversell the harness. It makes the loop repeatable, it does not make the result correct. Correctness comes from the checks we define and run.
The line I want to land: a stronger model cannot call a tool the harness does not expose, and it cannot reason about evidence nobody collected. When people are disappointed with an agent, the missing piece is usually in the outer rings, not the model.
This also frames the two decisions coming up. Which model, which harness, and then the part neither of them can do for you.
PRESENTER CUES
1. Opens with the harness boundary and the model at its centre. Say the model is the part everyone argues about and the smaller part of the picture.
2. Click 1: context, tools and state appear around the model. Name each one as a job the harness does per call.
3. Click 2: the limit line rises. Say it slowly, because slides 4 and 5 both depend on it.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picker top to bottom and fix the classification people get wrong. Local, Copilot, Codex and Claude are harnesses. Cloud is a remote execution target: it is where an agent runs, not the thing running it.
Local runs in the VS Code extension host and uses the editor's own tools. It is still supported; do not describe it as deprecated, because that is not something I can show from the documentation.
Copilot is the Copilot SDK-powered harness running on Agent Host. Codex and Claude are the provider harnesses from OpenAI and Anthropic, not just their models sitting behind a menu. Which of them you can select, which features you get and how usage is billed depends on your plan and on how the integration is set up, so I am not going to claim they behave identically.
Source for the harness list: https://code.visualstudio.com/docs/agents/run/agent-harnesses
Say out loud that this map is current as of September 18, 2026. I am deliberately leaving out roadmap talk I cannot verify, including rewrite-language claims and where each harness will eventually be available.
PRESENTER CUES
1. Opens with the picker on the left and the title. Ask the room who has actually opened this menu and read it carefully.
2. Click 1: the four harness rows appear. Read each one, one line each, no detours.
3. Click 2: the Cloud row pulses and the correction rises. This is the misreading worth fixing in the room.</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Slow down here. This is the centre of the talk.
A good harness does real work for you: it selects what goes into the window, runs the loop, executes tools, holds state when context compacts and applies permissions. That is worth choosing carefully.
What it cannot supply is the goal. It cannot know which part of the system you are actually trying to change, that the suite takes eleven minutes because it seeds the full dataset, or that the package registry needs the VPN, unless somebody writes that down.
Model capability, harness quality and the setup around them all contribute to the outcome. I am not going to put a formula on that, and I am not going to rank them. What I will say is that most teams tune only the model and then wonder why the result is uneven.
The capsule at the bottom is the whole slide: pick one outcome that a test can decide. If nobody can write the check, the task is not defined yet, and no amount of model capability fixes that.
PRESENTER CUES
1. Opens with the two columns side by side. Read the harness column quickly, then slow down on the right column.
2. Click 1: both arrows wipe toward the seam. Say both sides are feeding the same thing.
3. Click 2: the testable outcome rises. Ask the room whether their current task has one.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a real tension in this slide and I want to name it rather than smooth it over. Discovery should be broad, because everything downstream inherits the quality of what you found, and this is the cheapest moment to be thorough. Execution should be narrow, because a window full of loosely related material makes the agent's job harder, not easier.
So the funnel is not about throwing work away. It is about writing down what you learned in a form the task can use: the goal, the acceptance criteria, the files that matter and the constraints that apply. Keep the raw material in the repo or the issue, not in every prompt.
Greenfield and brownfield differ mostly in where the constraints come from. On a new project you are writing the constraints, so discovery is about deciding them. On a maintained system the constraints already exist in code, data and operational habits, so discovery is about finding them before you contradict one.
A practical tell: if you cannot say why a file is in the context, take it out and see whether the checks still pass.
PRESENTER CUES
1. Opens with the four discovery sources on the left. Say you want people uncomfortable with how long they spend here.
2. Click 1: the four sources converge into the task brief. Read the brief's four parts.
3. Click 2: the brief becomes what the agent actually sees.
4. Click 3: the selection rule appears. This is the line people quote back to me.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stages: discovery, hypothesis, plan, implementation, gate. Plan mode in most harnesses gives you a slice of this, mostly planning and some discovery. Useful, and not the whole method. Spec Kit helps when you want the criteria and the task breakdown written down as artifacts rather than held in a chat.
The gate is the part people skip. One acceptance condition, one command, the same result every run. If the proof is a screenshot or a human reading output, it will not survive the fifth iteration.
On failure, go back to the stage that was actually wrong. A failing test usually means the implementation is wrong, but sometimes it means the hypothesis was wrong or discovery missed a constraint. Rerunning implementation against a wrong hypothesis is how agents burn an afternoon.
Stop and escalate when repeated attempts stop adding evidence. Three tries that fail the same way are one piece of information, not three.
The acceptance line on this slide is the demo feature, so it pays off on the last slide.
PRESENTER CUES
1. Opens with the five stages in a row. Walk them left to right in about twenty seconds.
2. Click 1: the gate and the pass path appear. Say the gate is the only thing that decides done.
3. Click 2: the fail path returns to the stage that was wrong, not always to implementation.
4. Click 3: the acceptance line and its proof appear. Point out it is the demo feature from the last slide.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Tools and skills get used as synonyms and they are not. A tool, including anything you reach through an MCP server, gives the agent access to something it could not otherwise do: a database, a browser, a deployment API. A skill is a written procedure the agent can follow again, built from things it can already do.
Select capability per task, not per workspace. Everything mounted into a session costs context in the tool list, and overlapping tools cause the agent to pick the wrong one.
I want to avoid the easy version of this advice. Fewer tools is not automatically better. If the task genuinely needs browser access, removing the browser does not make the agent faster, it makes it guess. Necessary coverage stays; standing extras can wait until a task needs them.
Permissions follow the same rule. Give the access the task requires, scoped to the work, and prefer an isolated test identity over anything with production reach.
PRESENTER CUES
1. Opens with the two definitions and the shelf of available capability on the left. Ask people how many tools their default session mounts.
2. Click 1: two tools and one skill get pulled into this task's boundary. The rest stay outside, still available.
3. Click 2: the rule appears. Say the part about necessary coverage staying, so nobody leaves and strips their setup.</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so far sounds like work before any code gets written, and it is. The claim is about where the work lands, not that it disappears.
Without the setup, checks arrive late, so rework arrives late too, and each iteration re-establishes context that nobody wrote down. With the setup, the first block costs more and every block after it is smaller and verified before the next one starts.
Be explicit that this slide has no measurements on it. The blocks are shapes, not timings. I am not going to show a chart with invented numbers, and if somebody asks for the real ratio, the honest answer is that it depends on the codebase and we should measure it on theirs.
Proportionality matters. On a maintained system, discovery, standards and architecture work scale with risk. A one-file change with an existing test does not need a program around it, and treating every change that way is its own waste.
The maintainability argument is the one that lands with engineering managers: the setup is reusable across every later change, while unstructured iteration has to be redone by whoever comes next.
PRESENTER CUES
1. Opens with both lane labels and the title. Say the slide is conceptual before anyone reads it as data.
2. Click 1: the first lane fills in with uneven blocks and late rework. Describe what late feedback costs.
3. Click 2: the second lane fills in, setup first, then small verified steps.
4. Click 3: the proportionality line rises, so nobody leaves and puts a program around a one-line fix.</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Implementation needs its own loop because agents make mistakes, the same way engineers do. The difference is that a good engineer knows how to check their work, and an agent can only check its work if we hand it a way to.
So build the rig first. A deterministic fixture, so two runs of the same code give the same answer. One command, so there is no debate about what 'run the tests' means. A report that names the failing case, because 'tests failed' sends the agent looking in the wrong place.
Stub external services for the inner loop: payment gateways, mail, anything with a rate limit or a shared sandbox. The point is to stop the loop from failing for reasons that have nothing to do with the change.
Two things I want to be careful about. Local is faster for most inner-loop operations, and it is not universal; anything that depends on real network behaviour, real identity or real data volume has to run somewhere else. And nothing here is permission to bypass production authentication. Use a test identity that is excluded from production systems by configuration, and keep the real auth path in the final gate.
PRESENTER CUES
1. Opens with the empty container on the left. Ask how many people can run their suite with one command today.
2. Click 1: the three rig pieces rise. The report line is the one people skip.
3. Click 2: the stubs appear. Say what they are for, and what they are not for.
4. Click 3: the final gate panel rises. Real auth and integration stay, with an isolated identity.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shape of the field case behind the demo. Every iteration rebuilt roughly four hundred thousand synthetic records, then handed control to browser automation to confirm that one table row was right. Correct, and slow enough that nobody wanted to iterate.
Two substitutions, both cheap. First, run the functional inner loop against about a hundred curated records instead of the full set. The hundred are chosen, not the first hundred rows: paid, cancelled, due today, boundary dates, odd formatting, combined filters. Second, when you are verifying static output, assert against the HTML the application generated instead of driving a browser to look at it.
Be precise about what this buys. It buys a faster inner loop. It does not prove anything about scale, and a smaller sample is not by itself a token saving, since token cost depends on what actually enters the context. If I am going to claim a speed-up, I record it live rather than quoting a number from a slide.
The final gate still runs full-scale data, real auth and one browser smoke check. Direct HTML assertions say nothing about JavaScript behaviour, layout or accessibility.
PRESENTER CUES
1. Opens with the full dataset on the left and the title. Describe the field case in two sentences.
2. Click 1: the hundred-record sample zooms in. Stress that these are chosen cases, not the first hundred rows.
3. Click 2: the browser substitution wipes in. Same evidence, fewer moving parts.
4. Click 3: the final gate strip rises, so nobody hears this as 'skip the real tests'.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pattern I want people to steal. Instead of redesigning the loop myself, I ask the agent what would make the loop cheaper, then I verify the answer.
Fuller version of the prompt, copyable: "Here are the timings we just recorded for each step of this loop. Name the step that costs the most and explain what makes it expensive. Propose the smallest safe change that still satisfies every acceptance criterion we agreed on, list anything the change would stop covering, and tell me exactly how we measure whether it helped. Do not change the acceptance criteria."
Where it came from: a customer engineer was modernising a legacy application. Every iteration rebuilt roughly four hundred thousand records and then drove a browser to check a single table row. I asked the agent how the loop could be cheaper. It proposed cutting the functional sample to about a hundred curated records, asserting against the generated HTML instead of driving a browser, containerising the run, and using a local test identity so the loop was not signing in every time.
The caution matters. What comes back is a hypothesis about its own loop, and it can be wrong, especially about where time actually goes. Take the proposal, keep the acceptance criteria fixed, make one change and measure it. The last clause of the prompt is what turns a suggestion into evidence.
PRESENTER CUES
1. Opens with the title and the empty prompt frame. Tell the origin story first, it takes about thirty seconds.
2. Click 1: the prompt appears. Read it out loud, especially the last clause about measuring.
3. Click 2: the diagnose, change, verify loop wipes in on the right.
4. Click 3: the caution rises. The diagnosis is a hypothesis until a measurement agrees.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failures are never the agent's fault. It cannot read your firewall rules out of your source code, and it cannot know that a particular subscription must not be touched during a test run. Write those things down once, in the repo, next to the code.
The file on this slide is illustrative. The command, the paths and the VPN line are examples of the shape, not a configuration to copy. What matters is the categories: scope, the exact verification command, environment and network facts, mocking policy and source-control rules.
Filenames and loading behaviour depend on the harness. AGENTS.md is widely supported, and there are also .github/copilot-instructions.md, CLAUDE.md and per-directory variants. Check what your harness reads and when it reads it, rather than assuming one file is always loaded everywhere.
Two failure modes to avoid. Never put credentials or tokens in these files; they are committed and shared. And do not paste a large stale document in, because instructions that contradict the repo are worse than no instructions. If a line stops being true, delete it.
PRESENTER CUES
1. Opens with the file itself. Give the room fifteen seconds to read it before you say anything.
2. Click 1: the three rules for writing this file appear on the right.
3. Click 2: the verify line pulses and the caution rises. A command that no longer works costs more than a missing line.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Running several agents at once is genuinely useful, and it is also exactly like onboarding four engineers on the same morning. Four people with the same vague brief and the same branch do not produce four times the output; they produce a merge conflict and an argument.
So keep one owner and one objective. Split the feature into tasks that do not touch the same files, give each task its own worktree, and bring them back through one integration and review gate before starting the next feature.
The failure mode I see most is five independent features started at once by one person. Parallelism only pays when the work is genuinely independent. Overlapping edits cost reconciliation time, and every extra agent re-establishes the same context, which costs tokens and attention.
Same gates as a human contributor. Agent-written code is not exempt from review, and the owner settles design disagreements so two agents do not politely disagree for an hour.
PRESENTER CUES
1. Opens with the owner and the objective at the top. Say the onboarding analogy before the diagram.
2. Click 1: three bounded tasks appear, each in its own worktree, split so they do not share files.
3. Click 2: they converge on the shared gate. Same review standard as a human contributor.
4. Click 3: the independence rule rises. This is the one that stops five-features-at-once.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routing rather than a ranking. Luna for bounded, well-specified changes where the work is mostly mechanical. Terra as the everyday implementation model, which is what the demo uses. Sol for analysis that needs to hold a lot of the system at once. Astra for long, complex work where you want the model to keep going without losing the thread.
Two honesty notes. These are recommendations from how my team uses them, not a benchmark, and I have no measured comparison to show you. At the same time, the models are not interchangeable; the reason to pick deliberately is that effort and cost differ.
For the demo I keep the model pinned to GPT-5.6 Terra in both runs. If the model changes between run A and run B, the comparison says nothing about setup.
Sources: https://github.blog/changelog/2026-07-09-openais-gpt-5-6-sol-terra-and-luna-are-now-available-in-github-copilot/ and the GPT-6 Astra availability announcement from September 4, 2026.
PRESENTER CUES
1. Opens with Terra highlighted, since that is the demo model. Say which one you reach for by default and why.
2. Click 1: the other three appear with what each is good for. Keep it to one sentence each.
3. Click 2: the demo tag rises and Terra pulses. Say the model stays pinned across both demo runs.
4. Click 3: the caution rises. These are starting points, not measurements.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demo, agree on what we are recording, so nobody argues about the scoreboard afterwards. Everything on this board is empty on purpose: this slide is the agreement about what gets recorded, not the record itself. The measured numbers arrive two slides from now.
Elapsed time splits into setup and per-iteration cost, because they behave differently. Setup is paid once and reused by every later change; per-iteration cost is paid on every attempt. A run that looks slower end to end can still be the cheaper one from the second change onwards.
AI usage means input, output and cached tokens where the client exposes them, or credits if that is the unit you see. Local wall-clock time and billed tokens are different numbers and they do not move together; a fast run that re-reads the whole repo can cost more than a slower, narrower one.
Tool calls and rework capture the part people feel but rarely record: how many times the agent went back, and how many attempts failed the same way.
Conditions to disclose: cache warm or cold, run order, machine state, and whether anything else was running. If we are going to make a quantified claim in public, repeat the trial several times and report the median, not the best run.
PRESENTER CUES
1. Opens with the four measurement rows, all empty. Say plainly that there are no numbers on this slide.
2. Click 1: the record-live placeholders appear. Point at each and say what unit goes there.
3. Click 2: the caution rises. Time and tokens are different currencies, and cache state moves both.</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STATUS: this demo is built and it has been run once. The application, the curated fixture, the preparation and the eleven-test gate all exist under demo/ in this repository, and a recorded trial from 18 September 2026 is in demo/results/scoreboard.json. The next slide carries those measured numbers. Rebuild the two workspaces with demo/scripts/setup-runs.sh before presenting, and re-run it live if you want fresh numbers.
THE APP: a brownfield, server-rendered invoice admin page with synthetic data only. No customer data, no production system. The baseline may hold roughly four hundred thousand synthetic invoices, which is what makes the naive inner loop expensive.
THE FEATURE, identical for both runs: add a filter for overdue unpaid invoices. Overdue means dueDate is strictly before a fixed as-of date, so invoices due on that date are not overdue. Invoices in PAID or CANCELLED state are excluded. Amount formatting stays as it is, the existing filters keep working and combine with the new one, and pagination stays at twenty-five per page.
SETUP: two worktrees from the same baseline commit, two fresh chat sessions, the same Copilot harness, the same pinned GPT-5.6 Terra with the same reasoning setting and the same permissions, on the same machine and container resources. Same feature request text, same final acceptance suite.
RUN A uses the repository's current normal commands. It is not a deliberately degraded setup; it is what someone gets today by opening the repo and asking for the feature.
RUN B uses the prepared setup: a short task brief, a curated hundred-row fixture and a test runner that can target it. Preparation happens before the demo and does not include implementing the requested feature. The hundred rows are chosen cases, not the first hundred of the dataset.
FIXTURE CONTENT: freeze the clock and the time zone, and include paid, cancelled, due-today, leap-day and month-boundary dates, characters that need escaping, pagination boundaries and combinations with the existing filters. Show the defect or the absence first, then fix it, so the test proves something. Validation inspects the HTML the application actually generated, not a model's description of it.
ACCOUNTING: count B's preparation cost separately, and also add it into B's end-to-end total, so nobody can claim a win by hiding setup. Keep cache conditions comparable between the runs and say out loud which run went first. A single live run is an illustration; for any quantified claim, repeat the trial and use the median.
FINAL GATE, identical for both: the same functional suite, real authentication with an isolated test identity, one targeted browser smoke check and a full-scale integration run appropriate to the scope. A hundred rows is not a scale test, and direct HTML assertions say nothing about JavaScript behaviour, layout or accessibility. The browser stays as one check at the gate rather than something the inner loop launches repeatedly.
HONESTY: do not promise the room that B wins before you show it. Ask the question, let the room predict, then let the next slide answer. In the recorded trial B did win on every axis measured, but only because both runs were driven to the same gate. Stop measuring at 'the agent said done' and the result flips.
PRESENTER CUES
1. Opens with the app, the feature and the constants. Read the held-constant line out loud; it is what makes the comparison mean anything.
2. Click 1: run A appears, the current setup with default commands and full data.
3. Click 2: run B appears, the prepared setup. Say the preparation is counted separately and was not timed in the recorded trial.
4. Click 3: the shared final gate and the question appear. Ask the room to predict which run reaches it in fewer turns.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numbers are from a real recorded trial on 18 September 2026. Both runs were executed and both were driven all the way to a green gate. The raw record, including the measurement queries, is in demo/results/scoreboard.json.
The protocol matters more than the numbers. A run is finished when the shared eleven-test gate passes, not when the agent says it is done. Implement, run the gate, feed any failure back verbatim, repeat. An earlier trial stopped each run where the agent claimed success, and that flattered whichever run gave up earliest. Run A claimed done while still failing three tests.
What was held constant: the same baseline copied into two workspaces, a byte-identical prompt, the same gpt-5.6-terra, the same harness and machine, the same feedback wording, and the same gate, which neither run was ever shown. Runs went sequentially, A first, both cold, never in parallel, so CPU contention could not distort the timings.
The only difference: run B's workspace carried an AGENTS.md brief stating the overdue rule, a curated hundred-case fixture, and a test command targeting it. The preparation did not implement the feature.
Run B reached the gate in one turn. Run A needed two, and cost 1.8 times the wall clock, 1.6 times the AI units and nearly twice the API calls to arrive at the same place.
The reason is one line. Run A's first attempt defined overdue as status equals SENT and past due, which silently drops past-due DRAFT invoices. The request never said which statuses still count as owed, so the agent guessed, plausibly and wrongly, and needed a round trip through the gate to discover it. Run B did not have to guess.
Say the mechanism out loud, because it is the whole point: the brief did not make the model faster. It removed an ambiguity the model could not resolve from the code. Ambiguity is what produces confident, wrong work, and confident wrong work is what you pay for twice.
How the AI usage was measured, in case anyone asks: the local session store writes an assistant_usage_events row per API call, with token counts and total_nano_aiu. AI units are that divided by a billion. Group by the agent id of each run. The cloud usage view lags by days and was useless for a same-day trial.
Now the limits. This is one trial, n equals one; repeat it and report the median before quoting these figures anywhere public. Run B's preparation was authored beforehand and was not timed, so it is not inside that 72 seconds and no fair end-to-end total exists in this trial. Say that rather than let the room assume it. The inner loop measured 1.36 seconds on the full dataset against 0.22 on the fixture, which is a faster loop and not a token saving and not a scale test. The gate asserts server-generated HTML, so it says nothing about JavaScript, layout or accessibility.
PRESENTER CUES
1. Opens with the two runs and what was held constant. Read what is identical before you read what differs.
2. Click 1: what each run actually did appears, including the prepared brief and fixture in run B.
3. Click 2: the measured scoreboard appears. Walk turns, then time, then AI usage.
4. Click 3: the explanation lands. One wrong guess about what overdue means cost run A a whole extra turn.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here. Fill the left column in from whatever the demo actually produced, including the case where run A won or the two runs tied. An honest null result is worth more to this room than a tidy story.
Then walk the right column. These are the things that transfer whatever harness or model you use, and they are all from the outer two rings on the opening slide, not from picking a different model.
Repeat the boundaries one last time so nobody leaves with the wrong lesson. A smaller fixture is a faster inner loop, not a scale test. Direct HTML assertions say nothing about JavaScript behaviour, layout or accessibility. A test identity is excluded from production by configuration, and none of this is permission to bypass real authentication.
On feedback, ask for the specific thing rather than a rating: which technique they will try first, and which one they think will not survive their codebase. The second answer is the useful one.
Replace the feedback placeholder with the real TechHub link or QR code before presenting.
PRESENTER CUES
1. Opens with both column headers. Say the left side gets filled in from what we just watched.
2. Click 1: the demo outcomes appear, recorded live rather than prepared.
3. Click 2: the session takeaways appear. Walk them in order, one sentence each.
4. Click 3: the feedback ask rises. Ask which technique they will try first and which one will not survive their codebase.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090D"/>
        </a:solidFill>
        <a:effectLst/>
      </p:bgPr>
    </p:bg>
    <p:spTree>
      <p:nvGrpSpPr>
        <p:cNvPr id="1" name=""/>
        <p:cNvGrpSpPr/>
        <p:nvPr/>
      </p:nvGrpSpPr>
      <p:grpSpPr>
        <a:xfrm>
          <a:off x="0" y="0"/>
          <a:ext cx="0" cy="0"/>
          <a:chOff x="0" y="0"/>
          <a:chExt cx="0" cy="0"/>
        </a:xfrm>
      </p:grpSpPr>
      <p:sp>
        <p:nvSpPr>
          <p:cNvPr id="2" name="Text 0"/>
          <p:cNvSpPr/>
          <p:nvPr/>
        </p:nvSpPr>
        <p:spPr>
          <a:xfrm>
            <a:off x="566928" y="1371600"/>
            <a:ext cx="6400800" cy="274320"/>
          </a:xfrm>
          <a:prstGeom prst="rect">
            <a:avLst/>
          </a:prstGeom>
          <a:noFill/>
          <a:ln/>
        </p:spPr>
        <p:txBody>
          <a:bodyPr wrap="square" rtlCol="0" anchor="t"/>
          <a:lstStyle/>
          <a:p>
            <a:pPr marL="0" indent="0">
              <a:lnSpc>
                <a:spcPct val="105000"/>
              </a:lnSpc>
              <a:buNone/>
            </a:pPr>
            <a:r>
              <a:rPr lang="en-US" sz="1200" b="1" kern="0" spc="260" dirty="0">
                <a:solidFill>
                  <a:srgbClr val="75EDBB"/>
                </a:solidFill>
                <a:latin typeface="Helvetica Neue" pitchFamily="34" charset="0"/>
                <a:ea typeface="Helvetica Neue" pitchFamily="34" charset="-122"/>
                <a:cs typeface="Helvetica Neue" pitchFamily="34" charset="-120"/>
              </a:rPr>
              <a:t>APPS &amp; AI</a:t>
            </a:r>
            <a:endParaRPr lang="en-US" sz="1200" dirty="0"/>
          </a:p>
        </p:txBody>
      </p:sp>
      <p:sp>
        <p:nvSpPr>
          <p:cNvPr id="3" name="Text 1"/>
          <p:cNvSpPr/>
          <p:nvPr/>
        </p:nvSpPr>
        <p:spPr>
          <a:xfrm>
            <a:off x="566928" y="1810512"/>
            <a:ext cx="6583680" cy="1600200"/>
          </a:xfrm>
          <a:prstGeom prst="rect">
            <a:avLst/>
          </a:prstGeom>
          <a:noFill/>
          <a:ln/>
        </p:spPr>
        <p:txBody>
          <a:bodyPr wrap="square" rtlCol="0" anchor="t"/>
          <a:lstStyle/>
          <a:p>
            <a:pPr marL="0" indent="0">
              <a:lnSpc>
                <a:spcPct val="98000"/>
              </a:lnSpc>
              <a:buNone/>
            </a:pPr>
            <a:r>
              <a:rPr lang="en-US" sz="5200" dirty="0">
                <a:solidFill>
                  <a:srgbClr val="F3F6FA"/>
                </a:solidFill>
                <a:latin typeface="Avenir Next" pitchFamily="34" charset="0"/>
                <a:ea typeface="Avenir Next" pitchFamily="34" charset="-122"/>
                <a:cs typeface="Avenir Next" pitchFamily="34" charset="-120"/>
              </a:rPr>
              <a:t>The Art and Science</a:t>
            </a:r>
            <a:endParaRPr lang="en-US" sz="5200" dirty="0"/>
          </a:p>
          <a:p>
            <a:pPr marL="0" indent="0">
              <a:lnSpc>
                <a:spcPct val="98000"/>
              </a:lnSpc>
              <a:buNone/>
            </a:pPr>
            <a:r>
              <a:rPr lang="en-US" sz="5200" dirty="0">
                <a:solidFill>
                  <a:srgbClr val="F3F6FA"/>
                </a:solidFill>
                <a:latin typeface="Avenir Next" pitchFamily="34" charset="0"/>
                <a:ea typeface="Avenir Next" pitchFamily="34" charset="-122"/>
                <a:cs typeface="Avenir Next" pitchFamily="34" charset="-120"/>
              </a:rPr>
              <a:t>of Vibe Coding</a:t>
            </a:r>
            <a:endParaRPr lang="en-US" sz="5200" dirty="0"/>
          </a:p>
        </p:txBody>
      </p:sp>
      <p:sp>
        <p:nvSpPr>
          <p:cNvPr id="4" name="Text 2"/>
          <p:cNvSpPr/>
          <p:nvPr/>
        </p:nvSpPr>
        <p:spPr>
          <a:xfrm>
            <a:off x="566928" y="3584448"/>
            <a:ext cx="6492240" cy="329184"/>
          </a:xfrm>
          <a:prstGeom prst="rect">
            <a:avLst/>
          </a:prstGeom>
          <a:noFill/>
          <a:ln/>
        </p:spPr>
        <p:txBody>
          <a:bodyPr wrap="square" rtlCol="0" anchor="t"/>
          <a:lstStyle/>
          <a:p>
            <a:pPr marL="0" indent="0">
              <a:lnSpc>
                <a:spcPct val="105000"/>
              </a:lnSpc>
              <a:buNone/>
            </a:pPr>
            <a:r>
              <a:rPr lang="en-US" sz="1700" dirty="0">
                <a:solidFill>
                  <a:srgbClr val="75EDBB"/>
                </a:solidFill>
                <a:latin typeface="Helvetica Neue" pitchFamily="34" charset="0"/>
                <a:ea typeface="Helvetica Neue" pitchFamily="34" charset="-122"/>
                <a:cs typeface="Helvetica Neue" pitchFamily="34" charset="-120"/>
              </a:rPr>
              <a:t>Token economy, spec-driven development and an efficient SDLC</a:t>
            </a:r>
            <a:endParaRPr lang="en-US" sz="1700" dirty="0"/>
          </a:p>
        </p:txBody>
      </p:sp>
      <p:sp>
        <p:nvSpPr>
          <p:cNvPr id="5" name="Text 3"/>
          <p:cNvSpPr/>
          <p:nvPr/>
        </p:nvSpPr>
        <p:spPr>
          <a:xfrm>
            <a:off x="566928" y="4005072"/>
            <a:ext cx="6309360" cy="292608"/>
          </a:xfrm>
          <a:prstGeom prst="rect">
            <a:avLst/>
          </a:prstGeom>
          <a:noFill/>
          <a:ln/>
        </p:spPr>
        <p:txBody>
          <a:bodyPr wrap="square" rtlCol="0" anchor="t"/>
          <a:lstStyle/>
          <a:p>
            <a:pPr marL="0" indent="0">
              <a:lnSpc>
                <a:spcPct val="105000"/>
              </a:lnSpc>
              <a:buNone/>
            </a:pPr>
            <a:r>
              <a:rPr lang="en-US" sz="1500" dirty="0">
                <a:solidFill>
                  <a:srgbClr val="B2BDCD"/>
                </a:solidFill>
                <a:latin typeface="Helvetica Neue" pitchFamily="34" charset="0"/>
                <a:ea typeface="Helvetica Neue" pitchFamily="34" charset="-122"/>
                <a:cs typeface="Helvetica Neue" pitchFamily="34" charset="-120"/>
              </a:rPr>
              <a:t>Works with any harness. Works with any capable model.</a:t>
            </a:r>
            <a:endParaRPr lang="en-US" sz="1500" dirty="0"/>
          </a:p>
        </p:txBody>
      </p:sp>
      <p:sp>
        <p:nvSpPr>
          <p:cNvPr id="6" name="Shape 4"/>
          <p:cNvSpPr/>
          <p:nvPr/>
        </p:nvSpPr>
        <p:spPr>
          <a:xfrm>
            <a:off x="566928" y="4864608"/>
            <a:ext cx="2834640" cy="0"/>
          </a:xfrm>
          <a:prstGeom prst="line">
            <a:avLst/>
          </a:prstGeom>
          <a:noFill/>
          <a:ln w="12700">
            <a:solidFill>
              <a:srgbClr val="232C3A"/>
            </a:solidFill>
            <a:prstDash val="solid"/>
          </a:ln>
        </p:spPr>
        <p:txBody>
          <a:bodyPr/>
          <a:lstStyle/>
          <a:p>
            <a:endParaRPr lang="en-US"/>
          </a:p>
        </p:txBody>
      </p:sp>
      <p:sp>
        <p:nvSpPr>
          <p:cNvPr id="7" name="Text 5"/>
          <p:cNvSpPr/>
          <p:nvPr/>
        </p:nvSpPr>
        <p:spPr>
          <a:xfrm>
            <a:off x="566928" y="5047488"/>
            <a:ext cx="5486400" cy="310896"/>
          </a:xfrm>
          <a:prstGeom prst="rect">
            <a:avLst/>
          </a:prstGeom>
          <a:noFill/>
          <a:ln/>
        </p:spPr>
        <p:txBody>
          <a:bodyPr wrap="square" rtlCol="0" anchor="t"/>
          <a:lstStyle/>
          <a:p>
            <a:pPr marL="0" indent="0">
              <a:lnSpc>
                <a:spcPct val="105000"/>
              </a:lnSpc>
              <a:buNone/>
            </a:pPr>
            <a:r>
              <a:rPr lang="en-US" sz="1700" b="1" dirty="0">
                <a:solidFill>
                  <a:srgbClr val="F3F6FA"/>
                </a:solidFill>
                <a:latin typeface="Helvetica Neue" pitchFamily="34" charset="0"/>
                <a:ea typeface="Helvetica Neue" pitchFamily="34" charset="-122"/>
                <a:cs typeface="Helvetica Neue" pitchFamily="34" charset="-120"/>
              </a:rPr>
              <a:t>Sepehr Pakbaz</a:t>
            </a:r>
            <a:endParaRPr lang="en-US" sz="1700" dirty="0"/>
          </a:p>
        </p:txBody>
      </p:sp>
      <p:sp>
        <p:nvSpPr>
          <p:cNvPr id="8" name="Text 6"/>
          <p:cNvSpPr/>
          <p:nvPr/>
        </p:nvSpPr>
        <p:spPr>
          <a:xfrm>
            <a:off x="566928" y="5394960"/>
            <a:ext cx="5486400" cy="274320"/>
          </a:xfrm>
          <a:prstGeom prst="rect">
            <a:avLst/>
          </a:prstGeom>
          <a:noFill/>
          <a:ln/>
        </p:spPr>
        <p:txBody>
          <a:bodyPr wrap="square" rtlCol="0" anchor="t"/>
          <a:lstStyle/>
          <a:p>
            <a:pPr marL="0" indent="0">
              <a:lnSpc>
                <a:spcPct val="105000"/>
              </a:lnSpc>
              <a:buNone/>
            </a:pPr>
            <a:r>
              <a:rPr lang="en-US" sz="1300" dirty="0">
                <a:solidFill>
                  <a:srgbClr val="6F7B8D"/>
                </a:solidFill>
                <a:latin typeface="Helvetica Neue" pitchFamily="34" charset="0"/>
                <a:ea typeface="Helvetica Neue" pitchFamily="34" charset="-122"/>
                <a:cs typeface="Helvetica Neue" pitchFamily="34" charset="-120"/>
              </a:rPr>
              <a:t>AI Solution Architect, Microsoft/GitHub</a:t>
            </a:r>
            <a:endParaRPr lang="en-US" sz="1300" dirty="0"/>
          </a:p>
        </p:txBody>
      </p:sp>
      <p:sp>
        <p:nvSpPr>
          <p:cNvPr id="9" name="b03-zoom-setup-ring"/>
          <p:cNvSpPr/>
          <p:nvPr/>
        </p:nvSpPr>
        <p:spPr>
          <a:xfrm>
            <a:off x="7315200" y="1325880"/>
            <a:ext cx="4206240" cy="4206240"/>
          </a:xfrm>
          <a:prstGeom prst="ellipse">
            <a:avLst/>
          </a:prstGeom>
          <a:solidFill>
            <a:srgbClr val="0E1219"/>
          </a:solidFill>
          <a:ln w="19050">
            <a:solidFill>
              <a:srgbClr val="A99AFF"/>
            </a:solidFill>
            <a:prstDash val="solid"/>
          </a:ln>
        </p:spPr>
        <p:txBody>
          <a:bodyPr/>
          <a:lstStyle/>
          <a:p>
            <a:endParaRPr lang="en-US"/>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7090D"/>
        </a:solidFill>
        <a:effectLst/>
      </p:bgPr>
    </p:bg>
    <p:spTree>
      <p:nvGrpSpPr>
        <p:cNvPr id="1" name=""/>
        <p:cNvGrpSpPr/>
        <p:nvPr/>
      </p:nvGrpSpPr>
      <p:grpSpPr>
        <a:xfrm>
          <a:off x="0" y="0"/>
          <a:ext cx="0" cy="0"/>
          <a:chOff x="0" y="0"/>
          <a:chExt cx="0" cy="0"/>
        </a:xfrm>
      </p:grpSpPr>
      <p:sp>
        <p:nvSpPr>
          <p:cNvPr id="2" name="Text 0"/>
          <p:cNvSpPr/>
          <p:nvPr/>
        </p:nvSpPr>
        <p:spPr>
          <a:xfrm>
            <a:off x="566928" y="274320"/>
            <a:ext cx="10607040" cy="274320"/>
          </a:xfrm>
          <a:prstGeom prst="rect">
            <a:avLst/>
          </a:prstGeom>
          <a:noFill/>
          <a:ln/>
        </p:spPr>
        <p:txBody>
          <a:bodyPr wrap="square" rtlCol="0" anchor="t"/>
          <a:lstStyle/>
          <a:p>
            <a:pPr marL="0" indent="0">
              <a:lnSpc>
                <a:spcPct val="105000"/>
              </a:lnSpc>
              <a:buNone/>
            </a:pPr>
            <a:r>
              <a:rPr lang="en-US" sz="1200" b="1" kern="0" spc="260" dirty="0">
                <a:solidFill>
                  <a:srgbClr val="75EDBB"/>
                </a:solidFill>
                <a:latin typeface="Helvetica Neue" pitchFamily="34" charset="0"/>
                <a:ea typeface="Helvetica Neue" pitchFamily="34" charset="-122"/>
                <a:cs typeface="Helvetica Neue" pitchFamily="34" charset="-120"/>
              </a:rPr>
              <a:t>ART AND SCIENCE OF VIBE CODING</a:t>
            </a:r>
            <a:endParaRPr lang="en-US" sz="1200" dirty="0"/>
          </a:p>
        </p:txBody>
      </p:sp>
      <p:sp>
        <p:nvSpPr>
          <p:cNvPr id="3" name="Text 1"/>
          <p:cNvSpPr/>
          <p:nvPr/>
        </p:nvSpPr>
        <p:spPr>
          <a:xfrm>
            <a:off x="566928" y="585216"/>
            <a:ext cx="10789920" cy="731520"/>
          </a:xfrm>
          <a:prstGeom prst="rect">
            <a:avLst/>
          </a:prstGeom>
          <a:noFill/>
          <a:ln/>
        </p:spPr>
        <p:txBody>
          <a:bodyPr wrap="square" rtlCol="0" anchor="ctr"/>
          <a:lstStyle/>
          <a:p>
            <a:pPr marL="0" indent="0">
              <a:lnSpc>
                <a:spcPct val="95000"/>
              </a:lnSpc>
              <a:buNone/>
            </a:pPr>
            <a:r>
              <a:rPr lang="en-US" sz="4400" dirty="0">
                <a:solidFill>
                  <a:srgbClr val="F3F6FA"/>
                </a:solidFill>
                <a:latin typeface="Avenir Next" pitchFamily="34" charset="0"/>
                <a:ea typeface="Avenir Next" pitchFamily="34" charset="-122"/>
                <a:cs typeface="Avenir Next" pitchFamily="34" charset="-120"/>
              </a:rPr>
              <a:t>Attention Is All You Need</a:t>
            </a:r>
            <a:endParaRPr lang="en-US" sz="4400" dirty="0"/>
          </a:p>
        </p:txBody>
      </p:sp>
      <p:sp>
        <p:nvSpPr>
          <p:cNvPr id="4" name="Text 2"/>
          <p:cNvSpPr/>
          <p:nvPr/>
        </p:nvSpPr>
        <p:spPr>
          <a:xfrm>
            <a:off x="566928" y="1335024"/>
            <a:ext cx="9692640" cy="384048"/>
          </a:xfrm>
          <a:prstGeom prst="rect">
            <a:avLst/>
          </a:prstGeom>
          <a:noFill/>
          <a:ln/>
        </p:spPr>
        <p:txBody>
          <a:bodyPr wrap="square" rtlCol="0" anchor="t"/>
          <a:lstStyle/>
          <a:p>
            <a:pPr marL="0" indent="0">
              <a:lnSpc>
                <a:spcPct val="105000"/>
              </a:lnSpc>
              <a:buNone/>
            </a:pPr>
            <a:r>
              <a:rPr lang="en-US" sz="2000" dirty="0">
                <a:solidFill>
                  <a:srgbClr val="B2BDCD"/>
                </a:solidFill>
                <a:latin typeface="Helvetica Neue" pitchFamily="34" charset="0"/>
                <a:ea typeface="Helvetica Neue" pitchFamily="34" charset="-122"/>
                <a:cs typeface="Helvetica Neue" pitchFamily="34" charset="-120"/>
              </a:rPr>
              <a:t>Token economy, spec-driven work and a faster loop.</a:t>
            </a:r>
            <a:endParaRPr lang="en-US" sz="2000" dirty="0"/>
          </a:p>
        </p:txBody>
      </p:sp>
      <p:sp>
        <p:nvSpPr>
          <p:cNvPr id="5" name="Shape 3"/>
          <p:cNvSpPr/>
          <p:nvPr/>
        </p:nvSpPr>
        <p:spPr>
          <a:xfrm>
            <a:off x="691286" y="4160520"/>
            <a:ext cx="932688" cy="475488"/>
          </a:xfrm>
          <a:prstGeom prst="roundRect">
            <a:avLst>
              <a:gd name="adj" fmla="val 15385"/>
            </a:avLst>
          </a:prstGeom>
          <a:solidFill>
            <a:srgbClr val="0E1219"/>
          </a:solidFill>
          <a:ln w="12700">
            <a:solidFill>
              <a:srgbClr val="1A212C"/>
            </a:solidFill>
            <a:prstDash val="solid"/>
          </a:ln>
        </p:spPr>
        <p:txBody>
          <a:bodyPr/>
          <a:lstStyle/>
          <a:p>
            <a:endParaRPr lang="en-US"/>
          </a:p>
        </p:txBody>
      </p:sp>
      <p:sp>
        <p:nvSpPr>
          <p:cNvPr id="6" name="Text 4"/>
          <p:cNvSpPr/>
          <p:nvPr/>
        </p:nvSpPr>
        <p:spPr>
          <a:xfrm>
            <a:off x="691286" y="4160520"/>
            <a:ext cx="932688" cy="475488"/>
          </a:xfrm>
          <a:prstGeom prst="rect">
            <a:avLst/>
          </a:prstGeom>
          <a:noFill/>
          <a:ln/>
        </p:spPr>
        <p:txBody>
          <a:bodyPr wrap="square" rtlCol="0" anchor="ctr"/>
          <a:lstStyle/>
          <a:p>
            <a:pPr marL="0" indent="0" algn="ctr">
              <a:lnSpc>
                <a:spcPct val="105000"/>
              </a:lnSpc>
              <a:buNone/>
            </a:pPr>
            <a:r>
              <a:rPr lang="en-US" sz="1500" dirty="0">
                <a:solidFill>
                  <a:srgbClr val="B2BDCD"/>
                </a:solidFill>
                <a:latin typeface="Helvetica Neue" pitchFamily="34" charset="0"/>
                <a:ea typeface="Helvetica Neue" pitchFamily="34" charset="-122"/>
                <a:cs typeface="Helvetica Neue" pitchFamily="34" charset="-120"/>
              </a:rPr>
              <a:t>The</a:t>
            </a:r>
            <a:endParaRPr lang="en-US" sz="1500" dirty="0"/>
          </a:p>
        </p:txBody>
      </p:sp>
      <p:sp>
        <p:nvSpPr>
          <p:cNvPr id="7" name="Shape 5"/>
          <p:cNvSpPr/>
          <p:nvPr/>
        </p:nvSpPr>
        <p:spPr>
          <a:xfrm>
            <a:off x="1678838" y="4160520"/>
            <a:ext cx="932688" cy="475488"/>
          </a:xfrm>
          <a:prstGeom prst="roundRect">
            <a:avLst>
              <a:gd name="adj" fmla="val 15385"/>
            </a:avLst>
          </a:prstGeom>
          <a:solidFill>
            <a:srgbClr val="0E1219"/>
          </a:solidFill>
          <a:ln w="12700">
            <a:solidFill>
              <a:srgbClr val="1A212C"/>
            </a:solidFill>
            <a:prstDash val="solid"/>
          </a:ln>
        </p:spPr>
        <p:txBody>
          <a:bodyPr/>
          <a:lstStyle/>
          <a:p>
            <a:endParaRPr lang="en-US"/>
          </a:p>
        </p:txBody>
      </p:sp>
      <p:sp>
        <p:nvSpPr>
          <p:cNvPr id="8" name="Text 6"/>
          <p:cNvSpPr/>
          <p:nvPr/>
        </p:nvSpPr>
        <p:spPr>
          <a:xfrm>
            <a:off x="1678838" y="4160520"/>
            <a:ext cx="932688" cy="475488"/>
          </a:xfrm>
          <a:prstGeom prst="rect">
            <a:avLst/>
          </a:prstGeom>
          <a:noFill/>
          <a:ln/>
        </p:spPr>
        <p:txBody>
          <a:bodyPr wrap="square" rtlCol="0" anchor="ctr"/>
          <a:lstStyle/>
          <a:p>
            <a:pPr marL="0" indent="0" algn="ctr">
              <a:lnSpc>
                <a:spcPct val="105000"/>
              </a:lnSpc>
              <a:buNone/>
            </a:pPr>
            <a:r>
              <a:rPr lang="en-US" sz="1500" dirty="0">
                <a:solidFill>
                  <a:srgbClr val="B2BDCD"/>
                </a:solidFill>
                <a:latin typeface="Helvetica Neue" pitchFamily="34" charset="0"/>
                <a:ea typeface="Helvetica Neue" pitchFamily="34" charset="-122"/>
                <a:cs typeface="Helvetica Neue" pitchFamily="34" charset="-120"/>
              </a:rPr>
              <a:t>invoice</a:t>
            </a:r>
            <a:endParaRPr lang="en-US" sz="1500" dirty="0"/>
          </a:p>
        </p:txBody>
      </p:sp>
      <p:sp>
        <p:nvSpPr>
          <p:cNvPr id="9" name="Shape 7"/>
          <p:cNvSpPr/>
          <p:nvPr/>
        </p:nvSpPr>
        <p:spPr>
          <a:xfrm>
            <a:off x="2666390" y="4160520"/>
            <a:ext cx="932688" cy="475488"/>
          </a:xfrm>
          <a:prstGeom prst="roundRect">
            <a:avLst>
              <a:gd name="adj" fmla="val 15385"/>
            </a:avLst>
          </a:prstGeom>
          <a:solidFill>
            <a:srgbClr val="0E1219"/>
          </a:solidFill>
          <a:ln w="12700">
            <a:solidFill>
              <a:srgbClr val="1A212C"/>
            </a:solidFill>
            <a:prstDash val="solid"/>
          </a:ln>
        </p:spPr>
        <p:txBody>
          <a:bodyPr/>
          <a:lstStyle/>
          <a:p>
            <a:endParaRPr lang="en-US"/>
          </a:p>
        </p:txBody>
      </p:sp>
      <p:sp>
        <p:nvSpPr>
          <p:cNvPr id="10" name="Text 8"/>
          <p:cNvSpPr/>
          <p:nvPr/>
        </p:nvSpPr>
        <p:spPr>
          <a:xfrm>
            <a:off x="2666390" y="4160520"/>
            <a:ext cx="932688" cy="475488"/>
          </a:xfrm>
          <a:prstGeom prst="rect">
            <a:avLst/>
          </a:prstGeom>
          <a:noFill/>
          <a:ln/>
        </p:spPr>
        <p:txBody>
          <a:bodyPr wrap="square" rtlCol="0" anchor="ctr"/>
          <a:lstStyle/>
          <a:p>
            <a:pPr marL="0" indent="0" algn="ctr">
              <a:lnSpc>
                <a:spcPct val="105000"/>
              </a:lnSpc>
              <a:buNone/>
            </a:pPr>
            <a:r>
              <a:rPr lang="en-US" sz="1500" dirty="0">
                <a:solidFill>
                  <a:srgbClr val="B2BDCD"/>
                </a:solidFill>
                <a:latin typeface="Helvetica Neue" pitchFamily="34" charset="0"/>
                <a:ea typeface="Helvetica Neue" pitchFamily="34" charset="-122"/>
                <a:cs typeface="Helvetica Neue" pitchFamily="34" charset="-120"/>
              </a:rPr>
              <a:t>was</a:t>
            </a:r>
            <a:endParaRPr lang="en-US" sz="1500" dirty="0"/>
          </a:p>
        </p:txBody>
      </p:sp>
      <p:sp>
        <p:nvSpPr>
          <p:cNvPr id="11" name="Shape 9"/>
          <p:cNvSpPr/>
          <p:nvPr/>
        </p:nvSpPr>
        <p:spPr>
          <a:xfrm>
            <a:off x="3653942" y="4160520"/>
            <a:ext cx="932688" cy="475488"/>
          </a:xfrm>
          <a:prstGeom prst="roundRect">
            <a:avLst>
              <a:gd name="adj" fmla="val 15385"/>
            </a:avLst>
          </a:prstGeom>
          <a:solidFill>
            <a:srgbClr val="0E1219"/>
          </a:solidFill>
          <a:ln w="12700">
            <a:solidFill>
              <a:srgbClr val="1A212C"/>
            </a:solidFill>
            <a:prstDash val="solid"/>
          </a:ln>
        </p:spPr>
        <p:txBody>
          <a:bodyPr/>
          <a:lstStyle/>
          <a:p>
            <a:endParaRPr lang="en-US"/>
          </a:p>
        </p:txBody>
      </p:sp>
      <p:sp>
        <p:nvSpPr>
          <p:cNvPr id="12" name="Text 10"/>
          <p:cNvSpPr/>
          <p:nvPr/>
        </p:nvSpPr>
        <p:spPr>
          <a:xfrm>
            <a:off x="3653942" y="4160520"/>
            <a:ext cx="932688" cy="475488"/>
          </a:xfrm>
          <a:prstGeom prst="rect">
            <a:avLst/>
          </a:prstGeom>
          <a:noFill/>
          <a:ln/>
        </p:spPr>
        <p:txBody>
          <a:bodyPr wrap="square" rtlCol="0" anchor="ctr"/>
          <a:lstStyle/>
          <a:p>
            <a:pPr marL="0" indent="0" algn="ctr">
              <a:lnSpc>
                <a:spcPct val="105000"/>
              </a:lnSpc>
              <a:buNone/>
            </a:pPr>
            <a:r>
              <a:rPr lang="en-US" sz="1500" dirty="0">
                <a:solidFill>
                  <a:srgbClr val="B2BDCD"/>
                </a:solidFill>
                <a:latin typeface="Helvetica Neue" pitchFamily="34" charset="0"/>
                <a:ea typeface="Helvetica Neue" pitchFamily="34" charset="-122"/>
                <a:cs typeface="Helvetica Neue" pitchFamily="34" charset="-120"/>
              </a:rPr>
              <a:t>marked</a:t>
            </a:r>
            <a:endParaRPr lang="en-US" sz="1500" dirty="0"/>
          </a:p>
        </p:txBody>
      </p:sp>
      <p:sp>
        <p:nvSpPr>
          <p:cNvPr id="13" name="Shape 11"/>
          <p:cNvSpPr/>
          <p:nvPr/>
        </p:nvSpPr>
        <p:spPr>
          <a:xfrm>
            <a:off x="4641494" y="4160520"/>
            <a:ext cx="932688" cy="475488"/>
          </a:xfrm>
          <a:prstGeom prst="roundRect">
            <a:avLst>
              <a:gd name="adj" fmla="val 15385"/>
            </a:avLst>
          </a:prstGeom>
          <a:solidFill>
            <a:srgbClr val="0E1219"/>
          </a:solidFill>
          <a:ln w="12700">
            <a:solidFill>
              <a:srgbClr val="1A212C"/>
            </a:solidFill>
            <a:prstDash val="solid"/>
          </a:ln>
        </p:spPr>
        <p:txBody>
          <a:bodyPr/>
          <a:lstStyle/>
          <a:p>
            <a:endParaRPr lang="en-US"/>
          </a:p>
        </p:txBody>
      </p:sp>
      <p:sp>
        <p:nvSpPr>
          <p:cNvPr id="14" name="Text 12"/>
          <p:cNvSpPr/>
          <p:nvPr/>
        </p:nvSpPr>
        <p:spPr>
          <a:xfrm>
            <a:off x="4641494" y="4160520"/>
            <a:ext cx="932688" cy="475488"/>
          </a:xfrm>
          <a:prstGeom prst="rect">
            <a:avLst/>
          </a:prstGeom>
          <a:noFill/>
          <a:ln/>
        </p:spPr>
        <p:txBody>
          <a:bodyPr wrap="square" rtlCol="0" anchor="ctr"/>
          <a:lstStyle/>
          <a:p>
            <a:pPr marL="0" indent="0" algn="ctr">
              <a:lnSpc>
                <a:spcPct val="105000"/>
              </a:lnSpc>
              <a:buNone/>
            </a:pPr>
            <a:r>
              <a:rPr lang="en-US" sz="1500" dirty="0">
                <a:solidFill>
                  <a:srgbClr val="B2BDCD"/>
                </a:solidFill>
                <a:latin typeface="Helvetica Neue" pitchFamily="34" charset="0"/>
                <a:ea typeface="Helvetica Neue" pitchFamily="34" charset="-122"/>
                <a:cs typeface="Helvetica Neue" pitchFamily="34" charset="-120"/>
              </a:rPr>
              <a:t>overdue</a:t>
            </a:r>
            <a:endParaRPr lang="en-US" sz="1500" dirty="0"/>
          </a:p>
        </p:txBody>
      </p:sp>
      <p:sp>
        <p:nvSpPr>
          <p:cNvPr id="15" name="Shape 13"/>
          <p:cNvSpPr/>
          <p:nvPr/>
        </p:nvSpPr>
        <p:spPr>
          <a:xfrm>
            <a:off x="5629046" y="4160520"/>
            <a:ext cx="932688" cy="475488"/>
          </a:xfrm>
          <a:prstGeom prst="roundRect">
            <a:avLst>
              <a:gd name="adj" fmla="val 15385"/>
            </a:avLst>
          </a:prstGeom>
          <a:solidFill>
            <a:srgbClr val="0E1219"/>
          </a:solidFill>
          <a:ln w="12700">
            <a:solidFill>
              <a:srgbClr val="1A212C"/>
            </a:solidFill>
            <a:prstDash val="solid"/>
          </a:ln>
        </p:spPr>
        <p:txBody>
          <a:bodyPr/>
          <a:lstStyle/>
          <a:p>
            <a:endParaRPr lang="en-US"/>
          </a:p>
        </p:txBody>
      </p:sp>
      <p:sp>
        <p:nvSpPr>
          <p:cNvPr id="16" name="Text 14"/>
          <p:cNvSpPr/>
          <p:nvPr/>
        </p:nvSpPr>
        <p:spPr>
          <a:xfrm>
            <a:off x="5629046" y="4160520"/>
            <a:ext cx="932688" cy="475488"/>
          </a:xfrm>
          <a:prstGeom prst="rect">
            <a:avLst/>
          </a:prstGeom>
          <a:noFill/>
          <a:ln/>
        </p:spPr>
        <p:txBody>
          <a:bodyPr wrap="square" rtlCol="0" anchor="ctr"/>
          <a:lstStyle/>
          <a:p>
            <a:pPr marL="0" indent="0" algn="ctr">
              <a:lnSpc>
                <a:spcPct val="105000"/>
              </a:lnSpc>
              <a:buNone/>
            </a:pPr>
            <a:r>
              <a:rPr lang="en-US" sz="1500" dirty="0">
                <a:solidFill>
                  <a:srgbClr val="B2BDCD"/>
                </a:solidFill>
                <a:latin typeface="Helvetica Neue" pitchFamily="34" charset="0"/>
                <a:ea typeface="Helvetica Neue" pitchFamily="34" charset="-122"/>
                <a:cs typeface="Helvetica Neue" pitchFamily="34" charset="-120"/>
              </a:rPr>
              <a:t>,</a:t>
            </a:r>
            <a:endParaRPr lang="en-US" sz="1500" dirty="0"/>
          </a:p>
        </p:txBody>
      </p:sp>
      <p:sp>
        <p:nvSpPr>
          <p:cNvPr id="17" name="Shape 15"/>
          <p:cNvSpPr/>
          <p:nvPr/>
        </p:nvSpPr>
        <p:spPr>
          <a:xfrm>
            <a:off x="6616598" y="4160520"/>
            <a:ext cx="932688" cy="475488"/>
          </a:xfrm>
          <a:prstGeom prst="roundRect">
            <a:avLst>
              <a:gd name="adj" fmla="val 15385"/>
            </a:avLst>
          </a:prstGeom>
          <a:solidFill>
            <a:srgbClr val="0E1219"/>
          </a:solidFill>
          <a:ln w="12700">
            <a:solidFill>
              <a:srgbClr val="1A212C"/>
            </a:solidFill>
            <a:prstDash val="solid"/>
          </a:ln>
        </p:spPr>
        <p:txBody>
          <a:bodyPr/>
          <a:lstStyle/>
          <a:p>
            <a:endParaRPr lang="en-US"/>
          </a:p>
        </p:txBody>
      </p:sp>
      <p:sp>
        <p:nvSpPr>
          <p:cNvPr id="18" name="Text 16"/>
          <p:cNvSpPr/>
          <p:nvPr/>
        </p:nvSpPr>
        <p:spPr>
          <a:xfrm>
            <a:off x="6616598" y="4160520"/>
            <a:ext cx="932688" cy="475488"/>
          </a:xfrm>
          <a:prstGeom prst="rect">
            <a:avLst/>
          </a:prstGeom>
          <a:noFill/>
          <a:ln/>
        </p:spPr>
        <p:txBody>
          <a:bodyPr wrap="square" rtlCol="0" anchor="ctr"/>
          <a:lstStyle/>
          <a:p>
            <a:pPr marL="0" indent="0" algn="ctr">
              <a:lnSpc>
                <a:spcPct val="105000"/>
              </a:lnSpc>
              <a:buNone/>
            </a:pPr>
            <a:r>
              <a:rPr lang="en-US" sz="1500" dirty="0">
                <a:solidFill>
                  <a:srgbClr val="B2BDCD"/>
                </a:solidFill>
                <a:latin typeface="Helvetica Neue" pitchFamily="34" charset="0"/>
                <a:ea typeface="Helvetica Neue" pitchFamily="34" charset="-122"/>
                <a:cs typeface="Helvetica Neue" pitchFamily="34" charset="-120"/>
              </a:rPr>
              <a:t>so</a:t>
            </a:r>
            <a:endParaRPr lang="en-US" sz="1500" dirty="0"/>
          </a:p>
        </p:txBody>
      </p:sp>
      <p:sp>
        <p:nvSpPr>
          <p:cNvPr id="19" name="Shape 17"/>
          <p:cNvSpPr/>
          <p:nvPr/>
        </p:nvSpPr>
        <p:spPr>
          <a:xfrm>
            <a:off x="7604150" y="4160520"/>
            <a:ext cx="932688" cy="475488"/>
          </a:xfrm>
          <a:prstGeom prst="roundRect">
            <a:avLst>
              <a:gd name="adj" fmla="val 15385"/>
            </a:avLst>
          </a:prstGeom>
          <a:solidFill>
            <a:srgbClr val="0E1219"/>
          </a:solidFill>
          <a:ln w="12700">
            <a:solidFill>
              <a:srgbClr val="1A212C"/>
            </a:solidFill>
            <a:prstDash val="solid"/>
          </a:ln>
        </p:spPr>
        <p:txBody>
          <a:bodyPr/>
          <a:lstStyle/>
          <a:p>
            <a:endParaRPr lang="en-US"/>
          </a:p>
        </p:txBody>
      </p:sp>
      <p:sp>
        <p:nvSpPr>
          <p:cNvPr id="20" name="Text 18"/>
          <p:cNvSpPr/>
          <p:nvPr/>
        </p:nvSpPr>
        <p:spPr>
          <a:xfrm>
            <a:off x="7604150" y="4160520"/>
            <a:ext cx="932688" cy="475488"/>
          </a:xfrm>
          <a:prstGeom prst="rect">
            <a:avLst/>
          </a:prstGeom>
          <a:noFill/>
          <a:ln/>
        </p:spPr>
        <p:txBody>
          <a:bodyPr wrap="square" rtlCol="0" anchor="ctr"/>
          <a:lstStyle/>
          <a:p>
            <a:pPr marL="0" indent="0" algn="ctr">
              <a:lnSpc>
                <a:spcPct val="105000"/>
              </a:lnSpc>
              <a:buNone/>
            </a:pPr>
            <a:r>
              <a:rPr lang="en-US" sz="1500" dirty="0">
                <a:solidFill>
                  <a:srgbClr val="B2BDCD"/>
                </a:solidFill>
                <a:latin typeface="Helvetica Neue" pitchFamily="34" charset="0"/>
                <a:ea typeface="Helvetica Neue" pitchFamily="34" charset="-122"/>
                <a:cs typeface="Helvetica Neue" pitchFamily="34" charset="-120"/>
              </a:rPr>
              <a:t>the</a:t>
            </a:r>
            <a:endParaRPr lang="en-US" sz="1500" dirty="0"/>
          </a:p>
        </p:txBody>
      </p:sp>
      <p:sp>
        <p:nvSpPr>
          <p:cNvPr id="21" name="Shape 19"/>
          <p:cNvSpPr/>
          <p:nvPr/>
        </p:nvSpPr>
        <p:spPr>
          <a:xfrm>
            <a:off x="8591702" y="4160520"/>
            <a:ext cx="932688" cy="475488"/>
          </a:xfrm>
          <a:prstGeom prst="roundRect">
            <a:avLst>
              <a:gd name="adj" fmla="val 15385"/>
            </a:avLst>
          </a:prstGeom>
          <a:solidFill>
            <a:srgbClr val="0E1219"/>
          </a:solidFill>
          <a:ln w="12700">
            <a:solidFill>
              <a:srgbClr val="1A212C"/>
            </a:solidFill>
            <a:prstDash val="solid"/>
          </a:ln>
        </p:spPr>
        <p:txBody>
          <a:bodyPr/>
          <a:lstStyle/>
          <a:p>
            <a:endParaRPr lang="en-US"/>
          </a:p>
        </p:txBody>
      </p:sp>
      <p:sp>
        <p:nvSpPr>
          <p:cNvPr id="22" name="Text 20"/>
          <p:cNvSpPr/>
          <p:nvPr/>
        </p:nvSpPr>
        <p:spPr>
          <a:xfrm>
            <a:off x="8591702" y="4160520"/>
            <a:ext cx="932688" cy="475488"/>
          </a:xfrm>
          <a:prstGeom prst="rect">
            <a:avLst/>
          </a:prstGeom>
          <a:noFill/>
          <a:ln/>
        </p:spPr>
        <p:txBody>
          <a:bodyPr wrap="square" rtlCol="0" anchor="ctr"/>
          <a:lstStyle/>
          <a:p>
            <a:pPr marL="0" indent="0" algn="ctr">
              <a:lnSpc>
                <a:spcPct val="105000"/>
              </a:lnSpc>
              <a:buNone/>
            </a:pPr>
            <a:r>
              <a:rPr lang="en-US" sz="1500" dirty="0">
                <a:solidFill>
                  <a:srgbClr val="B2BDCD"/>
                </a:solidFill>
                <a:latin typeface="Helvetica Neue" pitchFamily="34" charset="0"/>
                <a:ea typeface="Helvetica Neue" pitchFamily="34" charset="-122"/>
                <a:cs typeface="Helvetica Neue" pitchFamily="34" charset="-120"/>
              </a:rPr>
              <a:t>agent</a:t>
            </a:r>
            <a:endParaRPr lang="en-US" sz="1500" dirty="0"/>
          </a:p>
        </p:txBody>
      </p:sp>
      <p:sp>
        <p:nvSpPr>
          <p:cNvPr id="23" name="Shape 21"/>
          <p:cNvSpPr/>
          <p:nvPr/>
        </p:nvSpPr>
        <p:spPr>
          <a:xfrm>
            <a:off x="9579254" y="4160520"/>
            <a:ext cx="932688" cy="475488"/>
          </a:xfrm>
          <a:prstGeom prst="roundRect">
            <a:avLst>
              <a:gd name="adj" fmla="val 15385"/>
            </a:avLst>
          </a:prstGeom>
          <a:solidFill>
            <a:srgbClr val="0E1219"/>
          </a:solidFill>
          <a:ln w="12700">
            <a:solidFill>
              <a:srgbClr val="1A212C"/>
            </a:solidFill>
            <a:prstDash val="solid"/>
          </a:ln>
        </p:spPr>
        <p:txBody>
          <a:bodyPr/>
          <a:lstStyle/>
          <a:p>
            <a:endParaRPr lang="en-US"/>
          </a:p>
        </p:txBody>
      </p:sp>
      <p:sp>
        <p:nvSpPr>
          <p:cNvPr id="24" name="Text 22"/>
          <p:cNvSpPr/>
          <p:nvPr/>
        </p:nvSpPr>
        <p:spPr>
          <a:xfrm>
            <a:off x="9579254" y="4160520"/>
            <a:ext cx="932688" cy="475488"/>
          </a:xfrm>
          <a:prstGeom prst="rect">
            <a:avLst/>
          </a:prstGeom>
          <a:noFill/>
          <a:ln/>
        </p:spPr>
        <p:txBody>
          <a:bodyPr wrap="square" rtlCol="0" anchor="ctr"/>
          <a:lstStyle/>
          <a:p>
            <a:pPr marL="0" indent="0" algn="ctr">
              <a:lnSpc>
                <a:spcPct val="105000"/>
              </a:lnSpc>
              <a:buNone/>
            </a:pPr>
            <a:r>
              <a:rPr lang="en-US" sz="1500" dirty="0">
                <a:solidFill>
                  <a:srgbClr val="B2BDCD"/>
                </a:solidFill>
                <a:latin typeface="Helvetica Neue" pitchFamily="34" charset="0"/>
                <a:ea typeface="Helvetica Neue" pitchFamily="34" charset="-122"/>
                <a:cs typeface="Helvetica Neue" pitchFamily="34" charset="-120"/>
              </a:rPr>
              <a:t>flagged</a:t>
            </a:r>
            <a:endParaRPr lang="en-US" sz="1500" dirty="0"/>
          </a:p>
        </p:txBody>
      </p:sp>
      <p:sp>
        <p:nvSpPr>
          <p:cNvPr id="25" name="Shape 23"/>
          <p:cNvSpPr/>
          <p:nvPr/>
        </p:nvSpPr>
        <p:spPr>
          <a:xfrm>
            <a:off x="10566806" y="4160520"/>
            <a:ext cx="932688" cy="475488"/>
          </a:xfrm>
          <a:prstGeom prst="roundRect">
            <a:avLst>
              <a:gd name="adj" fmla="val 15385"/>
            </a:avLst>
          </a:prstGeom>
          <a:solidFill>
            <a:srgbClr val="1E3A33"/>
          </a:solidFill>
          <a:ln w="19050">
            <a:solidFill>
              <a:srgbClr val="75EDBB"/>
            </a:solidFill>
            <a:prstDash val="solid"/>
          </a:ln>
        </p:spPr>
        <p:txBody>
          <a:bodyPr/>
          <a:lstStyle/>
          <a:p>
            <a:endParaRPr lang="en-US"/>
          </a:p>
        </p:txBody>
      </p:sp>
      <p:sp>
        <p:nvSpPr>
          <p:cNvPr id="26" name="Text 24"/>
          <p:cNvSpPr/>
          <p:nvPr/>
        </p:nvSpPr>
        <p:spPr>
          <a:xfrm>
            <a:off x="10566806" y="4160520"/>
            <a:ext cx="932688" cy="475488"/>
          </a:xfrm>
          <a:prstGeom prst="rect">
            <a:avLst/>
          </a:prstGeom>
          <a:noFill/>
          <a:ln/>
        </p:spPr>
        <p:txBody>
          <a:bodyPr wrap="square" rtlCol="0" anchor="ctr"/>
          <a:lstStyle/>
          <a:p>
            <a:pPr marL="0" indent="0" algn="ctr">
              <a:lnSpc>
                <a:spcPct val="105000"/>
              </a:lnSpc>
              <a:buNone/>
            </a:pPr>
            <a:r>
              <a:rPr lang="en-US" sz="1500" dirty="0">
                <a:solidFill>
                  <a:srgbClr val="75EDBB"/>
                </a:solidFill>
                <a:latin typeface="Helvetica Neue" pitchFamily="34" charset="0"/>
                <a:ea typeface="Helvetica Neue" pitchFamily="34" charset="-122"/>
                <a:cs typeface="Helvetica Neue" pitchFamily="34" charset="-120"/>
              </a:rPr>
              <a:t>it</a:t>
            </a:r>
            <a:endParaRPr lang="en-US" sz="1500" dirty="0"/>
          </a:p>
        </p:txBody>
      </p:sp>
      <p:sp>
        <p:nvSpPr>
          <p:cNvPr id="27" name="b01-wipe-attention-links"/>
          <p:cNvSpPr/>
          <p:nvPr/>
        </p:nvSpPr>
        <p:spPr>
          <a:xfrm>
            <a:off x="11033150" y="3017520"/>
            <a:ext cx="0" cy="1143000"/>
          </a:xfrm>
          <a:prstGeom prst="line">
            <a:avLst/>
          </a:prstGeom>
          <a:noFill/>
          <a:ln w="19050">
            <a:solidFill>
              <a:srgbClr val="75EDBB"/>
            </a:solidFill>
            <a:prstDash val="solid"/>
          </a:ln>
        </p:spPr>
        <p:txBody>
          <a:bodyPr/>
          <a:lstStyle/>
          <a:p>
            <a:endParaRPr lang="en-US"/>
          </a:p>
        </p:txBody>
      </p:sp>
      <p:sp>
        <p:nvSpPr>
          <p:cNvPr id="28" name="b01-wipe-attention-links"/>
          <p:cNvSpPr/>
          <p:nvPr/>
        </p:nvSpPr>
        <p:spPr>
          <a:xfrm>
            <a:off x="2145182" y="3017520"/>
            <a:ext cx="8887968" cy="0"/>
          </a:xfrm>
          <a:prstGeom prst="line">
            <a:avLst/>
          </a:prstGeom>
          <a:noFill/>
          <a:ln w="44450">
            <a:solidFill>
              <a:srgbClr val="75EDBB"/>
            </a:solidFill>
            <a:prstDash val="solid"/>
          </a:ln>
        </p:spPr>
        <p:txBody>
          <a:bodyPr/>
          <a:lstStyle/>
          <a:p>
            <a:endParaRPr lang="en-US"/>
          </a:p>
        </p:txBody>
      </p:sp>
      <p:sp>
        <p:nvSpPr>
          <p:cNvPr id="29" name="b01-wipe-attention-links"/>
          <p:cNvSpPr/>
          <p:nvPr/>
        </p:nvSpPr>
        <p:spPr>
          <a:xfrm>
            <a:off x="2145182" y="3017520"/>
            <a:ext cx="0" cy="1143000"/>
          </a:xfrm>
          <a:prstGeom prst="line">
            <a:avLst/>
          </a:prstGeom>
          <a:noFill/>
          <a:ln w="44450">
            <a:solidFill>
              <a:srgbClr val="75EDBB"/>
            </a:solidFill>
            <a:prstDash val="solid"/>
            <a:tailEnd type="triangle"/>
          </a:ln>
        </p:spPr>
        <p:txBody>
          <a:bodyPr/>
          <a:lstStyle/>
          <a:p>
            <a:endParaRPr lang="en-US"/>
          </a:p>
        </p:txBody>
      </p:sp>
      <p:sp>
        <p:nvSpPr>
          <p:cNvPr id="30" name="b01-wipe-attention-links"/>
          <p:cNvSpPr/>
          <p:nvPr/>
        </p:nvSpPr>
        <p:spPr>
          <a:xfrm>
            <a:off x="2254910" y="2724912"/>
            <a:ext cx="822960" cy="256032"/>
          </a:xfrm>
          <a:prstGeom prst="rect">
            <a:avLst/>
          </a:prstGeom>
          <a:noFill/>
          <a:ln/>
        </p:spPr>
        <p:txBody>
          <a:bodyPr wrap="square" rtlCol="0" anchor="t"/>
          <a:lstStyle/>
          <a:p>
            <a:pPr marL="0" indent="0">
              <a:lnSpc>
                <a:spcPct val="105000"/>
              </a:lnSpc>
              <a:buNone/>
            </a:pPr>
            <a:r>
              <a:rPr lang="en-US" sz="1500" dirty="0">
                <a:solidFill>
                  <a:srgbClr val="75EDBB"/>
                </a:solidFill>
                <a:latin typeface="Helvetica Neue" pitchFamily="34" charset="0"/>
                <a:ea typeface="Helvetica Neue" pitchFamily="34" charset="-122"/>
                <a:cs typeface="Helvetica Neue" pitchFamily="34" charset="-120"/>
              </a:rPr>
              <a:t>0.52</a:t>
            </a:r>
            <a:endParaRPr lang="en-US" sz="1500" dirty="0"/>
          </a:p>
        </p:txBody>
      </p:sp>
      <p:sp>
        <p:nvSpPr>
          <p:cNvPr id="31" name="b01-wipe-attention-links"/>
          <p:cNvSpPr/>
          <p:nvPr/>
        </p:nvSpPr>
        <p:spPr>
          <a:xfrm>
            <a:off x="5107838" y="3401568"/>
            <a:ext cx="5925312" cy="0"/>
          </a:xfrm>
          <a:prstGeom prst="line">
            <a:avLst/>
          </a:prstGeom>
          <a:noFill/>
          <a:ln w="25400">
            <a:solidFill>
              <a:srgbClr val="75EDBB"/>
            </a:solidFill>
            <a:prstDash val="solid"/>
          </a:ln>
        </p:spPr>
        <p:txBody>
          <a:bodyPr/>
          <a:lstStyle/>
          <a:p>
            <a:endParaRPr lang="en-US"/>
          </a:p>
        </p:txBody>
      </p:sp>
      <p:sp>
        <p:nvSpPr>
          <p:cNvPr id="32" name="b01-wipe-attention-links"/>
          <p:cNvSpPr/>
          <p:nvPr/>
        </p:nvSpPr>
        <p:spPr>
          <a:xfrm>
            <a:off x="5107838" y="3401568"/>
            <a:ext cx="0" cy="758952"/>
          </a:xfrm>
          <a:prstGeom prst="line">
            <a:avLst/>
          </a:prstGeom>
          <a:noFill/>
          <a:ln w="25400">
            <a:solidFill>
              <a:srgbClr val="75EDBB"/>
            </a:solidFill>
            <a:prstDash val="solid"/>
            <a:tailEnd type="triangle"/>
          </a:ln>
        </p:spPr>
        <p:txBody>
          <a:bodyPr/>
          <a:lstStyle/>
          <a:p>
            <a:endParaRPr lang="en-US"/>
          </a:p>
        </p:txBody>
      </p:sp>
      <p:sp>
        <p:nvSpPr>
          <p:cNvPr id="33" name="b01-wipe-attention-links"/>
          <p:cNvSpPr/>
          <p:nvPr/>
        </p:nvSpPr>
        <p:spPr>
          <a:xfrm>
            <a:off x="5217566" y="3108960"/>
            <a:ext cx="822960" cy="256032"/>
          </a:xfrm>
          <a:prstGeom prst="rect">
            <a:avLst/>
          </a:prstGeom>
          <a:noFill/>
          <a:ln/>
        </p:spPr>
        <p:txBody>
          <a:bodyPr wrap="square" rtlCol="0" anchor="t"/>
          <a:lstStyle/>
          <a:p>
            <a:pPr marL="0" indent="0">
              <a:lnSpc>
                <a:spcPct val="105000"/>
              </a:lnSpc>
              <a:buNone/>
            </a:pPr>
            <a:r>
              <a:rPr lang="en-US" sz="1500" dirty="0">
                <a:solidFill>
                  <a:srgbClr val="75EDBB"/>
                </a:solidFill>
                <a:latin typeface="Helvetica Neue" pitchFamily="34" charset="0"/>
                <a:ea typeface="Helvetica Neue" pitchFamily="34" charset="-122"/>
                <a:cs typeface="Helvetica Neue" pitchFamily="34" charset="-120"/>
              </a:rPr>
              <a:t>0.21</a:t>
            </a:r>
            <a:endParaRPr lang="en-US" sz="1500" dirty="0"/>
          </a:p>
        </p:txBody>
      </p:sp>
      <p:sp>
        <p:nvSpPr>
          <p:cNvPr id="34" name="b01-wipe-attention-links"/>
          <p:cNvSpPr/>
          <p:nvPr/>
        </p:nvSpPr>
        <p:spPr>
          <a:xfrm>
            <a:off x="9058046" y="3785616"/>
            <a:ext cx="1975104" cy="0"/>
          </a:xfrm>
          <a:prstGeom prst="line">
            <a:avLst/>
          </a:prstGeom>
          <a:noFill/>
          <a:ln w="15875">
            <a:solidFill>
              <a:srgbClr val="75EDBB"/>
            </a:solidFill>
            <a:prstDash val="solid"/>
          </a:ln>
        </p:spPr>
        <p:txBody>
          <a:bodyPr/>
          <a:lstStyle/>
          <a:p>
            <a:endParaRPr lang="en-US"/>
          </a:p>
        </p:txBody>
      </p:sp>
      <p:sp>
        <p:nvSpPr>
          <p:cNvPr id="35" name="b01-wipe-attention-links"/>
          <p:cNvSpPr/>
          <p:nvPr/>
        </p:nvSpPr>
        <p:spPr>
          <a:xfrm>
            <a:off x="9058046" y="3785616"/>
            <a:ext cx="0" cy="374904"/>
          </a:xfrm>
          <a:prstGeom prst="line">
            <a:avLst/>
          </a:prstGeom>
          <a:noFill/>
          <a:ln w="15875">
            <a:solidFill>
              <a:srgbClr val="75EDBB"/>
            </a:solidFill>
            <a:prstDash val="solid"/>
            <a:tailEnd type="triangle"/>
          </a:ln>
        </p:spPr>
        <p:txBody>
          <a:bodyPr/>
          <a:lstStyle/>
          <a:p>
            <a:endParaRPr lang="en-US"/>
          </a:p>
        </p:txBody>
      </p:sp>
      <p:sp>
        <p:nvSpPr>
          <p:cNvPr id="36" name="b01-wipe-attention-links"/>
          <p:cNvSpPr/>
          <p:nvPr/>
        </p:nvSpPr>
        <p:spPr>
          <a:xfrm>
            <a:off x="9167774" y="3493008"/>
            <a:ext cx="822960" cy="256032"/>
          </a:xfrm>
          <a:prstGeom prst="rect">
            <a:avLst/>
          </a:prstGeom>
          <a:noFill/>
          <a:ln/>
        </p:spPr>
        <p:txBody>
          <a:bodyPr wrap="square" rtlCol="0" anchor="t"/>
          <a:lstStyle/>
          <a:p>
            <a:pPr marL="0" indent="0">
              <a:lnSpc>
                <a:spcPct val="105000"/>
              </a:lnSpc>
              <a:buNone/>
            </a:pPr>
            <a:r>
              <a:rPr lang="en-US" sz="1500" dirty="0">
                <a:solidFill>
                  <a:srgbClr val="75EDBB"/>
                </a:solidFill>
                <a:latin typeface="Helvetica Neue" pitchFamily="34" charset="0"/>
                <a:ea typeface="Helvetica Neue" pitchFamily="34" charset="-122"/>
                <a:cs typeface="Helvetica Neue" pitchFamily="34" charset="-120"/>
              </a:rPr>
              <a:t>0.12</a:t>
            </a:r>
            <a:endParaRPr lang="en-US" sz="1500" dirty="0"/>
          </a:p>
        </p:txBody>
      </p:sp>
      <p:sp>
        <p:nvSpPr>
          <p:cNvPr id="37" name="Text 35"/>
          <p:cNvSpPr/>
          <p:nvPr/>
        </p:nvSpPr>
        <p:spPr>
          <a:xfrm>
            <a:off x="10341864" y="4690872"/>
            <a:ext cx="1280160" cy="256032"/>
          </a:xfrm>
          <a:prstGeom prst="rect">
            <a:avLst/>
          </a:prstGeom>
          <a:noFill/>
          <a:ln/>
        </p:spPr>
        <p:txBody>
          <a:bodyPr wrap="square" rtlCol="0" anchor="t"/>
          <a:lstStyle/>
          <a:p>
            <a:pPr marL="0" indent="0" algn="ctr">
              <a:lnSpc>
                <a:spcPct val="105000"/>
              </a:lnSpc>
              <a:buNone/>
            </a:pPr>
            <a:r>
              <a:rPr lang="en-US" sz="1500" dirty="0">
                <a:solidFill>
                  <a:srgbClr val="75EDBB"/>
                </a:solidFill>
                <a:latin typeface="Helvetica Neue" pitchFamily="34" charset="0"/>
                <a:ea typeface="Helvetica Neue" pitchFamily="34" charset="-122"/>
                <a:cs typeface="Helvetica Neue" pitchFamily="34" charset="-120"/>
              </a:rPr>
              <a:t>query token</a:t>
            </a:r>
            <a:endParaRPr lang="en-US" sz="1500" dirty="0"/>
          </a:p>
        </p:txBody>
      </p:sp>
      <p:sp>
        <p:nvSpPr>
          <p:cNvPr id="38" name="Text 36"/>
          <p:cNvSpPr/>
          <p:nvPr/>
        </p:nvSpPr>
        <p:spPr>
          <a:xfrm>
            <a:off x="566928" y="2487168"/>
            <a:ext cx="4206240" cy="274320"/>
          </a:xfrm>
          <a:prstGeom prst="rect">
            <a:avLst/>
          </a:prstGeom>
          <a:noFill/>
          <a:ln/>
        </p:spPr>
        <p:txBody>
          <a:bodyPr wrap="square" rtlCol="0" anchor="t"/>
          <a:lstStyle/>
          <a:p>
            <a:pPr marL="0" indent="0">
              <a:lnSpc>
                <a:spcPct val="105000"/>
              </a:lnSpc>
              <a:buNone/>
            </a:pPr>
            <a:r>
              <a:rPr lang="en-US" sz="1500" dirty="0">
                <a:solidFill>
                  <a:srgbClr val="6F7B8D"/>
                </a:solidFill>
                <a:latin typeface="Helvetica Neue" pitchFamily="34" charset="0"/>
                <a:ea typeface="Helvetica Neue" pitchFamily="34" charset="-122"/>
                <a:cs typeface="Helvetica Neue" pitchFamily="34" charset="-120"/>
              </a:rPr>
              <a:t>attention weights, illustrative</a:t>
            </a:r>
            <a:endParaRPr lang="en-US" sz="1500" dirty="0"/>
          </a:p>
        </p:txBody>
      </p:sp>
      <p:sp>
        <p:nvSpPr>
          <p:cNvPr id="39" name="b02-rise-attention-takeaway"/>
          <p:cNvSpPr/>
          <p:nvPr/>
        </p:nvSpPr>
        <p:spPr>
          <a:xfrm>
            <a:off x="566928" y="5230368"/>
            <a:ext cx="11064240" cy="749808"/>
          </a:xfrm>
          <a:prstGeom prst="roundRect">
            <a:avLst>
              <a:gd name="adj" fmla="val 15854"/>
            </a:avLst>
          </a:prstGeom>
          <a:solidFill>
            <a:srgbClr val="0E1219"/>
          </a:solidFill>
          <a:ln w="12700">
            <a:solidFill>
              <a:srgbClr val="232C3A"/>
            </a:solidFill>
            <a:prstDash val="solid"/>
          </a:ln>
        </p:spPr>
        <p:txBody>
          <a:bodyPr/>
          <a:lstStyle/>
          <a:p>
            <a:endParaRPr lang="en-US"/>
          </a:p>
        </p:txBody>
      </p:sp>
      <p:sp>
        <p:nvSpPr>
          <p:cNvPr id="40" name="b02-rise-attention-takeaway"/>
          <p:cNvSpPr/>
          <p:nvPr/>
        </p:nvSpPr>
        <p:spPr>
          <a:xfrm>
            <a:off x="841248" y="5230368"/>
            <a:ext cx="10515600" cy="749808"/>
          </a:xfrm>
          <a:prstGeom prst="rect">
            <a:avLst/>
          </a:prstGeom>
          <a:noFill/>
          <a:ln/>
        </p:spPr>
        <p:txBody>
          <a:bodyPr wrap="square" rtlCol="0" anchor="ctr"/>
          <a:lstStyle/>
          <a:p>
            <a:pPr marL="0" indent="0">
              <a:lnSpc>
                <a:spcPct val="105000"/>
              </a:lnSpc>
              <a:buNone/>
            </a:pPr>
            <a:r>
              <a:rPr lang="en-US" sz="1900" dirty="0">
                <a:solidFill>
                  <a:srgbClr val="F3F6FA"/>
                </a:solidFill>
                <a:latin typeface="Helvetica Neue" pitchFamily="34" charset="0"/>
                <a:ea typeface="Helvetica Neue" pitchFamily="34" charset="-122"/>
                <a:cs typeface="Helvetica Neue" pitchFamily="34" charset="-120"/>
              </a:rPr>
              <a:t>The model weighs earlier tokens when it picks the next one. Those weights are learned associations, not a check on what is true.</a:t>
            </a:r>
            <a:endParaRPr lang="en-US" sz="1900" dirty="0"/>
          </a:p>
        </p:txBody>
      </p:sp>
      <p:sp>
        <p:nvSpPr>
          <p:cNvPr id="41" name="Text 39"/>
          <p:cNvSpPr/>
          <p:nvPr/>
        </p:nvSpPr>
        <p:spPr>
          <a:xfrm>
            <a:off x="566928" y="6391656"/>
            <a:ext cx="8961120" cy="274320"/>
          </a:xfrm>
          <a:prstGeom prst="rect">
            <a:avLst/>
          </a:prstGeom>
          <a:noFill/>
          <a:ln/>
        </p:spPr>
        <p:txBody>
          <a:bodyPr wrap="square" rtlCol="0" anchor="ctr"/>
          <a:lstStyle/>
          <a:p>
            <a:pPr marL="0" indent="0">
              <a:lnSpc>
                <a:spcPct val="105000"/>
              </a:lnSpc>
              <a:buNone/>
            </a:pPr>
            <a:r>
              <a:rPr lang="en-US" sz="1100" dirty="0">
                <a:solidFill>
                  <a:srgbClr val="6F7B8D"/>
                </a:solidFill>
                <a:latin typeface="Helvetica Neue" pitchFamily="34" charset="0"/>
                <a:ea typeface="Helvetica Neue" pitchFamily="34" charset="-122"/>
                <a:cs typeface="Helvetica Neue" pitchFamily="34" charset="-120"/>
              </a:rPr>
              <a:t>Vaswani et al., 2017 · arxiv.org/abs/1706.03762</a:t>
            </a:r>
            <a:endParaRPr lang="en-US" sz="1100" dirty="0"/>
          </a:p>
        </p:txBody>
      </p:sp>
      <p:sp>
        <p:nvSpPr>
          <p:cNvPr id="42" name="Text 40"/>
          <p:cNvSpPr/>
          <p:nvPr/>
        </p:nvSpPr>
        <p:spPr>
          <a:xfrm>
            <a:off x="9692640" y="6391656"/>
            <a:ext cx="1929384" cy="274320"/>
          </a:xfrm>
          <a:prstGeom prst="rect">
            <a:avLst/>
          </a:prstGeom>
          <a:noFill/>
          <a:ln/>
        </p:spPr>
        <p:txBody>
          <a:bodyPr wrap="square" rtlCol="0" anchor="ctr"/>
          <a:lstStyle/>
          <a:p>
            <a:pPr marL="0" indent="0" algn="r">
              <a:lnSpc>
                <a:spcPct val="105000"/>
              </a:lnSpc>
              <a:buNone/>
            </a:pPr>
            <a:r>
              <a:rPr lang="en-US" sz="1100" dirty="0">
                <a:solidFill>
                  <a:srgbClr val="6F7B8D"/>
                </a:solidFill>
                <a:latin typeface="Helvetica Neue" pitchFamily="34" charset="0"/>
                <a:ea typeface="Helvetica Neue" pitchFamily="34" charset="-122"/>
                <a:cs typeface="Helvetica Neue" pitchFamily="34" charset="-120"/>
              </a:rPr>
              <a:t>02 / 20</a:t>
            </a:r>
            <a:endParaRPr lang="en-US" sz="1100"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wipe(right)">
                                      <p:cBhvr>
                                        <p:cTn id="7" dur="420"/>
                                        <p:tgtEl>
                                          <p:spTgt spid="27"/>
                                        </p:tgtEl>
                                      </p:cBhvr>
                                    </p:animEffect>
                                  </p:childTnLst>
                                </p:cTn>
                              </p:par>
                              <p:par>
                                <p:cTn id="8" presetID="22" presetClass="entr" presetSubtype="1" fill="hold"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wipe(right)">
                                      <p:cBhvr>
                                        <p:cTn id="10" dur="420"/>
                                        <p:tgtEl>
                                          <p:spTgt spid="28"/>
                                        </p:tgtEl>
                                      </p:cBhvr>
                                    </p:animEffect>
                                  </p:childTnLst>
                                </p:cTn>
                              </p:par>
                              <p:par>
                                <p:cTn id="11" presetID="22" presetClass="entr" presetSubtype="1" fill="hold" nodeType="with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wipe(right)">
                                      <p:cBhvr>
                                        <p:cTn id="13" dur="420"/>
                                        <p:tgtEl>
                                          <p:spTgt spid="29"/>
                                        </p:tgtEl>
                                      </p:cBhvr>
                                    </p:animEffect>
                                  </p:childTnLst>
                                </p:cTn>
                              </p:par>
                              <p:par>
                                <p:cTn id="14" presetID="22" presetClass="entr" presetSubtype="1" fill="hold" nodeType="withEffect">
                                  <p:stCondLst>
                                    <p:cond delay="0"/>
                                  </p:stCondLst>
                                  <p:childTnLst>
                                    <p:set>
                                      <p:cBhvr>
                                        <p:cTn id="15" dur="1" fill="hold">
                                          <p:stCondLst>
                                            <p:cond delay="0"/>
                                          </p:stCondLst>
                                        </p:cTn>
                                        <p:tgtEl>
                                          <p:spTgt spid="30"/>
                                        </p:tgtEl>
                                        <p:attrNameLst>
                                          <p:attrName>style.visibility</p:attrName>
                                        </p:attrNameLst>
                                      </p:cBhvr>
                                      <p:to>
                                        <p:strVal val="visible"/>
                                      </p:to>
                                    </p:set>
                                    <p:animEffect transition="in" filter="wipe(right)">
                                      <p:cBhvr>
                                        <p:cTn id="16" dur="420"/>
                                        <p:tgtEl>
                                          <p:spTgt spid="30"/>
                                        </p:tgtEl>
                                      </p:cBhvr>
                                    </p:animEffect>
                                  </p:childTnLst>
                                </p:cTn>
                              </p:par>
                              <p:par>
                                <p:cTn id="17" presetID="22" presetClass="entr" presetSubtype="1" fill="hold" nodeType="withEffect">
                                  <p:stCondLst>
                                    <p:cond delay="0"/>
                                  </p:stCondLst>
                                  <p:childTnLst>
                                    <p:set>
                                      <p:cBhvr>
                                        <p:cTn id="18" dur="1" fill="hold">
                                          <p:stCondLst>
                                            <p:cond delay="0"/>
                                          </p:stCondLst>
                                        </p:cTn>
                                        <p:tgtEl>
                                          <p:spTgt spid="31"/>
                                        </p:tgtEl>
                                        <p:attrNameLst>
                                          <p:attrName>style.visibility</p:attrName>
                                        </p:attrNameLst>
                                      </p:cBhvr>
                                      <p:to>
                                        <p:strVal val="visible"/>
                                      </p:to>
                                    </p:set>
                                    <p:animEffect transition="in" filter="wipe(right)">
                                      <p:cBhvr>
                                        <p:cTn id="19" dur="420"/>
                                        <p:tgtEl>
                                          <p:spTgt spid="31"/>
                                        </p:tgtEl>
                                      </p:cBhvr>
                                    </p:animEffect>
                                  </p:childTnLst>
                                </p:cTn>
                              </p:par>
                              <p:par>
                                <p:cTn id="20" presetID="22" presetClass="entr" presetSubtype="1" fill="hold" nodeType="with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wipe(right)">
                                      <p:cBhvr>
                                        <p:cTn id="22" dur="420"/>
                                        <p:tgtEl>
                                          <p:spTgt spid="32"/>
                                        </p:tgtEl>
                                      </p:cBhvr>
                                    </p:animEffect>
                                  </p:childTnLst>
                                </p:cTn>
                              </p:par>
                              <p:par>
                                <p:cTn id="23" presetID="22" presetClass="entr" presetSubtype="1" fill="hold" nodeType="withEffect">
                                  <p:stCondLst>
                                    <p:cond delay="0"/>
                                  </p:stCondLst>
                                  <p:childTnLst>
                                    <p:set>
                                      <p:cBhvr>
                                        <p:cTn id="24" dur="1" fill="hold">
                                          <p:stCondLst>
                                            <p:cond delay="0"/>
                                          </p:stCondLst>
                                        </p:cTn>
                                        <p:tgtEl>
                                          <p:spTgt spid="33"/>
                                        </p:tgtEl>
                                        <p:attrNameLst>
                                          <p:attrName>style.visibility</p:attrName>
                                        </p:attrNameLst>
                                      </p:cBhvr>
                                      <p:to>
                                        <p:strVal val="visible"/>
                                      </p:to>
                                    </p:set>
                                    <p:animEffect transition="in" filter="wipe(right)">
                                      <p:cBhvr>
                                        <p:cTn id="25" dur="420"/>
                                        <p:tgtEl>
                                          <p:spTgt spid="33"/>
                                        </p:tgtEl>
                                      </p:cBhvr>
                                    </p:animEffect>
                                  </p:childTnLst>
                                </p:cTn>
                              </p:par>
                              <p:par>
                                <p:cTn id="26" presetID="22" presetClass="entr" presetSubtype="1" fill="hold" nodeType="withEffect">
                                  <p:stCondLst>
                                    <p:cond delay="0"/>
                                  </p:stCondLst>
                                  <p:childTnLst>
                                    <p:set>
                                      <p:cBhvr>
                                        <p:cTn id="27" dur="1" fill="hold">
                                          <p:stCondLst>
                                            <p:cond delay="0"/>
                                          </p:stCondLst>
                                        </p:cTn>
                                        <p:tgtEl>
                                          <p:spTgt spid="34"/>
                                        </p:tgtEl>
                                        <p:attrNameLst>
                                          <p:attrName>style.visibility</p:attrName>
                                        </p:attrNameLst>
                                      </p:cBhvr>
                                      <p:to>
                                        <p:strVal val="visible"/>
                                      </p:to>
                                    </p:set>
                                    <p:animEffect transition="in" filter="wipe(right)">
                                      <p:cBhvr>
                                        <p:cTn id="28" dur="420"/>
                                        <p:tgtEl>
                                          <p:spTgt spid="34"/>
                                        </p:tgtEl>
                                      </p:cBhvr>
                                    </p:animEffect>
                                  </p:childTnLst>
                                </p:cTn>
                              </p:par>
                              <p:par>
                                <p:cTn id="29" presetID="22" presetClass="entr" presetSubtype="1" fill="hold" nodeType="withEffect">
                                  <p:stCondLst>
                                    <p:cond delay="0"/>
                                  </p:stCondLst>
                                  <p:childTnLst>
                                    <p:set>
                                      <p:cBhvr>
                                        <p:cTn id="30" dur="1" fill="hold">
                                          <p:stCondLst>
                                            <p:cond delay="0"/>
                                          </p:stCondLst>
                                        </p:cTn>
                                        <p:tgtEl>
                                          <p:spTgt spid="35"/>
                                        </p:tgtEl>
                                        <p:attrNameLst>
                                          <p:attrName>style.visibility</p:attrName>
                                        </p:attrNameLst>
                                      </p:cBhvr>
                                      <p:to>
                                        <p:strVal val="visible"/>
                                      </p:to>
                                    </p:set>
                                    <p:animEffect transition="in" filter="wipe(right)">
                                      <p:cBhvr>
                                        <p:cTn id="31" dur="420"/>
                                        <p:tgtEl>
                                          <p:spTgt spid="35"/>
                                        </p:tgtEl>
                                      </p:cBhvr>
                                    </p:animEffect>
                                  </p:childTnLst>
                                </p:cTn>
                              </p:par>
                              <p:par>
                                <p:cTn id="32" presetID="22" presetClass="entr" presetSubtype="1" fill="hold" nodeType="withEffect">
                                  <p:stCondLst>
                                    <p:cond delay="0"/>
                                  </p:stCondLst>
                                  <p:childTnLst>
                                    <p:set>
                                      <p:cBhvr>
                                        <p:cTn id="33" dur="1" fill="hold">
                                          <p:stCondLst>
                                            <p:cond delay="0"/>
                                          </p:stCondLst>
                                        </p:cTn>
                                        <p:tgtEl>
                                          <p:spTgt spid="36"/>
                                        </p:tgtEl>
                                        <p:attrNameLst>
                                          <p:attrName>style.visibility</p:attrName>
                                        </p:attrNameLst>
                                      </p:cBhvr>
                                      <p:to>
                                        <p:strVal val="visible"/>
                                      </p:to>
                                    </p:set>
                                    <p:animEffect transition="in" filter="wipe(right)">
                                      <p:cBhvr>
                                        <p:cTn id="34" dur="420"/>
                                        <p:tgtEl>
                                          <p:spTgt spid="36"/>
                                        </p:tgtEl>
                                      </p:cBhvr>
                                    </p:animEffect>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nodeType="clickEffect">
                                  <p:stCondLst>
                                    <p:cond delay="0"/>
                                  </p:stCondLst>
                                  <p:childTnLst>
                                    <p:set>
                                      <p:cBhvr>
                                        <p:cTn id="38" dur="1" fill="hold">
                                          <p:stCondLst>
                                            <p:cond delay="0"/>
                                          </p:stCondLst>
                                        </p:cTn>
                                        <p:tgtEl>
                                          <p:spTgt spid="39"/>
                                        </p:tgtEl>
                                        <p:attrNameLst>
                                          <p:attrName>style.visibility</p:attrName>
                                        </p:attrNameLst>
                                      </p:cBhvr>
                                      <p:to>
                                        <p:strVal val="visible"/>
                                      </p:to>
                                    </p:set>
                                    <p:anim calcmode="lin" valueType="num">
                                      <p:cBhvr additive="base">
                                        <p:cTn id="39" dur="420" decel="60000" fill="hold"/>
                                        <p:tgtEl>
                                          <p:spTgt spid="39"/>
                                        </p:tgtEl>
                                        <p:attrNameLst>
                                          <p:attrName>ppt_y</p:attrName>
                                        </p:attrNameLst>
                                      </p:cBhvr>
                                      <p:tavLst>
                                        <p:tav tm="0">
                                          <p:val>
                                            <p:strVal val="#ppt_y+.014"/>
                                          </p:val>
                                        </p:tav>
                                        <p:tav tm="100000">
                                          <p:val>
                                            <p:strVal val="#ppt_y"/>
                                          </p:val>
                                        </p:tav>
                                      </p:tavLst>
                                    </p:anim>
                                    <p:animEffect transition="in" filter="fade">
                                      <p:cBhvr>
                                        <p:cTn id="40" dur="420"/>
                                        <p:tgtEl>
                                          <p:spTgt spid="39"/>
                                        </p:tgtEl>
                                      </p:cBhvr>
                                    </p:animEffect>
                                  </p:childTnLst>
                                </p:cTn>
                              </p:par>
                              <p:par>
                                <p:cTn id="41" presetID="42" presetClass="entr" presetSubtype="0" fill="hold" nodeType="withEffect">
                                  <p:stCondLst>
                                    <p:cond delay="0"/>
                                  </p:stCondLst>
                                  <p:childTnLst>
                                    <p:set>
                                      <p:cBhvr>
                                        <p:cTn id="42" dur="1" fill="hold">
                                          <p:stCondLst>
                                            <p:cond delay="0"/>
                                          </p:stCondLst>
                                        </p:cTn>
                                        <p:tgtEl>
                                          <p:spTgt spid="40"/>
                                        </p:tgtEl>
                                        <p:attrNameLst>
                                          <p:attrName>style.visibility</p:attrName>
                                        </p:attrNameLst>
                                      </p:cBhvr>
                                      <p:to>
                                        <p:strVal val="visible"/>
                                      </p:to>
                                    </p:set>
                                    <p:anim calcmode="lin" valueType="num">
                                      <p:cBhvr additive="base">
                                        <p:cTn id="43" dur="420" decel="60000" fill="hold"/>
                                        <p:tgtEl>
                                          <p:spTgt spid="40"/>
                                        </p:tgtEl>
                                        <p:attrNameLst>
                                          <p:attrName>ppt_y</p:attrName>
                                        </p:attrNameLst>
                                      </p:cBhvr>
                                      <p:tavLst>
                                        <p:tav tm="0">
                                          <p:val>
                                            <p:strVal val="#ppt_y+.014"/>
                                          </p:val>
                                        </p:tav>
                                        <p:tav tm="100000">
                                          <p:val>
                                            <p:strVal val="#ppt_y"/>
                                          </p:val>
                                        </p:tav>
                                      </p:tavLst>
                                    </p:anim>
                                    <p:animEffect transition="in" filter="fade">
                                      <p:cBhvr>
                                        <p:cTn id="44" dur="42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7090D"/>
        </a:solidFill>
        <a:effectLst/>
      </p:bgPr>
    </p:bg>
    <p:spTree>
      <p:nvGrpSpPr>
        <p:cNvPr id="1" name=""/>
        <p:cNvGrpSpPr/>
        <p:nvPr/>
      </p:nvGrpSpPr>
      <p:grpSpPr>
        <a:xfrm>
          <a:off x="0" y="0"/>
          <a:ext cx="0" cy="0"/>
          <a:chOff x="0" y="0"/>
          <a:chExt cx="0" cy="0"/>
        </a:xfrm>
      </p:grpSpPr>
      <p:sp>
        <p:nvSpPr>
          <p:cNvPr id="2" name="Text 0"/>
          <p:cNvSpPr/>
          <p:nvPr/>
        </p:nvSpPr>
        <p:spPr>
          <a:xfrm>
            <a:off x="566928" y="274320"/>
            <a:ext cx="10607040" cy="274320"/>
          </a:xfrm>
          <a:prstGeom prst="rect">
            <a:avLst/>
          </a:prstGeom>
          <a:noFill/>
          <a:ln/>
        </p:spPr>
        <p:txBody>
          <a:bodyPr wrap="square" rtlCol="0" anchor="t"/>
          <a:lstStyle/>
          <a:p>
            <a:pPr marL="0" indent="0">
              <a:lnSpc>
                <a:spcPct val="105000"/>
              </a:lnSpc>
              <a:buNone/>
            </a:pPr>
            <a:r>
              <a:rPr lang="en-US" sz="1200" b="1" kern="0" spc="260" dirty="0">
                <a:solidFill>
                  <a:srgbClr val="75EDBB"/>
                </a:solidFill>
                <a:latin typeface="Helvetica Neue" pitchFamily="34" charset="0"/>
                <a:ea typeface="Helvetica Neue" pitchFamily="34" charset="-122"/>
                <a:cs typeface="Helvetica Neue" pitchFamily="34" charset="-120"/>
              </a:rPr>
              <a:t>WHAT CHANGED</a:t>
            </a:r>
            <a:endParaRPr lang="en-US" sz="1200" dirty="0"/>
          </a:p>
        </p:txBody>
      </p:sp>
      <p:sp>
        <p:nvSpPr>
          <p:cNvPr id="3" name="Text 1"/>
          <p:cNvSpPr/>
          <p:nvPr/>
        </p:nvSpPr>
        <p:spPr>
          <a:xfrm>
            <a:off x="566928" y="585216"/>
            <a:ext cx="10789920" cy="731520"/>
          </a:xfrm>
          <a:prstGeom prst="rect">
            <a:avLst/>
          </a:prstGeom>
          <a:noFill/>
          <a:ln/>
        </p:spPr>
        <p:txBody>
          <a:bodyPr wrap="square" rtlCol="0" anchor="ctr"/>
          <a:lstStyle/>
          <a:p>
            <a:pPr marL="0" indent="0">
              <a:lnSpc>
                <a:spcPct val="95000"/>
              </a:lnSpc>
              <a:buNone/>
            </a:pPr>
            <a:r>
              <a:rPr lang="en-US" sz="3800" dirty="0">
                <a:solidFill>
                  <a:srgbClr val="F3F6FA"/>
                </a:solidFill>
                <a:latin typeface="Avenir Next" pitchFamily="34" charset="0"/>
                <a:ea typeface="Avenir Next" pitchFamily="34" charset="-122"/>
                <a:cs typeface="Avenir Next" pitchFamily="34" charset="-120"/>
              </a:rPr>
              <a:t>From a prompt to a working loop</a:t>
            </a:r>
            <a:endParaRPr lang="en-US" sz="3800" dirty="0"/>
          </a:p>
        </p:txBody>
      </p:sp>
      <p:sp>
        <p:nvSpPr>
          <p:cNvPr id="4" name="Text 2"/>
          <p:cNvSpPr/>
          <p:nvPr/>
        </p:nvSpPr>
        <p:spPr>
          <a:xfrm>
            <a:off x="566928" y="1335024"/>
            <a:ext cx="9692640" cy="384048"/>
          </a:xfrm>
          <a:prstGeom prst="rect">
            <a:avLst/>
          </a:prstGeom>
          <a:noFill/>
          <a:ln/>
        </p:spPr>
        <p:txBody>
          <a:bodyPr wrap="square" rtlCol="0" anchor="t"/>
          <a:lstStyle/>
          <a:p>
            <a:pPr marL="0" indent="0">
              <a:lnSpc>
                <a:spcPct val="105000"/>
              </a:lnSpc>
              <a:buNone/>
            </a:pPr>
            <a:r>
              <a:rPr lang="en-US" sz="1900" dirty="0">
                <a:solidFill>
                  <a:srgbClr val="B2BDCD"/>
                </a:solidFill>
                <a:latin typeface="Helvetica Neue" pitchFamily="34" charset="0"/>
                <a:ea typeface="Helvetica Neue" pitchFamily="34" charset="-122"/>
                <a:cs typeface="Helvetica Neue" pitchFamily="34" charset="-120"/>
              </a:rPr>
              <a:t>One-shot answers still exist. Most real work now runs as a loop.</a:t>
            </a:r>
            <a:endParaRPr lang="en-US" sz="1900" dirty="0"/>
          </a:p>
        </p:txBody>
      </p:sp>
      <p:sp>
        <p:nvSpPr>
          <p:cNvPr id="5" name="Shape 3"/>
          <p:cNvSpPr/>
          <p:nvPr/>
        </p:nvSpPr>
        <p:spPr>
          <a:xfrm>
            <a:off x="4224528" y="2011680"/>
            <a:ext cx="0" cy="3657600"/>
          </a:xfrm>
          <a:prstGeom prst="line">
            <a:avLst/>
          </a:prstGeom>
          <a:noFill/>
          <a:ln w="12700">
            <a:solidFill>
              <a:srgbClr val="1A212C"/>
            </a:solidFill>
            <a:prstDash val="solid"/>
          </a:ln>
        </p:spPr>
        <p:txBody>
          <a:bodyPr/>
          <a:lstStyle/>
          <a:p>
            <a:endParaRPr lang="en-US"/>
          </a:p>
        </p:txBody>
      </p:sp>
      <p:sp>
        <p:nvSpPr>
          <p:cNvPr id="6" name="Text 4"/>
          <p:cNvSpPr/>
          <p:nvPr/>
        </p:nvSpPr>
        <p:spPr>
          <a:xfrm>
            <a:off x="566928" y="2011680"/>
            <a:ext cx="3108960" cy="256032"/>
          </a:xfrm>
          <a:prstGeom prst="rect">
            <a:avLst/>
          </a:prstGeom>
          <a:noFill/>
          <a:ln/>
        </p:spPr>
        <p:txBody>
          <a:bodyPr wrap="square" rtlCol="0" anchor="t"/>
          <a:lstStyle/>
          <a:p>
            <a:pPr marL="0" indent="0">
              <a:lnSpc>
                <a:spcPct val="105000"/>
              </a:lnSpc>
              <a:buNone/>
            </a:pPr>
            <a:r>
              <a:rPr lang="en-US" sz="1100" b="1" kern="0" spc="200" dirty="0">
                <a:solidFill>
                  <a:srgbClr val="6F7B8D"/>
                </a:solidFill>
                <a:latin typeface="Helvetica Neue" pitchFamily="34" charset="0"/>
                <a:ea typeface="Helvetica Neue" pitchFamily="34" charset="-122"/>
                <a:cs typeface="Helvetica Neue" pitchFamily="34" charset="-120"/>
              </a:rPr>
              <a:t>ONE SHOT</a:t>
            </a:r>
            <a:endParaRPr lang="en-US" sz="1100" dirty="0"/>
          </a:p>
        </p:txBody>
      </p:sp>
      <p:sp>
        <p:nvSpPr>
          <p:cNvPr id="7" name="Shape 5"/>
          <p:cNvSpPr/>
          <p:nvPr/>
        </p:nvSpPr>
        <p:spPr>
          <a:xfrm>
            <a:off x="566928" y="2377440"/>
            <a:ext cx="3108960" cy="777240"/>
          </a:xfrm>
          <a:prstGeom prst="roundRect">
            <a:avLst>
              <a:gd name="adj" fmla="val 11765"/>
            </a:avLst>
          </a:prstGeom>
          <a:solidFill>
            <a:srgbClr val="141A24"/>
          </a:solidFill>
          <a:ln w="12700">
            <a:solidFill>
              <a:srgbClr val="232C3A"/>
            </a:solidFill>
            <a:prstDash val="solid"/>
          </a:ln>
        </p:spPr>
        <p:txBody>
          <a:bodyPr/>
          <a:lstStyle/>
          <a:p>
            <a:endParaRPr lang="en-US"/>
          </a:p>
        </p:txBody>
      </p:sp>
      <p:sp>
        <p:nvSpPr>
          <p:cNvPr id="8" name="Text 6"/>
          <p:cNvSpPr/>
          <p:nvPr/>
        </p:nvSpPr>
        <p:spPr>
          <a:xfrm>
            <a:off x="713232" y="2377440"/>
            <a:ext cx="2816352" cy="777240"/>
          </a:xfrm>
          <a:prstGeom prst="rect">
            <a:avLst/>
          </a:prstGeom>
          <a:noFill/>
          <a:ln/>
        </p:spPr>
        <p:txBody>
          <a:bodyPr wrap="square" rtlCol="0" anchor="ctr"/>
          <a:lstStyle/>
          <a:p>
            <a:pPr marL="0" indent="0" algn="ctr">
              <a:lnSpc>
                <a:spcPct val="105000"/>
              </a:lnSpc>
              <a:buNone/>
            </a:pPr>
            <a:r>
              <a:rPr lang="en-US" sz="1800" dirty="0">
                <a:solidFill>
                  <a:srgbClr val="B2BDCD"/>
                </a:solidFill>
                <a:latin typeface="Helvetica Neue" pitchFamily="34" charset="0"/>
                <a:ea typeface="Helvetica Neue" pitchFamily="34" charset="-122"/>
                <a:cs typeface="Helvetica Neue" pitchFamily="34" charset="-120"/>
              </a:rPr>
              <a:t>Prompt</a:t>
            </a:r>
            <a:endParaRPr lang="en-US" sz="1800" dirty="0"/>
          </a:p>
        </p:txBody>
      </p:sp>
      <p:sp>
        <p:nvSpPr>
          <p:cNvPr id="9" name="Shape 7"/>
          <p:cNvSpPr/>
          <p:nvPr/>
        </p:nvSpPr>
        <p:spPr>
          <a:xfrm>
            <a:off x="2121408" y="3154680"/>
            <a:ext cx="0" cy="640080"/>
          </a:xfrm>
          <a:prstGeom prst="line">
            <a:avLst/>
          </a:prstGeom>
          <a:noFill/>
          <a:ln w="19050">
            <a:solidFill>
              <a:srgbClr val="232C3A"/>
            </a:solidFill>
            <a:prstDash val="solid"/>
            <a:tailEnd type="triangle"/>
          </a:ln>
        </p:spPr>
        <p:txBody>
          <a:bodyPr/>
          <a:lstStyle/>
          <a:p>
            <a:endParaRPr lang="en-US"/>
          </a:p>
        </p:txBody>
      </p:sp>
      <p:sp>
        <p:nvSpPr>
          <p:cNvPr id="10" name="Shape 8"/>
          <p:cNvSpPr/>
          <p:nvPr/>
        </p:nvSpPr>
        <p:spPr>
          <a:xfrm>
            <a:off x="566928" y="3794760"/>
            <a:ext cx="3108960" cy="777240"/>
          </a:xfrm>
          <a:prstGeom prst="roundRect">
            <a:avLst>
              <a:gd name="adj" fmla="val 11765"/>
            </a:avLst>
          </a:prstGeom>
          <a:solidFill>
            <a:srgbClr val="141A24"/>
          </a:solidFill>
          <a:ln w="12700">
            <a:solidFill>
              <a:srgbClr val="232C3A"/>
            </a:solidFill>
            <a:prstDash val="solid"/>
          </a:ln>
        </p:spPr>
        <p:txBody>
          <a:bodyPr/>
          <a:lstStyle/>
          <a:p>
            <a:endParaRPr lang="en-US"/>
          </a:p>
        </p:txBody>
      </p:sp>
      <p:sp>
        <p:nvSpPr>
          <p:cNvPr id="11" name="Text 9"/>
          <p:cNvSpPr/>
          <p:nvPr/>
        </p:nvSpPr>
        <p:spPr>
          <a:xfrm>
            <a:off x="713232" y="3794760"/>
            <a:ext cx="2816352" cy="777240"/>
          </a:xfrm>
          <a:prstGeom prst="rect">
            <a:avLst/>
          </a:prstGeom>
          <a:noFill/>
          <a:ln/>
        </p:spPr>
        <p:txBody>
          <a:bodyPr wrap="square" rtlCol="0" anchor="ctr"/>
          <a:lstStyle/>
          <a:p>
            <a:pPr marL="0" indent="0" algn="ctr">
              <a:lnSpc>
                <a:spcPct val="105000"/>
              </a:lnSpc>
              <a:buNone/>
            </a:pPr>
            <a:r>
              <a:rPr lang="en-US" sz="1800" dirty="0">
                <a:solidFill>
                  <a:srgbClr val="B2BDCD"/>
                </a:solidFill>
                <a:latin typeface="Helvetica Neue" pitchFamily="34" charset="0"/>
                <a:ea typeface="Helvetica Neue" pitchFamily="34" charset="-122"/>
                <a:cs typeface="Helvetica Neue" pitchFamily="34" charset="-120"/>
              </a:rPr>
              <a:t>Answer</a:t>
            </a:r>
            <a:endParaRPr lang="en-US" sz="1800" dirty="0"/>
          </a:p>
        </p:txBody>
      </p:sp>
      <p:sp>
        <p:nvSpPr>
          <p:cNvPr id="12" name="Text 10"/>
          <p:cNvSpPr/>
          <p:nvPr/>
        </p:nvSpPr>
        <p:spPr>
          <a:xfrm>
            <a:off x="566928" y="4754880"/>
            <a:ext cx="3108960" cy="365760"/>
          </a:xfrm>
          <a:prstGeom prst="rect">
            <a:avLst/>
          </a:prstGeom>
          <a:noFill/>
          <a:ln/>
        </p:spPr>
        <p:txBody>
          <a:bodyPr wrap="square" rtlCol="0" anchor="t"/>
          <a:lstStyle/>
          <a:p>
            <a:pPr marL="0" indent="0" algn="ctr">
              <a:lnSpc>
                <a:spcPct val="105000"/>
              </a:lnSpc>
              <a:buNone/>
            </a:pPr>
            <a:r>
              <a:rPr lang="en-US" sz="1600" dirty="0">
                <a:solidFill>
                  <a:srgbClr val="6F7B8D"/>
                </a:solidFill>
                <a:latin typeface="Helvetica Neue" pitchFamily="34" charset="0"/>
                <a:ea typeface="Helvetica Neue" pitchFamily="34" charset="-122"/>
                <a:cs typeface="Helvetica Neue" pitchFamily="34" charset="-120"/>
              </a:rPr>
              <a:t>You are the only check.</a:t>
            </a:r>
            <a:endParaRPr lang="en-US" sz="1600" dirty="0"/>
          </a:p>
        </p:txBody>
      </p:sp>
      <p:sp>
        <p:nvSpPr>
          <p:cNvPr id="13" name="Text 11"/>
          <p:cNvSpPr/>
          <p:nvPr/>
        </p:nvSpPr>
        <p:spPr>
          <a:xfrm>
            <a:off x="4709160" y="2011680"/>
            <a:ext cx="3108960" cy="256032"/>
          </a:xfrm>
          <a:prstGeom prst="rect">
            <a:avLst/>
          </a:prstGeom>
          <a:noFill/>
          <a:ln/>
        </p:spPr>
        <p:txBody>
          <a:bodyPr wrap="square" rtlCol="0" anchor="t"/>
          <a:lstStyle/>
          <a:p>
            <a:pPr marL="0" indent="0">
              <a:lnSpc>
                <a:spcPct val="105000"/>
              </a:lnSpc>
              <a:buNone/>
            </a:pPr>
            <a:r>
              <a:rPr lang="en-US" sz="1100" b="1" kern="0" spc="200" dirty="0">
                <a:solidFill>
                  <a:srgbClr val="75EDBB"/>
                </a:solidFill>
                <a:latin typeface="Helvetica Neue" pitchFamily="34" charset="0"/>
                <a:ea typeface="Helvetica Neue" pitchFamily="34" charset="-122"/>
                <a:cs typeface="Helvetica Neue" pitchFamily="34" charset="-120"/>
              </a:rPr>
              <a:t>AGENT LOOP</a:t>
            </a:r>
            <a:endParaRPr lang="en-US" sz="1100" dirty="0"/>
          </a:p>
        </p:txBody>
      </p:sp>
      <p:sp>
        <p:nvSpPr>
          <p:cNvPr id="14" name="b01-fade-loop-stages"/>
          <p:cNvSpPr/>
          <p:nvPr/>
        </p:nvSpPr>
        <p:spPr>
          <a:xfrm>
            <a:off x="4709160" y="2377440"/>
            <a:ext cx="2103120" cy="1143000"/>
          </a:xfrm>
          <a:prstGeom prst="roundRect">
            <a:avLst>
              <a:gd name="adj" fmla="val 10400"/>
            </a:avLst>
          </a:prstGeom>
          <a:solidFill>
            <a:srgbClr val="0E1219"/>
          </a:solidFill>
          <a:ln w="12700">
            <a:solidFill>
              <a:srgbClr val="232C3A"/>
            </a:solidFill>
            <a:prstDash val="solid"/>
          </a:ln>
        </p:spPr>
        <p:txBody>
          <a:bodyPr/>
          <a:lstStyle/>
          <a:p>
            <a:endParaRPr lang="en-US"/>
          </a:p>
        </p:txBody>
      </p:sp>
      <p:sp>
        <p:nvSpPr>
          <p:cNvPr id="15" name="b01-fade-loop-stages"/>
          <p:cNvSpPr/>
          <p:nvPr/>
        </p:nvSpPr>
        <p:spPr>
          <a:xfrm>
            <a:off x="4892040" y="2523744"/>
            <a:ext cx="1737360" cy="310896"/>
          </a:xfrm>
          <a:prstGeom prst="rect">
            <a:avLst/>
          </a:prstGeom>
          <a:noFill/>
          <a:ln/>
        </p:spPr>
        <p:txBody>
          <a:bodyPr wrap="square" rtlCol="0" anchor="t"/>
          <a:lstStyle/>
          <a:p>
            <a:pPr marL="0" indent="0">
              <a:lnSpc>
                <a:spcPct val="105000"/>
              </a:lnSpc>
              <a:buNone/>
            </a:pPr>
            <a:r>
              <a:rPr lang="en-US" sz="1800" b="1" dirty="0">
                <a:solidFill>
                  <a:srgbClr val="F3F6FA"/>
                </a:solidFill>
                <a:latin typeface="Helvetica Neue" pitchFamily="34" charset="0"/>
                <a:ea typeface="Helvetica Neue" pitchFamily="34" charset="-122"/>
                <a:cs typeface="Helvetica Neue" pitchFamily="34" charset="-120"/>
              </a:rPr>
              <a:t>Act</a:t>
            </a:r>
            <a:endParaRPr lang="en-US" sz="1800" dirty="0"/>
          </a:p>
        </p:txBody>
      </p:sp>
      <p:sp>
        <p:nvSpPr>
          <p:cNvPr id="16" name="b01-fade-loop-stages"/>
          <p:cNvSpPr/>
          <p:nvPr/>
        </p:nvSpPr>
        <p:spPr>
          <a:xfrm>
            <a:off x="4892040" y="2889504"/>
            <a:ext cx="1737360" cy="484632"/>
          </a:xfrm>
          <a:prstGeom prst="rect">
            <a:avLst/>
          </a:prstGeom>
          <a:noFill/>
          <a:ln/>
        </p:spPr>
        <p:txBody>
          <a:bodyPr wrap="square" rtlCol="0" anchor="t"/>
          <a:lstStyle/>
          <a:p>
            <a:pPr marL="0" indent="0">
              <a:lnSpc>
                <a:spcPct val="105000"/>
              </a:lnSpc>
              <a:buNone/>
            </a:pPr>
            <a:r>
              <a:rPr lang="en-US" sz="1500" dirty="0">
                <a:solidFill>
                  <a:srgbClr val="B2BDCD"/>
                </a:solidFill>
                <a:latin typeface="Helvetica Neue" pitchFamily="34" charset="0"/>
                <a:ea typeface="Helvetica Neue" pitchFamily="34" charset="-122"/>
                <a:cs typeface="Helvetica Neue" pitchFamily="34" charset="-120"/>
              </a:rPr>
              <a:t>make one change</a:t>
            </a:r>
            <a:endParaRPr lang="en-US" sz="1500" dirty="0"/>
          </a:p>
        </p:txBody>
      </p:sp>
      <p:sp>
        <p:nvSpPr>
          <p:cNvPr id="17" name="b01-fade-loop-stages"/>
          <p:cNvSpPr/>
          <p:nvPr/>
        </p:nvSpPr>
        <p:spPr>
          <a:xfrm>
            <a:off x="9372600" y="2377440"/>
            <a:ext cx="2103120" cy="1143000"/>
          </a:xfrm>
          <a:prstGeom prst="roundRect">
            <a:avLst>
              <a:gd name="adj" fmla="val 10400"/>
            </a:avLst>
          </a:prstGeom>
          <a:solidFill>
            <a:srgbClr val="0E1219"/>
          </a:solidFill>
          <a:ln w="12700">
            <a:solidFill>
              <a:srgbClr val="232C3A"/>
            </a:solidFill>
            <a:prstDash val="solid"/>
          </a:ln>
        </p:spPr>
        <p:txBody>
          <a:bodyPr/>
          <a:lstStyle/>
          <a:p>
            <a:endParaRPr lang="en-US"/>
          </a:p>
        </p:txBody>
      </p:sp>
      <p:sp>
        <p:nvSpPr>
          <p:cNvPr id="18" name="b01-fade-loop-stages"/>
          <p:cNvSpPr/>
          <p:nvPr/>
        </p:nvSpPr>
        <p:spPr>
          <a:xfrm>
            <a:off x="9555480" y="2523744"/>
            <a:ext cx="1737360" cy="310896"/>
          </a:xfrm>
          <a:prstGeom prst="rect">
            <a:avLst/>
          </a:prstGeom>
          <a:noFill/>
          <a:ln/>
        </p:spPr>
        <p:txBody>
          <a:bodyPr wrap="square" rtlCol="0" anchor="t"/>
          <a:lstStyle/>
          <a:p>
            <a:pPr marL="0" indent="0">
              <a:lnSpc>
                <a:spcPct val="105000"/>
              </a:lnSpc>
              <a:buNone/>
            </a:pPr>
            <a:r>
              <a:rPr lang="en-US" sz="1800" b="1" dirty="0">
                <a:solidFill>
                  <a:srgbClr val="F3F6FA"/>
                </a:solidFill>
                <a:latin typeface="Helvetica Neue" pitchFamily="34" charset="0"/>
                <a:ea typeface="Helvetica Neue" pitchFamily="34" charset="-122"/>
                <a:cs typeface="Helvetica Neue" pitchFamily="34" charset="-120"/>
              </a:rPr>
              <a:t>Observe</a:t>
            </a:r>
            <a:endParaRPr lang="en-US" sz="1800" dirty="0"/>
          </a:p>
        </p:txBody>
      </p:sp>
      <p:sp>
        <p:nvSpPr>
          <p:cNvPr id="19" name="b01-fade-loop-stages"/>
          <p:cNvSpPr/>
          <p:nvPr/>
        </p:nvSpPr>
        <p:spPr>
          <a:xfrm>
            <a:off x="9555480" y="2889504"/>
            <a:ext cx="1737360" cy="484632"/>
          </a:xfrm>
          <a:prstGeom prst="rect">
            <a:avLst/>
          </a:prstGeom>
          <a:noFill/>
          <a:ln/>
        </p:spPr>
        <p:txBody>
          <a:bodyPr wrap="square" rtlCol="0" anchor="t"/>
          <a:lstStyle/>
          <a:p>
            <a:pPr marL="0" indent="0">
              <a:lnSpc>
                <a:spcPct val="105000"/>
              </a:lnSpc>
              <a:buNone/>
            </a:pPr>
            <a:r>
              <a:rPr lang="en-US" sz="1500" dirty="0">
                <a:solidFill>
                  <a:srgbClr val="B2BDCD"/>
                </a:solidFill>
                <a:latin typeface="Helvetica Neue" pitchFamily="34" charset="0"/>
                <a:ea typeface="Helvetica Neue" pitchFamily="34" charset="-122"/>
                <a:cs typeface="Helvetica Neue" pitchFamily="34" charset="-120"/>
              </a:rPr>
              <a:t>run the check, read the failure</a:t>
            </a:r>
            <a:endParaRPr lang="en-US" sz="1500" dirty="0"/>
          </a:p>
        </p:txBody>
      </p:sp>
      <p:sp>
        <p:nvSpPr>
          <p:cNvPr id="20" name="b01-fade-loop-stages"/>
          <p:cNvSpPr/>
          <p:nvPr/>
        </p:nvSpPr>
        <p:spPr>
          <a:xfrm>
            <a:off x="9372600" y="4343400"/>
            <a:ext cx="2103120" cy="1143000"/>
          </a:xfrm>
          <a:prstGeom prst="roundRect">
            <a:avLst>
              <a:gd name="adj" fmla="val 10400"/>
            </a:avLst>
          </a:prstGeom>
          <a:solidFill>
            <a:srgbClr val="0E1219"/>
          </a:solidFill>
          <a:ln w="12700">
            <a:solidFill>
              <a:srgbClr val="232C3A"/>
            </a:solidFill>
            <a:prstDash val="solid"/>
          </a:ln>
        </p:spPr>
        <p:txBody>
          <a:bodyPr/>
          <a:lstStyle/>
          <a:p>
            <a:endParaRPr lang="en-US"/>
          </a:p>
        </p:txBody>
      </p:sp>
      <p:sp>
        <p:nvSpPr>
          <p:cNvPr id="21" name="b01-fade-loop-stages"/>
          <p:cNvSpPr/>
          <p:nvPr/>
        </p:nvSpPr>
        <p:spPr>
          <a:xfrm>
            <a:off x="9555480" y="4489704"/>
            <a:ext cx="1737360" cy="310896"/>
          </a:xfrm>
          <a:prstGeom prst="rect">
            <a:avLst/>
          </a:prstGeom>
          <a:noFill/>
          <a:ln/>
        </p:spPr>
        <p:txBody>
          <a:bodyPr wrap="square" rtlCol="0" anchor="t"/>
          <a:lstStyle/>
          <a:p>
            <a:pPr marL="0" indent="0">
              <a:lnSpc>
                <a:spcPct val="105000"/>
              </a:lnSpc>
              <a:buNone/>
            </a:pPr>
            <a:r>
              <a:rPr lang="en-US" sz="1800" b="1" dirty="0">
                <a:solidFill>
                  <a:srgbClr val="F3F6FA"/>
                </a:solidFill>
                <a:latin typeface="Helvetica Neue" pitchFamily="34" charset="0"/>
                <a:ea typeface="Helvetica Neue" pitchFamily="34" charset="-122"/>
                <a:cs typeface="Helvetica Neue" pitchFamily="34" charset="-120"/>
              </a:rPr>
              <a:t>Revise</a:t>
            </a:r>
            <a:endParaRPr lang="en-US" sz="1800" dirty="0"/>
          </a:p>
        </p:txBody>
      </p:sp>
      <p:sp>
        <p:nvSpPr>
          <p:cNvPr id="22" name="b01-fade-loop-stages"/>
          <p:cNvSpPr/>
          <p:nvPr/>
        </p:nvSpPr>
        <p:spPr>
          <a:xfrm>
            <a:off x="9555480" y="4855464"/>
            <a:ext cx="1737360" cy="484632"/>
          </a:xfrm>
          <a:prstGeom prst="rect">
            <a:avLst/>
          </a:prstGeom>
          <a:noFill/>
          <a:ln/>
        </p:spPr>
        <p:txBody>
          <a:bodyPr wrap="square" rtlCol="0" anchor="t"/>
          <a:lstStyle/>
          <a:p>
            <a:pPr marL="0" indent="0">
              <a:lnSpc>
                <a:spcPct val="105000"/>
              </a:lnSpc>
              <a:buNone/>
            </a:pPr>
            <a:r>
              <a:rPr lang="en-US" sz="1500" dirty="0">
                <a:solidFill>
                  <a:srgbClr val="B2BDCD"/>
                </a:solidFill>
                <a:latin typeface="Helvetica Neue" pitchFamily="34" charset="0"/>
                <a:ea typeface="Helvetica Neue" pitchFamily="34" charset="-122"/>
                <a:cs typeface="Helvetica Neue" pitchFamily="34" charset="-120"/>
              </a:rPr>
              <a:t>fix what the failure showed</a:t>
            </a:r>
            <a:endParaRPr lang="en-US" sz="1500" dirty="0"/>
          </a:p>
        </p:txBody>
      </p:sp>
      <p:sp>
        <p:nvSpPr>
          <p:cNvPr id="23" name="b01-fade-loop-stages"/>
          <p:cNvSpPr/>
          <p:nvPr/>
        </p:nvSpPr>
        <p:spPr>
          <a:xfrm>
            <a:off x="4709160" y="4343400"/>
            <a:ext cx="2103120" cy="1143000"/>
          </a:xfrm>
          <a:prstGeom prst="roundRect">
            <a:avLst>
              <a:gd name="adj" fmla="val 10400"/>
            </a:avLst>
          </a:prstGeom>
          <a:solidFill>
            <a:srgbClr val="0E1219"/>
          </a:solidFill>
          <a:ln w="12700">
            <a:solidFill>
              <a:srgbClr val="232C3A"/>
            </a:solidFill>
            <a:prstDash val="solid"/>
          </a:ln>
        </p:spPr>
        <p:txBody>
          <a:bodyPr/>
          <a:lstStyle/>
          <a:p>
            <a:endParaRPr lang="en-US"/>
          </a:p>
        </p:txBody>
      </p:sp>
      <p:sp>
        <p:nvSpPr>
          <p:cNvPr id="24" name="b01-fade-loop-stages"/>
          <p:cNvSpPr/>
          <p:nvPr/>
        </p:nvSpPr>
        <p:spPr>
          <a:xfrm>
            <a:off x="4892040" y="4489704"/>
            <a:ext cx="1737360" cy="310896"/>
          </a:xfrm>
          <a:prstGeom prst="rect">
            <a:avLst/>
          </a:prstGeom>
          <a:noFill/>
          <a:ln/>
        </p:spPr>
        <p:txBody>
          <a:bodyPr wrap="square" rtlCol="0" anchor="t"/>
          <a:lstStyle/>
          <a:p>
            <a:pPr marL="0" indent="0">
              <a:lnSpc>
                <a:spcPct val="105000"/>
              </a:lnSpc>
              <a:buNone/>
            </a:pPr>
            <a:r>
              <a:rPr lang="en-US" sz="1800" b="1" dirty="0">
                <a:solidFill>
                  <a:srgbClr val="F3F6FA"/>
                </a:solidFill>
                <a:latin typeface="Helvetica Neue" pitchFamily="34" charset="0"/>
                <a:ea typeface="Helvetica Neue" pitchFamily="34" charset="-122"/>
                <a:cs typeface="Helvetica Neue" pitchFamily="34" charset="-120"/>
              </a:rPr>
              <a:t>Verify</a:t>
            </a:r>
            <a:endParaRPr lang="en-US" sz="1800" dirty="0"/>
          </a:p>
        </p:txBody>
      </p:sp>
      <p:sp>
        <p:nvSpPr>
          <p:cNvPr id="25" name="b01-fade-loop-stages"/>
          <p:cNvSpPr/>
          <p:nvPr/>
        </p:nvSpPr>
        <p:spPr>
          <a:xfrm>
            <a:off x="4892040" y="4855464"/>
            <a:ext cx="1737360" cy="484632"/>
          </a:xfrm>
          <a:prstGeom prst="rect">
            <a:avLst/>
          </a:prstGeom>
          <a:noFill/>
          <a:ln/>
        </p:spPr>
        <p:txBody>
          <a:bodyPr wrap="square" rtlCol="0" anchor="t"/>
          <a:lstStyle/>
          <a:p>
            <a:pPr marL="0" indent="0">
              <a:lnSpc>
                <a:spcPct val="105000"/>
              </a:lnSpc>
              <a:buNone/>
            </a:pPr>
            <a:r>
              <a:rPr lang="en-US" sz="1500" dirty="0">
                <a:solidFill>
                  <a:srgbClr val="B2BDCD"/>
                </a:solidFill>
                <a:latin typeface="Helvetica Neue" pitchFamily="34" charset="0"/>
                <a:ea typeface="Helvetica Neue" pitchFamily="34" charset="-122"/>
                <a:cs typeface="Helvetica Neue" pitchFamily="34" charset="-120"/>
              </a:rPr>
              <a:t>run the same check again</a:t>
            </a:r>
            <a:endParaRPr lang="en-US" sz="1500" dirty="0"/>
          </a:p>
        </p:txBody>
      </p:sp>
      <p:sp>
        <p:nvSpPr>
          <p:cNvPr id="26" name="b01-wipe-loop-arrows"/>
          <p:cNvSpPr/>
          <p:nvPr/>
        </p:nvSpPr>
        <p:spPr>
          <a:xfrm>
            <a:off x="6812280" y="2944368"/>
            <a:ext cx="2560320" cy="0"/>
          </a:xfrm>
          <a:prstGeom prst="line">
            <a:avLst/>
          </a:prstGeom>
          <a:noFill/>
          <a:ln w="19050">
            <a:solidFill>
              <a:srgbClr val="75EDBB"/>
            </a:solidFill>
            <a:prstDash val="solid"/>
            <a:tailEnd type="triangle"/>
          </a:ln>
        </p:spPr>
        <p:txBody>
          <a:bodyPr/>
          <a:lstStyle/>
          <a:p>
            <a:endParaRPr lang="en-US"/>
          </a:p>
        </p:txBody>
      </p:sp>
      <p:sp>
        <p:nvSpPr>
          <p:cNvPr id="27" name="b01-wipe-loop-arrows"/>
          <p:cNvSpPr/>
          <p:nvPr/>
        </p:nvSpPr>
        <p:spPr>
          <a:xfrm>
            <a:off x="10424160" y="3520440"/>
            <a:ext cx="0" cy="822960"/>
          </a:xfrm>
          <a:prstGeom prst="line">
            <a:avLst/>
          </a:prstGeom>
          <a:noFill/>
          <a:ln w="19050">
            <a:solidFill>
              <a:srgbClr val="75EDBB"/>
            </a:solidFill>
            <a:prstDash val="solid"/>
            <a:tailEnd type="triangle"/>
          </a:ln>
        </p:spPr>
        <p:txBody>
          <a:bodyPr/>
          <a:lstStyle/>
          <a:p>
            <a:endParaRPr lang="en-US"/>
          </a:p>
        </p:txBody>
      </p:sp>
      <p:sp>
        <p:nvSpPr>
          <p:cNvPr id="28" name="b01-wipe-loop-arrows"/>
          <p:cNvSpPr/>
          <p:nvPr/>
        </p:nvSpPr>
        <p:spPr>
          <a:xfrm flipH="1">
            <a:off x="6812280" y="4919472"/>
            <a:ext cx="2560320" cy="0"/>
          </a:xfrm>
          <a:prstGeom prst="line">
            <a:avLst/>
          </a:prstGeom>
          <a:noFill/>
          <a:ln w="19050">
            <a:solidFill>
              <a:srgbClr val="75EDBB"/>
            </a:solidFill>
            <a:prstDash val="solid"/>
            <a:tailEnd type="triangle"/>
          </a:ln>
        </p:spPr>
        <p:txBody>
          <a:bodyPr/>
          <a:lstStyle/>
          <a:p>
            <a:endParaRPr lang="en-US"/>
          </a:p>
        </p:txBody>
      </p:sp>
      <p:sp>
        <p:nvSpPr>
          <p:cNvPr id="29" name="b01-wipe-loop-arrows"/>
          <p:cNvSpPr/>
          <p:nvPr/>
        </p:nvSpPr>
        <p:spPr>
          <a:xfrm flipV="1">
            <a:off x="5760720" y="3520440"/>
            <a:ext cx="0" cy="822960"/>
          </a:xfrm>
          <a:prstGeom prst="line">
            <a:avLst/>
          </a:prstGeom>
          <a:noFill/>
          <a:ln w="19050">
            <a:solidFill>
              <a:srgbClr val="75EDBB"/>
            </a:solidFill>
            <a:prstDash val="solid"/>
            <a:tailEnd type="triangle"/>
          </a:ln>
        </p:spPr>
        <p:txBody>
          <a:bodyPr/>
          <a:lstStyle/>
          <a:p>
            <a:endParaRPr lang="en-US"/>
          </a:p>
        </p:txBody>
      </p:sp>
      <p:sp>
        <p:nvSpPr>
          <p:cNvPr id="30" name="b02-rise-stopping-rule"/>
          <p:cNvSpPr/>
          <p:nvPr/>
        </p:nvSpPr>
        <p:spPr>
          <a:xfrm>
            <a:off x="7086600" y="3154680"/>
            <a:ext cx="2011680" cy="1463040"/>
          </a:xfrm>
          <a:prstGeom prst="roundRect">
            <a:avLst>
              <a:gd name="adj" fmla="val 8125"/>
            </a:avLst>
          </a:prstGeom>
          <a:solidFill>
            <a:srgbClr val="0A0D13"/>
          </a:solidFill>
          <a:ln w="12700">
            <a:solidFill>
              <a:srgbClr val="75EDBB"/>
            </a:solidFill>
            <a:prstDash val="dash"/>
          </a:ln>
        </p:spPr>
        <p:txBody>
          <a:bodyPr/>
          <a:lstStyle/>
          <a:p>
            <a:endParaRPr lang="en-US"/>
          </a:p>
        </p:txBody>
      </p:sp>
      <p:sp>
        <p:nvSpPr>
          <p:cNvPr id="31" name="b02-rise-stopping-rule"/>
          <p:cNvSpPr/>
          <p:nvPr/>
        </p:nvSpPr>
        <p:spPr>
          <a:xfrm>
            <a:off x="7214616" y="3154680"/>
            <a:ext cx="1755648" cy="1463040"/>
          </a:xfrm>
          <a:prstGeom prst="rect">
            <a:avLst/>
          </a:prstGeom>
          <a:noFill/>
          <a:ln/>
        </p:spPr>
        <p:txBody>
          <a:bodyPr wrap="square" rtlCol="0" anchor="ctr"/>
          <a:lstStyle/>
          <a:p>
            <a:pPr marL="0" indent="0" algn="ctr">
              <a:lnSpc>
                <a:spcPct val="105000"/>
              </a:lnSpc>
              <a:buNone/>
            </a:pPr>
            <a:r>
              <a:rPr lang="en-US" sz="1500" dirty="0">
                <a:solidFill>
                  <a:srgbClr val="75EDBB"/>
                </a:solidFill>
                <a:latin typeface="Helvetica Neue" pitchFamily="34" charset="0"/>
                <a:ea typeface="Helvetica Neue" pitchFamily="34" charset="-122"/>
                <a:cs typeface="Helvetica Neue" pitchFamily="34" charset="-120"/>
              </a:rPr>
              <a:t>Stop when the check passes, or when attempts stop adding evidence.</a:t>
            </a:r>
            <a:endParaRPr lang="en-US" sz="1500" dirty="0"/>
          </a:p>
        </p:txBody>
      </p:sp>
      <p:sp>
        <p:nvSpPr>
          <p:cNvPr id="32" name="Text 30"/>
          <p:cNvSpPr/>
          <p:nvPr/>
        </p:nvSpPr>
        <p:spPr>
          <a:xfrm>
            <a:off x="566928" y="6391656"/>
            <a:ext cx="8961120" cy="274320"/>
          </a:xfrm>
          <a:prstGeom prst="rect">
            <a:avLst/>
          </a:prstGeom>
          <a:noFill/>
          <a:ln/>
        </p:spPr>
        <p:txBody>
          <a:bodyPr wrap="square" rtlCol="0" anchor="ctr"/>
          <a:lstStyle/>
          <a:p>
            <a:pPr marL="0" indent="0">
              <a:lnSpc>
                <a:spcPct val="105000"/>
              </a:lnSpc>
              <a:buNone/>
            </a:pPr>
            <a:r>
              <a:rPr lang="en-US" sz="1100" dirty="0">
                <a:solidFill>
                  <a:srgbClr val="6F7B8D"/>
                </a:solidFill>
                <a:latin typeface="Helvetica Neue" pitchFamily="34" charset="0"/>
                <a:ea typeface="Helvetica Neue" pitchFamily="34" charset="-122"/>
                <a:cs typeface="Helvetica Neue" pitchFamily="34" charset="-120"/>
              </a:rPr>
              <a:t>The loop only self-corrects on evidence it can see.</a:t>
            </a:r>
            <a:endParaRPr lang="en-US" sz="1100" dirty="0"/>
          </a:p>
        </p:txBody>
      </p:sp>
      <p:sp>
        <p:nvSpPr>
          <p:cNvPr id="33" name="Text 31"/>
          <p:cNvSpPr/>
          <p:nvPr/>
        </p:nvSpPr>
        <p:spPr>
          <a:xfrm>
            <a:off x="9692640" y="6391656"/>
            <a:ext cx="1929384" cy="274320"/>
          </a:xfrm>
          <a:prstGeom prst="rect">
            <a:avLst/>
          </a:prstGeom>
          <a:noFill/>
          <a:ln/>
        </p:spPr>
        <p:txBody>
          <a:bodyPr wrap="square" rtlCol="0" anchor="ctr"/>
          <a:lstStyle/>
          <a:p>
            <a:pPr marL="0" indent="0" algn="r">
              <a:lnSpc>
                <a:spcPct val="105000"/>
              </a:lnSpc>
              <a:buNone/>
            </a:pPr>
            <a:r>
              <a:rPr lang="en-US" sz="1100" dirty="0">
                <a:solidFill>
                  <a:srgbClr val="6F7B8D"/>
                </a:solidFill>
                <a:latin typeface="Helvetica Neue" pitchFamily="34" charset="0"/>
                <a:ea typeface="Helvetica Neue" pitchFamily="34" charset="-122"/>
                <a:cs typeface="Helvetica Neue" pitchFamily="34" charset="-120"/>
              </a:rPr>
              <a:t>03 / 20</a:t>
            </a:r>
            <a:endParaRPr lang="en-US" sz="1100"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420"/>
                                        <p:tgtEl>
                                          <p:spTgt spid="14"/>
                                        </p:tgtEl>
                                      </p:cBhvr>
                                    </p:animEffect>
                                  </p:childTnLst>
                                </p:cTn>
                              </p:par>
                              <p:par>
                                <p:cTn id="8" presetID="10" presetClass="entr" presetSubtype="0" fill="hold"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fade">
                                      <p:cBhvr>
                                        <p:cTn id="10" dur="420"/>
                                        <p:tgtEl>
                                          <p:spTgt spid="15"/>
                                        </p:tgtEl>
                                      </p:cBhvr>
                                    </p:animEffect>
                                  </p:childTnLst>
                                </p:cTn>
                              </p:par>
                              <p:par>
                                <p:cTn id="11" presetID="10" presetClass="entr" presetSubtype="0" fill="hold"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420"/>
                                        <p:tgtEl>
                                          <p:spTgt spid="16"/>
                                        </p:tgtEl>
                                      </p:cBhvr>
                                    </p:animEffect>
                                  </p:childTnLst>
                                </p:cTn>
                              </p:par>
                              <p:par>
                                <p:cTn id="14" presetID="10" presetClass="entr" presetSubtype="0" fill="hold" nodeType="with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fade">
                                      <p:cBhvr>
                                        <p:cTn id="16" dur="420"/>
                                        <p:tgtEl>
                                          <p:spTgt spid="17"/>
                                        </p:tgtEl>
                                      </p:cBhvr>
                                    </p:animEffect>
                                  </p:childTnLst>
                                </p:cTn>
                              </p:par>
                              <p:par>
                                <p:cTn id="17" presetID="10" presetClass="entr" presetSubtype="0" fill="hold" nodeType="with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fade">
                                      <p:cBhvr>
                                        <p:cTn id="19" dur="420"/>
                                        <p:tgtEl>
                                          <p:spTgt spid="18"/>
                                        </p:tgtEl>
                                      </p:cBhvr>
                                    </p:animEffect>
                                  </p:childTnLst>
                                </p:cTn>
                              </p:par>
                              <p:par>
                                <p:cTn id="20" presetID="10" presetClass="entr" presetSubtype="0" fill="hold" nodeType="with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420"/>
                                        <p:tgtEl>
                                          <p:spTgt spid="19"/>
                                        </p:tgtEl>
                                      </p:cBhvr>
                                    </p:animEffect>
                                  </p:childTnLst>
                                </p:cTn>
                              </p:par>
                              <p:par>
                                <p:cTn id="23" presetID="10" presetClass="entr" presetSubtype="0" fill="hold" nodeType="withEffect">
                                  <p:stCondLst>
                                    <p:cond delay="0"/>
                                  </p:stCondLst>
                                  <p:childTnLst>
                                    <p:set>
                                      <p:cBhvr>
                                        <p:cTn id="24" dur="1" fill="hold">
                                          <p:stCondLst>
                                            <p:cond delay="0"/>
                                          </p:stCondLst>
                                        </p:cTn>
                                        <p:tgtEl>
                                          <p:spTgt spid="20"/>
                                        </p:tgtEl>
                                        <p:attrNameLst>
                                          <p:attrName>style.visibility</p:attrName>
                                        </p:attrNameLst>
                                      </p:cBhvr>
                                      <p:to>
                                        <p:strVal val="visible"/>
                                      </p:to>
                                    </p:set>
                                    <p:animEffect transition="in" filter="fade">
                                      <p:cBhvr>
                                        <p:cTn id="25" dur="420"/>
                                        <p:tgtEl>
                                          <p:spTgt spid="20"/>
                                        </p:tgtEl>
                                      </p:cBhvr>
                                    </p:animEffect>
                                  </p:childTnLst>
                                </p:cTn>
                              </p:par>
                              <p:par>
                                <p:cTn id="26" presetID="10" presetClass="entr" presetSubtype="0" fill="hold" nodeType="withEffect">
                                  <p:stCondLst>
                                    <p:cond delay="0"/>
                                  </p:stCondLst>
                                  <p:childTnLst>
                                    <p:set>
                                      <p:cBhvr>
                                        <p:cTn id="27" dur="1" fill="hold">
                                          <p:stCondLst>
                                            <p:cond delay="0"/>
                                          </p:stCondLst>
                                        </p:cTn>
                                        <p:tgtEl>
                                          <p:spTgt spid="21"/>
                                        </p:tgtEl>
                                        <p:attrNameLst>
                                          <p:attrName>style.visibility</p:attrName>
                                        </p:attrNameLst>
                                      </p:cBhvr>
                                      <p:to>
                                        <p:strVal val="visible"/>
                                      </p:to>
                                    </p:set>
                                    <p:animEffect transition="in" filter="fade">
                                      <p:cBhvr>
                                        <p:cTn id="28" dur="420"/>
                                        <p:tgtEl>
                                          <p:spTgt spid="21"/>
                                        </p:tgtEl>
                                      </p:cBhvr>
                                    </p:animEffect>
                                  </p:childTnLst>
                                </p:cTn>
                              </p:par>
                              <p:par>
                                <p:cTn id="29" presetID="10" presetClass="entr" presetSubtype="0" fill="hold" nodeType="with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fade">
                                      <p:cBhvr>
                                        <p:cTn id="31" dur="420"/>
                                        <p:tgtEl>
                                          <p:spTgt spid="22"/>
                                        </p:tgtEl>
                                      </p:cBhvr>
                                    </p:animEffect>
                                  </p:childTnLst>
                                </p:cTn>
                              </p:par>
                              <p:par>
                                <p:cTn id="32" presetID="10" presetClass="entr" presetSubtype="0" fill="hold" nodeType="withEffect">
                                  <p:stCondLst>
                                    <p:cond delay="0"/>
                                  </p:stCondLst>
                                  <p:childTnLst>
                                    <p:set>
                                      <p:cBhvr>
                                        <p:cTn id="33" dur="1" fill="hold">
                                          <p:stCondLst>
                                            <p:cond delay="0"/>
                                          </p:stCondLst>
                                        </p:cTn>
                                        <p:tgtEl>
                                          <p:spTgt spid="23"/>
                                        </p:tgtEl>
                                        <p:attrNameLst>
                                          <p:attrName>style.visibility</p:attrName>
                                        </p:attrNameLst>
                                      </p:cBhvr>
                                      <p:to>
                                        <p:strVal val="visible"/>
                                      </p:to>
                                    </p:set>
                                    <p:animEffect transition="in" filter="fade">
                                      <p:cBhvr>
                                        <p:cTn id="34" dur="420"/>
                                        <p:tgtEl>
                                          <p:spTgt spid="23"/>
                                        </p:tgtEl>
                                      </p:cBhvr>
                                    </p:animEffect>
                                  </p:childTnLst>
                                </p:cTn>
                              </p:par>
                              <p:par>
                                <p:cTn id="35" presetID="10" presetClass="entr" presetSubtype="0" fill="hold" nodeType="withEffect">
                                  <p:stCondLst>
                                    <p:cond delay="0"/>
                                  </p:stCondLst>
                                  <p:childTnLst>
                                    <p:set>
                                      <p:cBhvr>
                                        <p:cTn id="36" dur="1" fill="hold">
                                          <p:stCondLst>
                                            <p:cond delay="0"/>
                                          </p:stCondLst>
                                        </p:cTn>
                                        <p:tgtEl>
                                          <p:spTgt spid="24"/>
                                        </p:tgtEl>
                                        <p:attrNameLst>
                                          <p:attrName>style.visibility</p:attrName>
                                        </p:attrNameLst>
                                      </p:cBhvr>
                                      <p:to>
                                        <p:strVal val="visible"/>
                                      </p:to>
                                    </p:set>
                                    <p:animEffect transition="in" filter="fade">
                                      <p:cBhvr>
                                        <p:cTn id="37" dur="420"/>
                                        <p:tgtEl>
                                          <p:spTgt spid="24"/>
                                        </p:tgtEl>
                                      </p:cBhvr>
                                    </p:animEffect>
                                  </p:childTnLst>
                                </p:cTn>
                              </p:par>
                              <p:par>
                                <p:cTn id="38" presetID="10" presetClass="entr" presetSubtype="0" fill="hold" nodeType="withEffect">
                                  <p:stCondLst>
                                    <p:cond delay="0"/>
                                  </p:stCondLst>
                                  <p:childTnLst>
                                    <p:set>
                                      <p:cBhvr>
                                        <p:cTn id="39" dur="1" fill="hold">
                                          <p:stCondLst>
                                            <p:cond delay="0"/>
                                          </p:stCondLst>
                                        </p:cTn>
                                        <p:tgtEl>
                                          <p:spTgt spid="25"/>
                                        </p:tgtEl>
                                        <p:attrNameLst>
                                          <p:attrName>style.visibility</p:attrName>
                                        </p:attrNameLst>
                                      </p:cBhvr>
                                      <p:to>
                                        <p:strVal val="visible"/>
                                      </p:to>
                                    </p:set>
                                    <p:animEffect transition="in" filter="fade">
                                      <p:cBhvr>
                                        <p:cTn id="40" dur="420"/>
                                        <p:tgtEl>
                                          <p:spTgt spid="25"/>
                                        </p:tgtEl>
                                      </p:cBhvr>
                                    </p:animEffect>
                                  </p:childTnLst>
                                </p:cTn>
                              </p:par>
                              <p:par>
                                <p:cTn id="41" presetID="22" presetClass="entr" presetSubtype="1" fill="hold" nodeType="withEffect">
                                  <p:stCondLst>
                                    <p:cond delay="0"/>
                                  </p:stCondLst>
                                  <p:childTnLst>
                                    <p:set>
                                      <p:cBhvr>
                                        <p:cTn id="42" dur="1" fill="hold">
                                          <p:stCondLst>
                                            <p:cond delay="0"/>
                                          </p:stCondLst>
                                        </p:cTn>
                                        <p:tgtEl>
                                          <p:spTgt spid="26"/>
                                        </p:tgtEl>
                                        <p:attrNameLst>
                                          <p:attrName>style.visibility</p:attrName>
                                        </p:attrNameLst>
                                      </p:cBhvr>
                                      <p:to>
                                        <p:strVal val="visible"/>
                                      </p:to>
                                    </p:set>
                                    <p:animEffect transition="in" filter="wipe(right)">
                                      <p:cBhvr>
                                        <p:cTn id="43" dur="420"/>
                                        <p:tgtEl>
                                          <p:spTgt spid="26"/>
                                        </p:tgtEl>
                                      </p:cBhvr>
                                    </p:animEffect>
                                  </p:childTnLst>
                                </p:cTn>
                              </p:par>
                              <p:par>
                                <p:cTn id="44" presetID="22" presetClass="entr" presetSubtype="1" fill="hold" nodeType="withEffect">
                                  <p:stCondLst>
                                    <p:cond delay="0"/>
                                  </p:stCondLst>
                                  <p:childTnLst>
                                    <p:set>
                                      <p:cBhvr>
                                        <p:cTn id="45" dur="1" fill="hold">
                                          <p:stCondLst>
                                            <p:cond delay="0"/>
                                          </p:stCondLst>
                                        </p:cTn>
                                        <p:tgtEl>
                                          <p:spTgt spid="27"/>
                                        </p:tgtEl>
                                        <p:attrNameLst>
                                          <p:attrName>style.visibility</p:attrName>
                                        </p:attrNameLst>
                                      </p:cBhvr>
                                      <p:to>
                                        <p:strVal val="visible"/>
                                      </p:to>
                                    </p:set>
                                    <p:animEffect transition="in" filter="wipe(right)">
                                      <p:cBhvr>
                                        <p:cTn id="46" dur="420"/>
                                        <p:tgtEl>
                                          <p:spTgt spid="27"/>
                                        </p:tgtEl>
                                      </p:cBhvr>
                                    </p:animEffect>
                                  </p:childTnLst>
                                </p:cTn>
                              </p:par>
                              <p:par>
                                <p:cTn id="47" presetID="22" presetClass="entr" presetSubtype="1" fill="hold" nodeType="withEffect">
                                  <p:stCondLst>
                                    <p:cond delay="0"/>
                                  </p:stCondLst>
                                  <p:childTnLst>
                                    <p:set>
                                      <p:cBhvr>
                                        <p:cTn id="48" dur="1" fill="hold">
                                          <p:stCondLst>
                                            <p:cond delay="0"/>
                                          </p:stCondLst>
                                        </p:cTn>
                                        <p:tgtEl>
                                          <p:spTgt spid="28"/>
                                        </p:tgtEl>
                                        <p:attrNameLst>
                                          <p:attrName>style.visibility</p:attrName>
                                        </p:attrNameLst>
                                      </p:cBhvr>
                                      <p:to>
                                        <p:strVal val="visible"/>
                                      </p:to>
                                    </p:set>
                                    <p:animEffect transition="in" filter="wipe(right)">
                                      <p:cBhvr>
                                        <p:cTn id="49" dur="420"/>
                                        <p:tgtEl>
                                          <p:spTgt spid="28"/>
                                        </p:tgtEl>
                                      </p:cBhvr>
                                    </p:animEffect>
                                  </p:childTnLst>
                                </p:cTn>
                              </p:par>
                              <p:par>
                                <p:cTn id="50" presetID="22" presetClass="entr" presetSubtype="1" fill="hold" nodeType="withEffect">
                                  <p:stCondLst>
                                    <p:cond delay="0"/>
                                  </p:stCondLst>
                                  <p:childTnLst>
                                    <p:set>
                                      <p:cBhvr>
                                        <p:cTn id="51" dur="1" fill="hold">
                                          <p:stCondLst>
                                            <p:cond delay="0"/>
                                          </p:stCondLst>
                                        </p:cTn>
                                        <p:tgtEl>
                                          <p:spTgt spid="29"/>
                                        </p:tgtEl>
                                        <p:attrNameLst>
                                          <p:attrName>style.visibility</p:attrName>
                                        </p:attrNameLst>
                                      </p:cBhvr>
                                      <p:to>
                                        <p:strVal val="visible"/>
                                      </p:to>
                                    </p:set>
                                    <p:animEffect transition="in" filter="wipe(right)">
                                      <p:cBhvr>
                                        <p:cTn id="52" dur="420"/>
                                        <p:tgtEl>
                                          <p:spTgt spid="29"/>
                                        </p:tgtEl>
                                      </p:cBhvr>
                                    </p:animEffect>
                                  </p:childTnLst>
                                </p:cTn>
                              </p:par>
                            </p:childTnLst>
                          </p:cTn>
                        </p:par>
                      </p:childTnLst>
                    </p:cTn>
                  </p:par>
                  <p:par>
                    <p:cTn id="53" fill="hold">
                      <p:stCondLst>
                        <p:cond delay="indefinite"/>
                      </p:stCondLst>
                      <p:childTnLst>
                        <p:par>
                          <p:cTn id="54" fill="hold">
                            <p:stCondLst>
                              <p:cond delay="0"/>
                            </p:stCondLst>
                            <p:childTnLst>
                              <p:par>
                                <p:cTn id="55" presetID="42" presetClass="entr" presetSubtype="0" fill="hold" nodeType="clickEffect">
                                  <p:stCondLst>
                                    <p:cond delay="0"/>
                                  </p:stCondLst>
                                  <p:childTnLst>
                                    <p:set>
                                      <p:cBhvr>
                                        <p:cTn id="56" dur="1" fill="hold">
                                          <p:stCondLst>
                                            <p:cond delay="0"/>
                                          </p:stCondLst>
                                        </p:cTn>
                                        <p:tgtEl>
                                          <p:spTgt spid="30"/>
                                        </p:tgtEl>
                                        <p:attrNameLst>
                                          <p:attrName>style.visibility</p:attrName>
                                        </p:attrNameLst>
                                      </p:cBhvr>
                                      <p:to>
                                        <p:strVal val="visible"/>
                                      </p:to>
                                    </p:set>
                                    <p:anim calcmode="lin" valueType="num">
                                      <p:cBhvr additive="base">
                                        <p:cTn id="57" dur="420" decel="60000" fill="hold"/>
                                        <p:tgtEl>
                                          <p:spTgt spid="30"/>
                                        </p:tgtEl>
                                        <p:attrNameLst>
                                          <p:attrName>ppt_y</p:attrName>
                                        </p:attrNameLst>
                                      </p:cBhvr>
                                      <p:tavLst>
                                        <p:tav tm="0">
                                          <p:val>
                                            <p:strVal val="#ppt_y+.014"/>
                                          </p:val>
                                        </p:tav>
                                        <p:tav tm="100000">
                                          <p:val>
                                            <p:strVal val="#ppt_y"/>
                                          </p:val>
                                        </p:tav>
                                      </p:tavLst>
                                    </p:anim>
                                    <p:animEffect transition="in" filter="fade">
                                      <p:cBhvr>
                                        <p:cTn id="58" dur="420"/>
                                        <p:tgtEl>
                                          <p:spTgt spid="30"/>
                                        </p:tgtEl>
                                      </p:cBhvr>
                                    </p:animEffect>
                                  </p:childTnLst>
                                </p:cTn>
                              </p:par>
                              <p:par>
                                <p:cTn id="59" presetID="42" presetClass="entr" presetSubtype="0" fill="hold" nodeType="withEffect">
                                  <p:stCondLst>
                                    <p:cond delay="0"/>
                                  </p:stCondLst>
                                  <p:childTnLst>
                                    <p:set>
                                      <p:cBhvr>
                                        <p:cTn id="60" dur="1" fill="hold">
                                          <p:stCondLst>
                                            <p:cond delay="0"/>
                                          </p:stCondLst>
                                        </p:cTn>
                                        <p:tgtEl>
                                          <p:spTgt spid="31"/>
                                        </p:tgtEl>
                                        <p:attrNameLst>
                                          <p:attrName>style.visibility</p:attrName>
                                        </p:attrNameLst>
                                      </p:cBhvr>
                                      <p:to>
                                        <p:strVal val="visible"/>
                                      </p:to>
                                    </p:set>
                                    <p:anim calcmode="lin" valueType="num">
                                      <p:cBhvr additive="base">
                                        <p:cTn id="61" dur="420" decel="60000" fill="hold"/>
                                        <p:tgtEl>
                                          <p:spTgt spid="31"/>
                                        </p:tgtEl>
                                        <p:attrNameLst>
                                          <p:attrName>ppt_y</p:attrName>
                                        </p:attrNameLst>
                                      </p:cBhvr>
                                      <p:tavLst>
                                        <p:tav tm="0">
                                          <p:val>
                                            <p:strVal val="#ppt_y+.014"/>
                                          </p:val>
                                        </p:tav>
                                        <p:tav tm="100000">
                                          <p:val>
                                            <p:strVal val="#ppt_y"/>
                                          </p:val>
                                        </p:tav>
                                      </p:tavLst>
                                    </p:anim>
                                    <p:animEffect transition="in" filter="fade">
                                      <p:cBhvr>
                                        <p:cTn id="62" dur="42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7090D"/>
        </a:solidFill>
        <a:effectLst/>
      </p:bgPr>
    </p:bg>
    <p:spTree>
      <p:nvGrpSpPr>
        <p:cNvPr id="1" name=""/>
        <p:cNvGrpSpPr/>
        <p:nvPr/>
      </p:nvGrpSpPr>
      <p:grpSpPr>
        <a:xfrm>
          <a:off x="0" y="0"/>
          <a:ext cx="0" cy="0"/>
          <a:chOff x="0" y="0"/>
          <a:chExt cx="0" cy="0"/>
        </a:xfrm>
      </p:grpSpPr>
      <p:sp>
        <p:nvSpPr>
          <p:cNvPr id="2" name="Text 0"/>
          <p:cNvSpPr/>
          <p:nvPr/>
        </p:nvSpPr>
        <p:spPr>
          <a:xfrm>
            <a:off x="566928" y="274320"/>
            <a:ext cx="10607040" cy="274320"/>
          </a:xfrm>
          <a:prstGeom prst="rect">
            <a:avLst/>
          </a:prstGeom>
          <a:noFill/>
          <a:ln/>
        </p:spPr>
        <p:txBody>
          <a:bodyPr wrap="square" rtlCol="0" anchor="t"/>
          <a:lstStyle/>
          <a:p>
            <a:pPr marL="0" indent="0">
              <a:lnSpc>
                <a:spcPct val="105000"/>
              </a:lnSpc>
              <a:buNone/>
            </a:pPr>
            <a:r>
              <a:rPr lang="en-US" sz="1200" b="1" kern="0" spc="260" dirty="0">
                <a:solidFill>
                  <a:srgbClr val="75EDBB"/>
                </a:solidFill>
                <a:latin typeface="Helvetica Neue" pitchFamily="34" charset="0"/>
                <a:ea typeface="Helvetica Neue" pitchFamily="34" charset="-122"/>
                <a:cs typeface="Helvetica Neue" pitchFamily="34" charset="-120"/>
              </a:rPr>
              <a:t>MENTAL MODEL</a:t>
            </a:r>
            <a:endParaRPr lang="en-US" sz="1200" dirty="0"/>
          </a:p>
        </p:txBody>
      </p:sp>
      <p:sp>
        <p:nvSpPr>
          <p:cNvPr id="3" name="Text 1"/>
          <p:cNvSpPr/>
          <p:nvPr/>
        </p:nvSpPr>
        <p:spPr>
          <a:xfrm>
            <a:off x="566928" y="585216"/>
            <a:ext cx="10789920" cy="731520"/>
          </a:xfrm>
          <a:prstGeom prst="rect">
            <a:avLst/>
          </a:prstGeom>
          <a:noFill/>
          <a:ln/>
        </p:spPr>
        <p:txBody>
          <a:bodyPr wrap="square" rtlCol="0" anchor="ctr"/>
          <a:lstStyle/>
          <a:p>
            <a:pPr marL="0" indent="0">
              <a:lnSpc>
                <a:spcPct val="95000"/>
              </a:lnSpc>
              <a:buNone/>
            </a:pPr>
            <a:r>
              <a:rPr lang="en-US" sz="3800" dirty="0">
                <a:solidFill>
                  <a:srgbClr val="F3F6FA"/>
                </a:solidFill>
                <a:latin typeface="Avenir Next" pitchFamily="34" charset="0"/>
                <a:ea typeface="Avenir Next" pitchFamily="34" charset="-122"/>
                <a:cs typeface="Avenir Next" pitchFamily="34" charset="-120"/>
              </a:rPr>
              <a:t>Choose the model. Equip the agent.</a:t>
            </a:r>
            <a:endParaRPr lang="en-US" sz="3800" dirty="0"/>
          </a:p>
        </p:txBody>
      </p:sp>
      <p:sp>
        <p:nvSpPr>
          <p:cNvPr id="4" name="Text 2"/>
          <p:cNvSpPr/>
          <p:nvPr/>
        </p:nvSpPr>
        <p:spPr>
          <a:xfrm>
            <a:off x="566928" y="1335024"/>
            <a:ext cx="9692640" cy="384048"/>
          </a:xfrm>
          <a:prstGeom prst="rect">
            <a:avLst/>
          </a:prstGeom>
          <a:noFill/>
          <a:ln/>
        </p:spPr>
        <p:txBody>
          <a:bodyPr wrap="square" rtlCol="0" anchor="t"/>
          <a:lstStyle/>
          <a:p>
            <a:pPr marL="0" indent="0">
              <a:lnSpc>
                <a:spcPct val="105000"/>
              </a:lnSpc>
              <a:buNone/>
            </a:pPr>
            <a:r>
              <a:rPr lang="en-US" sz="1900" dirty="0">
                <a:solidFill>
                  <a:srgbClr val="B2BDCD"/>
                </a:solidFill>
                <a:latin typeface="Helvetica Neue" pitchFamily="34" charset="0"/>
                <a:ea typeface="Helvetica Neue" pitchFamily="34" charset="-122"/>
                <a:cs typeface="Helvetica Neue" pitchFamily="34" charset="-120"/>
              </a:rPr>
              <a:t>The model reasons. The harness gives it somewhere to work.</a:t>
            </a:r>
            <a:endParaRPr lang="en-US" sz="1900" dirty="0"/>
          </a:p>
        </p:txBody>
      </p:sp>
      <p:sp>
        <p:nvSpPr>
          <p:cNvPr id="5" name="Shape 3"/>
          <p:cNvSpPr/>
          <p:nvPr/>
        </p:nvSpPr>
        <p:spPr>
          <a:xfrm>
            <a:off x="1737360" y="1965960"/>
            <a:ext cx="8778240" cy="3429000"/>
          </a:xfrm>
          <a:prstGeom prst="roundRect">
            <a:avLst>
              <a:gd name="adj" fmla="val 5867"/>
            </a:avLst>
          </a:prstGeom>
          <a:solidFill>
            <a:srgbClr val="0A0D13"/>
          </a:solidFill>
          <a:ln w="15875">
            <a:solidFill>
              <a:srgbClr val="A99AFF"/>
            </a:solidFill>
            <a:prstDash val="solid"/>
          </a:ln>
        </p:spPr>
        <p:txBody>
          <a:bodyPr/>
          <a:lstStyle/>
          <a:p>
            <a:endParaRPr lang="en-US"/>
          </a:p>
        </p:txBody>
      </p:sp>
      <p:sp>
        <p:nvSpPr>
          <p:cNvPr id="6" name="Text 4"/>
          <p:cNvSpPr/>
          <p:nvPr/>
        </p:nvSpPr>
        <p:spPr>
          <a:xfrm>
            <a:off x="2011680" y="2103120"/>
            <a:ext cx="8229600" cy="274320"/>
          </a:xfrm>
          <a:prstGeom prst="rect">
            <a:avLst/>
          </a:prstGeom>
          <a:noFill/>
          <a:ln/>
        </p:spPr>
        <p:txBody>
          <a:bodyPr wrap="square" rtlCol="0" anchor="t"/>
          <a:lstStyle/>
          <a:p>
            <a:pPr marL="0" indent="0">
              <a:lnSpc>
                <a:spcPct val="105000"/>
              </a:lnSpc>
              <a:buNone/>
            </a:pPr>
            <a:r>
              <a:rPr lang="en-US" sz="1200" b="1" kern="0" spc="160" dirty="0">
                <a:solidFill>
                  <a:srgbClr val="A99AFF"/>
                </a:solidFill>
                <a:latin typeface="Helvetica Neue" pitchFamily="34" charset="0"/>
                <a:ea typeface="Helvetica Neue" pitchFamily="34" charset="-122"/>
                <a:cs typeface="Helvetica Neue" pitchFamily="34" charset="-120"/>
              </a:rPr>
              <a:t>HARNESS · builds context, runs the loop, executes tools, holds state</a:t>
            </a:r>
            <a:endParaRPr lang="en-US" sz="1200" dirty="0"/>
          </a:p>
        </p:txBody>
      </p:sp>
      <p:sp>
        <p:nvSpPr>
          <p:cNvPr id="7" name="Shape 5"/>
          <p:cNvSpPr/>
          <p:nvPr/>
        </p:nvSpPr>
        <p:spPr>
          <a:xfrm>
            <a:off x="5212080" y="2697480"/>
            <a:ext cx="1828800" cy="1828800"/>
          </a:xfrm>
          <a:prstGeom prst="ellipse">
            <a:avLst/>
          </a:prstGeom>
          <a:solidFill>
            <a:srgbClr val="1E3A33"/>
          </a:solidFill>
          <a:ln w="22225">
            <a:solidFill>
              <a:srgbClr val="75EDBB"/>
            </a:solidFill>
            <a:prstDash val="solid"/>
          </a:ln>
        </p:spPr>
        <p:txBody>
          <a:bodyPr/>
          <a:lstStyle/>
          <a:p>
            <a:endParaRPr lang="en-US"/>
          </a:p>
        </p:txBody>
      </p:sp>
      <p:sp>
        <p:nvSpPr>
          <p:cNvPr id="8" name="Text 6"/>
          <p:cNvSpPr/>
          <p:nvPr/>
        </p:nvSpPr>
        <p:spPr>
          <a:xfrm>
            <a:off x="5321808" y="2697480"/>
            <a:ext cx="1609344" cy="1828800"/>
          </a:xfrm>
          <a:prstGeom prst="rect">
            <a:avLst/>
          </a:prstGeom>
          <a:noFill/>
          <a:ln/>
        </p:spPr>
        <p:txBody>
          <a:bodyPr wrap="square" rtlCol="0" anchor="ctr"/>
          <a:lstStyle/>
          <a:p>
            <a:pPr marL="0" indent="0" algn="ctr">
              <a:lnSpc>
                <a:spcPct val="105000"/>
              </a:lnSpc>
              <a:buNone/>
            </a:pPr>
            <a:r>
              <a:rPr lang="en-US" sz="1600" dirty="0">
                <a:solidFill>
                  <a:srgbClr val="75EDBB"/>
                </a:solidFill>
                <a:latin typeface="Helvetica Neue" pitchFamily="34" charset="0"/>
                <a:ea typeface="Helvetica Neue" pitchFamily="34" charset="-122"/>
                <a:cs typeface="Helvetica Neue" pitchFamily="34" charset="-120"/>
              </a:rPr>
              <a:t>Model</a:t>
            </a:r>
            <a:endParaRPr lang="en-US" sz="1600" dirty="0"/>
          </a:p>
          <a:p>
            <a:pPr marL="0" indent="0" algn="ctr">
              <a:lnSpc>
                <a:spcPct val="105000"/>
              </a:lnSpc>
              <a:buNone/>
            </a:pPr>
            <a:r>
              <a:rPr lang="en-US" sz="1600" dirty="0">
                <a:solidFill>
                  <a:srgbClr val="75EDBB"/>
                </a:solidFill>
                <a:latin typeface="Helvetica Neue" pitchFamily="34" charset="0"/>
                <a:ea typeface="Helvetica Neue" pitchFamily="34" charset="-122"/>
                <a:cs typeface="Helvetica Neue" pitchFamily="34" charset="-120"/>
              </a:rPr>
              <a:t>reasons and proposes</a:t>
            </a:r>
            <a:endParaRPr lang="en-US" sz="1600" dirty="0"/>
          </a:p>
        </p:txBody>
      </p:sp>
      <p:sp>
        <p:nvSpPr>
          <p:cNvPr id="9" name="b01-fade-harness-parts"/>
          <p:cNvSpPr/>
          <p:nvPr/>
        </p:nvSpPr>
        <p:spPr>
          <a:xfrm>
            <a:off x="2057400" y="3200400"/>
            <a:ext cx="2560320" cy="822960"/>
          </a:xfrm>
          <a:prstGeom prst="roundRect">
            <a:avLst>
              <a:gd name="adj" fmla="val 11111"/>
            </a:avLst>
          </a:prstGeom>
          <a:solidFill>
            <a:srgbClr val="141A24"/>
          </a:solidFill>
          <a:ln w="12700">
            <a:solidFill>
              <a:srgbClr val="232C3A"/>
            </a:solidFill>
            <a:prstDash val="solid"/>
          </a:ln>
        </p:spPr>
        <p:txBody>
          <a:bodyPr/>
          <a:lstStyle/>
          <a:p>
            <a:endParaRPr lang="en-US"/>
          </a:p>
        </p:txBody>
      </p:sp>
      <p:sp>
        <p:nvSpPr>
          <p:cNvPr id="10" name="b01-fade-harness-parts"/>
          <p:cNvSpPr/>
          <p:nvPr/>
        </p:nvSpPr>
        <p:spPr>
          <a:xfrm>
            <a:off x="2203704" y="3200400"/>
            <a:ext cx="2267712" cy="822960"/>
          </a:xfrm>
          <a:prstGeom prst="rect">
            <a:avLst/>
          </a:prstGeom>
          <a:noFill/>
          <a:ln/>
        </p:spPr>
        <p:txBody>
          <a:bodyPr wrap="square" rtlCol="0" anchor="ctr"/>
          <a:lstStyle/>
          <a:p>
            <a:pPr marL="0" indent="0" algn="ctr">
              <a:lnSpc>
                <a:spcPct val="105000"/>
              </a:lnSpc>
              <a:buNone/>
            </a:pPr>
            <a:r>
              <a:rPr lang="en-US" sz="1600" dirty="0">
                <a:solidFill>
                  <a:srgbClr val="F3F6FA"/>
                </a:solidFill>
                <a:latin typeface="Helvetica Neue" pitchFamily="34" charset="0"/>
                <a:ea typeface="Helvetica Neue" pitchFamily="34" charset="-122"/>
                <a:cs typeface="Helvetica Neue" pitchFamily="34" charset="-120"/>
              </a:rPr>
              <a:t>Context it can see</a:t>
            </a:r>
            <a:endParaRPr lang="en-US" sz="1600" dirty="0"/>
          </a:p>
        </p:txBody>
      </p:sp>
      <p:sp>
        <p:nvSpPr>
          <p:cNvPr id="11" name="b01-fade-harness-parts"/>
          <p:cNvSpPr/>
          <p:nvPr/>
        </p:nvSpPr>
        <p:spPr>
          <a:xfrm>
            <a:off x="7635240" y="3200400"/>
            <a:ext cx="2560320" cy="822960"/>
          </a:xfrm>
          <a:prstGeom prst="roundRect">
            <a:avLst>
              <a:gd name="adj" fmla="val 11111"/>
            </a:avLst>
          </a:prstGeom>
          <a:solidFill>
            <a:srgbClr val="141A24"/>
          </a:solidFill>
          <a:ln w="12700">
            <a:solidFill>
              <a:srgbClr val="232C3A"/>
            </a:solidFill>
            <a:prstDash val="solid"/>
          </a:ln>
        </p:spPr>
        <p:txBody>
          <a:bodyPr/>
          <a:lstStyle/>
          <a:p>
            <a:endParaRPr lang="en-US"/>
          </a:p>
        </p:txBody>
      </p:sp>
      <p:sp>
        <p:nvSpPr>
          <p:cNvPr id="12" name="b01-fade-harness-parts"/>
          <p:cNvSpPr/>
          <p:nvPr/>
        </p:nvSpPr>
        <p:spPr>
          <a:xfrm>
            <a:off x="7781544" y="3200400"/>
            <a:ext cx="2267712" cy="822960"/>
          </a:xfrm>
          <a:prstGeom prst="rect">
            <a:avLst/>
          </a:prstGeom>
          <a:noFill/>
          <a:ln/>
        </p:spPr>
        <p:txBody>
          <a:bodyPr wrap="square" rtlCol="0" anchor="ctr"/>
          <a:lstStyle/>
          <a:p>
            <a:pPr marL="0" indent="0" algn="ctr">
              <a:lnSpc>
                <a:spcPct val="105000"/>
              </a:lnSpc>
              <a:buNone/>
            </a:pPr>
            <a:r>
              <a:rPr lang="en-US" sz="1600" dirty="0">
                <a:solidFill>
                  <a:srgbClr val="F3F6FA"/>
                </a:solidFill>
                <a:latin typeface="Helvetica Neue" pitchFamily="34" charset="0"/>
                <a:ea typeface="Helvetica Neue" pitchFamily="34" charset="-122"/>
                <a:cs typeface="Helvetica Neue" pitchFamily="34" charset="-120"/>
              </a:rPr>
              <a:t>Tools it can run</a:t>
            </a:r>
            <a:endParaRPr lang="en-US" sz="1600" dirty="0"/>
          </a:p>
        </p:txBody>
      </p:sp>
      <p:sp>
        <p:nvSpPr>
          <p:cNvPr id="13" name="b01-fade-harness-parts"/>
          <p:cNvSpPr/>
          <p:nvPr/>
        </p:nvSpPr>
        <p:spPr>
          <a:xfrm>
            <a:off x="4892040" y="4681728"/>
            <a:ext cx="2468880" cy="566928"/>
          </a:xfrm>
          <a:prstGeom prst="roundRect">
            <a:avLst>
              <a:gd name="adj" fmla="val 16129"/>
            </a:avLst>
          </a:prstGeom>
          <a:solidFill>
            <a:srgbClr val="141A24"/>
          </a:solidFill>
          <a:ln w="12700">
            <a:solidFill>
              <a:srgbClr val="232C3A"/>
            </a:solidFill>
            <a:prstDash val="solid"/>
          </a:ln>
        </p:spPr>
        <p:txBody>
          <a:bodyPr/>
          <a:lstStyle/>
          <a:p>
            <a:endParaRPr lang="en-US"/>
          </a:p>
        </p:txBody>
      </p:sp>
      <p:sp>
        <p:nvSpPr>
          <p:cNvPr id="14" name="b01-fade-harness-parts"/>
          <p:cNvSpPr/>
          <p:nvPr/>
        </p:nvSpPr>
        <p:spPr>
          <a:xfrm>
            <a:off x="5038344" y="4681728"/>
            <a:ext cx="2176272" cy="566928"/>
          </a:xfrm>
          <a:prstGeom prst="rect">
            <a:avLst/>
          </a:prstGeom>
          <a:noFill/>
          <a:ln/>
        </p:spPr>
        <p:txBody>
          <a:bodyPr wrap="square" rtlCol="0" anchor="ctr"/>
          <a:lstStyle/>
          <a:p>
            <a:pPr marL="0" indent="0" algn="ctr">
              <a:lnSpc>
                <a:spcPct val="105000"/>
              </a:lnSpc>
              <a:buNone/>
            </a:pPr>
            <a:r>
              <a:rPr lang="en-US" sz="1500" dirty="0">
                <a:solidFill>
                  <a:srgbClr val="F3F6FA"/>
                </a:solidFill>
                <a:latin typeface="Helvetica Neue" pitchFamily="34" charset="0"/>
                <a:ea typeface="Helvetica Neue" pitchFamily="34" charset="-122"/>
                <a:cs typeface="Helvetica Neue" pitchFamily="34" charset="-120"/>
              </a:rPr>
              <a:t>State it keeps between steps</a:t>
            </a:r>
            <a:endParaRPr lang="en-US" sz="1500" dirty="0"/>
          </a:p>
        </p:txBody>
      </p:sp>
      <p:sp>
        <p:nvSpPr>
          <p:cNvPr id="15" name="b01-fade-harness-parts"/>
          <p:cNvSpPr/>
          <p:nvPr/>
        </p:nvSpPr>
        <p:spPr>
          <a:xfrm>
            <a:off x="4617720" y="3611880"/>
            <a:ext cx="594360" cy="0"/>
          </a:xfrm>
          <a:prstGeom prst="line">
            <a:avLst/>
          </a:prstGeom>
          <a:noFill/>
          <a:ln w="19050">
            <a:solidFill>
              <a:srgbClr val="232C3A"/>
            </a:solidFill>
            <a:prstDash val="solid"/>
          </a:ln>
        </p:spPr>
        <p:txBody>
          <a:bodyPr/>
          <a:lstStyle/>
          <a:p>
            <a:endParaRPr lang="en-US"/>
          </a:p>
        </p:txBody>
      </p:sp>
      <p:sp>
        <p:nvSpPr>
          <p:cNvPr id="16" name="b01-fade-harness-parts"/>
          <p:cNvSpPr/>
          <p:nvPr/>
        </p:nvSpPr>
        <p:spPr>
          <a:xfrm>
            <a:off x="7040880" y="3611880"/>
            <a:ext cx="594360" cy="0"/>
          </a:xfrm>
          <a:prstGeom prst="line">
            <a:avLst/>
          </a:prstGeom>
          <a:noFill/>
          <a:ln w="19050">
            <a:solidFill>
              <a:srgbClr val="232C3A"/>
            </a:solidFill>
            <a:prstDash val="solid"/>
          </a:ln>
        </p:spPr>
        <p:txBody>
          <a:bodyPr/>
          <a:lstStyle/>
          <a:p>
            <a:endParaRPr lang="en-US"/>
          </a:p>
        </p:txBody>
      </p:sp>
      <p:sp>
        <p:nvSpPr>
          <p:cNvPr id="17" name="b01-fade-harness-parts"/>
          <p:cNvSpPr/>
          <p:nvPr/>
        </p:nvSpPr>
        <p:spPr>
          <a:xfrm>
            <a:off x="6126480" y="4526280"/>
            <a:ext cx="0" cy="155448"/>
          </a:xfrm>
          <a:prstGeom prst="line">
            <a:avLst/>
          </a:prstGeom>
          <a:noFill/>
          <a:ln w="19050">
            <a:solidFill>
              <a:srgbClr val="232C3A"/>
            </a:solidFill>
            <a:prstDash val="solid"/>
          </a:ln>
        </p:spPr>
        <p:txBody>
          <a:bodyPr/>
          <a:lstStyle/>
          <a:p>
            <a:endParaRPr lang="en-US"/>
          </a:p>
        </p:txBody>
      </p:sp>
      <p:sp>
        <p:nvSpPr>
          <p:cNvPr id="18" name="b02-rise-model-limit"/>
          <p:cNvSpPr/>
          <p:nvPr/>
        </p:nvSpPr>
        <p:spPr>
          <a:xfrm>
            <a:off x="1737360" y="5532120"/>
            <a:ext cx="8778240" cy="621792"/>
          </a:xfrm>
          <a:prstGeom prst="roundRect">
            <a:avLst>
              <a:gd name="adj" fmla="val 19118"/>
            </a:avLst>
          </a:prstGeom>
          <a:solidFill>
            <a:srgbClr val="0E1219"/>
          </a:solidFill>
          <a:ln w="12700">
            <a:solidFill>
              <a:srgbClr val="232C3A"/>
            </a:solidFill>
            <a:prstDash val="solid"/>
          </a:ln>
        </p:spPr>
        <p:txBody>
          <a:bodyPr/>
          <a:lstStyle/>
          <a:p>
            <a:endParaRPr lang="en-US"/>
          </a:p>
        </p:txBody>
      </p:sp>
      <p:sp>
        <p:nvSpPr>
          <p:cNvPr id="19" name="b02-rise-model-limit"/>
          <p:cNvSpPr/>
          <p:nvPr/>
        </p:nvSpPr>
        <p:spPr>
          <a:xfrm>
            <a:off x="1965960" y="5532120"/>
            <a:ext cx="8321040" cy="621792"/>
          </a:xfrm>
          <a:prstGeom prst="rect">
            <a:avLst/>
          </a:prstGeom>
          <a:noFill/>
          <a:ln/>
        </p:spPr>
        <p:txBody>
          <a:bodyPr wrap="square" rtlCol="0" anchor="ctr"/>
          <a:lstStyle/>
          <a:p>
            <a:pPr marL="0" indent="0">
              <a:lnSpc>
                <a:spcPct val="105000"/>
              </a:lnSpc>
              <a:buNone/>
            </a:pPr>
            <a:r>
              <a:rPr lang="en-US" sz="1700" dirty="0">
                <a:solidFill>
                  <a:srgbClr val="F3F6FA"/>
                </a:solidFill>
                <a:latin typeface="Helvetica Neue" pitchFamily="34" charset="0"/>
                <a:ea typeface="Helvetica Neue" pitchFamily="34" charset="-122"/>
                <a:cs typeface="Helvetica Neue" pitchFamily="34" charset="-120"/>
              </a:rPr>
              <a:t>A stronger model cannot call a tool the harness does not have, or weigh evidence nobody collected.</a:t>
            </a:r>
            <a:endParaRPr lang="en-US" sz="1700" dirty="0"/>
          </a:p>
        </p:txBody>
      </p:sp>
      <p:sp>
        <p:nvSpPr>
          <p:cNvPr id="20" name="Text 18"/>
          <p:cNvSpPr/>
          <p:nvPr/>
        </p:nvSpPr>
        <p:spPr>
          <a:xfrm>
            <a:off x="566928" y="6391656"/>
            <a:ext cx="8961120" cy="274320"/>
          </a:xfrm>
          <a:prstGeom prst="rect">
            <a:avLst/>
          </a:prstGeom>
          <a:noFill/>
          <a:ln/>
        </p:spPr>
        <p:txBody>
          <a:bodyPr wrap="square" rtlCol="0" anchor="ctr"/>
          <a:lstStyle/>
          <a:p>
            <a:pPr marL="0" indent="0">
              <a:lnSpc>
                <a:spcPct val="105000"/>
              </a:lnSpc>
              <a:buNone/>
            </a:pPr>
            <a:r>
              <a:rPr lang="en-US" sz="1100" dirty="0">
                <a:solidFill>
                  <a:srgbClr val="6F7B8D"/>
                </a:solidFill>
                <a:latin typeface="Helvetica Neue" pitchFamily="34" charset="0"/>
                <a:ea typeface="Helvetica Neue" pitchFamily="34" charset="-122"/>
                <a:cs typeface="Helvetica Neue" pitchFamily="34" charset="-120"/>
              </a:rPr>
              <a:t>A repeatable loop is not the same thing as a correct result.</a:t>
            </a:r>
            <a:endParaRPr lang="en-US" sz="1100" dirty="0"/>
          </a:p>
        </p:txBody>
      </p:sp>
      <p:sp>
        <p:nvSpPr>
          <p:cNvPr id="21" name="Text 19"/>
          <p:cNvSpPr/>
          <p:nvPr/>
        </p:nvSpPr>
        <p:spPr>
          <a:xfrm>
            <a:off x="9692640" y="6391656"/>
            <a:ext cx="1929384" cy="274320"/>
          </a:xfrm>
          <a:prstGeom prst="rect">
            <a:avLst/>
          </a:prstGeom>
          <a:noFill/>
          <a:ln/>
        </p:spPr>
        <p:txBody>
          <a:bodyPr wrap="square" rtlCol="0" anchor="ctr"/>
          <a:lstStyle/>
          <a:p>
            <a:pPr marL="0" indent="0" algn="r">
              <a:lnSpc>
                <a:spcPct val="105000"/>
              </a:lnSpc>
              <a:buNone/>
            </a:pPr>
            <a:r>
              <a:rPr lang="en-US" sz="1100" dirty="0">
                <a:solidFill>
                  <a:srgbClr val="6F7B8D"/>
                </a:solidFill>
                <a:latin typeface="Helvetica Neue" pitchFamily="34" charset="0"/>
                <a:ea typeface="Helvetica Neue" pitchFamily="34" charset="-122"/>
                <a:cs typeface="Helvetica Neue" pitchFamily="34" charset="-120"/>
              </a:rPr>
              <a:t>04 / 20</a:t>
            </a:r>
            <a:endParaRPr lang="en-US" sz="1100"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2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20"/>
                                        <p:tgtEl>
                                          <p:spTgt spid="10"/>
                                        </p:tgtEl>
                                      </p:cBhvr>
                                    </p:animEffect>
                                  </p:childTnLst>
                                </p:cTn>
                              </p:par>
                              <p:par>
                                <p:cTn id="11" presetID="10"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20"/>
                                        <p:tgtEl>
                                          <p:spTgt spid="11"/>
                                        </p:tgtEl>
                                      </p:cBhvr>
                                    </p:animEffect>
                                  </p:childTnLst>
                                </p:cTn>
                              </p:par>
                              <p:par>
                                <p:cTn id="14" presetID="10" presetClass="entr" presetSubtype="0" fill="hold"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20"/>
                                        <p:tgtEl>
                                          <p:spTgt spid="12"/>
                                        </p:tgtEl>
                                      </p:cBhvr>
                                    </p:animEffect>
                                  </p:childTnLst>
                                </p:cTn>
                              </p:par>
                              <p:par>
                                <p:cTn id="17" presetID="10"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20"/>
                                        <p:tgtEl>
                                          <p:spTgt spid="13"/>
                                        </p:tgtEl>
                                      </p:cBhvr>
                                    </p:animEffect>
                                  </p:childTnLst>
                                </p:cTn>
                              </p:par>
                              <p:par>
                                <p:cTn id="20" presetID="10" presetClass="entr" presetSubtype="0" fill="hold"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420"/>
                                        <p:tgtEl>
                                          <p:spTgt spid="14"/>
                                        </p:tgtEl>
                                      </p:cBhvr>
                                    </p:animEffect>
                                  </p:childTnLst>
                                </p:cTn>
                              </p:par>
                              <p:par>
                                <p:cTn id="23" presetID="10" presetClass="entr" presetSubtype="0" fill="hold" nodeType="with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420"/>
                                        <p:tgtEl>
                                          <p:spTgt spid="15"/>
                                        </p:tgtEl>
                                      </p:cBhvr>
                                    </p:animEffect>
                                  </p:childTnLst>
                                </p:cTn>
                              </p:par>
                              <p:par>
                                <p:cTn id="26" presetID="10" presetClass="entr" presetSubtype="0" fill="hold" nodeType="with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fade">
                                      <p:cBhvr>
                                        <p:cTn id="28" dur="420"/>
                                        <p:tgtEl>
                                          <p:spTgt spid="16"/>
                                        </p:tgtEl>
                                      </p:cBhvr>
                                    </p:animEffect>
                                  </p:childTnLst>
                                </p:cTn>
                              </p:par>
                              <p:par>
                                <p:cTn id="29" presetID="10" presetClass="entr" presetSubtype="0" fill="hold" nodeType="with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420"/>
                                        <p:tgtEl>
                                          <p:spTgt spid="17"/>
                                        </p:tgtEl>
                                      </p:cBhvr>
                                    </p:animEffect>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nodeType="clickEffect">
                                  <p:stCondLst>
                                    <p:cond delay="0"/>
                                  </p:stCondLst>
                                  <p:childTnLst>
                                    <p:set>
                                      <p:cBhvr>
                                        <p:cTn id="35" dur="1" fill="hold">
                                          <p:stCondLst>
                                            <p:cond delay="0"/>
                                          </p:stCondLst>
                                        </p:cTn>
                                        <p:tgtEl>
                                          <p:spTgt spid="18"/>
                                        </p:tgtEl>
                                        <p:attrNameLst>
                                          <p:attrName>style.visibility</p:attrName>
                                        </p:attrNameLst>
                                      </p:cBhvr>
                                      <p:to>
                                        <p:strVal val="visible"/>
                                      </p:to>
                                    </p:set>
                                    <p:anim calcmode="lin" valueType="num">
                                      <p:cBhvr additive="base">
                                        <p:cTn id="36" dur="420" decel="60000" fill="hold"/>
                                        <p:tgtEl>
                                          <p:spTgt spid="18"/>
                                        </p:tgtEl>
                                        <p:attrNameLst>
                                          <p:attrName>ppt_y</p:attrName>
                                        </p:attrNameLst>
                                      </p:cBhvr>
                                      <p:tavLst>
                                        <p:tav tm="0">
                                          <p:val>
                                            <p:strVal val="#ppt_y+.014"/>
                                          </p:val>
                                        </p:tav>
                                        <p:tav tm="100000">
                                          <p:val>
                                            <p:strVal val="#ppt_y"/>
                                          </p:val>
                                        </p:tav>
                                      </p:tavLst>
                                    </p:anim>
                                    <p:animEffect transition="in" filter="fade">
                                      <p:cBhvr>
                                        <p:cTn id="37" dur="420"/>
                                        <p:tgtEl>
                                          <p:spTgt spid="18"/>
                                        </p:tgtEl>
                                      </p:cBhvr>
                                    </p:animEffect>
                                  </p:childTnLst>
                                </p:cTn>
                              </p:par>
                              <p:par>
                                <p:cTn id="38" presetID="42"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 calcmode="lin" valueType="num">
                                      <p:cBhvr additive="base">
                                        <p:cTn id="40" dur="420" decel="60000" fill="hold"/>
                                        <p:tgtEl>
                                          <p:spTgt spid="19"/>
                                        </p:tgtEl>
                                        <p:attrNameLst>
                                          <p:attrName>ppt_y</p:attrName>
                                        </p:attrNameLst>
                                      </p:cBhvr>
                                      <p:tavLst>
                                        <p:tav tm="0">
                                          <p:val>
                                            <p:strVal val="#ppt_y+.014"/>
                                          </p:val>
                                        </p:tav>
                                        <p:tav tm="100000">
                                          <p:val>
                                            <p:strVal val="#ppt_y"/>
                                          </p:val>
                                        </p:tav>
                                      </p:tavLst>
                                    </p:anim>
                                    <p:animEffect transition="in" filter="fade">
                                      <p:cBhvr>
                                        <p:cTn id="41" dur="42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7090D"/>
        </a:solidFill>
        <a:effectLst/>
      </p:bgPr>
    </p:bg>
    <p:spTree>
      <p:nvGrpSpPr>
        <p:cNvPr id="1" name=""/>
        <p:cNvGrpSpPr/>
        <p:nvPr/>
      </p:nvGrpSpPr>
      <p:grpSpPr>
        <a:xfrm>
          <a:off x="0" y="0"/>
          <a:ext cx="0" cy="0"/>
          <a:chOff x="0" y="0"/>
          <a:chExt cx="0" cy="0"/>
        </a:xfrm>
      </p:grpSpPr>
      <p:sp>
        <p:nvSpPr>
          <p:cNvPr id="2" name="Text 0"/>
          <p:cNvSpPr/>
          <p:nvPr/>
        </p:nvSpPr>
        <p:spPr>
          <a:xfrm>
            <a:off x="566928" y="274320"/>
            <a:ext cx="10607040" cy="274320"/>
          </a:xfrm>
          <a:prstGeom prst="rect">
            <a:avLst/>
          </a:prstGeom>
          <a:noFill/>
          <a:ln/>
        </p:spPr>
        <p:txBody>
          <a:bodyPr wrap="square" rtlCol="0" anchor="t"/>
          <a:lstStyle/>
          <a:p>
            <a:pPr marL="0" indent="0">
              <a:lnSpc>
                <a:spcPct val="105000"/>
              </a:lnSpc>
              <a:buNone/>
            </a:pPr>
            <a:r>
              <a:rPr lang="en-US" sz="1200" b="1" kern="0" spc="260" dirty="0">
                <a:solidFill>
                  <a:srgbClr val="75EDBB"/>
                </a:solidFill>
                <a:latin typeface="Helvetica Neue" pitchFamily="34" charset="0"/>
                <a:ea typeface="Helvetica Neue" pitchFamily="34" charset="-122"/>
                <a:cs typeface="Helvetica Neue" pitchFamily="34" charset="-120"/>
              </a:rPr>
              <a:t>RUNTIME CHOICE</a:t>
            </a:r>
            <a:endParaRPr lang="en-US" sz="1200" dirty="0"/>
          </a:p>
        </p:txBody>
      </p:sp>
      <p:sp>
        <p:nvSpPr>
          <p:cNvPr id="3" name="Text 1"/>
          <p:cNvSpPr/>
          <p:nvPr/>
        </p:nvSpPr>
        <p:spPr>
          <a:xfrm>
            <a:off x="566928" y="585216"/>
            <a:ext cx="10789920" cy="731520"/>
          </a:xfrm>
          <a:prstGeom prst="rect">
            <a:avLst/>
          </a:prstGeom>
          <a:noFill/>
          <a:ln/>
        </p:spPr>
        <p:txBody>
          <a:bodyPr wrap="square" rtlCol="0" anchor="ctr"/>
          <a:lstStyle/>
          <a:p>
            <a:pPr marL="0" indent="0">
              <a:lnSpc>
                <a:spcPct val="95000"/>
              </a:lnSpc>
              <a:buNone/>
            </a:pPr>
            <a:r>
              <a:rPr lang="en-US" sz="3800" dirty="0">
                <a:solidFill>
                  <a:srgbClr val="F3F6FA"/>
                </a:solidFill>
                <a:latin typeface="Avenir Next" pitchFamily="34" charset="0"/>
                <a:ea typeface="Avenir Next" pitchFamily="34" charset="-122"/>
                <a:cs typeface="Avenir Next" pitchFamily="34" charset="-120"/>
              </a:rPr>
              <a:t>Choose a harness as well as a model</a:t>
            </a:r>
            <a:endParaRPr lang="en-US" sz="3800" dirty="0"/>
          </a:p>
        </p:txBody>
      </p:sp>
      <p:sp>
        <p:nvSpPr>
          <p:cNvPr id="4" name="Text 2"/>
          <p:cNvSpPr/>
          <p:nvPr/>
        </p:nvSpPr>
        <p:spPr>
          <a:xfrm>
            <a:off x="566928" y="1335024"/>
            <a:ext cx="9692640" cy="384048"/>
          </a:xfrm>
          <a:prstGeom prst="rect">
            <a:avLst/>
          </a:prstGeom>
          <a:noFill/>
          <a:ln/>
        </p:spPr>
        <p:txBody>
          <a:bodyPr wrap="square" rtlCol="0" anchor="t"/>
          <a:lstStyle/>
          <a:p>
            <a:pPr marL="0" indent="0">
              <a:lnSpc>
                <a:spcPct val="105000"/>
              </a:lnSpc>
              <a:buNone/>
            </a:pPr>
            <a:r>
              <a:rPr lang="en-US" sz="1900" dirty="0">
                <a:solidFill>
                  <a:srgbClr val="B2BDCD"/>
                </a:solidFill>
                <a:latin typeface="Helvetica Neue" pitchFamily="34" charset="0"/>
                <a:ea typeface="Helvetica Neue" pitchFamily="34" charset="-122"/>
                <a:cs typeface="Helvetica Neue" pitchFamily="34" charset="-120"/>
              </a:rPr>
              <a:t>Four of these run the agent. One of them is a place to run it.</a:t>
            </a:r>
            <a:endParaRPr lang="en-US" sz="1900" dirty="0"/>
          </a:p>
        </p:txBody>
      </p:sp>
      <p:sp>
        <p:nvSpPr>
          <p:cNvPr id="5" name="Shape 3"/>
          <p:cNvSpPr/>
          <p:nvPr/>
        </p:nvSpPr>
        <p:spPr>
          <a:xfrm>
            <a:off x="566928" y="1773936"/>
            <a:ext cx="3218688" cy="2862072"/>
          </a:xfrm>
          <a:prstGeom prst="roundRect">
            <a:avLst>
              <a:gd name="adj" fmla="val 5112"/>
            </a:avLst>
          </a:prstGeom>
          <a:solidFill>
            <a:srgbClr val="0A0D13"/>
          </a:solidFill>
          <a:ln w="12700">
            <a:solidFill>
              <a:srgbClr val="232C3A"/>
            </a:solidFill>
            <a:prstDash val="solid"/>
          </a:ln>
        </p:spPr>
        <p:txBody>
          <a:bodyPr/>
          <a:lstStyle/>
          <a:p>
            <a:endParaRPr lang="en-US"/>
          </a:p>
        </p:txBody>
      </p:sp>
      <p:pic>
        <p:nvPicPr>
          <p:cNvPr id="6" name="Image 0" descr="/Users/pakbaz/code/art-and-science-of-vibe-coding/assets/harness-picker.png"/>
          <p:cNvPicPr>
            <a:picLocks noChangeAspect="1"/>
          </p:cNvPicPr>
          <p:nvPr/>
        </p:nvPicPr>
        <p:blipFill>
          <a:blip r:embed="rId3"/>
          <a:stretch>
            <a:fillRect/>
          </a:stretch>
        </p:blipFill>
        <p:spPr>
          <a:xfrm>
            <a:off x="713232" y="1920240"/>
            <a:ext cx="2926080" cy="2569464"/>
          </a:xfrm>
          <a:prstGeom prst="rect">
            <a:avLst/>
          </a:prstGeom>
        </p:spPr>
      </p:pic>
      <p:sp>
        <p:nvSpPr>
          <p:cNvPr id="7" name="Text 4"/>
          <p:cNvSpPr/>
          <p:nvPr/>
        </p:nvSpPr>
        <p:spPr>
          <a:xfrm>
            <a:off x="566928" y="4764024"/>
            <a:ext cx="3218688" cy="548640"/>
          </a:xfrm>
          <a:prstGeom prst="rect">
            <a:avLst/>
          </a:prstGeom>
          <a:noFill/>
          <a:ln/>
        </p:spPr>
        <p:txBody>
          <a:bodyPr wrap="square" rtlCol="0" anchor="t"/>
          <a:lstStyle/>
          <a:p>
            <a:pPr marL="0" indent="0" algn="ctr">
              <a:lnSpc>
                <a:spcPct val="105000"/>
              </a:lnSpc>
              <a:buNone/>
            </a:pPr>
            <a:r>
              <a:rPr lang="en-US" sz="1500" dirty="0">
                <a:solidFill>
                  <a:srgbClr val="6F7B8D"/>
                </a:solidFill>
                <a:latin typeface="Helvetica Neue" pitchFamily="34" charset="0"/>
                <a:ea typeface="Helvetica Neue" pitchFamily="34" charset="-122"/>
                <a:cs typeface="Helvetica Neue" pitchFamily="34" charset="-120"/>
              </a:rPr>
              <a:t>VS Code harness picker, September 2026</a:t>
            </a:r>
            <a:endParaRPr lang="en-US" sz="1500" dirty="0"/>
          </a:p>
        </p:txBody>
      </p:sp>
      <p:sp>
        <p:nvSpPr>
          <p:cNvPr id="8" name="b01-fade-harness-rows"/>
          <p:cNvSpPr/>
          <p:nvPr/>
        </p:nvSpPr>
        <p:spPr>
          <a:xfrm>
            <a:off x="4434840" y="1874520"/>
            <a:ext cx="7178040" cy="621792"/>
          </a:xfrm>
          <a:prstGeom prst="roundRect">
            <a:avLst>
              <a:gd name="adj" fmla="val 14706"/>
            </a:avLst>
          </a:prstGeom>
          <a:solidFill>
            <a:srgbClr val="0E1219"/>
          </a:solidFill>
          <a:ln w="12700">
            <a:solidFill>
              <a:srgbClr val="1A212C"/>
            </a:solidFill>
            <a:prstDash val="solid"/>
          </a:ln>
        </p:spPr>
        <p:txBody>
          <a:bodyPr/>
          <a:lstStyle/>
          <a:p>
            <a:endParaRPr lang="en-US"/>
          </a:p>
        </p:txBody>
      </p:sp>
      <p:sp>
        <p:nvSpPr>
          <p:cNvPr id="9" name="b01-fade-harness-rows"/>
          <p:cNvSpPr/>
          <p:nvPr/>
        </p:nvSpPr>
        <p:spPr>
          <a:xfrm>
            <a:off x="4663440" y="1874520"/>
            <a:ext cx="1371600" cy="621792"/>
          </a:xfrm>
          <a:prstGeom prst="rect">
            <a:avLst/>
          </a:prstGeom>
          <a:noFill/>
          <a:ln/>
        </p:spPr>
        <p:txBody>
          <a:bodyPr wrap="square" rtlCol="0" anchor="ctr"/>
          <a:lstStyle/>
          <a:p>
            <a:pPr marL="0" indent="0">
              <a:lnSpc>
                <a:spcPct val="105000"/>
              </a:lnSpc>
              <a:buNone/>
            </a:pPr>
            <a:r>
              <a:rPr lang="en-US" sz="1800" b="1" dirty="0">
                <a:solidFill>
                  <a:srgbClr val="75EDBB"/>
                </a:solidFill>
                <a:latin typeface="Helvetica Neue" pitchFamily="34" charset="0"/>
                <a:ea typeface="Helvetica Neue" pitchFamily="34" charset="-122"/>
                <a:cs typeface="Helvetica Neue" pitchFamily="34" charset="-120"/>
              </a:rPr>
              <a:t>Local</a:t>
            </a:r>
            <a:endParaRPr lang="en-US" sz="1800" dirty="0"/>
          </a:p>
        </p:txBody>
      </p:sp>
      <p:sp>
        <p:nvSpPr>
          <p:cNvPr id="10" name="b01-fade-harness-rows"/>
          <p:cNvSpPr/>
          <p:nvPr/>
        </p:nvSpPr>
        <p:spPr>
          <a:xfrm>
            <a:off x="6035040" y="1874520"/>
            <a:ext cx="5394960" cy="621792"/>
          </a:xfrm>
          <a:prstGeom prst="rect">
            <a:avLst/>
          </a:prstGeom>
          <a:noFill/>
          <a:ln/>
        </p:spPr>
        <p:txBody>
          <a:bodyPr wrap="square" rtlCol="0" anchor="ctr"/>
          <a:lstStyle/>
          <a:p>
            <a:pPr marL="0" indent="0">
              <a:lnSpc>
                <a:spcPct val="105000"/>
              </a:lnSpc>
              <a:buNone/>
            </a:pPr>
            <a:r>
              <a:rPr lang="en-US" sz="1600" dirty="0">
                <a:solidFill>
                  <a:srgbClr val="B2BDCD"/>
                </a:solidFill>
                <a:latin typeface="Helvetica Neue" pitchFamily="34" charset="0"/>
                <a:ea typeface="Helvetica Neue" pitchFamily="34" charset="-122"/>
                <a:cs typeface="Helvetica Neue" pitchFamily="34" charset="-120"/>
              </a:rPr>
              <a:t>VS Code extension host with the editor's own tools.</a:t>
            </a:r>
            <a:endParaRPr lang="en-US" sz="1600" dirty="0"/>
          </a:p>
        </p:txBody>
      </p:sp>
      <p:sp>
        <p:nvSpPr>
          <p:cNvPr id="11" name="b02-pulse-cloud-row"/>
          <p:cNvSpPr/>
          <p:nvPr/>
        </p:nvSpPr>
        <p:spPr>
          <a:xfrm>
            <a:off x="4434840" y="2615184"/>
            <a:ext cx="7178040" cy="621792"/>
          </a:xfrm>
          <a:prstGeom prst="roundRect">
            <a:avLst>
              <a:gd name="adj" fmla="val 14706"/>
            </a:avLst>
          </a:prstGeom>
          <a:solidFill>
            <a:srgbClr val="0A0D13"/>
          </a:solidFill>
          <a:ln w="12700">
            <a:solidFill>
              <a:srgbClr val="FFCA83"/>
            </a:solidFill>
            <a:prstDash val="solid"/>
          </a:ln>
        </p:spPr>
        <p:txBody>
          <a:bodyPr/>
          <a:lstStyle/>
          <a:p>
            <a:endParaRPr lang="en-US"/>
          </a:p>
        </p:txBody>
      </p:sp>
      <p:sp>
        <p:nvSpPr>
          <p:cNvPr id="12" name="b02-pulse-cloud-row"/>
          <p:cNvSpPr/>
          <p:nvPr/>
        </p:nvSpPr>
        <p:spPr>
          <a:xfrm>
            <a:off x="4663440" y="2615184"/>
            <a:ext cx="1371600" cy="621792"/>
          </a:xfrm>
          <a:prstGeom prst="rect">
            <a:avLst/>
          </a:prstGeom>
          <a:noFill/>
          <a:ln/>
        </p:spPr>
        <p:txBody>
          <a:bodyPr wrap="square" rtlCol="0" anchor="ctr"/>
          <a:lstStyle/>
          <a:p>
            <a:pPr marL="0" indent="0">
              <a:lnSpc>
                <a:spcPct val="105000"/>
              </a:lnSpc>
              <a:buNone/>
            </a:pPr>
            <a:r>
              <a:rPr lang="en-US" sz="1800" b="1" dirty="0">
                <a:solidFill>
                  <a:srgbClr val="FFCA83"/>
                </a:solidFill>
                <a:latin typeface="Helvetica Neue" pitchFamily="34" charset="0"/>
                <a:ea typeface="Helvetica Neue" pitchFamily="34" charset="-122"/>
                <a:cs typeface="Helvetica Neue" pitchFamily="34" charset="-120"/>
              </a:rPr>
              <a:t>Cloud</a:t>
            </a:r>
            <a:endParaRPr lang="en-US" sz="1800" dirty="0"/>
          </a:p>
        </p:txBody>
      </p:sp>
      <p:sp>
        <p:nvSpPr>
          <p:cNvPr id="13" name="b02-pulse-cloud-row"/>
          <p:cNvSpPr/>
          <p:nvPr/>
        </p:nvSpPr>
        <p:spPr>
          <a:xfrm>
            <a:off x="6035040" y="2615184"/>
            <a:ext cx="5394960" cy="621792"/>
          </a:xfrm>
          <a:prstGeom prst="rect">
            <a:avLst/>
          </a:prstGeom>
          <a:noFill/>
          <a:ln/>
        </p:spPr>
        <p:txBody>
          <a:bodyPr wrap="square" rtlCol="0" anchor="ctr"/>
          <a:lstStyle/>
          <a:p>
            <a:pPr marL="0" indent="0">
              <a:lnSpc>
                <a:spcPct val="105000"/>
              </a:lnSpc>
              <a:buNone/>
            </a:pPr>
            <a:r>
              <a:rPr lang="en-US" sz="1600" dirty="0">
                <a:solidFill>
                  <a:srgbClr val="B2BDCD"/>
                </a:solidFill>
                <a:latin typeface="Helvetica Neue" pitchFamily="34" charset="0"/>
                <a:ea typeface="Helvetica Neue" pitchFamily="34" charset="-122"/>
                <a:cs typeface="Helvetica Neue" pitchFamily="34" charset="-120"/>
              </a:rPr>
              <a:t>A remote place to run an agent on your repo.</a:t>
            </a:r>
            <a:endParaRPr lang="en-US" sz="1600" dirty="0"/>
          </a:p>
        </p:txBody>
      </p:sp>
      <p:sp>
        <p:nvSpPr>
          <p:cNvPr id="14" name="b01-fade-harness-rows"/>
          <p:cNvSpPr/>
          <p:nvPr/>
        </p:nvSpPr>
        <p:spPr>
          <a:xfrm>
            <a:off x="4434840" y="3355848"/>
            <a:ext cx="7178040" cy="621792"/>
          </a:xfrm>
          <a:prstGeom prst="roundRect">
            <a:avLst>
              <a:gd name="adj" fmla="val 14706"/>
            </a:avLst>
          </a:prstGeom>
          <a:solidFill>
            <a:srgbClr val="0E1219"/>
          </a:solidFill>
          <a:ln w="12700">
            <a:solidFill>
              <a:srgbClr val="1A212C"/>
            </a:solidFill>
            <a:prstDash val="solid"/>
          </a:ln>
        </p:spPr>
        <p:txBody>
          <a:bodyPr/>
          <a:lstStyle/>
          <a:p>
            <a:endParaRPr lang="en-US"/>
          </a:p>
        </p:txBody>
      </p:sp>
      <p:sp>
        <p:nvSpPr>
          <p:cNvPr id="15" name="b01-fade-harness-rows"/>
          <p:cNvSpPr/>
          <p:nvPr/>
        </p:nvSpPr>
        <p:spPr>
          <a:xfrm>
            <a:off x="4663440" y="3355848"/>
            <a:ext cx="1371600" cy="621792"/>
          </a:xfrm>
          <a:prstGeom prst="rect">
            <a:avLst/>
          </a:prstGeom>
          <a:noFill/>
          <a:ln/>
        </p:spPr>
        <p:txBody>
          <a:bodyPr wrap="square" rtlCol="0" anchor="ctr"/>
          <a:lstStyle/>
          <a:p>
            <a:pPr marL="0" indent="0">
              <a:lnSpc>
                <a:spcPct val="105000"/>
              </a:lnSpc>
              <a:buNone/>
            </a:pPr>
            <a:r>
              <a:rPr lang="en-US" sz="1800" b="1" dirty="0">
                <a:solidFill>
                  <a:srgbClr val="75EDBB"/>
                </a:solidFill>
                <a:latin typeface="Helvetica Neue" pitchFamily="34" charset="0"/>
                <a:ea typeface="Helvetica Neue" pitchFamily="34" charset="-122"/>
                <a:cs typeface="Helvetica Neue" pitchFamily="34" charset="-120"/>
              </a:rPr>
              <a:t>Copilot</a:t>
            </a:r>
            <a:endParaRPr lang="en-US" sz="1800" dirty="0"/>
          </a:p>
        </p:txBody>
      </p:sp>
      <p:sp>
        <p:nvSpPr>
          <p:cNvPr id="16" name="b01-fade-harness-rows"/>
          <p:cNvSpPr/>
          <p:nvPr/>
        </p:nvSpPr>
        <p:spPr>
          <a:xfrm>
            <a:off x="6035040" y="3355848"/>
            <a:ext cx="5394960" cy="621792"/>
          </a:xfrm>
          <a:prstGeom prst="rect">
            <a:avLst/>
          </a:prstGeom>
          <a:noFill/>
          <a:ln/>
        </p:spPr>
        <p:txBody>
          <a:bodyPr wrap="square" rtlCol="0" anchor="ctr"/>
          <a:lstStyle/>
          <a:p>
            <a:pPr marL="0" indent="0">
              <a:lnSpc>
                <a:spcPct val="105000"/>
              </a:lnSpc>
              <a:buNone/>
            </a:pPr>
            <a:r>
              <a:rPr lang="en-US" sz="1600" dirty="0">
                <a:solidFill>
                  <a:srgbClr val="B2BDCD"/>
                </a:solidFill>
                <a:latin typeface="Helvetica Neue" pitchFamily="34" charset="0"/>
                <a:ea typeface="Helvetica Neue" pitchFamily="34" charset="-122"/>
                <a:cs typeface="Helvetica Neue" pitchFamily="34" charset="-120"/>
              </a:rPr>
              <a:t>Copilot SDK harness running on Agent Host.</a:t>
            </a:r>
            <a:endParaRPr lang="en-US" sz="1600" dirty="0"/>
          </a:p>
        </p:txBody>
      </p:sp>
      <p:sp>
        <p:nvSpPr>
          <p:cNvPr id="17" name="b01-fade-harness-rows"/>
          <p:cNvSpPr/>
          <p:nvPr/>
        </p:nvSpPr>
        <p:spPr>
          <a:xfrm>
            <a:off x="4434840" y="4096512"/>
            <a:ext cx="7178040" cy="621792"/>
          </a:xfrm>
          <a:prstGeom prst="roundRect">
            <a:avLst>
              <a:gd name="adj" fmla="val 14706"/>
            </a:avLst>
          </a:prstGeom>
          <a:solidFill>
            <a:srgbClr val="0E1219"/>
          </a:solidFill>
          <a:ln w="12700">
            <a:solidFill>
              <a:srgbClr val="1A212C"/>
            </a:solidFill>
            <a:prstDash val="solid"/>
          </a:ln>
        </p:spPr>
        <p:txBody>
          <a:bodyPr/>
          <a:lstStyle/>
          <a:p>
            <a:endParaRPr lang="en-US"/>
          </a:p>
        </p:txBody>
      </p:sp>
      <p:sp>
        <p:nvSpPr>
          <p:cNvPr id="18" name="b01-fade-harness-rows"/>
          <p:cNvSpPr/>
          <p:nvPr/>
        </p:nvSpPr>
        <p:spPr>
          <a:xfrm>
            <a:off x="4663440" y="4096512"/>
            <a:ext cx="1371600" cy="621792"/>
          </a:xfrm>
          <a:prstGeom prst="rect">
            <a:avLst/>
          </a:prstGeom>
          <a:noFill/>
          <a:ln/>
        </p:spPr>
        <p:txBody>
          <a:bodyPr wrap="square" rtlCol="0" anchor="ctr"/>
          <a:lstStyle/>
          <a:p>
            <a:pPr marL="0" indent="0">
              <a:lnSpc>
                <a:spcPct val="105000"/>
              </a:lnSpc>
              <a:buNone/>
            </a:pPr>
            <a:r>
              <a:rPr lang="en-US" sz="1800" b="1" dirty="0">
                <a:solidFill>
                  <a:srgbClr val="75EDBB"/>
                </a:solidFill>
                <a:latin typeface="Helvetica Neue" pitchFamily="34" charset="0"/>
                <a:ea typeface="Helvetica Neue" pitchFamily="34" charset="-122"/>
                <a:cs typeface="Helvetica Neue" pitchFamily="34" charset="-120"/>
              </a:rPr>
              <a:t>Codex</a:t>
            </a:r>
            <a:endParaRPr lang="en-US" sz="1800" dirty="0"/>
          </a:p>
        </p:txBody>
      </p:sp>
      <p:sp>
        <p:nvSpPr>
          <p:cNvPr id="19" name="b01-fade-harness-rows"/>
          <p:cNvSpPr/>
          <p:nvPr/>
        </p:nvSpPr>
        <p:spPr>
          <a:xfrm>
            <a:off x="6035040" y="4096512"/>
            <a:ext cx="5394960" cy="621792"/>
          </a:xfrm>
          <a:prstGeom prst="rect">
            <a:avLst/>
          </a:prstGeom>
          <a:noFill/>
          <a:ln/>
        </p:spPr>
        <p:txBody>
          <a:bodyPr wrap="square" rtlCol="0" anchor="ctr"/>
          <a:lstStyle/>
          <a:p>
            <a:pPr marL="0" indent="0">
              <a:lnSpc>
                <a:spcPct val="105000"/>
              </a:lnSpc>
              <a:buNone/>
            </a:pPr>
            <a:r>
              <a:rPr lang="en-US" sz="1600" dirty="0">
                <a:solidFill>
                  <a:srgbClr val="B2BDCD"/>
                </a:solidFill>
                <a:latin typeface="Helvetica Neue" pitchFamily="34" charset="0"/>
                <a:ea typeface="Helvetica Neue" pitchFamily="34" charset="-122"/>
                <a:cs typeface="Helvetica Neue" pitchFamily="34" charset="-120"/>
              </a:rPr>
              <a:t>OpenAI's own harness. Access follows your plan.</a:t>
            </a:r>
            <a:endParaRPr lang="en-US" sz="1600" dirty="0"/>
          </a:p>
        </p:txBody>
      </p:sp>
      <p:sp>
        <p:nvSpPr>
          <p:cNvPr id="20" name="b01-fade-harness-rows"/>
          <p:cNvSpPr/>
          <p:nvPr/>
        </p:nvSpPr>
        <p:spPr>
          <a:xfrm>
            <a:off x="4434840" y="4837176"/>
            <a:ext cx="7178040" cy="621792"/>
          </a:xfrm>
          <a:prstGeom prst="roundRect">
            <a:avLst>
              <a:gd name="adj" fmla="val 14706"/>
            </a:avLst>
          </a:prstGeom>
          <a:solidFill>
            <a:srgbClr val="0E1219"/>
          </a:solidFill>
          <a:ln w="12700">
            <a:solidFill>
              <a:srgbClr val="1A212C"/>
            </a:solidFill>
            <a:prstDash val="solid"/>
          </a:ln>
        </p:spPr>
        <p:txBody>
          <a:bodyPr/>
          <a:lstStyle/>
          <a:p>
            <a:endParaRPr lang="en-US"/>
          </a:p>
        </p:txBody>
      </p:sp>
      <p:sp>
        <p:nvSpPr>
          <p:cNvPr id="21" name="b01-fade-harness-rows"/>
          <p:cNvSpPr/>
          <p:nvPr/>
        </p:nvSpPr>
        <p:spPr>
          <a:xfrm>
            <a:off x="4663440" y="4837176"/>
            <a:ext cx="1371600" cy="621792"/>
          </a:xfrm>
          <a:prstGeom prst="rect">
            <a:avLst/>
          </a:prstGeom>
          <a:noFill/>
          <a:ln/>
        </p:spPr>
        <p:txBody>
          <a:bodyPr wrap="square" rtlCol="0" anchor="ctr"/>
          <a:lstStyle/>
          <a:p>
            <a:pPr marL="0" indent="0">
              <a:lnSpc>
                <a:spcPct val="105000"/>
              </a:lnSpc>
              <a:buNone/>
            </a:pPr>
            <a:r>
              <a:rPr lang="en-US" sz="1800" b="1" dirty="0">
                <a:solidFill>
                  <a:srgbClr val="75EDBB"/>
                </a:solidFill>
                <a:latin typeface="Helvetica Neue" pitchFamily="34" charset="0"/>
                <a:ea typeface="Helvetica Neue" pitchFamily="34" charset="-122"/>
                <a:cs typeface="Helvetica Neue" pitchFamily="34" charset="-120"/>
              </a:rPr>
              <a:t>Claude</a:t>
            </a:r>
            <a:endParaRPr lang="en-US" sz="1800" dirty="0"/>
          </a:p>
        </p:txBody>
      </p:sp>
      <p:sp>
        <p:nvSpPr>
          <p:cNvPr id="22" name="b01-fade-harness-rows"/>
          <p:cNvSpPr/>
          <p:nvPr/>
        </p:nvSpPr>
        <p:spPr>
          <a:xfrm>
            <a:off x="6035040" y="4837176"/>
            <a:ext cx="5394960" cy="621792"/>
          </a:xfrm>
          <a:prstGeom prst="rect">
            <a:avLst/>
          </a:prstGeom>
          <a:noFill/>
          <a:ln/>
        </p:spPr>
        <p:txBody>
          <a:bodyPr wrap="square" rtlCol="0" anchor="ctr"/>
          <a:lstStyle/>
          <a:p>
            <a:pPr marL="0" indent="0">
              <a:lnSpc>
                <a:spcPct val="105000"/>
              </a:lnSpc>
              <a:buNone/>
            </a:pPr>
            <a:r>
              <a:rPr lang="en-US" sz="1600" dirty="0">
                <a:solidFill>
                  <a:srgbClr val="B2BDCD"/>
                </a:solidFill>
                <a:latin typeface="Helvetica Neue" pitchFamily="34" charset="0"/>
                <a:ea typeface="Helvetica Neue" pitchFamily="34" charset="-122"/>
                <a:cs typeface="Helvetica Neue" pitchFamily="34" charset="-120"/>
              </a:rPr>
              <a:t>Anthropic's own harness. Access follows your plan.</a:t>
            </a:r>
            <a:endParaRPr lang="en-US" sz="1600" dirty="0"/>
          </a:p>
        </p:txBody>
      </p:sp>
      <p:sp>
        <p:nvSpPr>
          <p:cNvPr id="25" name="Text 22"/>
          <p:cNvSpPr/>
          <p:nvPr/>
        </p:nvSpPr>
        <p:spPr>
          <a:xfrm>
            <a:off x="566928" y="6391656"/>
            <a:ext cx="8961120" cy="274320"/>
          </a:xfrm>
          <a:prstGeom prst="rect">
            <a:avLst/>
          </a:prstGeom>
          <a:noFill/>
          <a:ln/>
        </p:spPr>
        <p:txBody>
          <a:bodyPr wrap="square" rtlCol="0" anchor="ctr"/>
          <a:lstStyle/>
          <a:p>
            <a:pPr marL="0" indent="0">
              <a:lnSpc>
                <a:spcPct val="105000"/>
              </a:lnSpc>
              <a:buNone/>
            </a:pPr>
            <a:r>
              <a:rPr lang="en-US" sz="1100" dirty="0">
                <a:solidFill>
                  <a:srgbClr val="6F7B8D"/>
                </a:solidFill>
                <a:latin typeface="Helvetica Neue" pitchFamily="34" charset="0"/>
                <a:ea typeface="Helvetica Neue" pitchFamily="34" charset="-122"/>
                <a:cs typeface="Helvetica Neue" pitchFamily="34" charset="-120"/>
              </a:rPr>
              <a:t>Current as of September 18, 2026 · code.visualstudio.com/docs/agents/run/agent-harnesses</a:t>
            </a:r>
            <a:endParaRPr lang="en-US" sz="1100" dirty="0"/>
          </a:p>
        </p:txBody>
      </p:sp>
      <p:sp>
        <p:nvSpPr>
          <p:cNvPr id="26" name="Text 23"/>
          <p:cNvSpPr/>
          <p:nvPr/>
        </p:nvSpPr>
        <p:spPr>
          <a:xfrm>
            <a:off x="9692640" y="6391656"/>
            <a:ext cx="1929384" cy="274320"/>
          </a:xfrm>
          <a:prstGeom prst="rect">
            <a:avLst/>
          </a:prstGeom>
          <a:noFill/>
          <a:ln/>
        </p:spPr>
        <p:txBody>
          <a:bodyPr wrap="square" rtlCol="0" anchor="ctr"/>
          <a:lstStyle/>
          <a:p>
            <a:pPr marL="0" indent="0" algn="r">
              <a:lnSpc>
                <a:spcPct val="105000"/>
              </a:lnSpc>
              <a:buNone/>
            </a:pPr>
            <a:r>
              <a:rPr lang="en-US" sz="1100" dirty="0">
                <a:solidFill>
                  <a:srgbClr val="6F7B8D"/>
                </a:solidFill>
                <a:latin typeface="Helvetica Neue" pitchFamily="34" charset="0"/>
                <a:ea typeface="Helvetica Neue" pitchFamily="34" charset="-122"/>
                <a:cs typeface="Helvetica Neue" pitchFamily="34" charset="-120"/>
              </a:rPr>
              <a:t>05 / 20</a:t>
            </a:r>
            <a:endParaRPr lang="en-US" sz="1100"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2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2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42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420"/>
                                        <p:tgtEl>
                                          <p:spTgt spid="14"/>
                                        </p:tgtEl>
                                      </p:cBhvr>
                                    </p:animEffect>
                                  </p:childTnLst>
                                </p:cTn>
                              </p:par>
                              <p:par>
                                <p:cTn id="17" presetID="10" presetClass="entr" presetSubtype="0"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420"/>
                                        <p:tgtEl>
                                          <p:spTgt spid="15"/>
                                        </p:tgtEl>
                                      </p:cBhvr>
                                    </p:animEffect>
                                  </p:childTnLst>
                                </p:cTn>
                              </p:par>
                              <p:par>
                                <p:cTn id="20" presetID="10" presetClass="entr" presetSubtype="0" fill="hold"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420"/>
                                        <p:tgtEl>
                                          <p:spTgt spid="16"/>
                                        </p:tgtEl>
                                      </p:cBhvr>
                                    </p:animEffect>
                                  </p:childTnLst>
                                </p:cTn>
                              </p:par>
                              <p:par>
                                <p:cTn id="23" presetID="10" presetClass="entr" presetSubtype="0" fill="hold" nodeType="withEffect">
                                  <p:stCondLst>
                                    <p:cond delay="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420"/>
                                        <p:tgtEl>
                                          <p:spTgt spid="17"/>
                                        </p:tgtEl>
                                      </p:cBhvr>
                                    </p:animEffect>
                                  </p:childTnLst>
                                </p:cTn>
                              </p:par>
                              <p:par>
                                <p:cTn id="26" presetID="10" presetClass="entr" presetSubtype="0" fill="hold" nodeType="withEffect">
                                  <p:stCondLst>
                                    <p:cond delay="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420"/>
                                        <p:tgtEl>
                                          <p:spTgt spid="18"/>
                                        </p:tgtEl>
                                      </p:cBhvr>
                                    </p:animEffect>
                                  </p:childTnLst>
                                </p:cTn>
                              </p:par>
                              <p:par>
                                <p:cTn id="29" presetID="10" presetClass="entr" presetSubtype="0" fill="hold" nodeType="withEffect">
                                  <p:stCondLst>
                                    <p:cond delay="0"/>
                                  </p:stCondLst>
                                  <p:childTnLst>
                                    <p:set>
                                      <p:cBhvr>
                                        <p:cTn id="30" dur="1" fill="hold">
                                          <p:stCondLst>
                                            <p:cond delay="0"/>
                                          </p:stCondLst>
                                        </p:cTn>
                                        <p:tgtEl>
                                          <p:spTgt spid="19"/>
                                        </p:tgtEl>
                                        <p:attrNameLst>
                                          <p:attrName>style.visibility</p:attrName>
                                        </p:attrNameLst>
                                      </p:cBhvr>
                                      <p:to>
                                        <p:strVal val="visible"/>
                                      </p:to>
                                    </p:set>
                                    <p:animEffect transition="in" filter="fade">
                                      <p:cBhvr>
                                        <p:cTn id="31" dur="420"/>
                                        <p:tgtEl>
                                          <p:spTgt spid="19"/>
                                        </p:tgtEl>
                                      </p:cBhvr>
                                    </p:animEffect>
                                  </p:childTnLst>
                                </p:cTn>
                              </p:par>
                              <p:par>
                                <p:cTn id="32" presetID="10" presetClass="entr" presetSubtype="0" fill="hold" nodeType="withEffect">
                                  <p:stCondLst>
                                    <p:cond delay="0"/>
                                  </p:stCondLst>
                                  <p:childTnLst>
                                    <p:set>
                                      <p:cBhvr>
                                        <p:cTn id="33" dur="1" fill="hold">
                                          <p:stCondLst>
                                            <p:cond delay="0"/>
                                          </p:stCondLst>
                                        </p:cTn>
                                        <p:tgtEl>
                                          <p:spTgt spid="20"/>
                                        </p:tgtEl>
                                        <p:attrNameLst>
                                          <p:attrName>style.visibility</p:attrName>
                                        </p:attrNameLst>
                                      </p:cBhvr>
                                      <p:to>
                                        <p:strVal val="visible"/>
                                      </p:to>
                                    </p:set>
                                    <p:animEffect transition="in" filter="fade">
                                      <p:cBhvr>
                                        <p:cTn id="34" dur="420"/>
                                        <p:tgtEl>
                                          <p:spTgt spid="20"/>
                                        </p:tgtEl>
                                      </p:cBhvr>
                                    </p:animEffect>
                                  </p:childTnLst>
                                </p:cTn>
                              </p:par>
                              <p:par>
                                <p:cTn id="35" presetID="10" presetClass="entr" presetSubtype="0" fill="hold" nodeType="withEffect">
                                  <p:stCondLst>
                                    <p:cond delay="0"/>
                                  </p:stCondLst>
                                  <p:childTnLst>
                                    <p:set>
                                      <p:cBhvr>
                                        <p:cTn id="36" dur="1" fill="hold">
                                          <p:stCondLst>
                                            <p:cond delay="0"/>
                                          </p:stCondLst>
                                        </p:cTn>
                                        <p:tgtEl>
                                          <p:spTgt spid="21"/>
                                        </p:tgtEl>
                                        <p:attrNameLst>
                                          <p:attrName>style.visibility</p:attrName>
                                        </p:attrNameLst>
                                      </p:cBhvr>
                                      <p:to>
                                        <p:strVal val="visible"/>
                                      </p:to>
                                    </p:set>
                                    <p:animEffect transition="in" filter="fade">
                                      <p:cBhvr>
                                        <p:cTn id="37" dur="420"/>
                                        <p:tgtEl>
                                          <p:spTgt spid="21"/>
                                        </p:tgtEl>
                                      </p:cBhvr>
                                    </p:animEffect>
                                  </p:childTnLst>
                                </p:cTn>
                              </p:par>
                              <p:par>
                                <p:cTn id="38" presetID="10" presetClass="entr" presetSubtype="0" fill="hold" nodeType="withEffect">
                                  <p:stCondLst>
                                    <p:cond delay="0"/>
                                  </p:stCondLst>
                                  <p:childTnLst>
                                    <p:set>
                                      <p:cBhvr>
                                        <p:cTn id="39" dur="1" fill="hold">
                                          <p:stCondLst>
                                            <p:cond delay="0"/>
                                          </p:stCondLst>
                                        </p:cTn>
                                        <p:tgtEl>
                                          <p:spTgt spid="22"/>
                                        </p:tgtEl>
                                        <p:attrNameLst>
                                          <p:attrName>style.visibility</p:attrName>
                                        </p:attrNameLst>
                                      </p:cBhvr>
                                      <p:to>
                                        <p:strVal val="visible"/>
                                      </p:to>
                                    </p:set>
                                    <p:animEffect transition="in" filter="fade">
                                      <p:cBhvr>
                                        <p:cTn id="40" dur="420"/>
                                        <p:tgtEl>
                                          <p:spTgt spid="22"/>
                                        </p:tgtEl>
                                      </p:cBhvr>
                                    </p:animEffect>
                                  </p:childTnLst>
                                </p:cTn>
                              </p:par>
                            </p:childTnLst>
                          </p:cTn>
                        </p:par>
                      </p:childTnLst>
                    </p:cTn>
                  </p:par>
                  <p:par>
                    <p:cTn id="41" fill="hold">
                      <p:stCondLst>
                        <p:cond delay="indefinite"/>
                      </p:stCondLst>
                      <p:childTnLst>
                        <p:par>
                          <p:cTn id="42" fill="hold">
                            <p:stCondLst>
                              <p:cond delay="0"/>
                            </p:stCondLst>
                            <p:childTnLst>
                              <p:par>
                                <p:cTn id="43" presetID="6" presetClass="emph" presetSubtype="0" fill="hold" nodeType="clickEffect">
                                  <p:stCondLst>
                                    <p:cond delay="0"/>
                                  </p:stCondLst>
                                  <p:childTnLst>
                                    <p:animScale zoomContents="1">
                                      <p:cBhvr>
                                        <p:cTn id="44" dur="200" accel="30000" decel="30000" autoRev="1" fill="remove"/>
                                        <p:tgtEl>
                                          <p:spTgt spid="11"/>
                                        </p:tgtEl>
                                      </p:cBhvr>
                                      <p:from x="100000" y="100000"/>
                                      <p:to x="104000" y="104000"/>
                                    </p:animScale>
                                  </p:childTnLst>
                                </p:cTn>
                              </p:par>
                              <p:par>
                                <p:cTn id="45" presetID="6" presetClass="emph" presetSubtype="0" fill="hold" nodeType="withEffect">
                                  <p:stCondLst>
                                    <p:cond delay="0"/>
                                  </p:stCondLst>
                                  <p:childTnLst>
                                    <p:animScale zoomContents="1">
                                      <p:cBhvr>
                                        <p:cTn id="46" dur="200" accel="30000" decel="30000" autoRev="1" fill="remove"/>
                                        <p:tgtEl>
                                          <p:spTgt spid="12"/>
                                        </p:tgtEl>
                                      </p:cBhvr>
                                      <p:from x="100000" y="100000"/>
                                      <p:to x="104000" y="104000"/>
                                    </p:animScale>
                                  </p:childTnLst>
                                </p:cTn>
                              </p:par>
                              <p:par>
                                <p:cTn id="47" presetID="6" presetClass="emph" presetSubtype="0" fill="hold" nodeType="withEffect">
                                  <p:stCondLst>
                                    <p:cond delay="0"/>
                                  </p:stCondLst>
                                  <p:childTnLst>
                                    <p:animScale zoomContents="1">
                                      <p:cBhvr>
                                        <p:cTn id="48" dur="200" accel="30000" decel="30000" autoRev="1" fill="remove"/>
                                        <p:tgtEl>
                                          <p:spTgt spid="13"/>
                                        </p:tgtEl>
                                      </p:cBhvr>
                                      <p:from x="100000" y="100000"/>
                                      <p:to x="104000" y="104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7090D"/>
        </a:solidFill>
        <a:effectLst/>
      </p:bgPr>
    </p:bg>
    <p:spTree>
      <p:nvGrpSpPr>
        <p:cNvPr id="1" name=""/>
        <p:cNvGrpSpPr/>
        <p:nvPr/>
      </p:nvGrpSpPr>
      <p:grpSpPr>
        <a:xfrm>
          <a:off x="0" y="0"/>
          <a:ext cx="0" cy="0"/>
          <a:chOff x="0" y="0"/>
          <a:chExt cx="0" cy="0"/>
        </a:xfrm>
      </p:grpSpPr>
      <p:sp>
        <p:nvSpPr>
          <p:cNvPr id="2" name="Text 0"/>
          <p:cNvSpPr/>
          <p:nvPr/>
        </p:nvSpPr>
        <p:spPr>
          <a:xfrm>
            <a:off x="566928" y="274320"/>
            <a:ext cx="10607040" cy="274320"/>
          </a:xfrm>
          <a:prstGeom prst="rect">
            <a:avLst/>
          </a:prstGeom>
          <a:noFill/>
          <a:ln/>
        </p:spPr>
        <p:txBody>
          <a:bodyPr wrap="square" rtlCol="0" anchor="t"/>
          <a:lstStyle/>
          <a:p>
            <a:pPr marL="0" indent="0">
              <a:lnSpc>
                <a:spcPct val="105000"/>
              </a:lnSpc>
              <a:buNone/>
            </a:pPr>
            <a:r>
              <a:rPr lang="en-US" sz="1200" b="1" kern="0" spc="260" dirty="0">
                <a:solidFill>
                  <a:srgbClr val="75EDBB"/>
                </a:solidFill>
                <a:latin typeface="Helvetica Neue" pitchFamily="34" charset="0"/>
                <a:ea typeface="Helvetica Neue" pitchFamily="34" charset="-122"/>
                <a:cs typeface="Helvetica Neue" pitchFamily="34" charset="-120"/>
              </a:rPr>
              <a:t>THE PART THAT STAYS YOURS</a:t>
            </a:r>
            <a:endParaRPr lang="en-US" sz="1200" dirty="0"/>
          </a:p>
        </p:txBody>
      </p:sp>
      <p:sp>
        <p:nvSpPr>
          <p:cNvPr id="3" name="Text 1"/>
          <p:cNvSpPr/>
          <p:nvPr/>
        </p:nvSpPr>
        <p:spPr>
          <a:xfrm>
            <a:off x="566928" y="585216"/>
            <a:ext cx="10789920" cy="731520"/>
          </a:xfrm>
          <a:prstGeom prst="rect">
            <a:avLst/>
          </a:prstGeom>
          <a:noFill/>
          <a:ln/>
        </p:spPr>
        <p:txBody>
          <a:bodyPr wrap="square" rtlCol="0" anchor="ctr"/>
          <a:lstStyle/>
          <a:p>
            <a:pPr marL="0" indent="0">
              <a:lnSpc>
                <a:spcPct val="95000"/>
              </a:lnSpc>
              <a:buNone/>
            </a:pPr>
            <a:r>
              <a:rPr lang="en-US" sz="3800" dirty="0">
                <a:solidFill>
                  <a:srgbClr val="F3F6FA"/>
                </a:solidFill>
                <a:latin typeface="Avenir Next" pitchFamily="34" charset="0"/>
                <a:ea typeface="Avenir Next" pitchFamily="34" charset="-122"/>
                <a:cs typeface="Avenir Next" pitchFamily="34" charset="-120"/>
              </a:rPr>
              <a:t>You still define successful work</a:t>
            </a:r>
            <a:endParaRPr lang="en-US" sz="3800" dirty="0"/>
          </a:p>
        </p:txBody>
      </p:sp>
      <p:sp>
        <p:nvSpPr>
          <p:cNvPr id="4" name="Text 2"/>
          <p:cNvSpPr/>
          <p:nvPr/>
        </p:nvSpPr>
        <p:spPr>
          <a:xfrm>
            <a:off x="566928" y="1335024"/>
            <a:ext cx="9692640" cy="384048"/>
          </a:xfrm>
          <a:prstGeom prst="rect">
            <a:avLst/>
          </a:prstGeom>
          <a:noFill/>
          <a:ln/>
        </p:spPr>
        <p:txBody>
          <a:bodyPr wrap="square" rtlCol="0" anchor="t"/>
          <a:lstStyle/>
          <a:p>
            <a:pPr marL="0" indent="0">
              <a:lnSpc>
                <a:spcPct val="105000"/>
              </a:lnSpc>
              <a:buNone/>
            </a:pPr>
            <a:r>
              <a:rPr lang="en-US" sz="1900" dirty="0">
                <a:solidFill>
                  <a:srgbClr val="B2BDCD"/>
                </a:solidFill>
                <a:latin typeface="Helvetica Neue" pitchFamily="34" charset="0"/>
                <a:ea typeface="Helvetica Neue" pitchFamily="34" charset="-122"/>
                <a:cs typeface="Helvetica Neue" pitchFamily="34" charset="-120"/>
              </a:rPr>
              <a:t>Two sides, one outcome a test can decide.</a:t>
            </a:r>
            <a:endParaRPr lang="en-US" sz="1900" dirty="0"/>
          </a:p>
        </p:txBody>
      </p:sp>
      <p:sp>
        <p:nvSpPr>
          <p:cNvPr id="5" name="Shape 3"/>
          <p:cNvSpPr/>
          <p:nvPr/>
        </p:nvSpPr>
        <p:spPr>
          <a:xfrm>
            <a:off x="566928" y="2011680"/>
            <a:ext cx="4846320" cy="2606040"/>
          </a:xfrm>
          <a:prstGeom prst="roundRect">
            <a:avLst>
              <a:gd name="adj" fmla="val 4561"/>
            </a:avLst>
          </a:prstGeom>
          <a:solidFill>
            <a:srgbClr val="0E1219"/>
          </a:solidFill>
          <a:ln w="12700">
            <a:solidFill>
              <a:srgbClr val="232C3A"/>
            </a:solidFill>
            <a:prstDash val="solid"/>
          </a:ln>
        </p:spPr>
        <p:txBody>
          <a:bodyPr/>
          <a:lstStyle/>
          <a:p>
            <a:endParaRPr lang="en-US"/>
          </a:p>
        </p:txBody>
      </p:sp>
      <p:sp>
        <p:nvSpPr>
          <p:cNvPr id="6" name="Text 4"/>
          <p:cNvSpPr/>
          <p:nvPr/>
        </p:nvSpPr>
        <p:spPr>
          <a:xfrm>
            <a:off x="877824" y="2240280"/>
            <a:ext cx="4206240" cy="274320"/>
          </a:xfrm>
          <a:prstGeom prst="rect">
            <a:avLst/>
          </a:prstGeom>
          <a:noFill/>
          <a:ln/>
        </p:spPr>
        <p:txBody>
          <a:bodyPr wrap="square" rtlCol="0" anchor="t"/>
          <a:lstStyle/>
          <a:p>
            <a:pPr marL="0" indent="0">
              <a:lnSpc>
                <a:spcPct val="105000"/>
              </a:lnSpc>
              <a:buNone/>
            </a:pPr>
            <a:r>
              <a:rPr lang="en-US" sz="1200" b="1" kern="0" spc="200" dirty="0">
                <a:solidFill>
                  <a:srgbClr val="A99AFF"/>
                </a:solidFill>
                <a:latin typeface="Helvetica Neue" pitchFamily="34" charset="0"/>
                <a:ea typeface="Helvetica Neue" pitchFamily="34" charset="-122"/>
                <a:cs typeface="Helvetica Neue" pitchFamily="34" charset="-120"/>
              </a:rPr>
              <a:t>HARNESS SUPPLIES</a:t>
            </a:r>
            <a:endParaRPr lang="en-US" sz="1200" dirty="0"/>
          </a:p>
        </p:txBody>
      </p:sp>
      <p:sp>
        <p:nvSpPr>
          <p:cNvPr id="7" name="Shape 5"/>
          <p:cNvSpPr/>
          <p:nvPr/>
        </p:nvSpPr>
        <p:spPr>
          <a:xfrm>
            <a:off x="877824" y="2880360"/>
            <a:ext cx="128016" cy="128016"/>
          </a:xfrm>
          <a:prstGeom prst="rect">
            <a:avLst/>
          </a:prstGeom>
          <a:solidFill>
            <a:srgbClr val="A99AFF"/>
          </a:solidFill>
          <a:ln w="6350">
            <a:solidFill>
              <a:srgbClr val="A99AFF"/>
            </a:solidFill>
            <a:prstDash val="solid"/>
          </a:ln>
        </p:spPr>
        <p:txBody>
          <a:bodyPr/>
          <a:lstStyle/>
          <a:p>
            <a:endParaRPr lang="en-US"/>
          </a:p>
        </p:txBody>
      </p:sp>
      <p:sp>
        <p:nvSpPr>
          <p:cNvPr id="8" name="Text 6"/>
          <p:cNvSpPr/>
          <p:nvPr/>
        </p:nvSpPr>
        <p:spPr>
          <a:xfrm>
            <a:off x="1170432" y="2724912"/>
            <a:ext cx="3931920" cy="457200"/>
          </a:xfrm>
          <a:prstGeom prst="rect">
            <a:avLst/>
          </a:prstGeom>
          <a:noFill/>
          <a:ln/>
        </p:spPr>
        <p:txBody>
          <a:bodyPr wrap="square" rtlCol="0" anchor="ctr"/>
          <a:lstStyle/>
          <a:p>
            <a:pPr marL="0" indent="0">
              <a:lnSpc>
                <a:spcPct val="105000"/>
              </a:lnSpc>
              <a:buNone/>
            </a:pPr>
            <a:r>
              <a:rPr lang="en-US" sz="1900" dirty="0">
                <a:solidFill>
                  <a:srgbClr val="F3F6FA"/>
                </a:solidFill>
                <a:latin typeface="Helvetica Neue" pitchFamily="34" charset="0"/>
                <a:ea typeface="Helvetica Neue" pitchFamily="34" charset="-122"/>
                <a:cs typeface="Helvetica Neue" pitchFamily="34" charset="-120"/>
              </a:rPr>
              <a:t>the runtime and the loop</a:t>
            </a:r>
            <a:endParaRPr lang="en-US" sz="1900" dirty="0"/>
          </a:p>
        </p:txBody>
      </p:sp>
      <p:sp>
        <p:nvSpPr>
          <p:cNvPr id="9" name="Shape 7"/>
          <p:cNvSpPr/>
          <p:nvPr/>
        </p:nvSpPr>
        <p:spPr>
          <a:xfrm>
            <a:off x="877824" y="3447288"/>
            <a:ext cx="128016" cy="128016"/>
          </a:xfrm>
          <a:prstGeom prst="rect">
            <a:avLst/>
          </a:prstGeom>
          <a:solidFill>
            <a:srgbClr val="A99AFF"/>
          </a:solidFill>
          <a:ln w="6350">
            <a:solidFill>
              <a:srgbClr val="A99AFF"/>
            </a:solidFill>
            <a:prstDash val="solid"/>
          </a:ln>
        </p:spPr>
        <p:txBody>
          <a:bodyPr/>
          <a:lstStyle/>
          <a:p>
            <a:endParaRPr lang="en-US"/>
          </a:p>
        </p:txBody>
      </p:sp>
      <p:sp>
        <p:nvSpPr>
          <p:cNvPr id="10" name="Text 8"/>
          <p:cNvSpPr/>
          <p:nvPr/>
        </p:nvSpPr>
        <p:spPr>
          <a:xfrm>
            <a:off x="1170432" y="3291840"/>
            <a:ext cx="3931920" cy="457200"/>
          </a:xfrm>
          <a:prstGeom prst="rect">
            <a:avLst/>
          </a:prstGeom>
          <a:noFill/>
          <a:ln/>
        </p:spPr>
        <p:txBody>
          <a:bodyPr wrap="square" rtlCol="0" anchor="ctr"/>
          <a:lstStyle/>
          <a:p>
            <a:pPr marL="0" indent="0">
              <a:lnSpc>
                <a:spcPct val="105000"/>
              </a:lnSpc>
              <a:buNone/>
            </a:pPr>
            <a:r>
              <a:rPr lang="en-US" sz="1900" dirty="0">
                <a:solidFill>
                  <a:srgbClr val="F3F6FA"/>
                </a:solidFill>
                <a:latin typeface="Helvetica Neue" pitchFamily="34" charset="0"/>
                <a:ea typeface="Helvetica Neue" pitchFamily="34" charset="-122"/>
                <a:cs typeface="Helvetica Neue" pitchFamily="34" charset="-120"/>
              </a:rPr>
              <a:t>tool execution</a:t>
            </a:r>
            <a:endParaRPr lang="en-US" sz="1900" dirty="0"/>
          </a:p>
        </p:txBody>
      </p:sp>
      <p:sp>
        <p:nvSpPr>
          <p:cNvPr id="11" name="Shape 9"/>
          <p:cNvSpPr/>
          <p:nvPr/>
        </p:nvSpPr>
        <p:spPr>
          <a:xfrm>
            <a:off x="877824" y="4014216"/>
            <a:ext cx="128016" cy="128016"/>
          </a:xfrm>
          <a:prstGeom prst="rect">
            <a:avLst/>
          </a:prstGeom>
          <a:solidFill>
            <a:srgbClr val="A99AFF"/>
          </a:solidFill>
          <a:ln w="6350">
            <a:solidFill>
              <a:srgbClr val="A99AFF"/>
            </a:solidFill>
            <a:prstDash val="solid"/>
          </a:ln>
        </p:spPr>
        <p:txBody>
          <a:bodyPr/>
          <a:lstStyle/>
          <a:p>
            <a:endParaRPr lang="en-US"/>
          </a:p>
        </p:txBody>
      </p:sp>
      <p:sp>
        <p:nvSpPr>
          <p:cNvPr id="12" name="Text 10"/>
          <p:cNvSpPr/>
          <p:nvPr/>
        </p:nvSpPr>
        <p:spPr>
          <a:xfrm>
            <a:off x="1170432" y="3858768"/>
            <a:ext cx="3931920" cy="457200"/>
          </a:xfrm>
          <a:prstGeom prst="rect">
            <a:avLst/>
          </a:prstGeom>
          <a:noFill/>
          <a:ln/>
        </p:spPr>
        <p:txBody>
          <a:bodyPr wrap="square" rtlCol="0" anchor="ctr"/>
          <a:lstStyle/>
          <a:p>
            <a:pPr marL="0" indent="0">
              <a:lnSpc>
                <a:spcPct val="105000"/>
              </a:lnSpc>
              <a:buNone/>
            </a:pPr>
            <a:r>
              <a:rPr lang="en-US" sz="1900" dirty="0">
                <a:solidFill>
                  <a:srgbClr val="F3F6FA"/>
                </a:solidFill>
                <a:latin typeface="Helvetica Neue" pitchFamily="34" charset="0"/>
                <a:ea typeface="Helvetica Neue" pitchFamily="34" charset="-122"/>
                <a:cs typeface="Helvetica Neue" pitchFamily="34" charset="-120"/>
              </a:rPr>
              <a:t>state and permissions</a:t>
            </a:r>
            <a:endParaRPr lang="en-US" sz="1900" dirty="0"/>
          </a:p>
        </p:txBody>
      </p:sp>
      <p:sp>
        <p:nvSpPr>
          <p:cNvPr id="13" name="Shape 11"/>
          <p:cNvSpPr/>
          <p:nvPr/>
        </p:nvSpPr>
        <p:spPr>
          <a:xfrm>
            <a:off x="6766560" y="2011680"/>
            <a:ext cx="4846320" cy="2606040"/>
          </a:xfrm>
          <a:prstGeom prst="roundRect">
            <a:avLst>
              <a:gd name="adj" fmla="val 4561"/>
            </a:avLst>
          </a:prstGeom>
          <a:solidFill>
            <a:srgbClr val="0E1219"/>
          </a:solidFill>
          <a:ln w="12700">
            <a:solidFill>
              <a:srgbClr val="232C3A"/>
            </a:solidFill>
            <a:prstDash val="solid"/>
          </a:ln>
        </p:spPr>
        <p:txBody>
          <a:bodyPr/>
          <a:lstStyle/>
          <a:p>
            <a:endParaRPr lang="en-US"/>
          </a:p>
        </p:txBody>
      </p:sp>
      <p:sp>
        <p:nvSpPr>
          <p:cNvPr id="14" name="Text 12"/>
          <p:cNvSpPr/>
          <p:nvPr/>
        </p:nvSpPr>
        <p:spPr>
          <a:xfrm>
            <a:off x="7077456" y="2240280"/>
            <a:ext cx="4206240" cy="274320"/>
          </a:xfrm>
          <a:prstGeom prst="rect">
            <a:avLst/>
          </a:prstGeom>
          <a:noFill/>
          <a:ln/>
        </p:spPr>
        <p:txBody>
          <a:bodyPr wrap="square" rtlCol="0" anchor="t"/>
          <a:lstStyle/>
          <a:p>
            <a:pPr marL="0" indent="0">
              <a:lnSpc>
                <a:spcPct val="105000"/>
              </a:lnSpc>
              <a:buNone/>
            </a:pPr>
            <a:r>
              <a:rPr lang="en-US" sz="1200" b="1" kern="0" spc="200" dirty="0">
                <a:solidFill>
                  <a:srgbClr val="75EDBB"/>
                </a:solidFill>
                <a:latin typeface="Helvetica Neue" pitchFamily="34" charset="0"/>
                <a:ea typeface="Helvetica Neue" pitchFamily="34" charset="-122"/>
                <a:cs typeface="Helvetica Neue" pitchFamily="34" charset="-120"/>
              </a:rPr>
              <a:t>YOU SUPPLY</a:t>
            </a:r>
            <a:endParaRPr lang="en-US" sz="1200" dirty="0"/>
          </a:p>
        </p:txBody>
      </p:sp>
      <p:sp>
        <p:nvSpPr>
          <p:cNvPr id="15" name="Shape 13"/>
          <p:cNvSpPr/>
          <p:nvPr/>
        </p:nvSpPr>
        <p:spPr>
          <a:xfrm>
            <a:off x="7077456" y="2880360"/>
            <a:ext cx="128016" cy="128016"/>
          </a:xfrm>
          <a:prstGeom prst="rect">
            <a:avLst/>
          </a:prstGeom>
          <a:solidFill>
            <a:srgbClr val="75EDBB"/>
          </a:solidFill>
          <a:ln w="6350">
            <a:solidFill>
              <a:srgbClr val="75EDBB"/>
            </a:solidFill>
            <a:prstDash val="solid"/>
          </a:ln>
        </p:spPr>
        <p:txBody>
          <a:bodyPr/>
          <a:lstStyle/>
          <a:p>
            <a:endParaRPr lang="en-US"/>
          </a:p>
        </p:txBody>
      </p:sp>
      <p:sp>
        <p:nvSpPr>
          <p:cNvPr id="16" name="Text 14"/>
          <p:cNvSpPr/>
          <p:nvPr/>
        </p:nvSpPr>
        <p:spPr>
          <a:xfrm>
            <a:off x="7370064" y="2724912"/>
            <a:ext cx="3931920" cy="457200"/>
          </a:xfrm>
          <a:prstGeom prst="rect">
            <a:avLst/>
          </a:prstGeom>
          <a:noFill/>
          <a:ln/>
        </p:spPr>
        <p:txBody>
          <a:bodyPr wrap="square" rtlCol="0" anchor="ctr"/>
          <a:lstStyle/>
          <a:p>
            <a:pPr marL="0" indent="0">
              <a:lnSpc>
                <a:spcPct val="105000"/>
              </a:lnSpc>
              <a:buNone/>
            </a:pPr>
            <a:r>
              <a:rPr lang="en-US" sz="1900" dirty="0">
                <a:solidFill>
                  <a:srgbClr val="F3F6FA"/>
                </a:solidFill>
                <a:latin typeface="Helvetica Neue" pitchFamily="34" charset="0"/>
                <a:ea typeface="Helvetica Neue" pitchFamily="34" charset="-122"/>
                <a:cs typeface="Helvetica Neue" pitchFamily="34" charset="-120"/>
              </a:rPr>
              <a:t>the goal</a:t>
            </a:r>
            <a:endParaRPr lang="en-US" sz="1900" dirty="0"/>
          </a:p>
        </p:txBody>
      </p:sp>
      <p:sp>
        <p:nvSpPr>
          <p:cNvPr id="17" name="Shape 15"/>
          <p:cNvSpPr/>
          <p:nvPr/>
        </p:nvSpPr>
        <p:spPr>
          <a:xfrm>
            <a:off x="7077456" y="3447288"/>
            <a:ext cx="128016" cy="128016"/>
          </a:xfrm>
          <a:prstGeom prst="rect">
            <a:avLst/>
          </a:prstGeom>
          <a:solidFill>
            <a:srgbClr val="75EDBB"/>
          </a:solidFill>
          <a:ln w="6350">
            <a:solidFill>
              <a:srgbClr val="75EDBB"/>
            </a:solidFill>
            <a:prstDash val="solid"/>
          </a:ln>
        </p:spPr>
        <p:txBody>
          <a:bodyPr/>
          <a:lstStyle/>
          <a:p>
            <a:endParaRPr lang="en-US"/>
          </a:p>
        </p:txBody>
      </p:sp>
      <p:sp>
        <p:nvSpPr>
          <p:cNvPr id="18" name="Text 16"/>
          <p:cNvSpPr/>
          <p:nvPr/>
        </p:nvSpPr>
        <p:spPr>
          <a:xfrm>
            <a:off x="7370064" y="3291840"/>
            <a:ext cx="3931920" cy="457200"/>
          </a:xfrm>
          <a:prstGeom prst="rect">
            <a:avLst/>
          </a:prstGeom>
          <a:noFill/>
          <a:ln/>
        </p:spPr>
        <p:txBody>
          <a:bodyPr wrap="square" rtlCol="0" anchor="ctr"/>
          <a:lstStyle/>
          <a:p>
            <a:pPr marL="0" indent="0">
              <a:lnSpc>
                <a:spcPct val="105000"/>
              </a:lnSpc>
              <a:buNone/>
            </a:pPr>
            <a:r>
              <a:rPr lang="en-US" sz="1900" dirty="0">
                <a:solidFill>
                  <a:srgbClr val="F3F6FA"/>
                </a:solidFill>
                <a:latin typeface="Helvetica Neue" pitchFamily="34" charset="0"/>
                <a:ea typeface="Helvetica Neue" pitchFamily="34" charset="-122"/>
                <a:cs typeface="Helvetica Neue" pitchFamily="34" charset="-120"/>
              </a:rPr>
              <a:t>acceptance criteria</a:t>
            </a:r>
            <a:endParaRPr lang="en-US" sz="1900" dirty="0"/>
          </a:p>
        </p:txBody>
      </p:sp>
      <p:sp>
        <p:nvSpPr>
          <p:cNvPr id="19" name="Shape 17"/>
          <p:cNvSpPr/>
          <p:nvPr/>
        </p:nvSpPr>
        <p:spPr>
          <a:xfrm>
            <a:off x="7077456" y="4014216"/>
            <a:ext cx="128016" cy="128016"/>
          </a:xfrm>
          <a:prstGeom prst="rect">
            <a:avLst/>
          </a:prstGeom>
          <a:solidFill>
            <a:srgbClr val="75EDBB"/>
          </a:solidFill>
          <a:ln w="6350">
            <a:solidFill>
              <a:srgbClr val="75EDBB"/>
            </a:solidFill>
            <a:prstDash val="solid"/>
          </a:ln>
        </p:spPr>
        <p:txBody>
          <a:bodyPr/>
          <a:lstStyle/>
          <a:p>
            <a:endParaRPr lang="en-US"/>
          </a:p>
        </p:txBody>
      </p:sp>
      <p:sp>
        <p:nvSpPr>
          <p:cNvPr id="20" name="Text 18"/>
          <p:cNvSpPr/>
          <p:nvPr/>
        </p:nvSpPr>
        <p:spPr>
          <a:xfrm>
            <a:off x="7370064" y="3858768"/>
            <a:ext cx="3931920" cy="457200"/>
          </a:xfrm>
          <a:prstGeom prst="rect">
            <a:avLst/>
          </a:prstGeom>
          <a:noFill/>
          <a:ln/>
        </p:spPr>
        <p:txBody>
          <a:bodyPr wrap="square" rtlCol="0" anchor="ctr"/>
          <a:lstStyle/>
          <a:p>
            <a:pPr marL="0" indent="0">
              <a:lnSpc>
                <a:spcPct val="105000"/>
              </a:lnSpc>
              <a:buNone/>
            </a:pPr>
            <a:r>
              <a:rPr lang="en-US" sz="1900" dirty="0">
                <a:solidFill>
                  <a:srgbClr val="F3F6FA"/>
                </a:solidFill>
                <a:latin typeface="Helvetica Neue" pitchFamily="34" charset="0"/>
                <a:ea typeface="Helvetica Neue" pitchFamily="34" charset="-122"/>
                <a:cs typeface="Helvetica Neue" pitchFamily="34" charset="-120"/>
              </a:rPr>
              <a:t>scope and environment</a:t>
            </a:r>
            <a:endParaRPr lang="en-US" sz="1900" dirty="0"/>
          </a:p>
        </p:txBody>
      </p:sp>
      <p:sp>
        <p:nvSpPr>
          <p:cNvPr id="21" name="b01-wipe-both-sides-converge"/>
          <p:cNvSpPr/>
          <p:nvPr/>
        </p:nvSpPr>
        <p:spPr>
          <a:xfrm>
            <a:off x="2990088" y="4663440"/>
            <a:ext cx="1554480" cy="530352"/>
          </a:xfrm>
          <a:prstGeom prst="line">
            <a:avLst/>
          </a:prstGeom>
          <a:noFill/>
          <a:ln w="19050">
            <a:solidFill>
              <a:srgbClr val="A99AFF"/>
            </a:solidFill>
            <a:prstDash val="solid"/>
            <a:tailEnd type="triangle"/>
          </a:ln>
        </p:spPr>
        <p:txBody>
          <a:bodyPr/>
          <a:lstStyle/>
          <a:p>
            <a:endParaRPr lang="en-US"/>
          </a:p>
        </p:txBody>
      </p:sp>
      <p:sp>
        <p:nvSpPr>
          <p:cNvPr id="22" name="b01-wipe-both-sides-converge"/>
          <p:cNvSpPr/>
          <p:nvPr/>
        </p:nvSpPr>
        <p:spPr>
          <a:xfrm flipH="1">
            <a:off x="7644384" y="4663440"/>
            <a:ext cx="1554480" cy="530352"/>
          </a:xfrm>
          <a:prstGeom prst="line">
            <a:avLst/>
          </a:prstGeom>
          <a:noFill/>
          <a:ln w="19050">
            <a:solidFill>
              <a:srgbClr val="75EDBB"/>
            </a:solidFill>
            <a:prstDash val="solid"/>
            <a:tailEnd type="triangle"/>
          </a:ln>
        </p:spPr>
        <p:txBody>
          <a:bodyPr/>
          <a:lstStyle/>
          <a:p>
            <a:endParaRPr lang="en-US"/>
          </a:p>
        </p:txBody>
      </p:sp>
      <p:sp>
        <p:nvSpPr>
          <p:cNvPr id="23" name="b02-rise-testable-outcome"/>
          <p:cNvSpPr/>
          <p:nvPr/>
        </p:nvSpPr>
        <p:spPr>
          <a:xfrm>
            <a:off x="3675888" y="5212080"/>
            <a:ext cx="4846320" cy="822960"/>
          </a:xfrm>
          <a:prstGeom prst="roundRect">
            <a:avLst>
              <a:gd name="adj" fmla="val 50000"/>
            </a:avLst>
          </a:prstGeom>
          <a:solidFill>
            <a:srgbClr val="1E3A33"/>
          </a:solidFill>
          <a:ln w="19050">
            <a:solidFill>
              <a:srgbClr val="75EDBB"/>
            </a:solidFill>
            <a:prstDash val="solid"/>
          </a:ln>
        </p:spPr>
        <p:txBody>
          <a:bodyPr/>
          <a:lstStyle/>
          <a:p>
            <a:endParaRPr lang="en-US"/>
          </a:p>
        </p:txBody>
      </p:sp>
      <p:sp>
        <p:nvSpPr>
          <p:cNvPr id="24" name="b02-rise-testable-outcome"/>
          <p:cNvSpPr/>
          <p:nvPr/>
        </p:nvSpPr>
        <p:spPr>
          <a:xfrm>
            <a:off x="3858768" y="5212080"/>
            <a:ext cx="4480560" cy="822960"/>
          </a:xfrm>
          <a:prstGeom prst="rect">
            <a:avLst/>
          </a:prstGeom>
          <a:noFill/>
          <a:ln/>
        </p:spPr>
        <p:txBody>
          <a:bodyPr wrap="square" rtlCol="0" anchor="ctr"/>
          <a:lstStyle/>
          <a:p>
            <a:pPr marL="0" indent="0" algn="ctr">
              <a:lnSpc>
                <a:spcPct val="105000"/>
              </a:lnSpc>
              <a:buNone/>
            </a:pPr>
            <a:r>
              <a:rPr lang="en-US" sz="1900" b="1" dirty="0">
                <a:solidFill>
                  <a:srgbClr val="75EDBB"/>
                </a:solidFill>
                <a:latin typeface="Helvetica Neue" pitchFamily="34" charset="0"/>
                <a:ea typeface="Helvetica Neue" pitchFamily="34" charset="-122"/>
                <a:cs typeface="Helvetica Neue" pitchFamily="34" charset="-120"/>
              </a:rPr>
              <a:t>One testable outcome both sides agree on</a:t>
            </a:r>
            <a:endParaRPr lang="en-US" sz="1900" dirty="0"/>
          </a:p>
        </p:txBody>
      </p:sp>
      <p:sp>
        <p:nvSpPr>
          <p:cNvPr id="25" name="Text 23"/>
          <p:cNvSpPr/>
          <p:nvPr/>
        </p:nvSpPr>
        <p:spPr>
          <a:xfrm>
            <a:off x="566928" y="6391656"/>
            <a:ext cx="8961120" cy="274320"/>
          </a:xfrm>
          <a:prstGeom prst="rect">
            <a:avLst/>
          </a:prstGeom>
          <a:noFill/>
          <a:ln/>
        </p:spPr>
        <p:txBody>
          <a:bodyPr wrap="square" rtlCol="0" anchor="ctr"/>
          <a:lstStyle/>
          <a:p>
            <a:pPr marL="0" indent="0">
              <a:lnSpc>
                <a:spcPct val="105000"/>
              </a:lnSpc>
              <a:buNone/>
            </a:pPr>
            <a:r>
              <a:rPr lang="en-US" sz="1100" dirty="0">
                <a:solidFill>
                  <a:srgbClr val="6F7B8D"/>
                </a:solidFill>
                <a:latin typeface="Helvetica Neue" pitchFamily="34" charset="0"/>
                <a:ea typeface="Helvetica Neue" pitchFamily="34" charset="-122"/>
                <a:cs typeface="Helvetica Neue" pitchFamily="34" charset="-120"/>
              </a:rPr>
              <a:t>If nobody can write the check, the task is not defined yet.</a:t>
            </a:r>
            <a:endParaRPr lang="en-US" sz="1100" dirty="0"/>
          </a:p>
        </p:txBody>
      </p:sp>
      <p:sp>
        <p:nvSpPr>
          <p:cNvPr id="26" name="Text 24"/>
          <p:cNvSpPr/>
          <p:nvPr/>
        </p:nvSpPr>
        <p:spPr>
          <a:xfrm>
            <a:off x="9692640" y="6391656"/>
            <a:ext cx="1929384" cy="274320"/>
          </a:xfrm>
          <a:prstGeom prst="rect">
            <a:avLst/>
          </a:prstGeom>
          <a:noFill/>
          <a:ln/>
        </p:spPr>
        <p:txBody>
          <a:bodyPr wrap="square" rtlCol="0" anchor="ctr"/>
          <a:lstStyle/>
          <a:p>
            <a:pPr marL="0" indent="0" algn="r">
              <a:lnSpc>
                <a:spcPct val="105000"/>
              </a:lnSpc>
              <a:buNone/>
            </a:pPr>
            <a:r>
              <a:rPr lang="en-US" sz="1100" dirty="0">
                <a:solidFill>
                  <a:srgbClr val="6F7B8D"/>
                </a:solidFill>
                <a:latin typeface="Helvetica Neue" pitchFamily="34" charset="0"/>
                <a:ea typeface="Helvetica Neue" pitchFamily="34" charset="-122"/>
                <a:cs typeface="Helvetica Neue" pitchFamily="34" charset="-120"/>
              </a:rPr>
              <a:t>06 / 20</a:t>
            </a:r>
            <a:endParaRPr lang="en-US" sz="1100"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right)">
                                      <p:cBhvr>
                                        <p:cTn id="7" dur="420"/>
                                        <p:tgtEl>
                                          <p:spTgt spid="21"/>
                                        </p:tgtEl>
                                      </p:cBhvr>
                                    </p:animEffect>
                                  </p:childTnLst>
                                </p:cTn>
                              </p:par>
                              <p:par>
                                <p:cTn id="8" presetID="22" presetClass="entr" presetSubtype="1" fill="hold"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wipe(right)">
                                      <p:cBhvr>
                                        <p:cTn id="10" dur="420"/>
                                        <p:tgtEl>
                                          <p:spTgt spid="22"/>
                                        </p:tgtEl>
                                      </p:cBhvr>
                                    </p:animEffect>
                                  </p:childTnLst>
                                </p:cTn>
                              </p:par>
                            </p:childTnLst>
                          </p:cTn>
                        </p:par>
                      </p:childTnLst>
                    </p:cTn>
                  </p:par>
                  <p:par>
                    <p:cTn id="11" fill="hold">
                      <p:stCondLst>
                        <p:cond delay="indefinite"/>
                      </p:stCondLst>
                      <p:childTnLst>
                        <p:par>
                          <p:cTn id="12" fill="hold">
                            <p:stCondLst>
                              <p:cond delay="0"/>
                            </p:stCondLst>
                            <p:childTnLst>
                              <p:par>
                                <p:cTn id="13" presetID="42"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anim calcmode="lin" valueType="num">
                                      <p:cBhvr additive="base">
                                        <p:cTn id="15" dur="420" decel="60000" fill="hold"/>
                                        <p:tgtEl>
                                          <p:spTgt spid="23"/>
                                        </p:tgtEl>
                                        <p:attrNameLst>
                                          <p:attrName>ppt_y</p:attrName>
                                        </p:attrNameLst>
                                      </p:cBhvr>
                                      <p:tavLst>
                                        <p:tav tm="0">
                                          <p:val>
                                            <p:strVal val="#ppt_y+.014"/>
                                          </p:val>
                                        </p:tav>
                                        <p:tav tm="100000">
                                          <p:val>
                                            <p:strVal val="#ppt_y"/>
                                          </p:val>
                                        </p:tav>
                                      </p:tavLst>
                                    </p:anim>
                                    <p:animEffect transition="in" filter="fade">
                                      <p:cBhvr>
                                        <p:cTn id="16" dur="420"/>
                                        <p:tgtEl>
                                          <p:spTgt spid="23"/>
                                        </p:tgtEl>
                                      </p:cBhvr>
                                    </p:animEffect>
                                  </p:childTnLst>
                                </p:cTn>
                              </p:par>
                              <p:par>
                                <p:cTn id="17" presetID="42" presetClass="entr" presetSubtype="0" fill="hold" nodeType="withEffect">
                                  <p:stCondLst>
                                    <p:cond delay="0"/>
                                  </p:stCondLst>
                                  <p:childTnLst>
                                    <p:set>
                                      <p:cBhvr>
                                        <p:cTn id="18" dur="1" fill="hold">
                                          <p:stCondLst>
                                            <p:cond delay="0"/>
                                          </p:stCondLst>
                                        </p:cTn>
                                        <p:tgtEl>
                                          <p:spTgt spid="24"/>
                                        </p:tgtEl>
                                        <p:attrNameLst>
                                          <p:attrName>style.visibility</p:attrName>
                                        </p:attrNameLst>
                                      </p:cBhvr>
                                      <p:to>
                                        <p:strVal val="visible"/>
                                      </p:to>
                                    </p:set>
                                    <p:anim calcmode="lin" valueType="num">
                                      <p:cBhvr additive="base">
                                        <p:cTn id="19" dur="420" decel="60000" fill="hold"/>
                                        <p:tgtEl>
                                          <p:spTgt spid="24"/>
                                        </p:tgtEl>
                                        <p:attrNameLst>
                                          <p:attrName>ppt_y</p:attrName>
                                        </p:attrNameLst>
                                      </p:cBhvr>
                                      <p:tavLst>
                                        <p:tav tm="0">
                                          <p:val>
                                            <p:strVal val="#ppt_y+.014"/>
                                          </p:val>
                                        </p:tav>
                                        <p:tav tm="100000">
                                          <p:val>
                                            <p:strVal val="#ppt_y"/>
                                          </p:val>
                                        </p:tav>
                                      </p:tavLst>
                                    </p:anim>
                                    <p:animEffect transition="in" filter="fade">
                                      <p:cBhvr>
                                        <p:cTn id="20" dur="42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7090D"/>
        </a:solidFill>
        <a:effectLst/>
      </p:bgPr>
    </p:bg>
    <p:spTree>
      <p:nvGrpSpPr>
        <p:cNvPr id="1" name=""/>
        <p:cNvGrpSpPr/>
        <p:nvPr/>
      </p:nvGrpSpPr>
      <p:grpSpPr>
        <a:xfrm>
          <a:off x="0" y="0"/>
          <a:ext cx="0" cy="0"/>
          <a:chOff x="0" y="0"/>
          <a:chExt cx="0" cy="0"/>
        </a:xfrm>
      </p:grpSpPr>
      <p:sp>
        <p:nvSpPr>
          <p:cNvPr id="2" name="Text 0"/>
          <p:cNvSpPr/>
          <p:nvPr/>
        </p:nvSpPr>
        <p:spPr>
          <a:xfrm>
            <a:off x="566928" y="274320"/>
            <a:ext cx="10607040" cy="274320"/>
          </a:xfrm>
          <a:prstGeom prst="rect">
            <a:avLst/>
          </a:prstGeom>
          <a:noFill/>
          <a:ln/>
        </p:spPr>
        <p:txBody>
          <a:bodyPr wrap="square" rtlCol="0" anchor="t"/>
          <a:lstStyle/>
          <a:p>
            <a:pPr marL="0" indent="0">
              <a:lnSpc>
                <a:spcPct val="105000"/>
              </a:lnSpc>
              <a:buNone/>
            </a:pPr>
            <a:r>
              <a:rPr lang="en-US" sz="1200" b="1" kern="0" spc="260" dirty="0">
                <a:solidFill>
                  <a:srgbClr val="75EDBB"/>
                </a:solidFill>
                <a:latin typeface="Helvetica Neue" pitchFamily="34" charset="0"/>
                <a:ea typeface="Helvetica Neue" pitchFamily="34" charset="-122"/>
                <a:cs typeface="Helvetica Neue" pitchFamily="34" charset="-120"/>
              </a:rPr>
              <a:t>CONTEXT ECONOMY</a:t>
            </a:r>
            <a:endParaRPr lang="en-US" sz="1200" dirty="0"/>
          </a:p>
        </p:txBody>
      </p:sp>
      <p:sp>
        <p:nvSpPr>
          <p:cNvPr id="3" name="Text 1"/>
          <p:cNvSpPr/>
          <p:nvPr/>
        </p:nvSpPr>
        <p:spPr>
          <a:xfrm>
            <a:off x="566928" y="585216"/>
            <a:ext cx="10789920" cy="731520"/>
          </a:xfrm>
          <a:prstGeom prst="rect">
            <a:avLst/>
          </a:prstGeom>
          <a:noFill/>
          <a:ln/>
        </p:spPr>
        <p:txBody>
          <a:bodyPr wrap="square" rtlCol="0" anchor="ctr"/>
          <a:lstStyle/>
          <a:p>
            <a:pPr marL="0" indent="0">
              <a:lnSpc>
                <a:spcPct val="95000"/>
              </a:lnSpc>
              <a:buNone/>
            </a:pPr>
            <a:r>
              <a:rPr lang="en-US" sz="3800" dirty="0">
                <a:solidFill>
                  <a:srgbClr val="F3F6FA"/>
                </a:solidFill>
                <a:latin typeface="Avenir Next" pitchFamily="34" charset="0"/>
                <a:ea typeface="Avenir Next" pitchFamily="34" charset="-122"/>
                <a:cs typeface="Avenir Next" pitchFamily="34" charset="-120"/>
              </a:rPr>
              <a:t>Discover broadly. Execute with focus.</a:t>
            </a:r>
            <a:endParaRPr lang="en-US" sz="3800" dirty="0"/>
          </a:p>
        </p:txBody>
      </p:sp>
      <p:sp>
        <p:nvSpPr>
          <p:cNvPr id="4" name="Text 2"/>
          <p:cNvSpPr/>
          <p:nvPr/>
        </p:nvSpPr>
        <p:spPr>
          <a:xfrm>
            <a:off x="566928" y="1335024"/>
            <a:ext cx="9692640" cy="384048"/>
          </a:xfrm>
          <a:prstGeom prst="rect">
            <a:avLst/>
          </a:prstGeom>
          <a:noFill/>
          <a:ln/>
        </p:spPr>
        <p:txBody>
          <a:bodyPr wrap="square" rtlCol="0" anchor="t"/>
          <a:lstStyle/>
          <a:p>
            <a:pPr marL="0" indent="0">
              <a:lnSpc>
                <a:spcPct val="105000"/>
              </a:lnSpc>
              <a:buNone/>
            </a:pPr>
            <a:r>
              <a:rPr lang="en-US" sz="1900" dirty="0">
                <a:solidFill>
                  <a:srgbClr val="B2BDCD"/>
                </a:solidFill>
                <a:latin typeface="Helvetica Neue" pitchFamily="34" charset="0"/>
                <a:ea typeface="Helvetica Neue" pitchFamily="34" charset="-122"/>
                <a:cs typeface="Helvetica Neue" pitchFamily="34" charset="-120"/>
              </a:rPr>
              <a:t>Look widely. Hand over what the task needs.</a:t>
            </a:r>
            <a:endParaRPr lang="en-US" sz="1900" dirty="0"/>
          </a:p>
        </p:txBody>
      </p:sp>
      <p:sp>
        <p:nvSpPr>
          <p:cNvPr id="5" name="Shape 3"/>
          <p:cNvSpPr/>
          <p:nvPr/>
        </p:nvSpPr>
        <p:spPr>
          <a:xfrm>
            <a:off x="566928" y="1965960"/>
            <a:ext cx="2834640" cy="603504"/>
          </a:xfrm>
          <a:prstGeom prst="roundRect">
            <a:avLst>
              <a:gd name="adj" fmla="val 15152"/>
            </a:avLst>
          </a:prstGeom>
          <a:solidFill>
            <a:srgbClr val="0E1219"/>
          </a:solidFill>
          <a:ln w="12700">
            <a:solidFill>
              <a:srgbClr val="1A212C"/>
            </a:solidFill>
            <a:prstDash val="solid"/>
          </a:ln>
        </p:spPr>
        <p:txBody>
          <a:bodyPr/>
          <a:lstStyle/>
          <a:p>
            <a:endParaRPr lang="en-US"/>
          </a:p>
        </p:txBody>
      </p:sp>
      <p:sp>
        <p:nvSpPr>
          <p:cNvPr id="6" name="Text 4"/>
          <p:cNvSpPr/>
          <p:nvPr/>
        </p:nvSpPr>
        <p:spPr>
          <a:xfrm>
            <a:off x="713232" y="1965960"/>
            <a:ext cx="2542032" cy="603504"/>
          </a:xfrm>
          <a:prstGeom prst="rect">
            <a:avLst/>
          </a:prstGeom>
          <a:noFill/>
          <a:ln/>
        </p:spPr>
        <p:txBody>
          <a:bodyPr wrap="square" rtlCol="0" anchor="ctr"/>
          <a:lstStyle/>
          <a:p>
            <a:pPr marL="0" indent="0" algn="ctr">
              <a:lnSpc>
                <a:spcPct val="105000"/>
              </a:lnSpc>
              <a:buNone/>
            </a:pPr>
            <a:r>
              <a:rPr lang="en-US" sz="1500" dirty="0">
                <a:solidFill>
                  <a:srgbClr val="B2BDCD"/>
                </a:solidFill>
                <a:latin typeface="Helvetica Neue" pitchFamily="34" charset="0"/>
                <a:ea typeface="Helvetica Neue" pitchFamily="34" charset="-122"/>
                <a:cs typeface="Helvetica Neue" pitchFamily="34" charset="-120"/>
              </a:rPr>
              <a:t>The spec or request</a:t>
            </a:r>
            <a:endParaRPr lang="en-US" sz="1500" dirty="0"/>
          </a:p>
        </p:txBody>
      </p:sp>
      <p:sp>
        <p:nvSpPr>
          <p:cNvPr id="7" name="b01-wipe-discovery-converge"/>
          <p:cNvSpPr/>
          <p:nvPr/>
        </p:nvSpPr>
        <p:spPr>
          <a:xfrm>
            <a:off x="3456432" y="2267712"/>
            <a:ext cx="1060704" cy="0"/>
          </a:xfrm>
          <a:prstGeom prst="line">
            <a:avLst/>
          </a:prstGeom>
          <a:noFill/>
          <a:ln w="19050">
            <a:solidFill>
              <a:srgbClr val="232C3A"/>
            </a:solidFill>
            <a:prstDash val="solid"/>
            <a:tailEnd type="triangle"/>
          </a:ln>
        </p:spPr>
        <p:txBody>
          <a:bodyPr/>
          <a:lstStyle/>
          <a:p>
            <a:endParaRPr lang="en-US"/>
          </a:p>
        </p:txBody>
      </p:sp>
      <p:sp>
        <p:nvSpPr>
          <p:cNvPr id="8" name="Shape 6"/>
          <p:cNvSpPr/>
          <p:nvPr/>
        </p:nvSpPr>
        <p:spPr>
          <a:xfrm>
            <a:off x="566928" y="2697480"/>
            <a:ext cx="2834640" cy="603504"/>
          </a:xfrm>
          <a:prstGeom prst="roundRect">
            <a:avLst>
              <a:gd name="adj" fmla="val 15152"/>
            </a:avLst>
          </a:prstGeom>
          <a:solidFill>
            <a:srgbClr val="0E1219"/>
          </a:solidFill>
          <a:ln w="12700">
            <a:solidFill>
              <a:srgbClr val="1A212C"/>
            </a:solidFill>
            <a:prstDash val="solid"/>
          </a:ln>
        </p:spPr>
        <p:txBody>
          <a:bodyPr/>
          <a:lstStyle/>
          <a:p>
            <a:endParaRPr lang="en-US"/>
          </a:p>
        </p:txBody>
      </p:sp>
      <p:sp>
        <p:nvSpPr>
          <p:cNvPr id="9" name="Text 7"/>
          <p:cNvSpPr/>
          <p:nvPr/>
        </p:nvSpPr>
        <p:spPr>
          <a:xfrm>
            <a:off x="713232" y="2697480"/>
            <a:ext cx="2542032" cy="603504"/>
          </a:xfrm>
          <a:prstGeom prst="rect">
            <a:avLst/>
          </a:prstGeom>
          <a:noFill/>
          <a:ln/>
        </p:spPr>
        <p:txBody>
          <a:bodyPr wrap="square" rtlCol="0" anchor="ctr"/>
          <a:lstStyle/>
          <a:p>
            <a:pPr marL="0" indent="0" algn="ctr">
              <a:lnSpc>
                <a:spcPct val="105000"/>
              </a:lnSpc>
              <a:buNone/>
            </a:pPr>
            <a:r>
              <a:rPr lang="en-US" sz="1500" dirty="0">
                <a:solidFill>
                  <a:srgbClr val="B2BDCD"/>
                </a:solidFill>
                <a:latin typeface="Helvetica Neue" pitchFamily="34" charset="0"/>
                <a:ea typeface="Helvetica Neue" pitchFamily="34" charset="-122"/>
                <a:cs typeface="Helvetica Neue" pitchFamily="34" charset="-120"/>
              </a:rPr>
              <a:t>How it behaves today</a:t>
            </a:r>
            <a:endParaRPr lang="en-US" sz="1500" dirty="0"/>
          </a:p>
        </p:txBody>
      </p:sp>
      <p:sp>
        <p:nvSpPr>
          <p:cNvPr id="10" name="b01-wipe-discovery-converge"/>
          <p:cNvSpPr/>
          <p:nvPr/>
        </p:nvSpPr>
        <p:spPr>
          <a:xfrm>
            <a:off x="3456432" y="2999232"/>
            <a:ext cx="1060704" cy="0"/>
          </a:xfrm>
          <a:prstGeom prst="line">
            <a:avLst/>
          </a:prstGeom>
          <a:noFill/>
          <a:ln w="19050">
            <a:solidFill>
              <a:srgbClr val="232C3A"/>
            </a:solidFill>
            <a:prstDash val="solid"/>
            <a:tailEnd type="triangle"/>
          </a:ln>
        </p:spPr>
        <p:txBody>
          <a:bodyPr/>
          <a:lstStyle/>
          <a:p>
            <a:endParaRPr lang="en-US"/>
          </a:p>
        </p:txBody>
      </p:sp>
      <p:sp>
        <p:nvSpPr>
          <p:cNvPr id="11" name="Shape 9"/>
          <p:cNvSpPr/>
          <p:nvPr/>
        </p:nvSpPr>
        <p:spPr>
          <a:xfrm>
            <a:off x="566928" y="3429000"/>
            <a:ext cx="2834640" cy="603504"/>
          </a:xfrm>
          <a:prstGeom prst="roundRect">
            <a:avLst>
              <a:gd name="adj" fmla="val 15152"/>
            </a:avLst>
          </a:prstGeom>
          <a:solidFill>
            <a:srgbClr val="0E1219"/>
          </a:solidFill>
          <a:ln w="12700">
            <a:solidFill>
              <a:srgbClr val="1A212C"/>
            </a:solidFill>
            <a:prstDash val="solid"/>
          </a:ln>
        </p:spPr>
        <p:txBody>
          <a:bodyPr/>
          <a:lstStyle/>
          <a:p>
            <a:endParaRPr lang="en-US"/>
          </a:p>
        </p:txBody>
      </p:sp>
      <p:sp>
        <p:nvSpPr>
          <p:cNvPr id="12" name="Text 10"/>
          <p:cNvSpPr/>
          <p:nvPr/>
        </p:nvSpPr>
        <p:spPr>
          <a:xfrm>
            <a:off x="713232" y="3429000"/>
            <a:ext cx="2542032" cy="603504"/>
          </a:xfrm>
          <a:prstGeom prst="rect">
            <a:avLst/>
          </a:prstGeom>
          <a:noFill/>
          <a:ln/>
        </p:spPr>
        <p:txBody>
          <a:bodyPr wrap="square" rtlCol="0" anchor="ctr"/>
          <a:lstStyle/>
          <a:p>
            <a:pPr marL="0" indent="0" algn="ctr">
              <a:lnSpc>
                <a:spcPct val="105000"/>
              </a:lnSpc>
              <a:buNone/>
            </a:pPr>
            <a:r>
              <a:rPr lang="en-US" sz="1500" dirty="0">
                <a:solidFill>
                  <a:srgbClr val="B2BDCD"/>
                </a:solidFill>
                <a:latin typeface="Helvetica Neue" pitchFamily="34" charset="0"/>
                <a:ea typeface="Helvetica Neue" pitchFamily="34" charset="-122"/>
                <a:cs typeface="Helvetica Neue" pitchFamily="34" charset="-120"/>
              </a:rPr>
              <a:t>Prior research and issues</a:t>
            </a:r>
            <a:endParaRPr lang="en-US" sz="1500" dirty="0"/>
          </a:p>
        </p:txBody>
      </p:sp>
      <p:sp>
        <p:nvSpPr>
          <p:cNvPr id="13" name="b01-wipe-discovery-converge"/>
          <p:cNvSpPr/>
          <p:nvPr/>
        </p:nvSpPr>
        <p:spPr>
          <a:xfrm>
            <a:off x="3456432" y="3730752"/>
            <a:ext cx="1060704" cy="0"/>
          </a:xfrm>
          <a:prstGeom prst="line">
            <a:avLst/>
          </a:prstGeom>
          <a:noFill/>
          <a:ln w="19050">
            <a:solidFill>
              <a:srgbClr val="232C3A"/>
            </a:solidFill>
            <a:prstDash val="solid"/>
            <a:tailEnd type="triangle"/>
          </a:ln>
        </p:spPr>
        <p:txBody>
          <a:bodyPr/>
          <a:lstStyle/>
          <a:p>
            <a:endParaRPr lang="en-US"/>
          </a:p>
        </p:txBody>
      </p:sp>
      <p:sp>
        <p:nvSpPr>
          <p:cNvPr id="14" name="Shape 12"/>
          <p:cNvSpPr/>
          <p:nvPr/>
        </p:nvSpPr>
        <p:spPr>
          <a:xfrm>
            <a:off x="566928" y="4160520"/>
            <a:ext cx="2834640" cy="603504"/>
          </a:xfrm>
          <a:prstGeom prst="roundRect">
            <a:avLst>
              <a:gd name="adj" fmla="val 15152"/>
            </a:avLst>
          </a:prstGeom>
          <a:solidFill>
            <a:srgbClr val="0E1219"/>
          </a:solidFill>
          <a:ln w="12700">
            <a:solidFill>
              <a:srgbClr val="1A212C"/>
            </a:solidFill>
            <a:prstDash val="solid"/>
          </a:ln>
        </p:spPr>
        <p:txBody>
          <a:bodyPr/>
          <a:lstStyle/>
          <a:p>
            <a:endParaRPr lang="en-US"/>
          </a:p>
        </p:txBody>
      </p:sp>
      <p:sp>
        <p:nvSpPr>
          <p:cNvPr id="15" name="Text 13"/>
          <p:cNvSpPr/>
          <p:nvPr/>
        </p:nvSpPr>
        <p:spPr>
          <a:xfrm>
            <a:off x="713232" y="4160520"/>
            <a:ext cx="2542032" cy="603504"/>
          </a:xfrm>
          <a:prstGeom prst="rect">
            <a:avLst/>
          </a:prstGeom>
          <a:noFill/>
          <a:ln/>
        </p:spPr>
        <p:txBody>
          <a:bodyPr wrap="square" rtlCol="0" anchor="ctr"/>
          <a:lstStyle/>
          <a:p>
            <a:pPr marL="0" indent="0" algn="ctr">
              <a:lnSpc>
                <a:spcPct val="105000"/>
              </a:lnSpc>
              <a:buNone/>
            </a:pPr>
            <a:r>
              <a:rPr lang="en-US" sz="1500" dirty="0">
                <a:solidFill>
                  <a:srgbClr val="B2BDCD"/>
                </a:solidFill>
                <a:latin typeface="Helvetica Neue" pitchFamily="34" charset="0"/>
                <a:ea typeface="Helvetica Neue" pitchFamily="34" charset="-122"/>
                <a:cs typeface="Helvetica Neue" pitchFamily="34" charset="-120"/>
              </a:rPr>
              <a:t>Constraints that apply</a:t>
            </a:r>
            <a:endParaRPr lang="en-US" sz="1500" dirty="0"/>
          </a:p>
        </p:txBody>
      </p:sp>
      <p:sp>
        <p:nvSpPr>
          <p:cNvPr id="16" name="b01-wipe-discovery-converge"/>
          <p:cNvSpPr/>
          <p:nvPr/>
        </p:nvSpPr>
        <p:spPr>
          <a:xfrm>
            <a:off x="3456432" y="4462272"/>
            <a:ext cx="1060704" cy="0"/>
          </a:xfrm>
          <a:prstGeom prst="line">
            <a:avLst/>
          </a:prstGeom>
          <a:noFill/>
          <a:ln w="19050">
            <a:solidFill>
              <a:srgbClr val="232C3A"/>
            </a:solidFill>
            <a:prstDash val="solid"/>
            <a:tailEnd type="triangle"/>
          </a:ln>
        </p:spPr>
        <p:txBody>
          <a:bodyPr/>
          <a:lstStyle/>
          <a:p>
            <a:endParaRPr lang="en-US"/>
          </a:p>
        </p:txBody>
      </p:sp>
      <p:sp>
        <p:nvSpPr>
          <p:cNvPr id="17" name="b01-fade-task-brief"/>
          <p:cNvSpPr/>
          <p:nvPr/>
        </p:nvSpPr>
        <p:spPr>
          <a:xfrm>
            <a:off x="4572000" y="2377440"/>
            <a:ext cx="3291840" cy="2103120"/>
          </a:xfrm>
          <a:prstGeom prst="roundRect">
            <a:avLst>
              <a:gd name="adj" fmla="val 5652"/>
            </a:avLst>
          </a:prstGeom>
          <a:solidFill>
            <a:srgbClr val="0E1219"/>
          </a:solidFill>
          <a:ln w="12700">
            <a:solidFill>
              <a:srgbClr val="75EDBB"/>
            </a:solidFill>
            <a:prstDash val="solid"/>
          </a:ln>
        </p:spPr>
        <p:txBody>
          <a:bodyPr/>
          <a:lstStyle/>
          <a:p>
            <a:endParaRPr lang="en-US"/>
          </a:p>
        </p:txBody>
      </p:sp>
      <p:sp>
        <p:nvSpPr>
          <p:cNvPr id="18" name="b01-fade-task-brief"/>
          <p:cNvSpPr/>
          <p:nvPr/>
        </p:nvSpPr>
        <p:spPr>
          <a:xfrm>
            <a:off x="4828032" y="2578608"/>
            <a:ext cx="2779776" cy="237744"/>
          </a:xfrm>
          <a:prstGeom prst="rect">
            <a:avLst/>
          </a:prstGeom>
          <a:noFill/>
          <a:ln/>
        </p:spPr>
        <p:txBody>
          <a:bodyPr wrap="square" rtlCol="0" anchor="t"/>
          <a:lstStyle/>
          <a:p>
            <a:pPr marL="0" indent="0">
              <a:lnSpc>
                <a:spcPct val="105000"/>
              </a:lnSpc>
              <a:buNone/>
            </a:pPr>
            <a:r>
              <a:rPr lang="en-US" sz="1100" b="1" kern="0" spc="200" dirty="0">
                <a:solidFill>
                  <a:srgbClr val="75EDBB"/>
                </a:solidFill>
                <a:latin typeface="Helvetica Neue" pitchFamily="34" charset="0"/>
                <a:ea typeface="Helvetica Neue" pitchFamily="34" charset="-122"/>
                <a:cs typeface="Helvetica Neue" pitchFamily="34" charset="-120"/>
              </a:rPr>
              <a:t>TASK BRIEF</a:t>
            </a:r>
            <a:endParaRPr lang="en-US" sz="1100" dirty="0"/>
          </a:p>
        </p:txBody>
      </p:sp>
      <p:sp>
        <p:nvSpPr>
          <p:cNvPr id="19" name="b01-fade-task-brief"/>
          <p:cNvSpPr/>
          <p:nvPr/>
        </p:nvSpPr>
        <p:spPr>
          <a:xfrm>
            <a:off x="4828032" y="2889504"/>
            <a:ext cx="2779776" cy="658368"/>
          </a:xfrm>
          <a:prstGeom prst="rect">
            <a:avLst/>
          </a:prstGeom>
          <a:noFill/>
          <a:ln/>
        </p:spPr>
        <p:txBody>
          <a:bodyPr wrap="square" rtlCol="0" anchor="t"/>
          <a:lstStyle/>
          <a:p>
            <a:pPr marL="0" indent="0">
              <a:lnSpc>
                <a:spcPct val="105000"/>
              </a:lnSpc>
              <a:buNone/>
            </a:pPr>
            <a:r>
              <a:rPr lang="en-US" sz="1900" b="1" dirty="0">
                <a:solidFill>
                  <a:srgbClr val="F3F6FA"/>
                </a:solidFill>
                <a:latin typeface="Helvetica Neue" pitchFamily="34" charset="0"/>
                <a:ea typeface="Helvetica Neue" pitchFamily="34" charset="-122"/>
                <a:cs typeface="Helvetica Neue" pitchFamily="34" charset="-120"/>
              </a:rPr>
              <a:t>Goal and acceptance criteria</a:t>
            </a:r>
            <a:endParaRPr lang="en-US" sz="1900" dirty="0"/>
          </a:p>
        </p:txBody>
      </p:sp>
      <p:sp>
        <p:nvSpPr>
          <p:cNvPr id="20" name="b01-fade-task-brief"/>
          <p:cNvSpPr/>
          <p:nvPr/>
        </p:nvSpPr>
        <p:spPr>
          <a:xfrm>
            <a:off x="4828032" y="3602736"/>
            <a:ext cx="2779776" cy="731520"/>
          </a:xfrm>
          <a:prstGeom prst="rect">
            <a:avLst/>
          </a:prstGeom>
          <a:noFill/>
          <a:ln/>
        </p:spPr>
        <p:txBody>
          <a:bodyPr wrap="square" rtlCol="0" anchor="t"/>
          <a:lstStyle/>
          <a:p>
            <a:pPr marL="0" indent="0">
              <a:lnSpc>
                <a:spcPct val="105000"/>
              </a:lnSpc>
              <a:buNone/>
            </a:pPr>
            <a:r>
              <a:rPr lang="en-US" sz="1600" dirty="0">
                <a:solidFill>
                  <a:srgbClr val="B2BDCD"/>
                </a:solidFill>
                <a:latin typeface="Helvetica Neue" pitchFamily="34" charset="0"/>
                <a:ea typeface="Helvetica Neue" pitchFamily="34" charset="-122"/>
                <a:cs typeface="Helvetica Neue" pitchFamily="34" charset="-120"/>
              </a:rPr>
              <a:t>The files that matter, the constraints that apply.</a:t>
            </a:r>
            <a:endParaRPr lang="en-US" sz="1600" dirty="0"/>
          </a:p>
        </p:txBody>
      </p:sp>
      <p:sp>
        <p:nvSpPr>
          <p:cNvPr id="21" name="b02-wipe-brief-to-context"/>
          <p:cNvSpPr/>
          <p:nvPr/>
        </p:nvSpPr>
        <p:spPr>
          <a:xfrm>
            <a:off x="7973568" y="3429000"/>
            <a:ext cx="640080" cy="0"/>
          </a:xfrm>
          <a:prstGeom prst="line">
            <a:avLst/>
          </a:prstGeom>
          <a:noFill/>
          <a:ln w="19050">
            <a:solidFill>
              <a:srgbClr val="75EDBB"/>
            </a:solidFill>
            <a:prstDash val="solid"/>
            <a:tailEnd type="triangle"/>
          </a:ln>
        </p:spPr>
        <p:txBody>
          <a:bodyPr/>
          <a:lstStyle/>
          <a:p>
            <a:endParaRPr lang="en-US"/>
          </a:p>
        </p:txBody>
      </p:sp>
      <p:sp>
        <p:nvSpPr>
          <p:cNvPr id="22" name="b02-rise-agent-context"/>
          <p:cNvSpPr/>
          <p:nvPr/>
        </p:nvSpPr>
        <p:spPr>
          <a:xfrm>
            <a:off x="8686800" y="2788920"/>
            <a:ext cx="2926080" cy="1371600"/>
          </a:xfrm>
          <a:prstGeom prst="roundRect">
            <a:avLst>
              <a:gd name="adj" fmla="val 8667"/>
            </a:avLst>
          </a:prstGeom>
          <a:solidFill>
            <a:srgbClr val="0A0D13"/>
          </a:solidFill>
          <a:ln w="12700">
            <a:solidFill>
              <a:srgbClr val="232C3A"/>
            </a:solidFill>
            <a:prstDash val="solid"/>
          </a:ln>
        </p:spPr>
        <p:txBody>
          <a:bodyPr/>
          <a:lstStyle/>
          <a:p>
            <a:endParaRPr lang="en-US"/>
          </a:p>
        </p:txBody>
      </p:sp>
      <p:sp>
        <p:nvSpPr>
          <p:cNvPr id="23" name="b02-rise-agent-context"/>
          <p:cNvSpPr/>
          <p:nvPr/>
        </p:nvSpPr>
        <p:spPr>
          <a:xfrm>
            <a:off x="8942832" y="2990088"/>
            <a:ext cx="2414016" cy="237744"/>
          </a:xfrm>
          <a:prstGeom prst="rect">
            <a:avLst/>
          </a:prstGeom>
          <a:noFill/>
          <a:ln/>
        </p:spPr>
        <p:txBody>
          <a:bodyPr wrap="square" rtlCol="0" anchor="t"/>
          <a:lstStyle/>
          <a:p>
            <a:pPr marL="0" indent="0">
              <a:lnSpc>
                <a:spcPct val="105000"/>
              </a:lnSpc>
              <a:buNone/>
            </a:pPr>
            <a:r>
              <a:rPr lang="en-US" sz="1100" b="1" kern="0" spc="200" dirty="0">
                <a:solidFill>
                  <a:srgbClr val="75EDBB"/>
                </a:solidFill>
                <a:latin typeface="Helvetica Neue" pitchFamily="34" charset="0"/>
                <a:ea typeface="Helvetica Neue" pitchFamily="34" charset="-122"/>
                <a:cs typeface="Helvetica Neue" pitchFamily="34" charset="-120"/>
              </a:rPr>
              <a:t>AGENT CONTEXT</a:t>
            </a:r>
            <a:endParaRPr lang="en-US" sz="1100" dirty="0"/>
          </a:p>
        </p:txBody>
      </p:sp>
      <p:sp>
        <p:nvSpPr>
          <p:cNvPr id="24" name="b02-rise-agent-context"/>
          <p:cNvSpPr/>
          <p:nvPr/>
        </p:nvSpPr>
        <p:spPr>
          <a:xfrm>
            <a:off x="8942832" y="3300984"/>
            <a:ext cx="2414016" cy="384048"/>
          </a:xfrm>
          <a:prstGeom prst="rect">
            <a:avLst/>
          </a:prstGeom>
          <a:noFill/>
          <a:ln/>
        </p:spPr>
        <p:txBody>
          <a:bodyPr wrap="square" rtlCol="0" anchor="t"/>
          <a:lstStyle/>
          <a:p>
            <a:pPr marL="0" indent="0">
              <a:lnSpc>
                <a:spcPct val="105000"/>
              </a:lnSpc>
              <a:buNone/>
            </a:pPr>
            <a:r>
              <a:rPr lang="en-US" sz="1800" b="1" dirty="0">
                <a:solidFill>
                  <a:srgbClr val="F3F6FA"/>
                </a:solidFill>
                <a:latin typeface="Helvetica Neue" pitchFamily="34" charset="0"/>
                <a:ea typeface="Helvetica Neue" pitchFamily="34" charset="-122"/>
                <a:cs typeface="Helvetica Neue" pitchFamily="34" charset="-120"/>
              </a:rPr>
              <a:t>What the agent sees</a:t>
            </a:r>
            <a:endParaRPr lang="en-US" sz="1800" dirty="0"/>
          </a:p>
        </p:txBody>
      </p:sp>
      <p:sp>
        <p:nvSpPr>
          <p:cNvPr id="25" name="b02-rise-agent-context"/>
          <p:cNvSpPr/>
          <p:nvPr/>
        </p:nvSpPr>
        <p:spPr>
          <a:xfrm>
            <a:off x="8942832" y="3739896"/>
            <a:ext cx="2414016" cy="274320"/>
          </a:xfrm>
          <a:prstGeom prst="rect">
            <a:avLst/>
          </a:prstGeom>
          <a:noFill/>
          <a:ln/>
        </p:spPr>
        <p:txBody>
          <a:bodyPr wrap="square" rtlCol="0" anchor="t"/>
          <a:lstStyle/>
          <a:p>
            <a:pPr marL="0" indent="0">
              <a:lnSpc>
                <a:spcPct val="105000"/>
              </a:lnSpc>
              <a:buNone/>
            </a:pPr>
            <a:r>
              <a:rPr lang="en-US" sz="1500" dirty="0">
                <a:solidFill>
                  <a:srgbClr val="B2BDCD"/>
                </a:solidFill>
                <a:latin typeface="Helvetica Neue" pitchFamily="34" charset="0"/>
                <a:ea typeface="Helvetica Neue" pitchFamily="34" charset="-122"/>
                <a:cs typeface="Helvetica Neue" pitchFamily="34" charset="-120"/>
              </a:rPr>
              <a:t>Chosen, not everything.</a:t>
            </a:r>
            <a:endParaRPr lang="en-US" sz="1500" dirty="0"/>
          </a:p>
        </p:txBody>
      </p:sp>
      <p:sp>
        <p:nvSpPr>
          <p:cNvPr id="26" name="b03-rise-selection-rule"/>
          <p:cNvSpPr/>
          <p:nvPr/>
        </p:nvSpPr>
        <p:spPr>
          <a:xfrm>
            <a:off x="566928" y="5138928"/>
            <a:ext cx="11064240" cy="731520"/>
          </a:xfrm>
          <a:prstGeom prst="roundRect">
            <a:avLst>
              <a:gd name="adj" fmla="val 16250"/>
            </a:avLst>
          </a:prstGeom>
          <a:solidFill>
            <a:srgbClr val="0E1219"/>
          </a:solidFill>
          <a:ln w="12700">
            <a:solidFill>
              <a:srgbClr val="232C3A"/>
            </a:solidFill>
            <a:prstDash val="solid"/>
          </a:ln>
        </p:spPr>
        <p:txBody>
          <a:bodyPr/>
          <a:lstStyle/>
          <a:p>
            <a:endParaRPr lang="en-US"/>
          </a:p>
        </p:txBody>
      </p:sp>
      <p:sp>
        <p:nvSpPr>
          <p:cNvPr id="27" name="b03-rise-selection-rule"/>
          <p:cNvSpPr/>
          <p:nvPr/>
        </p:nvSpPr>
        <p:spPr>
          <a:xfrm>
            <a:off x="841248" y="5138928"/>
            <a:ext cx="10515600" cy="731520"/>
          </a:xfrm>
          <a:prstGeom prst="rect">
            <a:avLst/>
          </a:prstGeom>
          <a:noFill/>
          <a:ln/>
        </p:spPr>
        <p:txBody>
          <a:bodyPr wrap="square" rtlCol="0" anchor="ctr"/>
          <a:lstStyle/>
          <a:p>
            <a:pPr marL="0" indent="0">
              <a:lnSpc>
                <a:spcPct val="105000"/>
              </a:lnSpc>
              <a:buNone/>
            </a:pPr>
            <a:r>
              <a:rPr lang="en-US" sz="1900" dirty="0">
                <a:solidFill>
                  <a:srgbClr val="F3F6FA"/>
                </a:solidFill>
                <a:latin typeface="Helvetica Neue" pitchFamily="34" charset="0"/>
                <a:ea typeface="Helvetica Neue" pitchFamily="34" charset="-122"/>
                <a:cs typeface="Helvetica Neue" pitchFamily="34" charset="-120"/>
              </a:rPr>
              <a:t>Find enough before you start. Carry only what the task needs.</a:t>
            </a:r>
            <a:endParaRPr lang="en-US" sz="1900" dirty="0"/>
          </a:p>
        </p:txBody>
      </p:sp>
      <p:sp>
        <p:nvSpPr>
          <p:cNvPr id="28" name="Text 26"/>
          <p:cNvSpPr/>
          <p:nvPr/>
        </p:nvSpPr>
        <p:spPr>
          <a:xfrm>
            <a:off x="566928" y="6391656"/>
            <a:ext cx="8961120" cy="274320"/>
          </a:xfrm>
          <a:prstGeom prst="rect">
            <a:avLst/>
          </a:prstGeom>
          <a:noFill/>
          <a:ln/>
        </p:spPr>
        <p:txBody>
          <a:bodyPr wrap="square" rtlCol="0" anchor="ctr"/>
          <a:lstStyle/>
          <a:p>
            <a:pPr marL="0" indent="0">
              <a:lnSpc>
                <a:spcPct val="105000"/>
              </a:lnSpc>
              <a:buNone/>
            </a:pPr>
            <a:r>
              <a:rPr lang="en-US" sz="1100" dirty="0">
                <a:solidFill>
                  <a:srgbClr val="6F7B8D"/>
                </a:solidFill>
                <a:latin typeface="Helvetica Neue" pitchFamily="34" charset="0"/>
                <a:ea typeface="Helvetica Neue" pitchFamily="34" charset="-122"/>
                <a:cs typeface="Helvetica Neue" pitchFamily="34" charset="-120"/>
              </a:rPr>
              <a:t>Greenfield: you decide the constraints. Brownfield: you find them.</a:t>
            </a:r>
            <a:endParaRPr lang="en-US" sz="1100" dirty="0"/>
          </a:p>
        </p:txBody>
      </p:sp>
      <p:sp>
        <p:nvSpPr>
          <p:cNvPr id="29" name="Text 27"/>
          <p:cNvSpPr/>
          <p:nvPr/>
        </p:nvSpPr>
        <p:spPr>
          <a:xfrm>
            <a:off x="9692640" y="6391656"/>
            <a:ext cx="1929384" cy="274320"/>
          </a:xfrm>
          <a:prstGeom prst="rect">
            <a:avLst/>
          </a:prstGeom>
          <a:noFill/>
          <a:ln/>
        </p:spPr>
        <p:txBody>
          <a:bodyPr wrap="square" rtlCol="0" anchor="ctr"/>
          <a:lstStyle/>
          <a:p>
            <a:pPr marL="0" indent="0" algn="r">
              <a:lnSpc>
                <a:spcPct val="105000"/>
              </a:lnSpc>
              <a:buNone/>
            </a:pPr>
            <a:r>
              <a:rPr lang="en-US" sz="1100" dirty="0">
                <a:solidFill>
                  <a:srgbClr val="6F7B8D"/>
                </a:solidFill>
                <a:latin typeface="Helvetica Neue" pitchFamily="34" charset="0"/>
                <a:ea typeface="Helvetica Neue" pitchFamily="34" charset="-122"/>
                <a:cs typeface="Helvetica Neue" pitchFamily="34" charset="-120"/>
              </a:rPr>
              <a:t>07 / 20</a:t>
            </a:r>
            <a:endParaRPr lang="en-US" sz="1100"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right)">
                                      <p:cBhvr>
                                        <p:cTn id="7" dur="420"/>
                                        <p:tgtEl>
                                          <p:spTgt spid="7"/>
                                        </p:tgtEl>
                                      </p:cBhvr>
                                    </p:animEffect>
                                  </p:childTnLst>
                                </p:cTn>
                              </p:par>
                              <p:par>
                                <p:cTn id="8" presetID="22" presetClass="entr" presetSubtype="1"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right)">
                                      <p:cBhvr>
                                        <p:cTn id="10" dur="420"/>
                                        <p:tgtEl>
                                          <p:spTgt spid="10"/>
                                        </p:tgtEl>
                                      </p:cBhvr>
                                    </p:animEffect>
                                  </p:childTnLst>
                                </p:cTn>
                              </p:par>
                              <p:par>
                                <p:cTn id="11" presetID="22" presetClass="entr" presetSubtype="1"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wipe(right)">
                                      <p:cBhvr>
                                        <p:cTn id="13" dur="420"/>
                                        <p:tgtEl>
                                          <p:spTgt spid="13"/>
                                        </p:tgtEl>
                                      </p:cBhvr>
                                    </p:animEffect>
                                  </p:childTnLst>
                                </p:cTn>
                              </p:par>
                              <p:par>
                                <p:cTn id="14" presetID="22" presetClass="entr" presetSubtype="1" fill="hold"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wipe(right)">
                                      <p:cBhvr>
                                        <p:cTn id="16" dur="420"/>
                                        <p:tgtEl>
                                          <p:spTgt spid="16"/>
                                        </p:tgtEl>
                                      </p:cBhvr>
                                    </p:animEffect>
                                  </p:childTnLst>
                                </p:cTn>
                              </p:par>
                              <p:par>
                                <p:cTn id="17" presetID="10" presetClass="entr" presetSubtype="0" fill="hold" nodeType="with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fade">
                                      <p:cBhvr>
                                        <p:cTn id="19" dur="420"/>
                                        <p:tgtEl>
                                          <p:spTgt spid="17"/>
                                        </p:tgtEl>
                                      </p:cBhvr>
                                    </p:animEffect>
                                  </p:childTnLst>
                                </p:cTn>
                              </p:par>
                              <p:par>
                                <p:cTn id="20" presetID="10" presetClass="entr" presetSubtype="0" fill="hold"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20"/>
                                        <p:tgtEl>
                                          <p:spTgt spid="18"/>
                                        </p:tgtEl>
                                      </p:cBhvr>
                                    </p:animEffect>
                                  </p:childTnLst>
                                </p:cTn>
                              </p:par>
                              <p:par>
                                <p:cTn id="23" presetID="10" presetClass="entr" presetSubtype="0" fill="hold"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fade">
                                      <p:cBhvr>
                                        <p:cTn id="25" dur="420"/>
                                        <p:tgtEl>
                                          <p:spTgt spid="19"/>
                                        </p:tgtEl>
                                      </p:cBhvr>
                                    </p:animEffect>
                                  </p:childTnLst>
                                </p:cTn>
                              </p:par>
                              <p:par>
                                <p:cTn id="26" presetID="10" presetClass="entr" presetSubtype="0" fill="hold"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fade">
                                      <p:cBhvr>
                                        <p:cTn id="28" dur="420"/>
                                        <p:tgtEl>
                                          <p:spTgt spid="20"/>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nodeType="clickEffect">
                                  <p:stCondLst>
                                    <p:cond delay="0"/>
                                  </p:stCondLst>
                                  <p:childTnLst>
                                    <p:set>
                                      <p:cBhvr>
                                        <p:cTn id="32" dur="1" fill="hold">
                                          <p:stCondLst>
                                            <p:cond delay="0"/>
                                          </p:stCondLst>
                                        </p:cTn>
                                        <p:tgtEl>
                                          <p:spTgt spid="21"/>
                                        </p:tgtEl>
                                        <p:attrNameLst>
                                          <p:attrName>style.visibility</p:attrName>
                                        </p:attrNameLst>
                                      </p:cBhvr>
                                      <p:to>
                                        <p:strVal val="visible"/>
                                      </p:to>
                                    </p:set>
                                    <p:animEffect transition="in" filter="wipe(right)">
                                      <p:cBhvr>
                                        <p:cTn id="33" dur="420"/>
                                        <p:tgtEl>
                                          <p:spTgt spid="21"/>
                                        </p:tgtEl>
                                      </p:cBhvr>
                                    </p:animEffect>
                                  </p:childTnLst>
                                </p:cTn>
                              </p:par>
                              <p:par>
                                <p:cTn id="34" presetID="42" presetClass="entr" presetSubtype="0" fill="hold" nodeType="withEffect">
                                  <p:stCondLst>
                                    <p:cond delay="0"/>
                                  </p:stCondLst>
                                  <p:childTnLst>
                                    <p:set>
                                      <p:cBhvr>
                                        <p:cTn id="35" dur="1" fill="hold">
                                          <p:stCondLst>
                                            <p:cond delay="0"/>
                                          </p:stCondLst>
                                        </p:cTn>
                                        <p:tgtEl>
                                          <p:spTgt spid="22"/>
                                        </p:tgtEl>
                                        <p:attrNameLst>
                                          <p:attrName>style.visibility</p:attrName>
                                        </p:attrNameLst>
                                      </p:cBhvr>
                                      <p:to>
                                        <p:strVal val="visible"/>
                                      </p:to>
                                    </p:set>
                                    <p:anim calcmode="lin" valueType="num">
                                      <p:cBhvr additive="base">
                                        <p:cTn id="36" dur="420" decel="60000" fill="hold"/>
                                        <p:tgtEl>
                                          <p:spTgt spid="22"/>
                                        </p:tgtEl>
                                        <p:attrNameLst>
                                          <p:attrName>ppt_y</p:attrName>
                                        </p:attrNameLst>
                                      </p:cBhvr>
                                      <p:tavLst>
                                        <p:tav tm="0">
                                          <p:val>
                                            <p:strVal val="#ppt_y+.014"/>
                                          </p:val>
                                        </p:tav>
                                        <p:tav tm="100000">
                                          <p:val>
                                            <p:strVal val="#ppt_y"/>
                                          </p:val>
                                        </p:tav>
                                      </p:tavLst>
                                    </p:anim>
                                    <p:animEffect transition="in" filter="fade">
                                      <p:cBhvr>
                                        <p:cTn id="37" dur="420"/>
                                        <p:tgtEl>
                                          <p:spTgt spid="22"/>
                                        </p:tgtEl>
                                      </p:cBhvr>
                                    </p:animEffect>
                                  </p:childTnLst>
                                </p:cTn>
                              </p:par>
                              <p:par>
                                <p:cTn id="38" presetID="42" presetClass="entr" presetSubtype="0" fill="hold" nodeType="withEffect">
                                  <p:stCondLst>
                                    <p:cond delay="0"/>
                                  </p:stCondLst>
                                  <p:childTnLst>
                                    <p:set>
                                      <p:cBhvr>
                                        <p:cTn id="39" dur="1" fill="hold">
                                          <p:stCondLst>
                                            <p:cond delay="0"/>
                                          </p:stCondLst>
                                        </p:cTn>
                                        <p:tgtEl>
                                          <p:spTgt spid="23"/>
                                        </p:tgtEl>
                                        <p:attrNameLst>
                                          <p:attrName>style.visibility</p:attrName>
                                        </p:attrNameLst>
                                      </p:cBhvr>
                                      <p:to>
                                        <p:strVal val="visible"/>
                                      </p:to>
                                    </p:set>
                                    <p:anim calcmode="lin" valueType="num">
                                      <p:cBhvr additive="base">
                                        <p:cTn id="40" dur="420" decel="60000" fill="hold"/>
                                        <p:tgtEl>
                                          <p:spTgt spid="23"/>
                                        </p:tgtEl>
                                        <p:attrNameLst>
                                          <p:attrName>ppt_y</p:attrName>
                                        </p:attrNameLst>
                                      </p:cBhvr>
                                      <p:tavLst>
                                        <p:tav tm="0">
                                          <p:val>
                                            <p:strVal val="#ppt_y+.014"/>
                                          </p:val>
                                        </p:tav>
                                        <p:tav tm="100000">
                                          <p:val>
                                            <p:strVal val="#ppt_y"/>
                                          </p:val>
                                        </p:tav>
                                      </p:tavLst>
                                    </p:anim>
                                    <p:animEffect transition="in" filter="fade">
                                      <p:cBhvr>
                                        <p:cTn id="41" dur="420"/>
                                        <p:tgtEl>
                                          <p:spTgt spid="23"/>
                                        </p:tgtEl>
                                      </p:cBhvr>
                                    </p:animEffect>
                                  </p:childTnLst>
                                </p:cTn>
                              </p:par>
                              <p:par>
                                <p:cTn id="42" presetID="42" presetClass="entr" presetSubtype="0" fill="hold" nodeType="withEffect">
                                  <p:stCondLst>
                                    <p:cond delay="0"/>
                                  </p:stCondLst>
                                  <p:childTnLst>
                                    <p:set>
                                      <p:cBhvr>
                                        <p:cTn id="43" dur="1" fill="hold">
                                          <p:stCondLst>
                                            <p:cond delay="0"/>
                                          </p:stCondLst>
                                        </p:cTn>
                                        <p:tgtEl>
                                          <p:spTgt spid="24"/>
                                        </p:tgtEl>
                                        <p:attrNameLst>
                                          <p:attrName>style.visibility</p:attrName>
                                        </p:attrNameLst>
                                      </p:cBhvr>
                                      <p:to>
                                        <p:strVal val="visible"/>
                                      </p:to>
                                    </p:set>
                                    <p:anim calcmode="lin" valueType="num">
                                      <p:cBhvr additive="base">
                                        <p:cTn id="44" dur="420" decel="60000" fill="hold"/>
                                        <p:tgtEl>
                                          <p:spTgt spid="24"/>
                                        </p:tgtEl>
                                        <p:attrNameLst>
                                          <p:attrName>ppt_y</p:attrName>
                                        </p:attrNameLst>
                                      </p:cBhvr>
                                      <p:tavLst>
                                        <p:tav tm="0">
                                          <p:val>
                                            <p:strVal val="#ppt_y+.014"/>
                                          </p:val>
                                        </p:tav>
                                        <p:tav tm="100000">
                                          <p:val>
                                            <p:strVal val="#ppt_y"/>
                                          </p:val>
                                        </p:tav>
                                      </p:tavLst>
                                    </p:anim>
                                    <p:animEffect transition="in" filter="fade">
                                      <p:cBhvr>
                                        <p:cTn id="45" dur="420"/>
                                        <p:tgtEl>
                                          <p:spTgt spid="24"/>
                                        </p:tgtEl>
                                      </p:cBhvr>
                                    </p:animEffect>
                                  </p:childTnLst>
                                </p:cTn>
                              </p:par>
                              <p:par>
                                <p:cTn id="46" presetID="42" presetClass="entr" presetSubtype="0" fill="hold" nodeType="withEffect">
                                  <p:stCondLst>
                                    <p:cond delay="0"/>
                                  </p:stCondLst>
                                  <p:childTnLst>
                                    <p:set>
                                      <p:cBhvr>
                                        <p:cTn id="47" dur="1" fill="hold">
                                          <p:stCondLst>
                                            <p:cond delay="0"/>
                                          </p:stCondLst>
                                        </p:cTn>
                                        <p:tgtEl>
                                          <p:spTgt spid="25"/>
                                        </p:tgtEl>
                                        <p:attrNameLst>
                                          <p:attrName>style.visibility</p:attrName>
                                        </p:attrNameLst>
                                      </p:cBhvr>
                                      <p:to>
                                        <p:strVal val="visible"/>
                                      </p:to>
                                    </p:set>
                                    <p:anim calcmode="lin" valueType="num">
                                      <p:cBhvr additive="base">
                                        <p:cTn id="48" dur="420" decel="60000" fill="hold"/>
                                        <p:tgtEl>
                                          <p:spTgt spid="25"/>
                                        </p:tgtEl>
                                        <p:attrNameLst>
                                          <p:attrName>ppt_y</p:attrName>
                                        </p:attrNameLst>
                                      </p:cBhvr>
                                      <p:tavLst>
                                        <p:tav tm="0">
                                          <p:val>
                                            <p:strVal val="#ppt_y+.014"/>
                                          </p:val>
                                        </p:tav>
                                        <p:tav tm="100000">
                                          <p:val>
                                            <p:strVal val="#ppt_y"/>
                                          </p:val>
                                        </p:tav>
                                      </p:tavLst>
                                    </p:anim>
                                    <p:animEffect transition="in" filter="fade">
                                      <p:cBhvr>
                                        <p:cTn id="49" dur="420"/>
                                        <p:tgtEl>
                                          <p:spTgt spid="25"/>
                                        </p:tgtEl>
                                      </p:cBhvr>
                                    </p:animEffect>
                                  </p:childTnLst>
                                </p:cTn>
                              </p:par>
                            </p:childTnLst>
                          </p:cTn>
                        </p:par>
                      </p:childTnLst>
                    </p:cTn>
                  </p:par>
                  <p:par>
                    <p:cTn id="50" fill="hold">
                      <p:stCondLst>
                        <p:cond delay="indefinite"/>
                      </p:stCondLst>
                      <p:childTnLst>
                        <p:par>
                          <p:cTn id="51" fill="hold">
                            <p:stCondLst>
                              <p:cond delay="0"/>
                            </p:stCondLst>
                            <p:childTnLst>
                              <p:par>
                                <p:cTn id="52" presetID="42" presetClass="entr" presetSubtype="0" fill="hold" nodeType="clickEffect">
                                  <p:stCondLst>
                                    <p:cond delay="0"/>
                                  </p:stCondLst>
                                  <p:childTnLst>
                                    <p:set>
                                      <p:cBhvr>
                                        <p:cTn id="53" dur="1" fill="hold">
                                          <p:stCondLst>
                                            <p:cond delay="0"/>
                                          </p:stCondLst>
                                        </p:cTn>
                                        <p:tgtEl>
                                          <p:spTgt spid="26"/>
                                        </p:tgtEl>
                                        <p:attrNameLst>
                                          <p:attrName>style.visibility</p:attrName>
                                        </p:attrNameLst>
                                      </p:cBhvr>
                                      <p:to>
                                        <p:strVal val="visible"/>
                                      </p:to>
                                    </p:set>
                                    <p:anim calcmode="lin" valueType="num">
                                      <p:cBhvr additive="base">
                                        <p:cTn id="54" dur="420" decel="60000" fill="hold"/>
                                        <p:tgtEl>
                                          <p:spTgt spid="26"/>
                                        </p:tgtEl>
                                        <p:attrNameLst>
                                          <p:attrName>ppt_y</p:attrName>
                                        </p:attrNameLst>
                                      </p:cBhvr>
                                      <p:tavLst>
                                        <p:tav tm="0">
                                          <p:val>
                                            <p:strVal val="#ppt_y+.014"/>
                                          </p:val>
                                        </p:tav>
                                        <p:tav tm="100000">
                                          <p:val>
                                            <p:strVal val="#ppt_y"/>
                                          </p:val>
                                        </p:tav>
                                      </p:tavLst>
                                    </p:anim>
                                    <p:animEffect transition="in" filter="fade">
                                      <p:cBhvr>
                                        <p:cTn id="55" dur="420"/>
                                        <p:tgtEl>
                                          <p:spTgt spid="26"/>
                                        </p:tgtEl>
                                      </p:cBhvr>
                                    </p:animEffect>
                                  </p:childTnLst>
                                </p:cTn>
                              </p:par>
                              <p:par>
                                <p:cTn id="56" presetID="42" presetClass="entr" presetSubtype="0" fill="hold" nodeType="withEffect">
                                  <p:stCondLst>
                                    <p:cond delay="0"/>
                                  </p:stCondLst>
                                  <p:childTnLst>
                                    <p:set>
                                      <p:cBhvr>
                                        <p:cTn id="57" dur="1" fill="hold">
                                          <p:stCondLst>
                                            <p:cond delay="0"/>
                                          </p:stCondLst>
                                        </p:cTn>
                                        <p:tgtEl>
                                          <p:spTgt spid="27"/>
                                        </p:tgtEl>
                                        <p:attrNameLst>
                                          <p:attrName>style.visibility</p:attrName>
                                        </p:attrNameLst>
                                      </p:cBhvr>
                                      <p:to>
                                        <p:strVal val="visible"/>
                                      </p:to>
                                    </p:set>
                                    <p:anim calcmode="lin" valueType="num">
                                      <p:cBhvr additive="base">
                                        <p:cTn id="58" dur="420" decel="60000" fill="hold"/>
                                        <p:tgtEl>
                                          <p:spTgt spid="27"/>
                                        </p:tgtEl>
                                        <p:attrNameLst>
                                          <p:attrName>ppt_y</p:attrName>
                                        </p:attrNameLst>
                                      </p:cBhvr>
                                      <p:tavLst>
                                        <p:tav tm="0">
                                          <p:val>
                                            <p:strVal val="#ppt_y+.014"/>
                                          </p:val>
                                        </p:tav>
                                        <p:tav tm="100000">
                                          <p:val>
                                            <p:strVal val="#ppt_y"/>
                                          </p:val>
                                        </p:tav>
                                      </p:tavLst>
                                    </p:anim>
                                    <p:animEffect transition="in" filter="fade">
                                      <p:cBhvr>
                                        <p:cTn id="59" dur="42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7090D"/>
        </a:solidFill>
        <a:effectLst/>
      </p:bgPr>
    </p:bg>
    <p:spTree>
      <p:nvGrpSpPr>
        <p:cNvPr id="1" name=""/>
        <p:cNvGrpSpPr/>
        <p:nvPr/>
      </p:nvGrpSpPr>
      <p:grpSpPr>
        <a:xfrm>
          <a:off x="0" y="0"/>
          <a:ext cx="0" cy="0"/>
          <a:chOff x="0" y="0"/>
          <a:chExt cx="0" cy="0"/>
        </a:xfrm>
      </p:grpSpPr>
      <p:sp>
        <p:nvSpPr>
          <p:cNvPr id="2" name="Text 0"/>
          <p:cNvSpPr/>
          <p:nvPr/>
        </p:nvSpPr>
        <p:spPr>
          <a:xfrm>
            <a:off x="566928" y="274320"/>
            <a:ext cx="10607040" cy="274320"/>
          </a:xfrm>
          <a:prstGeom prst="rect">
            <a:avLst/>
          </a:prstGeom>
          <a:noFill/>
          <a:ln/>
        </p:spPr>
        <p:txBody>
          <a:bodyPr wrap="square" rtlCol="0" anchor="t"/>
          <a:lstStyle/>
          <a:p>
            <a:pPr marL="0" indent="0">
              <a:lnSpc>
                <a:spcPct val="105000"/>
              </a:lnSpc>
              <a:buNone/>
            </a:pPr>
            <a:r>
              <a:rPr lang="en-US" sz="1200" b="1" kern="0" spc="260" dirty="0">
                <a:solidFill>
                  <a:srgbClr val="75EDBB"/>
                </a:solidFill>
                <a:latin typeface="Helvetica Neue" pitchFamily="34" charset="0"/>
                <a:ea typeface="Helvetica Neue" pitchFamily="34" charset="-122"/>
                <a:cs typeface="Helvetica Neue" pitchFamily="34" charset="-120"/>
              </a:rPr>
              <a:t>METHOD</a:t>
            </a:r>
            <a:endParaRPr lang="en-US" sz="1200" dirty="0"/>
          </a:p>
        </p:txBody>
      </p:sp>
      <p:sp>
        <p:nvSpPr>
          <p:cNvPr id="3" name="Text 1"/>
          <p:cNvSpPr/>
          <p:nvPr/>
        </p:nvSpPr>
        <p:spPr>
          <a:xfrm>
            <a:off x="566928" y="585216"/>
            <a:ext cx="10789920" cy="731520"/>
          </a:xfrm>
          <a:prstGeom prst="rect">
            <a:avLst/>
          </a:prstGeom>
          <a:noFill/>
          <a:ln/>
        </p:spPr>
        <p:txBody>
          <a:bodyPr wrap="square" rtlCol="0" anchor="ctr"/>
          <a:lstStyle/>
          <a:p>
            <a:pPr marL="0" indent="0">
              <a:lnSpc>
                <a:spcPct val="95000"/>
              </a:lnSpc>
              <a:buNone/>
            </a:pPr>
            <a:r>
              <a:rPr lang="en-US" sz="3800" dirty="0">
                <a:solidFill>
                  <a:srgbClr val="F3F6FA"/>
                </a:solidFill>
                <a:latin typeface="Avenir Next" pitchFamily="34" charset="0"/>
                <a:ea typeface="Avenir Next" pitchFamily="34" charset="-122"/>
                <a:cs typeface="Avenir Next" pitchFamily="34" charset="-120"/>
              </a:rPr>
              <a:t>Make each change an evidence loop</a:t>
            </a:r>
            <a:endParaRPr lang="en-US" sz="3800" dirty="0"/>
          </a:p>
        </p:txBody>
      </p:sp>
      <p:sp>
        <p:nvSpPr>
          <p:cNvPr id="4" name="Text 2"/>
          <p:cNvSpPr/>
          <p:nvPr/>
        </p:nvSpPr>
        <p:spPr>
          <a:xfrm>
            <a:off x="566928" y="1335024"/>
            <a:ext cx="9692640" cy="384048"/>
          </a:xfrm>
          <a:prstGeom prst="rect">
            <a:avLst/>
          </a:prstGeom>
          <a:noFill/>
          <a:ln/>
        </p:spPr>
        <p:txBody>
          <a:bodyPr wrap="square" rtlCol="0" anchor="t"/>
          <a:lstStyle/>
          <a:p>
            <a:pPr marL="0" indent="0">
              <a:lnSpc>
                <a:spcPct val="105000"/>
              </a:lnSpc>
              <a:buNone/>
            </a:pPr>
            <a:r>
              <a:rPr lang="en-US" sz="1900" dirty="0">
                <a:solidFill>
                  <a:srgbClr val="B2BDCD"/>
                </a:solidFill>
                <a:latin typeface="Helvetica Neue" pitchFamily="34" charset="0"/>
                <a:ea typeface="Helvetica Neue" pitchFamily="34" charset="-122"/>
                <a:cs typeface="Helvetica Neue" pitchFamily="34" charset="-120"/>
              </a:rPr>
              <a:t>Plan mode covers part of this. Spec Kit helps write the rest down.</a:t>
            </a:r>
            <a:endParaRPr lang="en-US" sz="1900" dirty="0"/>
          </a:p>
        </p:txBody>
      </p:sp>
      <p:sp>
        <p:nvSpPr>
          <p:cNvPr id="5" name="Shape 3"/>
          <p:cNvSpPr/>
          <p:nvPr/>
        </p:nvSpPr>
        <p:spPr>
          <a:xfrm>
            <a:off x="566928" y="3017520"/>
            <a:ext cx="1965960" cy="868680"/>
          </a:xfrm>
          <a:prstGeom prst="roundRect">
            <a:avLst>
              <a:gd name="adj" fmla="val 10526"/>
            </a:avLst>
          </a:prstGeom>
          <a:solidFill>
            <a:srgbClr val="0E1219"/>
          </a:solidFill>
          <a:ln w="12700">
            <a:solidFill>
              <a:srgbClr val="232C3A"/>
            </a:solidFill>
            <a:prstDash val="solid"/>
          </a:ln>
        </p:spPr>
        <p:txBody>
          <a:bodyPr/>
          <a:lstStyle/>
          <a:p>
            <a:endParaRPr lang="en-US"/>
          </a:p>
        </p:txBody>
      </p:sp>
      <p:sp>
        <p:nvSpPr>
          <p:cNvPr id="6" name="Text 4"/>
          <p:cNvSpPr/>
          <p:nvPr/>
        </p:nvSpPr>
        <p:spPr>
          <a:xfrm>
            <a:off x="566928" y="3017520"/>
            <a:ext cx="1965960" cy="868680"/>
          </a:xfrm>
          <a:prstGeom prst="rect">
            <a:avLst/>
          </a:prstGeom>
          <a:noFill/>
          <a:ln/>
        </p:spPr>
        <p:txBody>
          <a:bodyPr wrap="square" rtlCol="0" anchor="ctr"/>
          <a:lstStyle/>
          <a:p>
            <a:pPr marL="0" indent="0" algn="ctr">
              <a:lnSpc>
                <a:spcPct val="105000"/>
              </a:lnSpc>
              <a:buNone/>
            </a:pPr>
            <a:r>
              <a:rPr lang="en-US" sz="1700" dirty="0">
                <a:solidFill>
                  <a:srgbClr val="F3F6FA"/>
                </a:solidFill>
                <a:latin typeface="Helvetica Neue" pitchFamily="34" charset="0"/>
                <a:ea typeface="Helvetica Neue" pitchFamily="34" charset="-122"/>
                <a:cs typeface="Helvetica Neue" pitchFamily="34" charset="-120"/>
              </a:rPr>
              <a:t>Discovery</a:t>
            </a:r>
            <a:endParaRPr lang="en-US" sz="1700" dirty="0"/>
          </a:p>
        </p:txBody>
      </p:sp>
      <p:sp>
        <p:nvSpPr>
          <p:cNvPr id="7" name="Shape 5"/>
          <p:cNvSpPr/>
          <p:nvPr/>
        </p:nvSpPr>
        <p:spPr>
          <a:xfrm>
            <a:off x="2532888" y="3451860"/>
            <a:ext cx="274320" cy="0"/>
          </a:xfrm>
          <a:prstGeom prst="line">
            <a:avLst/>
          </a:prstGeom>
          <a:noFill/>
          <a:ln w="19050">
            <a:solidFill>
              <a:srgbClr val="232C3A"/>
            </a:solidFill>
            <a:prstDash val="solid"/>
            <a:tailEnd type="triangle"/>
          </a:ln>
        </p:spPr>
        <p:txBody>
          <a:bodyPr/>
          <a:lstStyle/>
          <a:p>
            <a:endParaRPr lang="en-US"/>
          </a:p>
        </p:txBody>
      </p:sp>
      <p:sp>
        <p:nvSpPr>
          <p:cNvPr id="8" name="Shape 6"/>
          <p:cNvSpPr/>
          <p:nvPr/>
        </p:nvSpPr>
        <p:spPr>
          <a:xfrm>
            <a:off x="2807208" y="3017520"/>
            <a:ext cx="1965960" cy="868680"/>
          </a:xfrm>
          <a:prstGeom prst="roundRect">
            <a:avLst>
              <a:gd name="adj" fmla="val 10526"/>
            </a:avLst>
          </a:prstGeom>
          <a:solidFill>
            <a:srgbClr val="0E1219"/>
          </a:solidFill>
          <a:ln w="12700">
            <a:solidFill>
              <a:srgbClr val="232C3A"/>
            </a:solidFill>
            <a:prstDash val="solid"/>
          </a:ln>
        </p:spPr>
        <p:txBody>
          <a:bodyPr/>
          <a:lstStyle/>
          <a:p>
            <a:endParaRPr lang="en-US"/>
          </a:p>
        </p:txBody>
      </p:sp>
      <p:sp>
        <p:nvSpPr>
          <p:cNvPr id="9" name="Text 7"/>
          <p:cNvSpPr/>
          <p:nvPr/>
        </p:nvSpPr>
        <p:spPr>
          <a:xfrm>
            <a:off x="2807208" y="3017520"/>
            <a:ext cx="1965960" cy="868680"/>
          </a:xfrm>
          <a:prstGeom prst="rect">
            <a:avLst/>
          </a:prstGeom>
          <a:noFill/>
          <a:ln/>
        </p:spPr>
        <p:txBody>
          <a:bodyPr wrap="square" rtlCol="0" anchor="ctr"/>
          <a:lstStyle/>
          <a:p>
            <a:pPr marL="0" indent="0" algn="ctr">
              <a:lnSpc>
                <a:spcPct val="105000"/>
              </a:lnSpc>
              <a:buNone/>
            </a:pPr>
            <a:r>
              <a:rPr lang="en-US" sz="1700" dirty="0">
                <a:solidFill>
                  <a:srgbClr val="F3F6FA"/>
                </a:solidFill>
                <a:latin typeface="Helvetica Neue" pitchFamily="34" charset="0"/>
                <a:ea typeface="Helvetica Neue" pitchFamily="34" charset="-122"/>
                <a:cs typeface="Helvetica Neue" pitchFamily="34" charset="-120"/>
              </a:rPr>
              <a:t>Hypothesis</a:t>
            </a:r>
            <a:endParaRPr lang="en-US" sz="1700" dirty="0"/>
          </a:p>
        </p:txBody>
      </p:sp>
      <p:sp>
        <p:nvSpPr>
          <p:cNvPr id="10" name="Shape 8"/>
          <p:cNvSpPr/>
          <p:nvPr/>
        </p:nvSpPr>
        <p:spPr>
          <a:xfrm>
            <a:off x="4773168" y="3451860"/>
            <a:ext cx="274320" cy="0"/>
          </a:xfrm>
          <a:prstGeom prst="line">
            <a:avLst/>
          </a:prstGeom>
          <a:noFill/>
          <a:ln w="19050">
            <a:solidFill>
              <a:srgbClr val="232C3A"/>
            </a:solidFill>
            <a:prstDash val="solid"/>
            <a:tailEnd type="triangle"/>
          </a:ln>
        </p:spPr>
        <p:txBody>
          <a:bodyPr/>
          <a:lstStyle/>
          <a:p>
            <a:endParaRPr lang="en-US"/>
          </a:p>
        </p:txBody>
      </p:sp>
      <p:sp>
        <p:nvSpPr>
          <p:cNvPr id="11" name="Shape 9"/>
          <p:cNvSpPr/>
          <p:nvPr/>
        </p:nvSpPr>
        <p:spPr>
          <a:xfrm>
            <a:off x="5047488" y="3017520"/>
            <a:ext cx="1965960" cy="868680"/>
          </a:xfrm>
          <a:prstGeom prst="roundRect">
            <a:avLst>
              <a:gd name="adj" fmla="val 10526"/>
            </a:avLst>
          </a:prstGeom>
          <a:solidFill>
            <a:srgbClr val="0E1219"/>
          </a:solidFill>
          <a:ln w="12700">
            <a:solidFill>
              <a:srgbClr val="232C3A"/>
            </a:solidFill>
            <a:prstDash val="solid"/>
          </a:ln>
        </p:spPr>
        <p:txBody>
          <a:bodyPr/>
          <a:lstStyle/>
          <a:p>
            <a:endParaRPr lang="en-US"/>
          </a:p>
        </p:txBody>
      </p:sp>
      <p:sp>
        <p:nvSpPr>
          <p:cNvPr id="12" name="Text 10"/>
          <p:cNvSpPr/>
          <p:nvPr/>
        </p:nvSpPr>
        <p:spPr>
          <a:xfrm>
            <a:off x="5047488" y="3017520"/>
            <a:ext cx="1965960" cy="868680"/>
          </a:xfrm>
          <a:prstGeom prst="rect">
            <a:avLst/>
          </a:prstGeom>
          <a:noFill/>
          <a:ln/>
        </p:spPr>
        <p:txBody>
          <a:bodyPr wrap="square" rtlCol="0" anchor="ctr"/>
          <a:lstStyle/>
          <a:p>
            <a:pPr marL="0" indent="0" algn="ctr">
              <a:lnSpc>
                <a:spcPct val="105000"/>
              </a:lnSpc>
              <a:buNone/>
            </a:pPr>
            <a:r>
              <a:rPr lang="en-US" sz="1700" dirty="0">
                <a:solidFill>
                  <a:srgbClr val="F3F6FA"/>
                </a:solidFill>
                <a:latin typeface="Helvetica Neue" pitchFamily="34" charset="0"/>
                <a:ea typeface="Helvetica Neue" pitchFamily="34" charset="-122"/>
                <a:cs typeface="Helvetica Neue" pitchFamily="34" charset="-120"/>
              </a:rPr>
              <a:t>Plan</a:t>
            </a:r>
            <a:endParaRPr lang="en-US" sz="1700" dirty="0"/>
          </a:p>
        </p:txBody>
      </p:sp>
      <p:sp>
        <p:nvSpPr>
          <p:cNvPr id="13" name="Shape 11"/>
          <p:cNvSpPr/>
          <p:nvPr/>
        </p:nvSpPr>
        <p:spPr>
          <a:xfrm>
            <a:off x="7013448" y="3451860"/>
            <a:ext cx="274320" cy="0"/>
          </a:xfrm>
          <a:prstGeom prst="line">
            <a:avLst/>
          </a:prstGeom>
          <a:noFill/>
          <a:ln w="19050">
            <a:solidFill>
              <a:srgbClr val="232C3A"/>
            </a:solidFill>
            <a:prstDash val="solid"/>
            <a:tailEnd type="triangle"/>
          </a:ln>
        </p:spPr>
        <p:txBody>
          <a:bodyPr/>
          <a:lstStyle/>
          <a:p>
            <a:endParaRPr lang="en-US"/>
          </a:p>
        </p:txBody>
      </p:sp>
      <p:sp>
        <p:nvSpPr>
          <p:cNvPr id="14" name="Shape 12"/>
          <p:cNvSpPr/>
          <p:nvPr/>
        </p:nvSpPr>
        <p:spPr>
          <a:xfrm>
            <a:off x="7287768" y="3017520"/>
            <a:ext cx="1965960" cy="868680"/>
          </a:xfrm>
          <a:prstGeom prst="roundRect">
            <a:avLst>
              <a:gd name="adj" fmla="val 10526"/>
            </a:avLst>
          </a:prstGeom>
          <a:solidFill>
            <a:srgbClr val="0E1219"/>
          </a:solidFill>
          <a:ln w="12700">
            <a:solidFill>
              <a:srgbClr val="232C3A"/>
            </a:solidFill>
            <a:prstDash val="solid"/>
          </a:ln>
        </p:spPr>
        <p:txBody>
          <a:bodyPr/>
          <a:lstStyle/>
          <a:p>
            <a:endParaRPr lang="en-US"/>
          </a:p>
        </p:txBody>
      </p:sp>
      <p:sp>
        <p:nvSpPr>
          <p:cNvPr id="15" name="Text 13"/>
          <p:cNvSpPr/>
          <p:nvPr/>
        </p:nvSpPr>
        <p:spPr>
          <a:xfrm>
            <a:off x="7287768" y="3017520"/>
            <a:ext cx="1965960" cy="868680"/>
          </a:xfrm>
          <a:prstGeom prst="rect">
            <a:avLst/>
          </a:prstGeom>
          <a:noFill/>
          <a:ln/>
        </p:spPr>
        <p:txBody>
          <a:bodyPr wrap="square" rtlCol="0" anchor="ctr"/>
          <a:lstStyle/>
          <a:p>
            <a:pPr marL="0" indent="0" algn="ctr">
              <a:lnSpc>
                <a:spcPct val="105000"/>
              </a:lnSpc>
              <a:buNone/>
            </a:pPr>
            <a:r>
              <a:rPr lang="en-US" sz="1700" dirty="0">
                <a:solidFill>
                  <a:srgbClr val="F3F6FA"/>
                </a:solidFill>
                <a:latin typeface="Helvetica Neue" pitchFamily="34" charset="0"/>
                <a:ea typeface="Helvetica Neue" pitchFamily="34" charset="-122"/>
                <a:cs typeface="Helvetica Neue" pitchFamily="34" charset="-120"/>
              </a:rPr>
              <a:t>Implementation</a:t>
            </a:r>
            <a:endParaRPr lang="en-US" sz="1700" dirty="0"/>
          </a:p>
        </p:txBody>
      </p:sp>
      <p:sp>
        <p:nvSpPr>
          <p:cNvPr id="16" name="b01-wipe-gate-in"/>
          <p:cNvSpPr/>
          <p:nvPr/>
        </p:nvSpPr>
        <p:spPr>
          <a:xfrm>
            <a:off x="9253728" y="3451860"/>
            <a:ext cx="347472" cy="0"/>
          </a:xfrm>
          <a:prstGeom prst="line">
            <a:avLst/>
          </a:prstGeom>
          <a:noFill/>
          <a:ln w="19050">
            <a:solidFill>
              <a:srgbClr val="75EDBB"/>
            </a:solidFill>
            <a:prstDash val="solid"/>
            <a:tailEnd type="triangle"/>
          </a:ln>
        </p:spPr>
        <p:txBody>
          <a:bodyPr/>
          <a:lstStyle/>
          <a:p>
            <a:endParaRPr lang="en-US"/>
          </a:p>
        </p:txBody>
      </p:sp>
      <p:sp>
        <p:nvSpPr>
          <p:cNvPr id="17" name="b01-zoom-acceptance-gate"/>
          <p:cNvSpPr/>
          <p:nvPr/>
        </p:nvSpPr>
        <p:spPr>
          <a:xfrm>
            <a:off x="9601200" y="2487168"/>
            <a:ext cx="2011680" cy="1920240"/>
          </a:xfrm>
          <a:prstGeom prst="diamond">
            <a:avLst/>
          </a:prstGeom>
          <a:solidFill>
            <a:srgbClr val="0A0D13"/>
          </a:solidFill>
          <a:ln w="22225">
            <a:solidFill>
              <a:srgbClr val="75EDBB"/>
            </a:solidFill>
            <a:prstDash val="solid"/>
          </a:ln>
        </p:spPr>
        <p:txBody>
          <a:bodyPr/>
          <a:lstStyle/>
          <a:p>
            <a:endParaRPr lang="en-US"/>
          </a:p>
        </p:txBody>
      </p:sp>
      <p:sp>
        <p:nvSpPr>
          <p:cNvPr id="18" name="b01-zoom-acceptance-gate"/>
          <p:cNvSpPr/>
          <p:nvPr/>
        </p:nvSpPr>
        <p:spPr>
          <a:xfrm>
            <a:off x="9784080" y="2487168"/>
            <a:ext cx="1645920" cy="1920240"/>
          </a:xfrm>
          <a:prstGeom prst="rect">
            <a:avLst/>
          </a:prstGeom>
          <a:noFill/>
          <a:ln/>
        </p:spPr>
        <p:txBody>
          <a:bodyPr wrap="square" rtlCol="0" anchor="ctr"/>
          <a:lstStyle/>
          <a:p>
            <a:pPr marL="0" indent="0" algn="ctr">
              <a:lnSpc>
                <a:spcPct val="105000"/>
              </a:lnSpc>
              <a:buNone/>
            </a:pPr>
            <a:r>
              <a:rPr lang="en-US" sz="1800" b="1" dirty="0">
                <a:solidFill>
                  <a:srgbClr val="75EDBB"/>
                </a:solidFill>
                <a:latin typeface="Helvetica Neue" pitchFamily="34" charset="0"/>
                <a:ea typeface="Helvetica Neue" pitchFamily="34" charset="-122"/>
                <a:cs typeface="Helvetica Neue" pitchFamily="34" charset="-120"/>
              </a:rPr>
              <a:t>Gate</a:t>
            </a:r>
            <a:endParaRPr lang="en-US" sz="1800" dirty="0"/>
          </a:p>
        </p:txBody>
      </p:sp>
      <p:sp>
        <p:nvSpPr>
          <p:cNvPr id="19" name="b01-wipe-gate-in"/>
          <p:cNvSpPr/>
          <p:nvPr/>
        </p:nvSpPr>
        <p:spPr>
          <a:xfrm>
            <a:off x="10607040" y="4407408"/>
            <a:ext cx="0" cy="411480"/>
          </a:xfrm>
          <a:prstGeom prst="line">
            <a:avLst/>
          </a:prstGeom>
          <a:noFill/>
          <a:ln w="19050">
            <a:solidFill>
              <a:srgbClr val="75EDBB"/>
            </a:solidFill>
            <a:prstDash val="solid"/>
            <a:tailEnd type="triangle"/>
          </a:ln>
        </p:spPr>
        <p:txBody>
          <a:bodyPr/>
          <a:lstStyle/>
          <a:p>
            <a:endParaRPr lang="en-US"/>
          </a:p>
        </p:txBody>
      </p:sp>
      <p:sp>
        <p:nvSpPr>
          <p:cNvPr id="20" name="b01-wipe-gate-in"/>
          <p:cNvSpPr/>
          <p:nvPr/>
        </p:nvSpPr>
        <p:spPr>
          <a:xfrm>
            <a:off x="9601200" y="4818888"/>
            <a:ext cx="2011680" cy="594360"/>
          </a:xfrm>
          <a:prstGeom prst="roundRect">
            <a:avLst>
              <a:gd name="adj" fmla="val 15385"/>
            </a:avLst>
          </a:prstGeom>
          <a:solidFill>
            <a:srgbClr val="1E3A33"/>
          </a:solidFill>
          <a:ln w="12700">
            <a:solidFill>
              <a:srgbClr val="75EDBB"/>
            </a:solidFill>
            <a:prstDash val="solid"/>
          </a:ln>
        </p:spPr>
        <p:txBody>
          <a:bodyPr/>
          <a:lstStyle/>
          <a:p>
            <a:endParaRPr lang="en-US"/>
          </a:p>
        </p:txBody>
      </p:sp>
      <p:sp>
        <p:nvSpPr>
          <p:cNvPr id="21" name="b01-wipe-gate-in"/>
          <p:cNvSpPr/>
          <p:nvPr/>
        </p:nvSpPr>
        <p:spPr>
          <a:xfrm>
            <a:off x="9747504" y="4818888"/>
            <a:ext cx="1719072" cy="594360"/>
          </a:xfrm>
          <a:prstGeom prst="rect">
            <a:avLst/>
          </a:prstGeom>
          <a:noFill/>
          <a:ln/>
        </p:spPr>
        <p:txBody>
          <a:bodyPr wrap="square" rtlCol="0" anchor="ctr"/>
          <a:lstStyle/>
          <a:p>
            <a:pPr marL="0" indent="0" algn="ctr">
              <a:lnSpc>
                <a:spcPct val="105000"/>
              </a:lnSpc>
              <a:buNone/>
            </a:pPr>
            <a:r>
              <a:rPr lang="en-US" sz="1600" dirty="0">
                <a:solidFill>
                  <a:srgbClr val="75EDBB"/>
                </a:solidFill>
                <a:latin typeface="Helvetica Neue" pitchFamily="34" charset="0"/>
                <a:ea typeface="Helvetica Neue" pitchFamily="34" charset="-122"/>
                <a:cs typeface="Helvetica Neue" pitchFamily="34" charset="-120"/>
              </a:rPr>
              <a:t>PASS · done</a:t>
            </a:r>
            <a:endParaRPr lang="en-US" sz="1600" dirty="0"/>
          </a:p>
        </p:txBody>
      </p:sp>
      <p:sp>
        <p:nvSpPr>
          <p:cNvPr id="22" name="b02-wipe-fail-path"/>
          <p:cNvSpPr/>
          <p:nvPr/>
        </p:nvSpPr>
        <p:spPr>
          <a:xfrm flipV="1">
            <a:off x="10607040" y="2148840"/>
            <a:ext cx="0" cy="338328"/>
          </a:xfrm>
          <a:prstGeom prst="line">
            <a:avLst/>
          </a:prstGeom>
          <a:noFill/>
          <a:ln w="19050">
            <a:solidFill>
              <a:srgbClr val="FFCA83"/>
            </a:solidFill>
            <a:prstDash val="solid"/>
          </a:ln>
        </p:spPr>
        <p:txBody>
          <a:bodyPr/>
          <a:lstStyle/>
          <a:p>
            <a:endParaRPr lang="en-US"/>
          </a:p>
        </p:txBody>
      </p:sp>
      <p:sp>
        <p:nvSpPr>
          <p:cNvPr id="23" name="b02-wipe-fail-path"/>
          <p:cNvSpPr/>
          <p:nvPr/>
        </p:nvSpPr>
        <p:spPr>
          <a:xfrm flipH="1">
            <a:off x="3794760" y="2148840"/>
            <a:ext cx="6812280" cy="0"/>
          </a:xfrm>
          <a:prstGeom prst="line">
            <a:avLst/>
          </a:prstGeom>
          <a:noFill/>
          <a:ln w="19050">
            <a:solidFill>
              <a:srgbClr val="FFCA83"/>
            </a:solidFill>
            <a:prstDash val="solid"/>
          </a:ln>
        </p:spPr>
        <p:txBody>
          <a:bodyPr/>
          <a:lstStyle/>
          <a:p>
            <a:endParaRPr lang="en-US"/>
          </a:p>
        </p:txBody>
      </p:sp>
      <p:sp>
        <p:nvSpPr>
          <p:cNvPr id="24" name="b02-wipe-fail-path"/>
          <p:cNvSpPr/>
          <p:nvPr/>
        </p:nvSpPr>
        <p:spPr>
          <a:xfrm>
            <a:off x="3794760" y="2148840"/>
            <a:ext cx="0" cy="868680"/>
          </a:xfrm>
          <a:prstGeom prst="line">
            <a:avLst/>
          </a:prstGeom>
          <a:noFill/>
          <a:ln w="19050">
            <a:solidFill>
              <a:srgbClr val="FFCA83"/>
            </a:solidFill>
            <a:prstDash val="solid"/>
            <a:tailEnd type="triangle"/>
          </a:ln>
        </p:spPr>
        <p:txBody>
          <a:bodyPr/>
          <a:lstStyle/>
          <a:p>
            <a:endParaRPr lang="en-US"/>
          </a:p>
        </p:txBody>
      </p:sp>
      <p:sp>
        <p:nvSpPr>
          <p:cNvPr id="25" name="b02-wipe-fail-path"/>
          <p:cNvSpPr/>
          <p:nvPr/>
        </p:nvSpPr>
        <p:spPr>
          <a:xfrm>
            <a:off x="4937760" y="2231136"/>
            <a:ext cx="4206240" cy="274320"/>
          </a:xfrm>
          <a:prstGeom prst="rect">
            <a:avLst/>
          </a:prstGeom>
          <a:noFill/>
          <a:ln/>
        </p:spPr>
        <p:txBody>
          <a:bodyPr wrap="square" rtlCol="0" anchor="t"/>
          <a:lstStyle/>
          <a:p>
            <a:pPr marL="0" indent="0">
              <a:lnSpc>
                <a:spcPct val="105000"/>
              </a:lnSpc>
              <a:buNone/>
            </a:pPr>
            <a:r>
              <a:rPr lang="en-US" sz="1500" dirty="0">
                <a:solidFill>
                  <a:srgbClr val="FFCA83"/>
                </a:solidFill>
                <a:latin typeface="Helvetica Neue" pitchFamily="34" charset="0"/>
                <a:ea typeface="Helvetica Neue" pitchFamily="34" charset="-122"/>
                <a:cs typeface="Helvetica Neue" pitchFamily="34" charset="-120"/>
              </a:rPr>
              <a:t>FAIL · back to the stage that was wrong</a:t>
            </a:r>
            <a:endParaRPr lang="en-US" sz="1500" dirty="0"/>
          </a:p>
        </p:txBody>
      </p:sp>
      <p:sp>
        <p:nvSpPr>
          <p:cNvPr id="26" name="b03-rise-acceptance-line"/>
          <p:cNvSpPr/>
          <p:nvPr/>
        </p:nvSpPr>
        <p:spPr>
          <a:xfrm>
            <a:off x="566928" y="5138928"/>
            <a:ext cx="8686800" cy="841248"/>
          </a:xfrm>
          <a:prstGeom prst="roundRect">
            <a:avLst>
              <a:gd name="adj" fmla="val 14130"/>
            </a:avLst>
          </a:prstGeom>
          <a:solidFill>
            <a:srgbClr val="0E1219"/>
          </a:solidFill>
          <a:ln w="12700">
            <a:solidFill>
              <a:srgbClr val="232C3A"/>
            </a:solidFill>
            <a:prstDash val="solid"/>
          </a:ln>
        </p:spPr>
        <p:txBody>
          <a:bodyPr/>
          <a:lstStyle/>
          <a:p>
            <a:endParaRPr lang="en-US"/>
          </a:p>
        </p:txBody>
      </p:sp>
      <p:sp>
        <p:nvSpPr>
          <p:cNvPr id="27" name="b03-rise-acceptance-line"/>
          <p:cNvSpPr/>
          <p:nvPr/>
        </p:nvSpPr>
        <p:spPr>
          <a:xfrm>
            <a:off x="841248" y="5230368"/>
            <a:ext cx="8138160" cy="292608"/>
          </a:xfrm>
          <a:prstGeom prst="rect">
            <a:avLst/>
          </a:prstGeom>
          <a:noFill/>
          <a:ln/>
        </p:spPr>
        <p:txBody>
          <a:bodyPr wrap="square" rtlCol="0" anchor="t"/>
          <a:lstStyle/>
          <a:p>
            <a:pPr marL="0" indent="0">
              <a:lnSpc>
                <a:spcPct val="105000"/>
              </a:lnSpc>
              <a:buNone/>
            </a:pPr>
            <a:r>
              <a:rPr lang="en-US" sz="1700" dirty="0">
                <a:solidFill>
                  <a:srgbClr val="F3F6FA"/>
                </a:solidFill>
                <a:latin typeface="Helvetica Neue" pitchFamily="34" charset="0"/>
                <a:ea typeface="Helvetica Neue" pitchFamily="34" charset="-122"/>
                <a:cs typeface="Helvetica Neue" pitchFamily="34" charset="-120"/>
              </a:rPr>
              <a:t>Acceptance: unpaid invoices past their due date, and nothing else.</a:t>
            </a:r>
            <a:endParaRPr lang="en-US" sz="1700" dirty="0"/>
          </a:p>
        </p:txBody>
      </p:sp>
      <p:sp>
        <p:nvSpPr>
          <p:cNvPr id="28" name="b03-rise-acceptance-line"/>
          <p:cNvSpPr/>
          <p:nvPr/>
        </p:nvSpPr>
        <p:spPr>
          <a:xfrm>
            <a:off x="841248" y="5559552"/>
            <a:ext cx="8138160" cy="292608"/>
          </a:xfrm>
          <a:prstGeom prst="rect">
            <a:avLst/>
          </a:prstGeom>
          <a:noFill/>
          <a:ln/>
        </p:spPr>
        <p:txBody>
          <a:bodyPr wrap="square" rtlCol="0" anchor="t"/>
          <a:lstStyle/>
          <a:p>
            <a:pPr marL="0" indent="0">
              <a:lnSpc>
                <a:spcPct val="105000"/>
              </a:lnSpc>
              <a:buNone/>
            </a:pPr>
            <a:r>
              <a:rPr lang="en-US" sz="1600" dirty="0">
                <a:solidFill>
                  <a:srgbClr val="75EDBB"/>
                </a:solidFill>
                <a:latin typeface="Menlo" pitchFamily="34" charset="0"/>
                <a:ea typeface="Menlo" pitchFamily="34" charset="-122"/>
                <a:cs typeface="Menlo" pitchFamily="34" charset="-120"/>
              </a:rPr>
              <a:t>Proof: one command, same result every run.</a:t>
            </a:r>
            <a:endParaRPr lang="en-US" sz="1600" dirty="0"/>
          </a:p>
        </p:txBody>
      </p:sp>
      <p:sp>
        <p:nvSpPr>
          <p:cNvPr id="29" name="Text 27"/>
          <p:cNvSpPr/>
          <p:nvPr/>
        </p:nvSpPr>
        <p:spPr>
          <a:xfrm>
            <a:off x="566928" y="6391656"/>
            <a:ext cx="8961120" cy="274320"/>
          </a:xfrm>
          <a:prstGeom prst="rect">
            <a:avLst/>
          </a:prstGeom>
          <a:noFill/>
          <a:ln/>
        </p:spPr>
        <p:txBody>
          <a:bodyPr wrap="square" rtlCol="0" anchor="ctr"/>
          <a:lstStyle/>
          <a:p>
            <a:pPr marL="0" indent="0">
              <a:lnSpc>
                <a:spcPct val="105000"/>
              </a:lnSpc>
              <a:buNone/>
            </a:pPr>
            <a:r>
              <a:rPr lang="en-US" sz="1100" dirty="0">
                <a:solidFill>
                  <a:srgbClr val="6F7B8D"/>
                </a:solidFill>
                <a:latin typeface="Helvetica Neue" pitchFamily="34" charset="0"/>
                <a:ea typeface="Helvetica Neue" pitchFamily="34" charset="-122"/>
                <a:cs typeface="Helvetica Neue" pitchFamily="34" charset="-120"/>
              </a:rPr>
              <a:t>Escalate when repeated attempts stop adding evidence.</a:t>
            </a:r>
            <a:endParaRPr lang="en-US" sz="1100" dirty="0"/>
          </a:p>
        </p:txBody>
      </p:sp>
      <p:sp>
        <p:nvSpPr>
          <p:cNvPr id="30" name="Text 28"/>
          <p:cNvSpPr/>
          <p:nvPr/>
        </p:nvSpPr>
        <p:spPr>
          <a:xfrm>
            <a:off x="9692640" y="6391656"/>
            <a:ext cx="1929384" cy="274320"/>
          </a:xfrm>
          <a:prstGeom prst="rect">
            <a:avLst/>
          </a:prstGeom>
          <a:noFill/>
          <a:ln/>
        </p:spPr>
        <p:txBody>
          <a:bodyPr wrap="square" rtlCol="0" anchor="ctr"/>
          <a:lstStyle/>
          <a:p>
            <a:pPr marL="0" indent="0" algn="r">
              <a:lnSpc>
                <a:spcPct val="105000"/>
              </a:lnSpc>
              <a:buNone/>
            </a:pPr>
            <a:r>
              <a:rPr lang="en-US" sz="1100" dirty="0">
                <a:solidFill>
                  <a:srgbClr val="6F7B8D"/>
                </a:solidFill>
                <a:latin typeface="Helvetica Neue" pitchFamily="34" charset="0"/>
                <a:ea typeface="Helvetica Neue" pitchFamily="34" charset="-122"/>
                <a:cs typeface="Helvetica Neue" pitchFamily="34" charset="-120"/>
              </a:rPr>
              <a:t>08 / 20</a:t>
            </a:r>
            <a:endParaRPr lang="en-US" sz="1100"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right)">
                                      <p:cBhvr>
                                        <p:cTn id="7" dur="420"/>
                                        <p:tgtEl>
                                          <p:spTgt spid="16"/>
                                        </p:tgtEl>
                                      </p:cBhvr>
                                    </p:animEffect>
                                  </p:childTnLst>
                                </p:cTn>
                              </p:par>
                              <p:par>
                                <p:cTn id="8" presetID="23" presetClass="entr" presetSubtype="0" fill="hold" nodeType="withEffect">
                                  <p:stCondLst>
                                    <p:cond delay="0"/>
                                  </p:stCondLst>
                                  <p:childTnLst>
                                    <p:set>
                                      <p:cBhvr>
                                        <p:cTn id="9" dur="1" fill="hold">
                                          <p:stCondLst>
                                            <p:cond delay="0"/>
                                          </p:stCondLst>
                                        </p:cTn>
                                        <p:tgtEl>
                                          <p:spTgt spid="17"/>
                                        </p:tgtEl>
                                        <p:attrNameLst>
                                          <p:attrName>style.visibility</p:attrName>
                                        </p:attrNameLst>
                                      </p:cBhvr>
                                      <p:to>
                                        <p:strVal val="visible"/>
                                      </p:to>
                                    </p:set>
                                    <p:animScale zoomContents="1">
                                      <p:cBhvr>
                                        <p:cTn id="10" dur="420" decel="50000" fill="hold"/>
                                        <p:tgtEl>
                                          <p:spTgt spid="17"/>
                                        </p:tgtEl>
                                      </p:cBhvr>
                                      <p:from x="95000" y="95000"/>
                                      <p:to x="100000" y="100000"/>
                                    </p:animScale>
                                    <p:animEffect transition="in" filter="fade">
                                      <p:cBhvr>
                                        <p:cTn id="11" dur="420"/>
                                        <p:tgtEl>
                                          <p:spTgt spid="17"/>
                                        </p:tgtEl>
                                      </p:cBhvr>
                                    </p:animEffect>
                                  </p:childTnLst>
                                </p:cTn>
                              </p:par>
                              <p:par>
                                <p:cTn id="12" presetID="23" presetClass="entr" presetSubtype="0" fill="hold" nodeType="withEffect">
                                  <p:stCondLst>
                                    <p:cond delay="0"/>
                                  </p:stCondLst>
                                  <p:childTnLst>
                                    <p:set>
                                      <p:cBhvr>
                                        <p:cTn id="13" dur="1" fill="hold">
                                          <p:stCondLst>
                                            <p:cond delay="0"/>
                                          </p:stCondLst>
                                        </p:cTn>
                                        <p:tgtEl>
                                          <p:spTgt spid="18"/>
                                        </p:tgtEl>
                                        <p:attrNameLst>
                                          <p:attrName>style.visibility</p:attrName>
                                        </p:attrNameLst>
                                      </p:cBhvr>
                                      <p:to>
                                        <p:strVal val="visible"/>
                                      </p:to>
                                    </p:set>
                                    <p:animScale zoomContents="1">
                                      <p:cBhvr>
                                        <p:cTn id="14" dur="420" decel="50000" fill="hold"/>
                                        <p:tgtEl>
                                          <p:spTgt spid="18"/>
                                        </p:tgtEl>
                                      </p:cBhvr>
                                      <p:from x="95000" y="95000"/>
                                      <p:to x="100000" y="100000"/>
                                    </p:animScale>
                                    <p:animEffect transition="in" filter="fade">
                                      <p:cBhvr>
                                        <p:cTn id="15" dur="420"/>
                                        <p:tgtEl>
                                          <p:spTgt spid="18"/>
                                        </p:tgtEl>
                                      </p:cBhvr>
                                    </p:animEffect>
                                  </p:childTnLst>
                                </p:cTn>
                              </p:par>
                              <p:par>
                                <p:cTn id="16" presetID="22" presetClass="entr" presetSubtype="1" fill="hold" nodeType="with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wipe(right)">
                                      <p:cBhvr>
                                        <p:cTn id="18" dur="420"/>
                                        <p:tgtEl>
                                          <p:spTgt spid="19"/>
                                        </p:tgtEl>
                                      </p:cBhvr>
                                    </p:animEffect>
                                  </p:childTnLst>
                                </p:cTn>
                              </p:par>
                              <p:par>
                                <p:cTn id="19" presetID="22" presetClass="entr" presetSubtype="1" fill="hold" nodeType="with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wipe(right)">
                                      <p:cBhvr>
                                        <p:cTn id="21" dur="420"/>
                                        <p:tgtEl>
                                          <p:spTgt spid="20"/>
                                        </p:tgtEl>
                                      </p:cBhvr>
                                    </p:animEffect>
                                  </p:childTnLst>
                                </p:cTn>
                              </p:par>
                              <p:par>
                                <p:cTn id="22" presetID="22" presetClass="entr" presetSubtype="1" fill="hold" nodeType="withEffect">
                                  <p:stCondLst>
                                    <p:cond delay="0"/>
                                  </p:stCondLst>
                                  <p:childTnLst>
                                    <p:set>
                                      <p:cBhvr>
                                        <p:cTn id="23" dur="1" fill="hold">
                                          <p:stCondLst>
                                            <p:cond delay="0"/>
                                          </p:stCondLst>
                                        </p:cTn>
                                        <p:tgtEl>
                                          <p:spTgt spid="21"/>
                                        </p:tgtEl>
                                        <p:attrNameLst>
                                          <p:attrName>style.visibility</p:attrName>
                                        </p:attrNameLst>
                                      </p:cBhvr>
                                      <p:to>
                                        <p:strVal val="visible"/>
                                      </p:to>
                                    </p:set>
                                    <p:animEffect transition="in" filter="wipe(right)">
                                      <p:cBhvr>
                                        <p:cTn id="24" dur="420"/>
                                        <p:tgtEl>
                                          <p:spTgt spid="21"/>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nodeType="clickEffect">
                                  <p:stCondLst>
                                    <p:cond delay="0"/>
                                  </p:stCondLst>
                                  <p:childTnLst>
                                    <p:set>
                                      <p:cBhvr>
                                        <p:cTn id="28" dur="1" fill="hold">
                                          <p:stCondLst>
                                            <p:cond delay="0"/>
                                          </p:stCondLst>
                                        </p:cTn>
                                        <p:tgtEl>
                                          <p:spTgt spid="22"/>
                                        </p:tgtEl>
                                        <p:attrNameLst>
                                          <p:attrName>style.visibility</p:attrName>
                                        </p:attrNameLst>
                                      </p:cBhvr>
                                      <p:to>
                                        <p:strVal val="visible"/>
                                      </p:to>
                                    </p:set>
                                    <p:animEffect transition="in" filter="wipe(right)">
                                      <p:cBhvr>
                                        <p:cTn id="29" dur="420"/>
                                        <p:tgtEl>
                                          <p:spTgt spid="22"/>
                                        </p:tgtEl>
                                      </p:cBhvr>
                                    </p:animEffect>
                                  </p:childTnLst>
                                </p:cTn>
                              </p:par>
                              <p:par>
                                <p:cTn id="30" presetID="22" presetClass="entr" presetSubtype="1" fill="hold" nodeType="withEffect">
                                  <p:stCondLst>
                                    <p:cond delay="0"/>
                                  </p:stCondLst>
                                  <p:childTnLst>
                                    <p:set>
                                      <p:cBhvr>
                                        <p:cTn id="31" dur="1" fill="hold">
                                          <p:stCondLst>
                                            <p:cond delay="0"/>
                                          </p:stCondLst>
                                        </p:cTn>
                                        <p:tgtEl>
                                          <p:spTgt spid="23"/>
                                        </p:tgtEl>
                                        <p:attrNameLst>
                                          <p:attrName>style.visibility</p:attrName>
                                        </p:attrNameLst>
                                      </p:cBhvr>
                                      <p:to>
                                        <p:strVal val="visible"/>
                                      </p:to>
                                    </p:set>
                                    <p:animEffect transition="in" filter="wipe(right)">
                                      <p:cBhvr>
                                        <p:cTn id="32" dur="420"/>
                                        <p:tgtEl>
                                          <p:spTgt spid="23"/>
                                        </p:tgtEl>
                                      </p:cBhvr>
                                    </p:animEffect>
                                  </p:childTnLst>
                                </p:cTn>
                              </p:par>
                              <p:par>
                                <p:cTn id="33" presetID="22" presetClass="entr" presetSubtype="1" fill="hold" nodeType="withEffect">
                                  <p:stCondLst>
                                    <p:cond delay="0"/>
                                  </p:stCondLst>
                                  <p:childTnLst>
                                    <p:set>
                                      <p:cBhvr>
                                        <p:cTn id="34" dur="1" fill="hold">
                                          <p:stCondLst>
                                            <p:cond delay="0"/>
                                          </p:stCondLst>
                                        </p:cTn>
                                        <p:tgtEl>
                                          <p:spTgt spid="24"/>
                                        </p:tgtEl>
                                        <p:attrNameLst>
                                          <p:attrName>style.visibility</p:attrName>
                                        </p:attrNameLst>
                                      </p:cBhvr>
                                      <p:to>
                                        <p:strVal val="visible"/>
                                      </p:to>
                                    </p:set>
                                    <p:animEffect transition="in" filter="wipe(right)">
                                      <p:cBhvr>
                                        <p:cTn id="35" dur="420"/>
                                        <p:tgtEl>
                                          <p:spTgt spid="24"/>
                                        </p:tgtEl>
                                      </p:cBhvr>
                                    </p:animEffect>
                                  </p:childTnLst>
                                </p:cTn>
                              </p:par>
                              <p:par>
                                <p:cTn id="36" presetID="22" presetClass="entr" presetSubtype="1" fill="hold" nodeType="withEffect">
                                  <p:stCondLst>
                                    <p:cond delay="0"/>
                                  </p:stCondLst>
                                  <p:childTnLst>
                                    <p:set>
                                      <p:cBhvr>
                                        <p:cTn id="37" dur="1" fill="hold">
                                          <p:stCondLst>
                                            <p:cond delay="0"/>
                                          </p:stCondLst>
                                        </p:cTn>
                                        <p:tgtEl>
                                          <p:spTgt spid="25"/>
                                        </p:tgtEl>
                                        <p:attrNameLst>
                                          <p:attrName>style.visibility</p:attrName>
                                        </p:attrNameLst>
                                      </p:cBhvr>
                                      <p:to>
                                        <p:strVal val="visible"/>
                                      </p:to>
                                    </p:set>
                                    <p:animEffect transition="in" filter="wipe(right)">
                                      <p:cBhvr>
                                        <p:cTn id="38" dur="420"/>
                                        <p:tgtEl>
                                          <p:spTgt spid="25"/>
                                        </p:tgtEl>
                                      </p:cBhvr>
                                    </p:animEffect>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nodeType="clickEffect">
                                  <p:stCondLst>
                                    <p:cond delay="0"/>
                                  </p:stCondLst>
                                  <p:childTnLst>
                                    <p:set>
                                      <p:cBhvr>
                                        <p:cTn id="42" dur="1" fill="hold">
                                          <p:stCondLst>
                                            <p:cond delay="0"/>
                                          </p:stCondLst>
                                        </p:cTn>
                                        <p:tgtEl>
                                          <p:spTgt spid="26"/>
                                        </p:tgtEl>
                                        <p:attrNameLst>
                                          <p:attrName>style.visibility</p:attrName>
                                        </p:attrNameLst>
                                      </p:cBhvr>
                                      <p:to>
                                        <p:strVal val="visible"/>
                                      </p:to>
                                    </p:set>
                                    <p:anim calcmode="lin" valueType="num">
                                      <p:cBhvr additive="base">
                                        <p:cTn id="43" dur="420" decel="60000" fill="hold"/>
                                        <p:tgtEl>
                                          <p:spTgt spid="26"/>
                                        </p:tgtEl>
                                        <p:attrNameLst>
                                          <p:attrName>ppt_y</p:attrName>
                                        </p:attrNameLst>
                                      </p:cBhvr>
                                      <p:tavLst>
                                        <p:tav tm="0">
                                          <p:val>
                                            <p:strVal val="#ppt_y+.014"/>
                                          </p:val>
                                        </p:tav>
                                        <p:tav tm="100000">
                                          <p:val>
                                            <p:strVal val="#ppt_y"/>
                                          </p:val>
                                        </p:tav>
                                      </p:tavLst>
                                    </p:anim>
                                    <p:animEffect transition="in" filter="fade">
                                      <p:cBhvr>
                                        <p:cTn id="44" dur="420"/>
                                        <p:tgtEl>
                                          <p:spTgt spid="26"/>
                                        </p:tgtEl>
                                      </p:cBhvr>
                                    </p:animEffect>
                                  </p:childTnLst>
                                </p:cTn>
                              </p:par>
                              <p:par>
                                <p:cTn id="45" presetID="42" presetClass="entr" presetSubtype="0" fill="hold" nodeType="withEffect">
                                  <p:stCondLst>
                                    <p:cond delay="0"/>
                                  </p:stCondLst>
                                  <p:childTnLst>
                                    <p:set>
                                      <p:cBhvr>
                                        <p:cTn id="46" dur="1" fill="hold">
                                          <p:stCondLst>
                                            <p:cond delay="0"/>
                                          </p:stCondLst>
                                        </p:cTn>
                                        <p:tgtEl>
                                          <p:spTgt spid="27"/>
                                        </p:tgtEl>
                                        <p:attrNameLst>
                                          <p:attrName>style.visibility</p:attrName>
                                        </p:attrNameLst>
                                      </p:cBhvr>
                                      <p:to>
                                        <p:strVal val="visible"/>
                                      </p:to>
                                    </p:set>
                                    <p:anim calcmode="lin" valueType="num">
                                      <p:cBhvr additive="base">
                                        <p:cTn id="47" dur="420" decel="60000" fill="hold"/>
                                        <p:tgtEl>
                                          <p:spTgt spid="27"/>
                                        </p:tgtEl>
                                        <p:attrNameLst>
                                          <p:attrName>ppt_y</p:attrName>
                                        </p:attrNameLst>
                                      </p:cBhvr>
                                      <p:tavLst>
                                        <p:tav tm="0">
                                          <p:val>
                                            <p:strVal val="#ppt_y+.014"/>
                                          </p:val>
                                        </p:tav>
                                        <p:tav tm="100000">
                                          <p:val>
                                            <p:strVal val="#ppt_y"/>
                                          </p:val>
                                        </p:tav>
                                      </p:tavLst>
                                    </p:anim>
                                    <p:animEffect transition="in" filter="fade">
                                      <p:cBhvr>
                                        <p:cTn id="48" dur="420"/>
                                        <p:tgtEl>
                                          <p:spTgt spid="27"/>
                                        </p:tgtEl>
                                      </p:cBhvr>
                                    </p:animEffect>
                                  </p:childTnLst>
                                </p:cTn>
                              </p:par>
                              <p:par>
                                <p:cTn id="49" presetID="42" presetClass="entr" presetSubtype="0" fill="hold" nodeType="withEffect">
                                  <p:stCondLst>
                                    <p:cond delay="0"/>
                                  </p:stCondLst>
                                  <p:childTnLst>
                                    <p:set>
                                      <p:cBhvr>
                                        <p:cTn id="50" dur="1" fill="hold">
                                          <p:stCondLst>
                                            <p:cond delay="0"/>
                                          </p:stCondLst>
                                        </p:cTn>
                                        <p:tgtEl>
                                          <p:spTgt spid="28"/>
                                        </p:tgtEl>
                                        <p:attrNameLst>
                                          <p:attrName>style.visibility</p:attrName>
                                        </p:attrNameLst>
                                      </p:cBhvr>
                                      <p:to>
                                        <p:strVal val="visible"/>
                                      </p:to>
                                    </p:set>
                                    <p:anim calcmode="lin" valueType="num">
                                      <p:cBhvr additive="base">
                                        <p:cTn id="51" dur="420" decel="60000" fill="hold"/>
                                        <p:tgtEl>
                                          <p:spTgt spid="28"/>
                                        </p:tgtEl>
                                        <p:attrNameLst>
                                          <p:attrName>ppt_y</p:attrName>
                                        </p:attrNameLst>
                                      </p:cBhvr>
                                      <p:tavLst>
                                        <p:tav tm="0">
                                          <p:val>
                                            <p:strVal val="#ppt_y+.014"/>
                                          </p:val>
                                        </p:tav>
                                        <p:tav tm="100000">
                                          <p:val>
                                            <p:strVal val="#ppt_y"/>
                                          </p:val>
                                        </p:tav>
                                      </p:tavLst>
                                    </p:anim>
                                    <p:animEffect transition="in" filter="fade">
                                      <p:cBhvr>
                                        <p:cTn id="52" dur="42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7090D"/>
        </a:solidFill>
        <a:effectLst/>
      </p:bgPr>
    </p:bg>
    <p:spTree>
      <p:nvGrpSpPr>
        <p:cNvPr id="1" name=""/>
        <p:cNvGrpSpPr/>
        <p:nvPr/>
      </p:nvGrpSpPr>
      <p:grpSpPr>
        <a:xfrm>
          <a:off x="0" y="0"/>
          <a:ext cx="0" cy="0"/>
          <a:chOff x="0" y="0"/>
          <a:chExt cx="0" cy="0"/>
        </a:xfrm>
      </p:grpSpPr>
      <p:sp>
        <p:nvSpPr>
          <p:cNvPr id="2" name="Text 0"/>
          <p:cNvSpPr/>
          <p:nvPr/>
        </p:nvSpPr>
        <p:spPr>
          <a:xfrm>
            <a:off x="566928" y="274320"/>
            <a:ext cx="10607040" cy="274320"/>
          </a:xfrm>
          <a:prstGeom prst="rect">
            <a:avLst/>
          </a:prstGeom>
          <a:noFill/>
          <a:ln/>
        </p:spPr>
        <p:txBody>
          <a:bodyPr wrap="square" rtlCol="0" anchor="t"/>
          <a:lstStyle/>
          <a:p>
            <a:pPr marL="0" indent="0">
              <a:lnSpc>
                <a:spcPct val="105000"/>
              </a:lnSpc>
              <a:buNone/>
            </a:pPr>
            <a:r>
              <a:rPr lang="en-US" sz="1200" b="1" kern="0" spc="260" dirty="0">
                <a:solidFill>
                  <a:srgbClr val="75EDBB"/>
                </a:solidFill>
                <a:latin typeface="Helvetica Neue" pitchFamily="34" charset="0"/>
                <a:ea typeface="Helvetica Neue" pitchFamily="34" charset="-122"/>
                <a:cs typeface="Helvetica Neue" pitchFamily="34" charset="-120"/>
              </a:rPr>
              <a:t>ACCESS</a:t>
            </a:r>
            <a:endParaRPr lang="en-US" sz="1200" dirty="0"/>
          </a:p>
        </p:txBody>
      </p:sp>
      <p:sp>
        <p:nvSpPr>
          <p:cNvPr id="3" name="Text 1"/>
          <p:cNvSpPr/>
          <p:nvPr/>
        </p:nvSpPr>
        <p:spPr>
          <a:xfrm>
            <a:off x="566928" y="585216"/>
            <a:ext cx="10789920" cy="731520"/>
          </a:xfrm>
          <a:prstGeom prst="rect">
            <a:avLst/>
          </a:prstGeom>
          <a:noFill/>
          <a:ln/>
        </p:spPr>
        <p:txBody>
          <a:bodyPr wrap="square" rtlCol="0" anchor="ctr"/>
          <a:lstStyle/>
          <a:p>
            <a:pPr marL="0" indent="0">
              <a:lnSpc>
                <a:spcPct val="95000"/>
              </a:lnSpc>
              <a:buNone/>
            </a:pPr>
            <a:r>
              <a:rPr lang="en-US" sz="3800" dirty="0">
                <a:solidFill>
                  <a:srgbClr val="F3F6FA"/>
                </a:solidFill>
                <a:latin typeface="Avenir Next" pitchFamily="34" charset="0"/>
                <a:ea typeface="Avenir Next" pitchFamily="34" charset="-122"/>
                <a:cs typeface="Avenir Next" pitchFamily="34" charset="-120"/>
              </a:rPr>
              <a:t>Give access when the task needs it</a:t>
            </a:r>
            <a:endParaRPr lang="en-US" sz="3800" dirty="0"/>
          </a:p>
        </p:txBody>
      </p:sp>
      <p:sp>
        <p:nvSpPr>
          <p:cNvPr id="4" name="Text 2"/>
          <p:cNvSpPr/>
          <p:nvPr/>
        </p:nvSpPr>
        <p:spPr>
          <a:xfrm>
            <a:off x="566928" y="1335024"/>
            <a:ext cx="9692640" cy="384048"/>
          </a:xfrm>
          <a:prstGeom prst="rect">
            <a:avLst/>
          </a:prstGeom>
          <a:noFill/>
          <a:ln/>
        </p:spPr>
        <p:txBody>
          <a:bodyPr wrap="square" rtlCol="0" anchor="t"/>
          <a:lstStyle/>
          <a:p>
            <a:pPr marL="0" indent="0">
              <a:lnSpc>
                <a:spcPct val="105000"/>
              </a:lnSpc>
              <a:buNone/>
            </a:pPr>
            <a:r>
              <a:rPr lang="en-US" sz="1900" dirty="0">
                <a:solidFill>
                  <a:srgbClr val="B2BDCD"/>
                </a:solidFill>
                <a:latin typeface="Helvetica Neue" pitchFamily="34" charset="0"/>
                <a:ea typeface="Helvetica Neue" pitchFamily="34" charset="-122"/>
                <a:cs typeface="Helvetica Neue" pitchFamily="34" charset="-120"/>
              </a:rPr>
              <a:t>Two different things, often confused.</a:t>
            </a:r>
            <a:endParaRPr lang="en-US" sz="1900" dirty="0"/>
          </a:p>
        </p:txBody>
      </p:sp>
      <p:sp>
        <p:nvSpPr>
          <p:cNvPr id="5" name="Shape 3"/>
          <p:cNvSpPr/>
          <p:nvPr/>
        </p:nvSpPr>
        <p:spPr>
          <a:xfrm>
            <a:off x="566928" y="1828800"/>
            <a:ext cx="5486400" cy="777240"/>
          </a:xfrm>
          <a:prstGeom prst="roundRect">
            <a:avLst>
              <a:gd name="adj" fmla="val 15294"/>
            </a:avLst>
          </a:prstGeom>
          <a:solidFill>
            <a:srgbClr val="0E1219"/>
          </a:solidFill>
          <a:ln w="12700">
            <a:solidFill>
              <a:srgbClr val="1A212C"/>
            </a:solidFill>
            <a:prstDash val="solid"/>
          </a:ln>
        </p:spPr>
        <p:txBody>
          <a:bodyPr/>
          <a:lstStyle/>
          <a:p>
            <a:endParaRPr lang="en-US"/>
          </a:p>
        </p:txBody>
      </p:sp>
      <p:sp>
        <p:nvSpPr>
          <p:cNvPr id="6" name="Text 4"/>
          <p:cNvSpPr/>
          <p:nvPr/>
        </p:nvSpPr>
        <p:spPr>
          <a:xfrm>
            <a:off x="804672" y="1984248"/>
            <a:ext cx="5010912" cy="228600"/>
          </a:xfrm>
          <a:prstGeom prst="rect">
            <a:avLst/>
          </a:prstGeom>
          <a:noFill/>
          <a:ln/>
        </p:spPr>
        <p:txBody>
          <a:bodyPr wrap="square" rtlCol="0" anchor="t"/>
          <a:lstStyle/>
          <a:p>
            <a:pPr marL="0" indent="0">
              <a:lnSpc>
                <a:spcPct val="105000"/>
              </a:lnSpc>
              <a:buNone/>
            </a:pPr>
            <a:r>
              <a:rPr lang="en-US" sz="1700" b="1" dirty="0">
                <a:solidFill>
                  <a:srgbClr val="A99AFF"/>
                </a:solidFill>
                <a:latin typeface="Helvetica Neue" pitchFamily="34" charset="0"/>
                <a:ea typeface="Helvetica Neue" pitchFamily="34" charset="-122"/>
                <a:cs typeface="Helvetica Neue" pitchFamily="34" charset="-120"/>
              </a:rPr>
              <a:t>Tools and MCP servers</a:t>
            </a:r>
            <a:endParaRPr lang="en-US" sz="1700" dirty="0"/>
          </a:p>
        </p:txBody>
      </p:sp>
      <p:sp>
        <p:nvSpPr>
          <p:cNvPr id="7" name="Text 5"/>
          <p:cNvSpPr/>
          <p:nvPr/>
        </p:nvSpPr>
        <p:spPr>
          <a:xfrm>
            <a:off x="804672" y="2267712"/>
            <a:ext cx="5010912" cy="201168"/>
          </a:xfrm>
          <a:prstGeom prst="rect">
            <a:avLst/>
          </a:prstGeom>
          <a:noFill/>
          <a:ln/>
        </p:spPr>
        <p:txBody>
          <a:bodyPr wrap="square" rtlCol="0" anchor="t"/>
          <a:lstStyle/>
          <a:p>
            <a:pPr marL="0" indent="0">
              <a:lnSpc>
                <a:spcPct val="105000"/>
              </a:lnSpc>
              <a:buNone/>
            </a:pPr>
            <a:r>
              <a:rPr lang="en-US" sz="1500" dirty="0">
                <a:solidFill>
                  <a:srgbClr val="B2BDCD"/>
                </a:solidFill>
                <a:latin typeface="Helvetica Neue" pitchFamily="34" charset="0"/>
                <a:ea typeface="Helvetica Neue" pitchFamily="34" charset="-122"/>
                <a:cs typeface="Helvetica Neue" pitchFamily="34" charset="-120"/>
              </a:rPr>
              <a:t>Access the agent otherwise lacks.</a:t>
            </a:r>
            <a:endParaRPr lang="en-US" sz="1500" dirty="0"/>
          </a:p>
        </p:txBody>
      </p:sp>
      <p:sp>
        <p:nvSpPr>
          <p:cNvPr id="8" name="Shape 6"/>
          <p:cNvSpPr/>
          <p:nvPr/>
        </p:nvSpPr>
        <p:spPr>
          <a:xfrm>
            <a:off x="6309360" y="1828800"/>
            <a:ext cx="5303520" cy="777240"/>
          </a:xfrm>
          <a:prstGeom prst="roundRect">
            <a:avLst>
              <a:gd name="adj" fmla="val 15294"/>
            </a:avLst>
          </a:prstGeom>
          <a:solidFill>
            <a:srgbClr val="0E1219"/>
          </a:solidFill>
          <a:ln w="12700">
            <a:solidFill>
              <a:srgbClr val="1A212C"/>
            </a:solidFill>
            <a:prstDash val="solid"/>
          </a:ln>
        </p:spPr>
        <p:txBody>
          <a:bodyPr/>
          <a:lstStyle/>
          <a:p>
            <a:endParaRPr lang="en-US"/>
          </a:p>
        </p:txBody>
      </p:sp>
      <p:sp>
        <p:nvSpPr>
          <p:cNvPr id="9" name="Text 7"/>
          <p:cNvSpPr/>
          <p:nvPr/>
        </p:nvSpPr>
        <p:spPr>
          <a:xfrm>
            <a:off x="6547104" y="1984248"/>
            <a:ext cx="4828032" cy="228600"/>
          </a:xfrm>
          <a:prstGeom prst="rect">
            <a:avLst/>
          </a:prstGeom>
          <a:noFill/>
          <a:ln/>
        </p:spPr>
        <p:txBody>
          <a:bodyPr wrap="square" rtlCol="0" anchor="t"/>
          <a:lstStyle/>
          <a:p>
            <a:pPr marL="0" indent="0">
              <a:lnSpc>
                <a:spcPct val="105000"/>
              </a:lnSpc>
              <a:buNone/>
            </a:pPr>
            <a:r>
              <a:rPr lang="en-US" sz="1700" b="1" dirty="0">
                <a:solidFill>
                  <a:srgbClr val="75EDBB"/>
                </a:solidFill>
                <a:latin typeface="Helvetica Neue" pitchFamily="34" charset="0"/>
                <a:ea typeface="Helvetica Neue" pitchFamily="34" charset="-122"/>
                <a:cs typeface="Helvetica Neue" pitchFamily="34" charset="-120"/>
              </a:rPr>
              <a:t>Skills</a:t>
            </a:r>
            <a:endParaRPr lang="en-US" sz="1700" dirty="0"/>
          </a:p>
        </p:txBody>
      </p:sp>
      <p:sp>
        <p:nvSpPr>
          <p:cNvPr id="10" name="Text 8"/>
          <p:cNvSpPr/>
          <p:nvPr/>
        </p:nvSpPr>
        <p:spPr>
          <a:xfrm>
            <a:off x="6547104" y="2267712"/>
            <a:ext cx="4828032" cy="201168"/>
          </a:xfrm>
          <a:prstGeom prst="rect">
            <a:avLst/>
          </a:prstGeom>
          <a:noFill/>
          <a:ln/>
        </p:spPr>
        <p:txBody>
          <a:bodyPr wrap="square" rtlCol="0" anchor="t"/>
          <a:lstStyle/>
          <a:p>
            <a:pPr marL="0" indent="0">
              <a:lnSpc>
                <a:spcPct val="105000"/>
              </a:lnSpc>
              <a:buNone/>
            </a:pPr>
            <a:r>
              <a:rPr lang="en-US" sz="1500" dirty="0">
                <a:solidFill>
                  <a:srgbClr val="B2BDCD"/>
                </a:solidFill>
                <a:latin typeface="Helvetica Neue" pitchFamily="34" charset="0"/>
                <a:ea typeface="Helvetica Neue" pitchFamily="34" charset="-122"/>
                <a:cs typeface="Helvetica Neue" pitchFamily="34" charset="-120"/>
              </a:rPr>
              <a:t>A procedure the agent can repeat.</a:t>
            </a:r>
            <a:endParaRPr lang="en-US" sz="1500" dirty="0"/>
          </a:p>
        </p:txBody>
      </p:sp>
      <p:sp>
        <p:nvSpPr>
          <p:cNvPr id="11" name="Text 9"/>
          <p:cNvSpPr/>
          <p:nvPr/>
        </p:nvSpPr>
        <p:spPr>
          <a:xfrm>
            <a:off x="566928" y="2788920"/>
            <a:ext cx="2651760" cy="256032"/>
          </a:xfrm>
          <a:prstGeom prst="rect">
            <a:avLst/>
          </a:prstGeom>
          <a:noFill/>
          <a:ln/>
        </p:spPr>
        <p:txBody>
          <a:bodyPr wrap="square" rtlCol="0" anchor="t"/>
          <a:lstStyle/>
          <a:p>
            <a:pPr marL="0" indent="0">
              <a:lnSpc>
                <a:spcPct val="105000"/>
              </a:lnSpc>
              <a:buNone/>
            </a:pPr>
            <a:r>
              <a:rPr lang="en-US" sz="1100" b="1" kern="0" spc="200" dirty="0">
                <a:solidFill>
                  <a:srgbClr val="6F7B8D"/>
                </a:solidFill>
                <a:latin typeface="Helvetica Neue" pitchFamily="34" charset="0"/>
                <a:ea typeface="Helvetica Neue" pitchFamily="34" charset="-122"/>
                <a:cs typeface="Helvetica Neue" pitchFamily="34" charset="-120"/>
              </a:rPr>
              <a:t>AVAILABLE</a:t>
            </a:r>
            <a:endParaRPr lang="en-US" sz="1100" dirty="0"/>
          </a:p>
        </p:txBody>
      </p:sp>
      <p:sp>
        <p:nvSpPr>
          <p:cNvPr id="12" name="Shape 10"/>
          <p:cNvSpPr/>
          <p:nvPr/>
        </p:nvSpPr>
        <p:spPr>
          <a:xfrm>
            <a:off x="566928" y="3154680"/>
            <a:ext cx="2651760" cy="530352"/>
          </a:xfrm>
          <a:prstGeom prst="roundRect">
            <a:avLst>
              <a:gd name="adj" fmla="val 17241"/>
            </a:avLst>
          </a:prstGeom>
          <a:solidFill>
            <a:srgbClr val="141A24"/>
          </a:solidFill>
          <a:ln w="12700">
            <a:solidFill>
              <a:srgbClr val="75EDBB"/>
            </a:solidFill>
            <a:prstDash val="solid"/>
          </a:ln>
        </p:spPr>
        <p:txBody>
          <a:bodyPr/>
          <a:lstStyle/>
          <a:p>
            <a:endParaRPr lang="en-US"/>
          </a:p>
        </p:txBody>
      </p:sp>
      <p:sp>
        <p:nvSpPr>
          <p:cNvPr id="13" name="Text 11"/>
          <p:cNvSpPr/>
          <p:nvPr/>
        </p:nvSpPr>
        <p:spPr>
          <a:xfrm>
            <a:off x="713232" y="3154680"/>
            <a:ext cx="2359152" cy="530352"/>
          </a:xfrm>
          <a:prstGeom prst="rect">
            <a:avLst/>
          </a:prstGeom>
          <a:noFill/>
          <a:ln/>
        </p:spPr>
        <p:txBody>
          <a:bodyPr wrap="square" rtlCol="0" anchor="ctr"/>
          <a:lstStyle/>
          <a:p>
            <a:pPr marL="0" indent="0" algn="ctr">
              <a:lnSpc>
                <a:spcPct val="105000"/>
              </a:lnSpc>
              <a:buNone/>
            </a:pPr>
            <a:r>
              <a:rPr lang="en-US" sz="1500" dirty="0">
                <a:solidFill>
                  <a:srgbClr val="F3F6FA"/>
                </a:solidFill>
                <a:latin typeface="Helvetica Neue" pitchFamily="34" charset="0"/>
                <a:ea typeface="Helvetica Neue" pitchFamily="34" charset="-122"/>
                <a:cs typeface="Helvetica Neue" pitchFamily="34" charset="-120"/>
              </a:rPr>
              <a:t>repo tools</a:t>
            </a:r>
            <a:endParaRPr lang="en-US" sz="1500" dirty="0"/>
          </a:p>
        </p:txBody>
      </p:sp>
      <p:sp>
        <p:nvSpPr>
          <p:cNvPr id="14" name="b01-wipe-capability-selected"/>
          <p:cNvSpPr/>
          <p:nvPr/>
        </p:nvSpPr>
        <p:spPr>
          <a:xfrm>
            <a:off x="3218688" y="3419856"/>
            <a:ext cx="777240" cy="0"/>
          </a:xfrm>
          <a:prstGeom prst="line">
            <a:avLst/>
          </a:prstGeom>
          <a:noFill/>
          <a:ln w="19050">
            <a:solidFill>
              <a:srgbClr val="75EDBB"/>
            </a:solidFill>
            <a:prstDash val="solid"/>
            <a:tailEnd type="triangle"/>
          </a:ln>
        </p:spPr>
        <p:txBody>
          <a:bodyPr/>
          <a:lstStyle/>
          <a:p>
            <a:endParaRPr lang="en-US"/>
          </a:p>
        </p:txBody>
      </p:sp>
      <p:sp>
        <p:nvSpPr>
          <p:cNvPr id="15" name="Shape 13"/>
          <p:cNvSpPr/>
          <p:nvPr/>
        </p:nvSpPr>
        <p:spPr>
          <a:xfrm>
            <a:off x="566928" y="3739896"/>
            <a:ext cx="2651760" cy="530352"/>
          </a:xfrm>
          <a:prstGeom prst="roundRect">
            <a:avLst>
              <a:gd name="adj" fmla="val 17241"/>
            </a:avLst>
          </a:prstGeom>
          <a:solidFill>
            <a:srgbClr val="141A24"/>
          </a:solidFill>
          <a:ln w="12700">
            <a:solidFill>
              <a:srgbClr val="75EDBB"/>
            </a:solidFill>
            <a:prstDash val="solid"/>
          </a:ln>
        </p:spPr>
        <p:txBody>
          <a:bodyPr/>
          <a:lstStyle/>
          <a:p>
            <a:endParaRPr lang="en-US"/>
          </a:p>
        </p:txBody>
      </p:sp>
      <p:sp>
        <p:nvSpPr>
          <p:cNvPr id="16" name="Text 14"/>
          <p:cNvSpPr/>
          <p:nvPr/>
        </p:nvSpPr>
        <p:spPr>
          <a:xfrm>
            <a:off x="713232" y="3739896"/>
            <a:ext cx="2359152" cy="530352"/>
          </a:xfrm>
          <a:prstGeom prst="rect">
            <a:avLst/>
          </a:prstGeom>
          <a:noFill/>
          <a:ln/>
        </p:spPr>
        <p:txBody>
          <a:bodyPr wrap="square" rtlCol="0" anchor="ctr"/>
          <a:lstStyle/>
          <a:p>
            <a:pPr marL="0" indent="0" algn="ctr">
              <a:lnSpc>
                <a:spcPct val="105000"/>
              </a:lnSpc>
              <a:buNone/>
            </a:pPr>
            <a:r>
              <a:rPr lang="en-US" sz="1500" dirty="0">
                <a:solidFill>
                  <a:srgbClr val="F3F6FA"/>
                </a:solidFill>
                <a:latin typeface="Helvetica Neue" pitchFamily="34" charset="0"/>
                <a:ea typeface="Helvetica Neue" pitchFamily="34" charset="-122"/>
                <a:cs typeface="Helvetica Neue" pitchFamily="34" charset="-120"/>
              </a:rPr>
              <a:t>test runner</a:t>
            </a:r>
            <a:endParaRPr lang="en-US" sz="1500" dirty="0"/>
          </a:p>
        </p:txBody>
      </p:sp>
      <p:sp>
        <p:nvSpPr>
          <p:cNvPr id="17" name="b01-wipe-capability-selected"/>
          <p:cNvSpPr/>
          <p:nvPr/>
        </p:nvSpPr>
        <p:spPr>
          <a:xfrm>
            <a:off x="3218688" y="4005072"/>
            <a:ext cx="777240" cy="0"/>
          </a:xfrm>
          <a:prstGeom prst="line">
            <a:avLst/>
          </a:prstGeom>
          <a:noFill/>
          <a:ln w="19050">
            <a:solidFill>
              <a:srgbClr val="75EDBB"/>
            </a:solidFill>
            <a:prstDash val="solid"/>
            <a:tailEnd type="triangle"/>
          </a:ln>
        </p:spPr>
        <p:txBody>
          <a:bodyPr/>
          <a:lstStyle/>
          <a:p>
            <a:endParaRPr lang="en-US"/>
          </a:p>
        </p:txBody>
      </p:sp>
      <p:sp>
        <p:nvSpPr>
          <p:cNvPr id="18" name="Shape 16"/>
          <p:cNvSpPr/>
          <p:nvPr/>
        </p:nvSpPr>
        <p:spPr>
          <a:xfrm>
            <a:off x="566928" y="4325112"/>
            <a:ext cx="2651760" cy="530352"/>
          </a:xfrm>
          <a:prstGeom prst="roundRect">
            <a:avLst>
              <a:gd name="adj" fmla="val 17241"/>
            </a:avLst>
          </a:prstGeom>
          <a:solidFill>
            <a:srgbClr val="0A0D13"/>
          </a:solidFill>
          <a:ln w="12700">
            <a:solidFill>
              <a:srgbClr val="1A212C"/>
            </a:solidFill>
            <a:prstDash val="dash"/>
          </a:ln>
        </p:spPr>
        <p:txBody>
          <a:bodyPr/>
          <a:lstStyle/>
          <a:p>
            <a:endParaRPr lang="en-US"/>
          </a:p>
        </p:txBody>
      </p:sp>
      <p:sp>
        <p:nvSpPr>
          <p:cNvPr id="19" name="Text 17"/>
          <p:cNvSpPr/>
          <p:nvPr/>
        </p:nvSpPr>
        <p:spPr>
          <a:xfrm>
            <a:off x="713232" y="4325112"/>
            <a:ext cx="2359152" cy="530352"/>
          </a:xfrm>
          <a:prstGeom prst="rect">
            <a:avLst/>
          </a:prstGeom>
          <a:noFill/>
          <a:ln/>
        </p:spPr>
        <p:txBody>
          <a:bodyPr wrap="square" rtlCol="0" anchor="ctr"/>
          <a:lstStyle/>
          <a:p>
            <a:pPr marL="0" indent="0" algn="ctr">
              <a:lnSpc>
                <a:spcPct val="105000"/>
              </a:lnSpc>
              <a:buNone/>
            </a:pPr>
            <a:r>
              <a:rPr lang="en-US" sz="1500" dirty="0">
                <a:solidFill>
                  <a:srgbClr val="6F7B8D"/>
                </a:solidFill>
                <a:latin typeface="Helvetica Neue" pitchFamily="34" charset="0"/>
                <a:ea typeface="Helvetica Neue" pitchFamily="34" charset="-122"/>
                <a:cs typeface="Helvetica Neue" pitchFamily="34" charset="-120"/>
              </a:rPr>
              <a:t>cloud deploy</a:t>
            </a:r>
            <a:endParaRPr lang="en-US" sz="1500" dirty="0"/>
          </a:p>
        </p:txBody>
      </p:sp>
      <p:sp>
        <p:nvSpPr>
          <p:cNvPr id="20" name="Shape 18"/>
          <p:cNvSpPr/>
          <p:nvPr/>
        </p:nvSpPr>
        <p:spPr>
          <a:xfrm>
            <a:off x="566928" y="4910328"/>
            <a:ext cx="2651760" cy="530352"/>
          </a:xfrm>
          <a:prstGeom prst="roundRect">
            <a:avLst>
              <a:gd name="adj" fmla="val 17241"/>
            </a:avLst>
          </a:prstGeom>
          <a:solidFill>
            <a:srgbClr val="0A0D13"/>
          </a:solidFill>
          <a:ln w="12700">
            <a:solidFill>
              <a:srgbClr val="1A212C"/>
            </a:solidFill>
            <a:prstDash val="dash"/>
          </a:ln>
        </p:spPr>
        <p:txBody>
          <a:bodyPr/>
          <a:lstStyle/>
          <a:p>
            <a:endParaRPr lang="en-US"/>
          </a:p>
        </p:txBody>
      </p:sp>
      <p:sp>
        <p:nvSpPr>
          <p:cNvPr id="21" name="Text 19"/>
          <p:cNvSpPr/>
          <p:nvPr/>
        </p:nvSpPr>
        <p:spPr>
          <a:xfrm>
            <a:off x="713232" y="4910328"/>
            <a:ext cx="2359152" cy="530352"/>
          </a:xfrm>
          <a:prstGeom prst="rect">
            <a:avLst/>
          </a:prstGeom>
          <a:noFill/>
          <a:ln/>
        </p:spPr>
        <p:txBody>
          <a:bodyPr wrap="square" rtlCol="0" anchor="ctr"/>
          <a:lstStyle/>
          <a:p>
            <a:pPr marL="0" indent="0" algn="ctr">
              <a:lnSpc>
                <a:spcPct val="105000"/>
              </a:lnSpc>
              <a:buNone/>
            </a:pPr>
            <a:r>
              <a:rPr lang="en-US" sz="1500" dirty="0">
                <a:solidFill>
                  <a:srgbClr val="6F7B8D"/>
                </a:solidFill>
                <a:latin typeface="Helvetica Neue" pitchFamily="34" charset="0"/>
                <a:ea typeface="Helvetica Neue" pitchFamily="34" charset="-122"/>
                <a:cs typeface="Helvetica Neue" pitchFamily="34" charset="-120"/>
              </a:rPr>
              <a:t>browser driver</a:t>
            </a:r>
            <a:endParaRPr lang="en-US" sz="1500" dirty="0"/>
          </a:p>
        </p:txBody>
      </p:sp>
      <p:sp>
        <p:nvSpPr>
          <p:cNvPr id="22" name="Shape 20"/>
          <p:cNvSpPr/>
          <p:nvPr/>
        </p:nvSpPr>
        <p:spPr>
          <a:xfrm>
            <a:off x="4023360" y="2788920"/>
            <a:ext cx="7589520" cy="2423160"/>
          </a:xfrm>
          <a:prstGeom prst="roundRect">
            <a:avLst>
              <a:gd name="adj" fmla="val 7547"/>
            </a:avLst>
          </a:prstGeom>
          <a:solidFill>
            <a:srgbClr val="0A0D13"/>
          </a:solidFill>
          <a:ln w="15875">
            <a:solidFill>
              <a:srgbClr val="75EDBB"/>
            </a:solidFill>
            <a:prstDash val="dash"/>
          </a:ln>
        </p:spPr>
        <p:txBody>
          <a:bodyPr/>
          <a:lstStyle/>
          <a:p>
            <a:endParaRPr lang="en-US"/>
          </a:p>
        </p:txBody>
      </p:sp>
      <p:sp>
        <p:nvSpPr>
          <p:cNvPr id="23" name="Text 21"/>
          <p:cNvSpPr/>
          <p:nvPr/>
        </p:nvSpPr>
        <p:spPr>
          <a:xfrm>
            <a:off x="4315968" y="2944368"/>
            <a:ext cx="6949440" cy="274320"/>
          </a:xfrm>
          <a:prstGeom prst="rect">
            <a:avLst/>
          </a:prstGeom>
          <a:noFill/>
          <a:ln/>
        </p:spPr>
        <p:txBody>
          <a:bodyPr wrap="square" rtlCol="0" anchor="t"/>
          <a:lstStyle/>
          <a:p>
            <a:pPr marL="0" indent="0">
              <a:lnSpc>
                <a:spcPct val="105000"/>
              </a:lnSpc>
              <a:buNone/>
            </a:pPr>
            <a:r>
              <a:rPr lang="en-US" sz="1200" b="1" kern="0" spc="200" dirty="0">
                <a:solidFill>
                  <a:srgbClr val="75EDBB"/>
                </a:solidFill>
                <a:latin typeface="Helvetica Neue" pitchFamily="34" charset="0"/>
                <a:ea typeface="Helvetica Neue" pitchFamily="34" charset="-122"/>
                <a:cs typeface="Helvetica Neue" pitchFamily="34" charset="-120"/>
              </a:rPr>
              <a:t>THIS TASK</a:t>
            </a:r>
            <a:endParaRPr lang="en-US" sz="1200" dirty="0"/>
          </a:p>
        </p:txBody>
      </p:sp>
      <p:sp>
        <p:nvSpPr>
          <p:cNvPr id="24" name="b01-fade-task-grants"/>
          <p:cNvSpPr/>
          <p:nvPr/>
        </p:nvSpPr>
        <p:spPr>
          <a:xfrm>
            <a:off x="4315968" y="3364992"/>
            <a:ext cx="7004304" cy="777240"/>
          </a:xfrm>
          <a:prstGeom prst="roundRect">
            <a:avLst>
              <a:gd name="adj" fmla="val 15294"/>
            </a:avLst>
          </a:prstGeom>
          <a:solidFill>
            <a:srgbClr val="0E1219"/>
          </a:solidFill>
          <a:ln w="12700">
            <a:solidFill>
              <a:srgbClr val="232C3A"/>
            </a:solidFill>
            <a:prstDash val="solid"/>
          </a:ln>
        </p:spPr>
        <p:txBody>
          <a:bodyPr/>
          <a:lstStyle/>
          <a:p>
            <a:endParaRPr lang="en-US"/>
          </a:p>
        </p:txBody>
      </p:sp>
      <p:sp>
        <p:nvSpPr>
          <p:cNvPr id="25" name="b01-fade-task-grants"/>
          <p:cNvSpPr/>
          <p:nvPr/>
        </p:nvSpPr>
        <p:spPr>
          <a:xfrm>
            <a:off x="4553712" y="3547872"/>
            <a:ext cx="6528816" cy="310896"/>
          </a:xfrm>
          <a:prstGeom prst="rect">
            <a:avLst/>
          </a:prstGeom>
          <a:noFill/>
          <a:ln/>
        </p:spPr>
        <p:txBody>
          <a:bodyPr wrap="square" rtlCol="0" anchor="t"/>
          <a:lstStyle/>
          <a:p>
            <a:pPr marL="0" indent="0">
              <a:lnSpc>
                <a:spcPct val="105000"/>
              </a:lnSpc>
              <a:buNone/>
            </a:pPr>
            <a:r>
              <a:rPr lang="en-US" sz="1700" dirty="0">
                <a:solidFill>
                  <a:srgbClr val="F3F6FA"/>
                </a:solidFill>
                <a:latin typeface="Helvetica Neue" pitchFamily="34" charset="0"/>
                <a:ea typeface="Helvetica Neue" pitchFamily="34" charset="-122"/>
                <a:cs typeface="Helvetica Neue" pitchFamily="34" charset="-120"/>
              </a:rPr>
              <a:t>Access: edit src/invoices, run the test command</a:t>
            </a:r>
            <a:endParaRPr lang="en-US" sz="1700" dirty="0"/>
          </a:p>
        </p:txBody>
      </p:sp>
      <p:sp>
        <p:nvSpPr>
          <p:cNvPr id="26" name="b01-fade-task-grants"/>
          <p:cNvSpPr/>
          <p:nvPr/>
        </p:nvSpPr>
        <p:spPr>
          <a:xfrm>
            <a:off x="4315968" y="4261104"/>
            <a:ext cx="7004304" cy="777240"/>
          </a:xfrm>
          <a:prstGeom prst="roundRect">
            <a:avLst>
              <a:gd name="adj" fmla="val 15294"/>
            </a:avLst>
          </a:prstGeom>
          <a:solidFill>
            <a:srgbClr val="0E1219"/>
          </a:solidFill>
          <a:ln w="12700">
            <a:solidFill>
              <a:srgbClr val="232C3A"/>
            </a:solidFill>
            <a:prstDash val="solid"/>
          </a:ln>
        </p:spPr>
        <p:txBody>
          <a:bodyPr/>
          <a:lstStyle/>
          <a:p>
            <a:endParaRPr lang="en-US"/>
          </a:p>
        </p:txBody>
      </p:sp>
      <p:sp>
        <p:nvSpPr>
          <p:cNvPr id="27" name="b01-fade-task-grants"/>
          <p:cNvSpPr/>
          <p:nvPr/>
        </p:nvSpPr>
        <p:spPr>
          <a:xfrm>
            <a:off x="4553712" y="4443984"/>
            <a:ext cx="6528816" cy="310896"/>
          </a:xfrm>
          <a:prstGeom prst="rect">
            <a:avLst/>
          </a:prstGeom>
          <a:noFill/>
          <a:ln/>
        </p:spPr>
        <p:txBody>
          <a:bodyPr wrap="square" rtlCol="0" anchor="t"/>
          <a:lstStyle/>
          <a:p>
            <a:pPr marL="0" indent="0">
              <a:lnSpc>
                <a:spcPct val="105000"/>
              </a:lnSpc>
              <a:buNone/>
            </a:pPr>
            <a:r>
              <a:rPr lang="en-US" sz="1700" dirty="0">
                <a:solidFill>
                  <a:srgbClr val="F3F6FA"/>
                </a:solidFill>
                <a:latin typeface="Helvetica Neue" pitchFamily="34" charset="0"/>
                <a:ea typeface="Helvetica Neue" pitchFamily="34" charset="-122"/>
                <a:cs typeface="Helvetica Neue" pitchFamily="34" charset="-120"/>
              </a:rPr>
              <a:t>Skill: run the fixture suite, report failures</a:t>
            </a:r>
            <a:endParaRPr lang="en-US" sz="1700" dirty="0"/>
          </a:p>
        </p:txBody>
      </p:sp>
      <p:sp>
        <p:nvSpPr>
          <p:cNvPr id="28" name="b02-rise-access-rule"/>
          <p:cNvSpPr/>
          <p:nvPr/>
        </p:nvSpPr>
        <p:spPr>
          <a:xfrm>
            <a:off x="566928" y="5532120"/>
            <a:ext cx="11064240" cy="566928"/>
          </a:xfrm>
          <a:prstGeom prst="roundRect">
            <a:avLst>
              <a:gd name="adj" fmla="val 20968"/>
            </a:avLst>
          </a:prstGeom>
          <a:solidFill>
            <a:srgbClr val="0E1219"/>
          </a:solidFill>
          <a:ln w="12700">
            <a:solidFill>
              <a:srgbClr val="232C3A"/>
            </a:solidFill>
            <a:prstDash val="solid"/>
          </a:ln>
        </p:spPr>
        <p:txBody>
          <a:bodyPr/>
          <a:lstStyle/>
          <a:p>
            <a:endParaRPr lang="en-US"/>
          </a:p>
        </p:txBody>
      </p:sp>
      <p:sp>
        <p:nvSpPr>
          <p:cNvPr id="29" name="b02-rise-access-rule"/>
          <p:cNvSpPr/>
          <p:nvPr/>
        </p:nvSpPr>
        <p:spPr>
          <a:xfrm>
            <a:off x="841248" y="5532120"/>
            <a:ext cx="10515600" cy="566928"/>
          </a:xfrm>
          <a:prstGeom prst="rect">
            <a:avLst/>
          </a:prstGeom>
          <a:noFill/>
          <a:ln/>
        </p:spPr>
        <p:txBody>
          <a:bodyPr wrap="square" rtlCol="0" anchor="ctr"/>
          <a:lstStyle/>
          <a:p>
            <a:pPr marL="0" indent="0">
              <a:lnSpc>
                <a:spcPct val="105000"/>
              </a:lnSpc>
              <a:buNone/>
            </a:pPr>
            <a:r>
              <a:rPr lang="en-US" sz="1800" dirty="0">
                <a:solidFill>
                  <a:srgbClr val="F3F6FA"/>
                </a:solidFill>
                <a:latin typeface="Helvetica Neue" pitchFamily="34" charset="0"/>
                <a:ea typeface="Helvetica Neue" pitchFamily="34" charset="-122"/>
                <a:cs typeface="Helvetica Neue" pitchFamily="34" charset="-120"/>
              </a:rPr>
              <a:t>Grant what the task needs. Standing extras can wait.</a:t>
            </a:r>
            <a:endParaRPr lang="en-US" sz="1800" dirty="0"/>
          </a:p>
        </p:txBody>
      </p:sp>
      <p:sp>
        <p:nvSpPr>
          <p:cNvPr id="30" name="Text 28"/>
          <p:cNvSpPr/>
          <p:nvPr/>
        </p:nvSpPr>
        <p:spPr>
          <a:xfrm>
            <a:off x="566928" y="6391656"/>
            <a:ext cx="8961120" cy="274320"/>
          </a:xfrm>
          <a:prstGeom prst="rect">
            <a:avLst/>
          </a:prstGeom>
          <a:noFill/>
          <a:ln/>
        </p:spPr>
        <p:txBody>
          <a:bodyPr wrap="square" rtlCol="0" anchor="ctr"/>
          <a:lstStyle/>
          <a:p>
            <a:pPr marL="0" indent="0">
              <a:lnSpc>
                <a:spcPct val="105000"/>
              </a:lnSpc>
              <a:buNone/>
            </a:pPr>
            <a:r>
              <a:rPr lang="en-US" sz="1100" dirty="0">
                <a:solidFill>
                  <a:srgbClr val="6F7B8D"/>
                </a:solidFill>
                <a:latin typeface="Helvetica Neue" pitchFamily="34" charset="0"/>
                <a:ea typeface="Helvetica Neue" pitchFamily="34" charset="-122"/>
                <a:cs typeface="Helvetica Neue" pitchFamily="34" charset="-120"/>
              </a:rPr>
              <a:t>Prefer an isolated test identity over anything with production reach.</a:t>
            </a:r>
            <a:endParaRPr lang="en-US" sz="1100" dirty="0"/>
          </a:p>
        </p:txBody>
      </p:sp>
      <p:sp>
        <p:nvSpPr>
          <p:cNvPr id="31" name="Text 29"/>
          <p:cNvSpPr/>
          <p:nvPr/>
        </p:nvSpPr>
        <p:spPr>
          <a:xfrm>
            <a:off x="9692640" y="6391656"/>
            <a:ext cx="1929384" cy="274320"/>
          </a:xfrm>
          <a:prstGeom prst="rect">
            <a:avLst/>
          </a:prstGeom>
          <a:noFill/>
          <a:ln/>
        </p:spPr>
        <p:txBody>
          <a:bodyPr wrap="square" rtlCol="0" anchor="ctr"/>
          <a:lstStyle/>
          <a:p>
            <a:pPr marL="0" indent="0" algn="r">
              <a:lnSpc>
                <a:spcPct val="105000"/>
              </a:lnSpc>
              <a:buNone/>
            </a:pPr>
            <a:r>
              <a:rPr lang="en-US" sz="1100" dirty="0">
                <a:solidFill>
                  <a:srgbClr val="6F7B8D"/>
                </a:solidFill>
                <a:latin typeface="Helvetica Neue" pitchFamily="34" charset="0"/>
                <a:ea typeface="Helvetica Neue" pitchFamily="34" charset="-122"/>
                <a:cs typeface="Helvetica Neue" pitchFamily="34" charset="-120"/>
              </a:rPr>
              <a:t>09 / 20</a:t>
            </a:r>
            <a:endParaRPr lang="en-US" sz="1100"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right)">
                                      <p:cBhvr>
                                        <p:cTn id="7" dur="420"/>
                                        <p:tgtEl>
                                          <p:spTgt spid="14"/>
                                        </p:tgtEl>
                                      </p:cBhvr>
                                    </p:animEffect>
                                  </p:childTnLst>
                                </p:cTn>
                              </p:par>
                              <p:par>
                                <p:cTn id="8" presetID="22" presetClass="entr" presetSubtype="1" fill="hold"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wipe(right)">
                                      <p:cBhvr>
                                        <p:cTn id="10" dur="420"/>
                                        <p:tgtEl>
                                          <p:spTgt spid="17"/>
                                        </p:tgtEl>
                                      </p:cBhvr>
                                    </p:animEffect>
                                  </p:childTnLst>
                                </p:cTn>
                              </p:par>
                              <p:par>
                                <p:cTn id="11" presetID="10" presetClass="entr" presetSubtype="0" fill="hold"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420"/>
                                        <p:tgtEl>
                                          <p:spTgt spid="24"/>
                                        </p:tgtEl>
                                      </p:cBhvr>
                                    </p:animEffect>
                                  </p:childTnLst>
                                </p:cTn>
                              </p:par>
                              <p:par>
                                <p:cTn id="14" presetID="10" presetClass="entr" presetSubtype="0" fill="hold" nodeType="withEffect">
                                  <p:stCondLst>
                                    <p:cond delay="0"/>
                                  </p:stCondLst>
                                  <p:childTnLst>
                                    <p:set>
                                      <p:cBhvr>
                                        <p:cTn id="15" dur="1" fill="hold">
                                          <p:stCondLst>
                                            <p:cond delay="0"/>
                                          </p:stCondLst>
                                        </p:cTn>
                                        <p:tgtEl>
                                          <p:spTgt spid="25"/>
                                        </p:tgtEl>
                                        <p:attrNameLst>
                                          <p:attrName>style.visibility</p:attrName>
                                        </p:attrNameLst>
                                      </p:cBhvr>
                                      <p:to>
                                        <p:strVal val="visible"/>
                                      </p:to>
                                    </p:set>
                                    <p:animEffect transition="in" filter="fade">
                                      <p:cBhvr>
                                        <p:cTn id="16" dur="420"/>
                                        <p:tgtEl>
                                          <p:spTgt spid="25"/>
                                        </p:tgtEl>
                                      </p:cBhvr>
                                    </p:animEffect>
                                  </p:childTnLst>
                                </p:cTn>
                              </p:par>
                              <p:par>
                                <p:cTn id="17" presetID="10" presetClass="entr" presetSubtype="0" fill="hold" nodeType="with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20"/>
                                        <p:tgtEl>
                                          <p:spTgt spid="26"/>
                                        </p:tgtEl>
                                      </p:cBhvr>
                                    </p:animEffect>
                                  </p:childTnLst>
                                </p:cTn>
                              </p:par>
                              <p:par>
                                <p:cTn id="20" presetID="10" presetClass="entr" presetSubtype="0" fill="hold" nodeType="with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420"/>
                                        <p:tgtEl>
                                          <p:spTgt spid="27"/>
                                        </p:tgtEl>
                                      </p:cBhvr>
                                    </p:animEffect>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28"/>
                                        </p:tgtEl>
                                        <p:attrNameLst>
                                          <p:attrName>style.visibility</p:attrName>
                                        </p:attrNameLst>
                                      </p:cBhvr>
                                      <p:to>
                                        <p:strVal val="visible"/>
                                      </p:to>
                                    </p:set>
                                    <p:anim calcmode="lin" valueType="num">
                                      <p:cBhvr additive="base">
                                        <p:cTn id="27" dur="420" decel="60000" fill="hold"/>
                                        <p:tgtEl>
                                          <p:spTgt spid="28"/>
                                        </p:tgtEl>
                                        <p:attrNameLst>
                                          <p:attrName>ppt_y</p:attrName>
                                        </p:attrNameLst>
                                      </p:cBhvr>
                                      <p:tavLst>
                                        <p:tav tm="0">
                                          <p:val>
                                            <p:strVal val="#ppt_y+.014"/>
                                          </p:val>
                                        </p:tav>
                                        <p:tav tm="100000">
                                          <p:val>
                                            <p:strVal val="#ppt_y"/>
                                          </p:val>
                                        </p:tav>
                                      </p:tavLst>
                                    </p:anim>
                                    <p:animEffect transition="in" filter="fade">
                                      <p:cBhvr>
                                        <p:cTn id="28" dur="420"/>
                                        <p:tgtEl>
                                          <p:spTgt spid="28"/>
                                        </p:tgtEl>
                                      </p:cBhvr>
                                    </p:animEffect>
                                  </p:childTnLst>
                                </p:cTn>
                              </p:par>
                              <p:par>
                                <p:cTn id="29" presetID="42" presetClass="entr" presetSubtype="0" fill="hold" nodeType="withEffect">
                                  <p:stCondLst>
                                    <p:cond delay="0"/>
                                  </p:stCondLst>
                                  <p:childTnLst>
                                    <p:set>
                                      <p:cBhvr>
                                        <p:cTn id="30" dur="1" fill="hold">
                                          <p:stCondLst>
                                            <p:cond delay="0"/>
                                          </p:stCondLst>
                                        </p:cTn>
                                        <p:tgtEl>
                                          <p:spTgt spid="29"/>
                                        </p:tgtEl>
                                        <p:attrNameLst>
                                          <p:attrName>style.visibility</p:attrName>
                                        </p:attrNameLst>
                                      </p:cBhvr>
                                      <p:to>
                                        <p:strVal val="visible"/>
                                      </p:to>
                                    </p:set>
                                    <p:anim calcmode="lin" valueType="num">
                                      <p:cBhvr additive="base">
                                        <p:cTn id="31" dur="420" decel="60000" fill="hold"/>
                                        <p:tgtEl>
                                          <p:spTgt spid="29"/>
                                        </p:tgtEl>
                                        <p:attrNameLst>
                                          <p:attrName>ppt_y</p:attrName>
                                        </p:attrNameLst>
                                      </p:cBhvr>
                                      <p:tavLst>
                                        <p:tav tm="0">
                                          <p:val>
                                            <p:strVal val="#ppt_y+.014"/>
                                          </p:val>
                                        </p:tav>
                                        <p:tav tm="100000">
                                          <p:val>
                                            <p:strVal val="#ppt_y"/>
                                          </p:val>
                                        </p:tav>
                                      </p:tavLst>
                                    </p:anim>
                                    <p:animEffect transition="in" filter="fade">
                                      <p:cBhvr>
                                        <p:cTn id="32" dur="42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7090D"/>
        </a:solidFill>
        <a:effectLst/>
      </p:bgPr>
    </p:bg>
    <p:spTree>
      <p:nvGrpSpPr>
        <p:cNvPr id="1" name=""/>
        <p:cNvGrpSpPr/>
        <p:nvPr/>
      </p:nvGrpSpPr>
      <p:grpSpPr>
        <a:xfrm>
          <a:off x="0" y="0"/>
          <a:ext cx="0" cy="0"/>
          <a:chOff x="0" y="0"/>
          <a:chExt cx="0" cy="0"/>
        </a:xfrm>
      </p:grpSpPr>
      <p:sp>
        <p:nvSpPr>
          <p:cNvPr id="2" name="Text 0"/>
          <p:cNvSpPr/>
          <p:nvPr/>
        </p:nvSpPr>
        <p:spPr>
          <a:xfrm>
            <a:off x="566928" y="274320"/>
            <a:ext cx="10607040" cy="274320"/>
          </a:xfrm>
          <a:prstGeom prst="rect">
            <a:avLst/>
          </a:prstGeom>
          <a:noFill/>
          <a:ln/>
        </p:spPr>
        <p:txBody>
          <a:bodyPr wrap="square" rtlCol="0" anchor="t"/>
          <a:lstStyle/>
          <a:p>
            <a:pPr marL="0" indent="0">
              <a:lnSpc>
                <a:spcPct val="105000"/>
              </a:lnSpc>
              <a:buNone/>
            </a:pPr>
            <a:r>
              <a:rPr lang="en-US" sz="1200" b="1" kern="0" spc="260" dirty="0">
                <a:solidFill>
                  <a:srgbClr val="75EDBB"/>
                </a:solidFill>
                <a:latin typeface="Helvetica Neue" pitchFamily="34" charset="0"/>
                <a:ea typeface="Helvetica Neue" pitchFamily="34" charset="-122"/>
                <a:cs typeface="Helvetica Neue" pitchFamily="34" charset="-120"/>
              </a:rPr>
              <a:t>PACE</a:t>
            </a:r>
            <a:endParaRPr lang="en-US" sz="1200" dirty="0"/>
          </a:p>
        </p:txBody>
      </p:sp>
      <p:sp>
        <p:nvSpPr>
          <p:cNvPr id="3" name="Text 1"/>
          <p:cNvSpPr/>
          <p:nvPr/>
        </p:nvSpPr>
        <p:spPr>
          <a:xfrm>
            <a:off x="566928" y="585216"/>
            <a:ext cx="10789920" cy="731520"/>
          </a:xfrm>
          <a:prstGeom prst="rect">
            <a:avLst/>
          </a:prstGeom>
          <a:noFill/>
          <a:ln/>
        </p:spPr>
        <p:txBody>
          <a:bodyPr wrap="square" rtlCol="0" anchor="ctr"/>
          <a:lstStyle/>
          <a:p>
            <a:pPr marL="0" indent="0">
              <a:lnSpc>
                <a:spcPct val="95000"/>
              </a:lnSpc>
              <a:buNone/>
            </a:pPr>
            <a:r>
              <a:rPr lang="en-US" sz="3800" dirty="0">
                <a:solidFill>
                  <a:srgbClr val="F3F6FA"/>
                </a:solidFill>
                <a:latin typeface="Avenir Next" pitchFamily="34" charset="0"/>
                <a:ea typeface="Avenir Next" pitchFamily="34" charset="-122"/>
                <a:cs typeface="Avenir Next" pitchFamily="34" charset="-120"/>
              </a:rPr>
              <a:t>Move slow to move fast</a:t>
            </a:r>
            <a:endParaRPr lang="en-US" sz="3800" dirty="0"/>
          </a:p>
        </p:txBody>
      </p:sp>
      <p:sp>
        <p:nvSpPr>
          <p:cNvPr id="4" name="Text 2"/>
          <p:cNvSpPr/>
          <p:nvPr/>
        </p:nvSpPr>
        <p:spPr>
          <a:xfrm>
            <a:off x="566928" y="1335024"/>
            <a:ext cx="9692640" cy="384048"/>
          </a:xfrm>
          <a:prstGeom prst="rect">
            <a:avLst/>
          </a:prstGeom>
          <a:noFill/>
          <a:ln/>
        </p:spPr>
        <p:txBody>
          <a:bodyPr wrap="square" rtlCol="0" anchor="t"/>
          <a:lstStyle/>
          <a:p>
            <a:pPr marL="0" indent="0">
              <a:lnSpc>
                <a:spcPct val="105000"/>
              </a:lnSpc>
              <a:buNone/>
            </a:pPr>
            <a:r>
              <a:rPr lang="en-US" sz="1900" dirty="0">
                <a:solidFill>
                  <a:srgbClr val="B2BDCD"/>
                </a:solidFill>
                <a:latin typeface="Helvetica Neue" pitchFamily="34" charset="0"/>
                <a:ea typeface="Helvetica Neue" pitchFamily="34" charset="-122"/>
                <a:cs typeface="Helvetica Neue" pitchFamily="34" charset="-120"/>
              </a:rPr>
              <a:t>A conceptual comparison. No timings here, and none implied.</a:t>
            </a:r>
            <a:endParaRPr lang="en-US" sz="1900" dirty="0"/>
          </a:p>
        </p:txBody>
      </p:sp>
      <p:sp>
        <p:nvSpPr>
          <p:cNvPr id="5" name="Text 3"/>
          <p:cNvSpPr/>
          <p:nvPr/>
        </p:nvSpPr>
        <p:spPr>
          <a:xfrm>
            <a:off x="566928" y="2514600"/>
            <a:ext cx="2194560" cy="640080"/>
          </a:xfrm>
          <a:prstGeom prst="rect">
            <a:avLst/>
          </a:prstGeom>
          <a:noFill/>
          <a:ln/>
        </p:spPr>
        <p:txBody>
          <a:bodyPr wrap="square" rtlCol="0" anchor="ctr"/>
          <a:lstStyle/>
          <a:p>
            <a:pPr marL="0" indent="0">
              <a:lnSpc>
                <a:spcPct val="105000"/>
              </a:lnSpc>
              <a:buNone/>
            </a:pPr>
            <a:r>
              <a:rPr lang="en-US" sz="1700" dirty="0">
                <a:solidFill>
                  <a:srgbClr val="B2BDCD"/>
                </a:solidFill>
                <a:latin typeface="Helvetica Neue" pitchFamily="34" charset="0"/>
                <a:ea typeface="Helvetica Neue" pitchFamily="34" charset="-122"/>
                <a:cs typeface="Helvetica Neue" pitchFamily="34" charset="-120"/>
              </a:rPr>
              <a:t>Start immediately</a:t>
            </a:r>
            <a:endParaRPr lang="en-US" sz="1700" dirty="0"/>
          </a:p>
        </p:txBody>
      </p:sp>
      <p:sp>
        <p:nvSpPr>
          <p:cNvPr id="6" name="b01-wipe-lane-unplanned"/>
          <p:cNvSpPr/>
          <p:nvPr/>
        </p:nvSpPr>
        <p:spPr>
          <a:xfrm>
            <a:off x="2926080" y="2514600"/>
            <a:ext cx="1371600" cy="640080"/>
          </a:xfrm>
          <a:prstGeom prst="roundRect">
            <a:avLst>
              <a:gd name="adj" fmla="val 11429"/>
            </a:avLst>
          </a:prstGeom>
          <a:solidFill>
            <a:srgbClr val="0E1219"/>
          </a:solidFill>
          <a:ln w="12700">
            <a:solidFill>
              <a:srgbClr val="232C3A"/>
            </a:solidFill>
            <a:prstDash val="solid"/>
          </a:ln>
        </p:spPr>
        <p:txBody>
          <a:bodyPr/>
          <a:lstStyle/>
          <a:p>
            <a:endParaRPr lang="en-US"/>
          </a:p>
        </p:txBody>
      </p:sp>
      <p:sp>
        <p:nvSpPr>
          <p:cNvPr id="7" name="b01-wipe-lane-unplanned"/>
          <p:cNvSpPr/>
          <p:nvPr/>
        </p:nvSpPr>
        <p:spPr>
          <a:xfrm>
            <a:off x="4462272" y="2514600"/>
            <a:ext cx="1005840" cy="640080"/>
          </a:xfrm>
          <a:prstGeom prst="roundRect">
            <a:avLst>
              <a:gd name="adj" fmla="val 11429"/>
            </a:avLst>
          </a:prstGeom>
          <a:solidFill>
            <a:srgbClr val="3A2E1C"/>
          </a:solidFill>
          <a:ln w="12700">
            <a:solidFill>
              <a:srgbClr val="FFCA83"/>
            </a:solidFill>
            <a:prstDash val="solid"/>
          </a:ln>
        </p:spPr>
        <p:txBody>
          <a:bodyPr/>
          <a:lstStyle/>
          <a:p>
            <a:endParaRPr lang="en-US"/>
          </a:p>
        </p:txBody>
      </p:sp>
      <p:sp>
        <p:nvSpPr>
          <p:cNvPr id="8" name="b01-wipe-lane-unplanned"/>
          <p:cNvSpPr/>
          <p:nvPr/>
        </p:nvSpPr>
        <p:spPr>
          <a:xfrm>
            <a:off x="4462272" y="2514600"/>
            <a:ext cx="1005840" cy="640080"/>
          </a:xfrm>
          <a:prstGeom prst="rect">
            <a:avLst/>
          </a:prstGeom>
          <a:noFill/>
          <a:ln/>
        </p:spPr>
        <p:txBody>
          <a:bodyPr wrap="square" rtlCol="0" anchor="ctr"/>
          <a:lstStyle/>
          <a:p>
            <a:pPr marL="0" indent="0" algn="ctr">
              <a:lnSpc>
                <a:spcPct val="105000"/>
              </a:lnSpc>
              <a:buNone/>
            </a:pPr>
            <a:r>
              <a:rPr lang="en-US" sz="1500" dirty="0">
                <a:solidFill>
                  <a:srgbClr val="FFCA83"/>
                </a:solidFill>
                <a:latin typeface="Helvetica Neue" pitchFamily="34" charset="0"/>
                <a:ea typeface="Helvetica Neue" pitchFamily="34" charset="-122"/>
                <a:cs typeface="Helvetica Neue" pitchFamily="34" charset="-120"/>
              </a:rPr>
              <a:t>rework</a:t>
            </a:r>
            <a:endParaRPr lang="en-US" sz="1500" dirty="0"/>
          </a:p>
        </p:txBody>
      </p:sp>
      <p:sp>
        <p:nvSpPr>
          <p:cNvPr id="9" name="b01-wipe-lane-unplanned"/>
          <p:cNvSpPr/>
          <p:nvPr/>
        </p:nvSpPr>
        <p:spPr>
          <a:xfrm>
            <a:off x="5632704" y="2514600"/>
            <a:ext cx="1645920" cy="640080"/>
          </a:xfrm>
          <a:prstGeom prst="roundRect">
            <a:avLst>
              <a:gd name="adj" fmla="val 11429"/>
            </a:avLst>
          </a:prstGeom>
          <a:solidFill>
            <a:srgbClr val="0E1219"/>
          </a:solidFill>
          <a:ln w="12700">
            <a:solidFill>
              <a:srgbClr val="232C3A"/>
            </a:solidFill>
            <a:prstDash val="solid"/>
          </a:ln>
        </p:spPr>
        <p:txBody>
          <a:bodyPr/>
          <a:lstStyle/>
          <a:p>
            <a:endParaRPr lang="en-US"/>
          </a:p>
        </p:txBody>
      </p:sp>
      <p:sp>
        <p:nvSpPr>
          <p:cNvPr id="10" name="b01-wipe-lane-unplanned"/>
          <p:cNvSpPr/>
          <p:nvPr/>
        </p:nvSpPr>
        <p:spPr>
          <a:xfrm>
            <a:off x="7443216" y="2514600"/>
            <a:ext cx="822960" cy="640080"/>
          </a:xfrm>
          <a:prstGeom prst="roundRect">
            <a:avLst>
              <a:gd name="adj" fmla="val 11429"/>
            </a:avLst>
          </a:prstGeom>
          <a:solidFill>
            <a:srgbClr val="3A2E1C"/>
          </a:solidFill>
          <a:ln w="12700">
            <a:solidFill>
              <a:srgbClr val="FFCA83"/>
            </a:solidFill>
            <a:prstDash val="solid"/>
          </a:ln>
        </p:spPr>
        <p:txBody>
          <a:bodyPr/>
          <a:lstStyle/>
          <a:p>
            <a:endParaRPr lang="en-US"/>
          </a:p>
        </p:txBody>
      </p:sp>
      <p:sp>
        <p:nvSpPr>
          <p:cNvPr id="11" name="b01-wipe-lane-unplanned"/>
          <p:cNvSpPr/>
          <p:nvPr/>
        </p:nvSpPr>
        <p:spPr>
          <a:xfrm>
            <a:off x="7443216" y="2514600"/>
            <a:ext cx="822960" cy="640080"/>
          </a:xfrm>
          <a:prstGeom prst="rect">
            <a:avLst/>
          </a:prstGeom>
          <a:noFill/>
          <a:ln/>
        </p:spPr>
        <p:txBody>
          <a:bodyPr wrap="square" rtlCol="0" anchor="ctr"/>
          <a:lstStyle/>
          <a:p>
            <a:pPr marL="0" indent="0" algn="ctr">
              <a:lnSpc>
                <a:spcPct val="105000"/>
              </a:lnSpc>
              <a:buNone/>
            </a:pPr>
            <a:r>
              <a:rPr lang="en-US" sz="1500" dirty="0">
                <a:solidFill>
                  <a:srgbClr val="FFCA83"/>
                </a:solidFill>
                <a:latin typeface="Helvetica Neue" pitchFamily="34" charset="0"/>
                <a:ea typeface="Helvetica Neue" pitchFamily="34" charset="-122"/>
                <a:cs typeface="Helvetica Neue" pitchFamily="34" charset="-120"/>
              </a:rPr>
              <a:t>rework</a:t>
            </a:r>
            <a:endParaRPr lang="en-US" sz="1500" dirty="0"/>
          </a:p>
        </p:txBody>
      </p:sp>
      <p:sp>
        <p:nvSpPr>
          <p:cNvPr id="12" name="b01-wipe-lane-unplanned"/>
          <p:cNvSpPr/>
          <p:nvPr/>
        </p:nvSpPr>
        <p:spPr>
          <a:xfrm>
            <a:off x="8430768" y="2514600"/>
            <a:ext cx="1463040" cy="640080"/>
          </a:xfrm>
          <a:prstGeom prst="roundRect">
            <a:avLst>
              <a:gd name="adj" fmla="val 11429"/>
            </a:avLst>
          </a:prstGeom>
          <a:solidFill>
            <a:srgbClr val="0E1219"/>
          </a:solidFill>
          <a:ln w="12700">
            <a:solidFill>
              <a:srgbClr val="232C3A"/>
            </a:solidFill>
            <a:prstDash val="solid"/>
          </a:ln>
        </p:spPr>
        <p:txBody>
          <a:bodyPr/>
          <a:lstStyle/>
          <a:p>
            <a:endParaRPr lang="en-US"/>
          </a:p>
        </p:txBody>
      </p:sp>
      <p:sp>
        <p:nvSpPr>
          <p:cNvPr id="13" name="b01-wipe-lane-unplanned"/>
          <p:cNvSpPr/>
          <p:nvPr/>
        </p:nvSpPr>
        <p:spPr>
          <a:xfrm>
            <a:off x="10058400" y="2514600"/>
            <a:ext cx="1097280" cy="640080"/>
          </a:xfrm>
          <a:prstGeom prst="roundRect">
            <a:avLst>
              <a:gd name="adj" fmla="val 11429"/>
            </a:avLst>
          </a:prstGeom>
          <a:solidFill>
            <a:srgbClr val="3A2E1C"/>
          </a:solidFill>
          <a:ln w="12700">
            <a:solidFill>
              <a:srgbClr val="FFCA83"/>
            </a:solidFill>
            <a:prstDash val="solid"/>
          </a:ln>
        </p:spPr>
        <p:txBody>
          <a:bodyPr/>
          <a:lstStyle/>
          <a:p>
            <a:endParaRPr lang="en-US"/>
          </a:p>
        </p:txBody>
      </p:sp>
      <p:sp>
        <p:nvSpPr>
          <p:cNvPr id="14" name="b01-wipe-lane-unplanned"/>
          <p:cNvSpPr/>
          <p:nvPr/>
        </p:nvSpPr>
        <p:spPr>
          <a:xfrm>
            <a:off x="10058400" y="2514600"/>
            <a:ext cx="1097280" cy="640080"/>
          </a:xfrm>
          <a:prstGeom prst="rect">
            <a:avLst/>
          </a:prstGeom>
          <a:noFill/>
          <a:ln/>
        </p:spPr>
        <p:txBody>
          <a:bodyPr wrap="square" rtlCol="0" anchor="ctr"/>
          <a:lstStyle/>
          <a:p>
            <a:pPr marL="0" indent="0" algn="ctr">
              <a:lnSpc>
                <a:spcPct val="105000"/>
              </a:lnSpc>
              <a:buNone/>
            </a:pPr>
            <a:r>
              <a:rPr lang="en-US" sz="1500" dirty="0">
                <a:solidFill>
                  <a:srgbClr val="FFCA83"/>
                </a:solidFill>
                <a:latin typeface="Helvetica Neue" pitchFamily="34" charset="0"/>
                <a:ea typeface="Helvetica Neue" pitchFamily="34" charset="-122"/>
                <a:cs typeface="Helvetica Neue" pitchFamily="34" charset="-120"/>
              </a:rPr>
              <a:t>rework</a:t>
            </a:r>
            <a:endParaRPr lang="en-US" sz="1500" dirty="0"/>
          </a:p>
        </p:txBody>
      </p:sp>
      <p:sp>
        <p:nvSpPr>
          <p:cNvPr id="15" name="b01-wipe-lane-unplanned"/>
          <p:cNvSpPr/>
          <p:nvPr/>
        </p:nvSpPr>
        <p:spPr>
          <a:xfrm>
            <a:off x="2926080" y="3246120"/>
            <a:ext cx="8686800" cy="292608"/>
          </a:xfrm>
          <a:prstGeom prst="rect">
            <a:avLst/>
          </a:prstGeom>
          <a:noFill/>
          <a:ln/>
        </p:spPr>
        <p:txBody>
          <a:bodyPr wrap="square" rtlCol="0" anchor="t"/>
          <a:lstStyle/>
          <a:p>
            <a:pPr marL="0" indent="0">
              <a:lnSpc>
                <a:spcPct val="105000"/>
              </a:lnSpc>
              <a:buNone/>
            </a:pPr>
            <a:r>
              <a:rPr lang="en-US" sz="1500" dirty="0">
                <a:solidFill>
                  <a:srgbClr val="6F7B8D"/>
                </a:solidFill>
                <a:latin typeface="Helvetica Neue" pitchFamily="34" charset="0"/>
                <a:ea typeface="Helvetica Neue" pitchFamily="34" charset="-122"/>
                <a:cs typeface="Helvetica Neue" pitchFamily="34" charset="-120"/>
              </a:rPr>
              <a:t>Checks arrive late, so rework arrives late.</a:t>
            </a:r>
            <a:endParaRPr lang="en-US" sz="1500" dirty="0"/>
          </a:p>
        </p:txBody>
      </p:sp>
      <p:sp>
        <p:nvSpPr>
          <p:cNvPr id="16" name="Text 14"/>
          <p:cNvSpPr/>
          <p:nvPr/>
        </p:nvSpPr>
        <p:spPr>
          <a:xfrm>
            <a:off x="566928" y="4160520"/>
            <a:ext cx="2194560" cy="640080"/>
          </a:xfrm>
          <a:prstGeom prst="rect">
            <a:avLst/>
          </a:prstGeom>
          <a:noFill/>
          <a:ln/>
        </p:spPr>
        <p:txBody>
          <a:bodyPr wrap="square" rtlCol="0" anchor="ctr"/>
          <a:lstStyle/>
          <a:p>
            <a:pPr marL="0" indent="0">
              <a:lnSpc>
                <a:spcPct val="105000"/>
              </a:lnSpc>
              <a:buNone/>
            </a:pPr>
            <a:r>
              <a:rPr lang="en-US" sz="1700" dirty="0">
                <a:solidFill>
                  <a:srgbClr val="B2BDCD"/>
                </a:solidFill>
                <a:latin typeface="Helvetica Neue" pitchFamily="34" charset="0"/>
                <a:ea typeface="Helvetica Neue" pitchFamily="34" charset="-122"/>
                <a:cs typeface="Helvetica Neue" pitchFamily="34" charset="-120"/>
              </a:rPr>
              <a:t>Set up once</a:t>
            </a:r>
            <a:endParaRPr lang="en-US" sz="1700" dirty="0"/>
          </a:p>
        </p:txBody>
      </p:sp>
      <p:sp>
        <p:nvSpPr>
          <p:cNvPr id="17" name="b02-wipe-lane-prepared"/>
          <p:cNvSpPr/>
          <p:nvPr/>
        </p:nvSpPr>
        <p:spPr>
          <a:xfrm>
            <a:off x="2926080" y="4160520"/>
            <a:ext cx="2011680" cy="640080"/>
          </a:xfrm>
          <a:prstGeom prst="roundRect">
            <a:avLst>
              <a:gd name="adj" fmla="val 11429"/>
            </a:avLst>
          </a:prstGeom>
          <a:solidFill>
            <a:srgbClr val="2A2547"/>
          </a:solidFill>
          <a:ln w="12700">
            <a:solidFill>
              <a:srgbClr val="A99AFF"/>
            </a:solidFill>
            <a:prstDash val="solid"/>
          </a:ln>
        </p:spPr>
        <p:txBody>
          <a:bodyPr/>
          <a:lstStyle/>
          <a:p>
            <a:endParaRPr lang="en-US"/>
          </a:p>
        </p:txBody>
      </p:sp>
      <p:sp>
        <p:nvSpPr>
          <p:cNvPr id="18" name="b02-wipe-lane-prepared"/>
          <p:cNvSpPr/>
          <p:nvPr/>
        </p:nvSpPr>
        <p:spPr>
          <a:xfrm>
            <a:off x="2926080" y="4160520"/>
            <a:ext cx="2011680" cy="640080"/>
          </a:xfrm>
          <a:prstGeom prst="rect">
            <a:avLst/>
          </a:prstGeom>
          <a:noFill/>
          <a:ln/>
        </p:spPr>
        <p:txBody>
          <a:bodyPr wrap="square" rtlCol="0" anchor="ctr"/>
          <a:lstStyle/>
          <a:p>
            <a:pPr marL="0" indent="0" algn="ctr">
              <a:lnSpc>
                <a:spcPct val="105000"/>
              </a:lnSpc>
              <a:buNone/>
            </a:pPr>
            <a:r>
              <a:rPr lang="en-US" sz="1500" dirty="0">
                <a:solidFill>
                  <a:srgbClr val="A99AFF"/>
                </a:solidFill>
                <a:latin typeface="Helvetica Neue" pitchFamily="34" charset="0"/>
                <a:ea typeface="Helvetica Neue" pitchFamily="34" charset="-122"/>
                <a:cs typeface="Helvetica Neue" pitchFamily="34" charset="-120"/>
              </a:rPr>
              <a:t>setup</a:t>
            </a:r>
            <a:endParaRPr lang="en-US" sz="1500" dirty="0"/>
          </a:p>
        </p:txBody>
      </p:sp>
      <p:sp>
        <p:nvSpPr>
          <p:cNvPr id="19" name="b02-wipe-lane-prepared"/>
          <p:cNvSpPr/>
          <p:nvPr/>
        </p:nvSpPr>
        <p:spPr>
          <a:xfrm>
            <a:off x="5257800" y="4160520"/>
            <a:ext cx="868680" cy="640080"/>
          </a:xfrm>
          <a:prstGeom prst="roundRect">
            <a:avLst>
              <a:gd name="adj" fmla="val 11429"/>
            </a:avLst>
          </a:prstGeom>
          <a:solidFill>
            <a:srgbClr val="1E3A33"/>
          </a:solidFill>
          <a:ln w="12700">
            <a:solidFill>
              <a:srgbClr val="75EDBB"/>
            </a:solidFill>
            <a:prstDash val="solid"/>
          </a:ln>
        </p:spPr>
        <p:txBody>
          <a:bodyPr/>
          <a:lstStyle/>
          <a:p>
            <a:endParaRPr lang="en-US"/>
          </a:p>
        </p:txBody>
      </p:sp>
      <p:sp>
        <p:nvSpPr>
          <p:cNvPr id="20" name="b02-wipe-lane-prepared"/>
          <p:cNvSpPr/>
          <p:nvPr/>
        </p:nvSpPr>
        <p:spPr>
          <a:xfrm>
            <a:off x="5257800" y="4160520"/>
            <a:ext cx="868680" cy="640080"/>
          </a:xfrm>
          <a:prstGeom prst="rect">
            <a:avLst/>
          </a:prstGeom>
          <a:noFill/>
          <a:ln/>
        </p:spPr>
        <p:txBody>
          <a:bodyPr wrap="square" rtlCol="0" anchor="ctr"/>
          <a:lstStyle/>
          <a:p>
            <a:pPr marL="0" indent="0" algn="ctr">
              <a:lnSpc>
                <a:spcPct val="105000"/>
              </a:lnSpc>
              <a:buNone/>
            </a:pPr>
            <a:r>
              <a:rPr lang="en-US" sz="1500" dirty="0">
                <a:solidFill>
                  <a:srgbClr val="75EDBB"/>
                </a:solidFill>
                <a:latin typeface="Helvetica Neue" pitchFamily="34" charset="0"/>
                <a:ea typeface="Helvetica Neue" pitchFamily="34" charset="-122"/>
                <a:cs typeface="Helvetica Neue" pitchFamily="34" charset="-120"/>
              </a:rPr>
              <a:t>pass</a:t>
            </a:r>
            <a:endParaRPr lang="en-US" sz="1500" dirty="0"/>
          </a:p>
        </p:txBody>
      </p:sp>
      <p:sp>
        <p:nvSpPr>
          <p:cNvPr id="21" name="b02-wipe-lane-prepared"/>
          <p:cNvSpPr/>
          <p:nvPr/>
        </p:nvSpPr>
        <p:spPr>
          <a:xfrm>
            <a:off x="6291072" y="4160520"/>
            <a:ext cx="868680" cy="640080"/>
          </a:xfrm>
          <a:prstGeom prst="roundRect">
            <a:avLst>
              <a:gd name="adj" fmla="val 11429"/>
            </a:avLst>
          </a:prstGeom>
          <a:solidFill>
            <a:srgbClr val="1E3A33"/>
          </a:solidFill>
          <a:ln w="12700">
            <a:solidFill>
              <a:srgbClr val="75EDBB"/>
            </a:solidFill>
            <a:prstDash val="solid"/>
          </a:ln>
        </p:spPr>
        <p:txBody>
          <a:bodyPr/>
          <a:lstStyle/>
          <a:p>
            <a:endParaRPr lang="en-US"/>
          </a:p>
        </p:txBody>
      </p:sp>
      <p:sp>
        <p:nvSpPr>
          <p:cNvPr id="22" name="b02-wipe-lane-prepared"/>
          <p:cNvSpPr/>
          <p:nvPr/>
        </p:nvSpPr>
        <p:spPr>
          <a:xfrm>
            <a:off x="6291072" y="4160520"/>
            <a:ext cx="868680" cy="640080"/>
          </a:xfrm>
          <a:prstGeom prst="rect">
            <a:avLst/>
          </a:prstGeom>
          <a:noFill/>
          <a:ln/>
        </p:spPr>
        <p:txBody>
          <a:bodyPr wrap="square" rtlCol="0" anchor="ctr"/>
          <a:lstStyle/>
          <a:p>
            <a:pPr marL="0" indent="0" algn="ctr">
              <a:lnSpc>
                <a:spcPct val="105000"/>
              </a:lnSpc>
              <a:buNone/>
            </a:pPr>
            <a:r>
              <a:rPr lang="en-US" sz="1500" dirty="0">
                <a:solidFill>
                  <a:srgbClr val="75EDBB"/>
                </a:solidFill>
                <a:latin typeface="Helvetica Neue" pitchFamily="34" charset="0"/>
                <a:ea typeface="Helvetica Neue" pitchFamily="34" charset="-122"/>
                <a:cs typeface="Helvetica Neue" pitchFamily="34" charset="-120"/>
              </a:rPr>
              <a:t>pass</a:t>
            </a:r>
            <a:endParaRPr lang="en-US" sz="1500" dirty="0"/>
          </a:p>
        </p:txBody>
      </p:sp>
      <p:sp>
        <p:nvSpPr>
          <p:cNvPr id="23" name="b02-wipe-lane-prepared"/>
          <p:cNvSpPr/>
          <p:nvPr/>
        </p:nvSpPr>
        <p:spPr>
          <a:xfrm>
            <a:off x="7324344" y="4160520"/>
            <a:ext cx="868680" cy="640080"/>
          </a:xfrm>
          <a:prstGeom prst="roundRect">
            <a:avLst>
              <a:gd name="adj" fmla="val 11429"/>
            </a:avLst>
          </a:prstGeom>
          <a:solidFill>
            <a:srgbClr val="1E3A33"/>
          </a:solidFill>
          <a:ln w="12700">
            <a:solidFill>
              <a:srgbClr val="75EDBB"/>
            </a:solidFill>
            <a:prstDash val="solid"/>
          </a:ln>
        </p:spPr>
        <p:txBody>
          <a:bodyPr/>
          <a:lstStyle/>
          <a:p>
            <a:endParaRPr lang="en-US"/>
          </a:p>
        </p:txBody>
      </p:sp>
      <p:sp>
        <p:nvSpPr>
          <p:cNvPr id="24" name="b02-wipe-lane-prepared"/>
          <p:cNvSpPr/>
          <p:nvPr/>
        </p:nvSpPr>
        <p:spPr>
          <a:xfrm>
            <a:off x="7324344" y="4160520"/>
            <a:ext cx="868680" cy="640080"/>
          </a:xfrm>
          <a:prstGeom prst="rect">
            <a:avLst/>
          </a:prstGeom>
          <a:noFill/>
          <a:ln/>
        </p:spPr>
        <p:txBody>
          <a:bodyPr wrap="square" rtlCol="0" anchor="ctr"/>
          <a:lstStyle/>
          <a:p>
            <a:pPr marL="0" indent="0" algn="ctr">
              <a:lnSpc>
                <a:spcPct val="105000"/>
              </a:lnSpc>
              <a:buNone/>
            </a:pPr>
            <a:r>
              <a:rPr lang="en-US" sz="1500" dirty="0">
                <a:solidFill>
                  <a:srgbClr val="75EDBB"/>
                </a:solidFill>
                <a:latin typeface="Helvetica Neue" pitchFamily="34" charset="0"/>
                <a:ea typeface="Helvetica Neue" pitchFamily="34" charset="-122"/>
                <a:cs typeface="Helvetica Neue" pitchFamily="34" charset="-120"/>
              </a:rPr>
              <a:t>pass</a:t>
            </a:r>
            <a:endParaRPr lang="en-US" sz="1500" dirty="0"/>
          </a:p>
        </p:txBody>
      </p:sp>
      <p:sp>
        <p:nvSpPr>
          <p:cNvPr id="25" name="b02-wipe-lane-prepared"/>
          <p:cNvSpPr/>
          <p:nvPr/>
        </p:nvSpPr>
        <p:spPr>
          <a:xfrm>
            <a:off x="8357616" y="4160520"/>
            <a:ext cx="868680" cy="640080"/>
          </a:xfrm>
          <a:prstGeom prst="roundRect">
            <a:avLst>
              <a:gd name="adj" fmla="val 11429"/>
            </a:avLst>
          </a:prstGeom>
          <a:solidFill>
            <a:srgbClr val="1E3A33"/>
          </a:solidFill>
          <a:ln w="12700">
            <a:solidFill>
              <a:srgbClr val="75EDBB"/>
            </a:solidFill>
            <a:prstDash val="solid"/>
          </a:ln>
        </p:spPr>
        <p:txBody>
          <a:bodyPr/>
          <a:lstStyle/>
          <a:p>
            <a:endParaRPr lang="en-US"/>
          </a:p>
        </p:txBody>
      </p:sp>
      <p:sp>
        <p:nvSpPr>
          <p:cNvPr id="26" name="b02-wipe-lane-prepared"/>
          <p:cNvSpPr/>
          <p:nvPr/>
        </p:nvSpPr>
        <p:spPr>
          <a:xfrm>
            <a:off x="8357616" y="4160520"/>
            <a:ext cx="868680" cy="640080"/>
          </a:xfrm>
          <a:prstGeom prst="rect">
            <a:avLst/>
          </a:prstGeom>
          <a:noFill/>
          <a:ln/>
        </p:spPr>
        <p:txBody>
          <a:bodyPr wrap="square" rtlCol="0" anchor="ctr"/>
          <a:lstStyle/>
          <a:p>
            <a:pPr marL="0" indent="0" algn="ctr">
              <a:lnSpc>
                <a:spcPct val="105000"/>
              </a:lnSpc>
              <a:buNone/>
            </a:pPr>
            <a:r>
              <a:rPr lang="en-US" sz="1500" dirty="0">
                <a:solidFill>
                  <a:srgbClr val="75EDBB"/>
                </a:solidFill>
                <a:latin typeface="Helvetica Neue" pitchFamily="34" charset="0"/>
                <a:ea typeface="Helvetica Neue" pitchFamily="34" charset="-122"/>
                <a:cs typeface="Helvetica Neue" pitchFamily="34" charset="-120"/>
              </a:rPr>
              <a:t>pass</a:t>
            </a:r>
            <a:endParaRPr lang="en-US" sz="1500" dirty="0"/>
          </a:p>
        </p:txBody>
      </p:sp>
      <p:sp>
        <p:nvSpPr>
          <p:cNvPr id="27" name="b02-wipe-lane-prepared"/>
          <p:cNvSpPr/>
          <p:nvPr/>
        </p:nvSpPr>
        <p:spPr>
          <a:xfrm>
            <a:off x="9390888" y="4160520"/>
            <a:ext cx="868680" cy="640080"/>
          </a:xfrm>
          <a:prstGeom prst="roundRect">
            <a:avLst>
              <a:gd name="adj" fmla="val 11429"/>
            </a:avLst>
          </a:prstGeom>
          <a:solidFill>
            <a:srgbClr val="1E3A33"/>
          </a:solidFill>
          <a:ln w="12700">
            <a:solidFill>
              <a:srgbClr val="75EDBB"/>
            </a:solidFill>
            <a:prstDash val="solid"/>
          </a:ln>
        </p:spPr>
        <p:txBody>
          <a:bodyPr/>
          <a:lstStyle/>
          <a:p>
            <a:endParaRPr lang="en-US"/>
          </a:p>
        </p:txBody>
      </p:sp>
      <p:sp>
        <p:nvSpPr>
          <p:cNvPr id="28" name="b02-wipe-lane-prepared"/>
          <p:cNvSpPr/>
          <p:nvPr/>
        </p:nvSpPr>
        <p:spPr>
          <a:xfrm>
            <a:off x="9390888" y="4160520"/>
            <a:ext cx="868680" cy="640080"/>
          </a:xfrm>
          <a:prstGeom prst="rect">
            <a:avLst/>
          </a:prstGeom>
          <a:noFill/>
          <a:ln/>
        </p:spPr>
        <p:txBody>
          <a:bodyPr wrap="square" rtlCol="0" anchor="ctr"/>
          <a:lstStyle/>
          <a:p>
            <a:pPr marL="0" indent="0" algn="ctr">
              <a:lnSpc>
                <a:spcPct val="105000"/>
              </a:lnSpc>
              <a:buNone/>
            </a:pPr>
            <a:r>
              <a:rPr lang="en-US" sz="1500" dirty="0">
                <a:solidFill>
                  <a:srgbClr val="75EDBB"/>
                </a:solidFill>
                <a:latin typeface="Helvetica Neue" pitchFamily="34" charset="0"/>
                <a:ea typeface="Helvetica Neue" pitchFamily="34" charset="-122"/>
                <a:cs typeface="Helvetica Neue" pitchFamily="34" charset="-120"/>
              </a:rPr>
              <a:t>pass</a:t>
            </a:r>
            <a:endParaRPr lang="en-US" sz="1500" dirty="0"/>
          </a:p>
        </p:txBody>
      </p:sp>
      <p:sp>
        <p:nvSpPr>
          <p:cNvPr id="29" name="b02-wipe-lane-prepared"/>
          <p:cNvSpPr/>
          <p:nvPr/>
        </p:nvSpPr>
        <p:spPr>
          <a:xfrm>
            <a:off x="10424160" y="4160520"/>
            <a:ext cx="868680" cy="640080"/>
          </a:xfrm>
          <a:prstGeom prst="roundRect">
            <a:avLst>
              <a:gd name="adj" fmla="val 11429"/>
            </a:avLst>
          </a:prstGeom>
          <a:solidFill>
            <a:srgbClr val="1E3A33"/>
          </a:solidFill>
          <a:ln w="12700">
            <a:solidFill>
              <a:srgbClr val="75EDBB"/>
            </a:solidFill>
            <a:prstDash val="solid"/>
          </a:ln>
        </p:spPr>
        <p:txBody>
          <a:bodyPr/>
          <a:lstStyle/>
          <a:p>
            <a:endParaRPr lang="en-US"/>
          </a:p>
        </p:txBody>
      </p:sp>
      <p:sp>
        <p:nvSpPr>
          <p:cNvPr id="30" name="b02-wipe-lane-prepared"/>
          <p:cNvSpPr/>
          <p:nvPr/>
        </p:nvSpPr>
        <p:spPr>
          <a:xfrm>
            <a:off x="10424160" y="4160520"/>
            <a:ext cx="868680" cy="640080"/>
          </a:xfrm>
          <a:prstGeom prst="rect">
            <a:avLst/>
          </a:prstGeom>
          <a:noFill/>
          <a:ln/>
        </p:spPr>
        <p:txBody>
          <a:bodyPr wrap="square" rtlCol="0" anchor="ctr"/>
          <a:lstStyle/>
          <a:p>
            <a:pPr marL="0" indent="0" algn="ctr">
              <a:lnSpc>
                <a:spcPct val="105000"/>
              </a:lnSpc>
              <a:buNone/>
            </a:pPr>
            <a:r>
              <a:rPr lang="en-US" sz="1500" dirty="0">
                <a:solidFill>
                  <a:srgbClr val="75EDBB"/>
                </a:solidFill>
                <a:latin typeface="Helvetica Neue" pitchFamily="34" charset="0"/>
                <a:ea typeface="Helvetica Neue" pitchFamily="34" charset="-122"/>
                <a:cs typeface="Helvetica Neue" pitchFamily="34" charset="-120"/>
              </a:rPr>
              <a:t>pass</a:t>
            </a:r>
            <a:endParaRPr lang="en-US" sz="1500" dirty="0"/>
          </a:p>
        </p:txBody>
      </p:sp>
      <p:sp>
        <p:nvSpPr>
          <p:cNvPr id="31" name="b02-wipe-lane-prepared"/>
          <p:cNvSpPr/>
          <p:nvPr/>
        </p:nvSpPr>
        <p:spPr>
          <a:xfrm>
            <a:off x="2926080" y="4892040"/>
            <a:ext cx="8686800" cy="292608"/>
          </a:xfrm>
          <a:prstGeom prst="rect">
            <a:avLst/>
          </a:prstGeom>
          <a:noFill/>
          <a:ln/>
        </p:spPr>
        <p:txBody>
          <a:bodyPr wrap="square" rtlCol="0" anchor="t"/>
          <a:lstStyle/>
          <a:p>
            <a:pPr marL="0" indent="0">
              <a:lnSpc>
                <a:spcPct val="105000"/>
              </a:lnSpc>
              <a:buNone/>
            </a:pPr>
            <a:r>
              <a:rPr lang="en-US" sz="1500" dirty="0">
                <a:solidFill>
                  <a:srgbClr val="6F7B8D"/>
                </a:solidFill>
                <a:latin typeface="Helvetica Neue" pitchFamily="34" charset="0"/>
                <a:ea typeface="Helvetica Neue" pitchFamily="34" charset="-122"/>
                <a:cs typeface="Helvetica Neue" pitchFamily="34" charset="-120"/>
              </a:rPr>
              <a:t>Each step is verified before the next one starts.</a:t>
            </a:r>
            <a:endParaRPr lang="en-US" sz="1500" dirty="0"/>
          </a:p>
        </p:txBody>
      </p:sp>
      <p:sp>
        <p:nvSpPr>
          <p:cNvPr id="32" name="b03-rise-proportionality"/>
          <p:cNvSpPr/>
          <p:nvPr/>
        </p:nvSpPr>
        <p:spPr>
          <a:xfrm>
            <a:off x="566928" y="5440680"/>
            <a:ext cx="11064240" cy="621792"/>
          </a:xfrm>
          <a:prstGeom prst="roundRect">
            <a:avLst>
              <a:gd name="adj" fmla="val 19118"/>
            </a:avLst>
          </a:prstGeom>
          <a:solidFill>
            <a:srgbClr val="0E1219"/>
          </a:solidFill>
          <a:ln w="12700">
            <a:solidFill>
              <a:srgbClr val="232C3A"/>
            </a:solidFill>
            <a:prstDash val="solid"/>
          </a:ln>
        </p:spPr>
        <p:txBody>
          <a:bodyPr/>
          <a:lstStyle/>
          <a:p>
            <a:endParaRPr lang="en-US"/>
          </a:p>
        </p:txBody>
      </p:sp>
      <p:sp>
        <p:nvSpPr>
          <p:cNvPr id="33" name="b03-rise-proportionality"/>
          <p:cNvSpPr/>
          <p:nvPr/>
        </p:nvSpPr>
        <p:spPr>
          <a:xfrm>
            <a:off x="841248" y="5440680"/>
            <a:ext cx="10515600" cy="621792"/>
          </a:xfrm>
          <a:prstGeom prst="rect">
            <a:avLst/>
          </a:prstGeom>
          <a:noFill/>
          <a:ln/>
        </p:spPr>
        <p:txBody>
          <a:bodyPr wrap="square" rtlCol="0" anchor="ctr"/>
          <a:lstStyle/>
          <a:p>
            <a:pPr marL="0" indent="0">
              <a:lnSpc>
                <a:spcPct val="105000"/>
              </a:lnSpc>
              <a:buNone/>
            </a:pPr>
            <a:r>
              <a:rPr lang="en-US" sz="1800" dirty="0">
                <a:solidFill>
                  <a:srgbClr val="F3F6FA"/>
                </a:solidFill>
                <a:latin typeface="Helvetica Neue" pitchFamily="34" charset="0"/>
                <a:ea typeface="Helvetica Neue" pitchFamily="34" charset="-122"/>
                <a:cs typeface="Helvetica Neue" pitchFamily="34" charset="-120"/>
              </a:rPr>
              <a:t>Match the effort to the risk. A one-file change does not need a program around it.</a:t>
            </a:r>
            <a:endParaRPr lang="en-US" sz="1800" dirty="0"/>
          </a:p>
        </p:txBody>
      </p:sp>
      <p:sp>
        <p:nvSpPr>
          <p:cNvPr id="34" name="Text 32"/>
          <p:cNvSpPr/>
          <p:nvPr/>
        </p:nvSpPr>
        <p:spPr>
          <a:xfrm>
            <a:off x="566928" y="6391656"/>
            <a:ext cx="8961120" cy="274320"/>
          </a:xfrm>
          <a:prstGeom prst="rect">
            <a:avLst/>
          </a:prstGeom>
          <a:noFill/>
          <a:ln/>
        </p:spPr>
        <p:txBody>
          <a:bodyPr wrap="square" rtlCol="0" anchor="ctr"/>
          <a:lstStyle/>
          <a:p>
            <a:pPr marL="0" indent="0">
              <a:lnSpc>
                <a:spcPct val="105000"/>
              </a:lnSpc>
              <a:buNone/>
            </a:pPr>
            <a:r>
              <a:rPr lang="en-US" sz="1100" dirty="0">
                <a:solidFill>
                  <a:srgbClr val="6F7B8D"/>
                </a:solidFill>
                <a:latin typeface="Helvetica Neue" pitchFamily="34" charset="0"/>
                <a:ea typeface="Helvetica Neue" pitchFamily="34" charset="-122"/>
                <a:cs typeface="Helvetica Neue" pitchFamily="34" charset="-120"/>
              </a:rPr>
              <a:t>Shapes are illustrative. Nothing on this slide is measured.</a:t>
            </a:r>
            <a:endParaRPr lang="en-US" sz="1100" dirty="0"/>
          </a:p>
        </p:txBody>
      </p:sp>
      <p:sp>
        <p:nvSpPr>
          <p:cNvPr id="35" name="Text 33"/>
          <p:cNvSpPr/>
          <p:nvPr/>
        </p:nvSpPr>
        <p:spPr>
          <a:xfrm>
            <a:off x="9692640" y="6391656"/>
            <a:ext cx="1929384" cy="274320"/>
          </a:xfrm>
          <a:prstGeom prst="rect">
            <a:avLst/>
          </a:prstGeom>
          <a:noFill/>
          <a:ln/>
        </p:spPr>
        <p:txBody>
          <a:bodyPr wrap="square" rtlCol="0" anchor="ctr"/>
          <a:lstStyle/>
          <a:p>
            <a:pPr marL="0" indent="0" algn="r">
              <a:lnSpc>
                <a:spcPct val="105000"/>
              </a:lnSpc>
              <a:buNone/>
            </a:pPr>
            <a:r>
              <a:rPr lang="en-US" sz="1100" dirty="0">
                <a:solidFill>
                  <a:srgbClr val="6F7B8D"/>
                </a:solidFill>
                <a:latin typeface="Helvetica Neue" pitchFamily="34" charset="0"/>
                <a:ea typeface="Helvetica Neue" pitchFamily="34" charset="-122"/>
                <a:cs typeface="Helvetica Neue" pitchFamily="34" charset="-120"/>
              </a:rPr>
              <a:t>10 / 20</a:t>
            </a:r>
            <a:endParaRPr lang="en-US" sz="1100"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right)">
                                      <p:cBhvr>
                                        <p:cTn id="7" dur="420"/>
                                        <p:tgtEl>
                                          <p:spTgt spid="6"/>
                                        </p:tgtEl>
                                      </p:cBhvr>
                                    </p:animEffect>
                                  </p:childTnLst>
                                </p:cTn>
                              </p:par>
                              <p:par>
                                <p:cTn id="8" presetID="22" presetClass="entr" presetSubtype="1"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wipe(right)">
                                      <p:cBhvr>
                                        <p:cTn id="10" dur="420"/>
                                        <p:tgtEl>
                                          <p:spTgt spid="7"/>
                                        </p:tgtEl>
                                      </p:cBhvr>
                                    </p:animEffect>
                                  </p:childTnLst>
                                </p:cTn>
                              </p:par>
                              <p:par>
                                <p:cTn id="11" presetID="22" presetClass="entr" presetSubtype="1"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wipe(right)">
                                      <p:cBhvr>
                                        <p:cTn id="13" dur="420"/>
                                        <p:tgtEl>
                                          <p:spTgt spid="8"/>
                                        </p:tgtEl>
                                      </p:cBhvr>
                                    </p:animEffect>
                                  </p:childTnLst>
                                </p:cTn>
                              </p:par>
                              <p:par>
                                <p:cTn id="14" presetID="22" presetClass="entr" presetSubtype="1" fill="hold"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wipe(right)">
                                      <p:cBhvr>
                                        <p:cTn id="16" dur="420"/>
                                        <p:tgtEl>
                                          <p:spTgt spid="9"/>
                                        </p:tgtEl>
                                      </p:cBhvr>
                                    </p:animEffect>
                                  </p:childTnLst>
                                </p:cTn>
                              </p:par>
                              <p:par>
                                <p:cTn id="17" presetID="22" presetClass="entr" presetSubtype="1"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wipe(right)">
                                      <p:cBhvr>
                                        <p:cTn id="19" dur="420"/>
                                        <p:tgtEl>
                                          <p:spTgt spid="10"/>
                                        </p:tgtEl>
                                      </p:cBhvr>
                                    </p:animEffect>
                                  </p:childTnLst>
                                </p:cTn>
                              </p:par>
                              <p:par>
                                <p:cTn id="20" presetID="22" presetClass="entr" presetSubtype="1" fill="hold"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wipe(right)">
                                      <p:cBhvr>
                                        <p:cTn id="22" dur="420"/>
                                        <p:tgtEl>
                                          <p:spTgt spid="11"/>
                                        </p:tgtEl>
                                      </p:cBhvr>
                                    </p:animEffect>
                                  </p:childTnLst>
                                </p:cTn>
                              </p:par>
                              <p:par>
                                <p:cTn id="23" presetID="22" presetClass="entr" presetSubtype="1" fill="hold"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20"/>
                                        <p:tgtEl>
                                          <p:spTgt spid="12"/>
                                        </p:tgtEl>
                                      </p:cBhvr>
                                    </p:animEffect>
                                  </p:childTnLst>
                                </p:cTn>
                              </p:par>
                              <p:par>
                                <p:cTn id="26" presetID="22" presetClass="entr" presetSubtype="1" fill="hold" nodeType="with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wipe(right)">
                                      <p:cBhvr>
                                        <p:cTn id="28" dur="420"/>
                                        <p:tgtEl>
                                          <p:spTgt spid="13"/>
                                        </p:tgtEl>
                                      </p:cBhvr>
                                    </p:animEffect>
                                  </p:childTnLst>
                                </p:cTn>
                              </p:par>
                              <p:par>
                                <p:cTn id="29" presetID="22" presetClass="entr" presetSubtype="1" fill="hold" nodeType="with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wipe(right)">
                                      <p:cBhvr>
                                        <p:cTn id="31" dur="420"/>
                                        <p:tgtEl>
                                          <p:spTgt spid="14"/>
                                        </p:tgtEl>
                                      </p:cBhvr>
                                    </p:animEffect>
                                  </p:childTnLst>
                                </p:cTn>
                              </p:par>
                              <p:par>
                                <p:cTn id="32" presetID="22" presetClass="entr" presetSubtype="1" fill="hold"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wipe(right)">
                                      <p:cBhvr>
                                        <p:cTn id="34" dur="420"/>
                                        <p:tgtEl>
                                          <p:spTgt spid="15"/>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nodeType="click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wipe(right)">
                                      <p:cBhvr>
                                        <p:cTn id="39" dur="420"/>
                                        <p:tgtEl>
                                          <p:spTgt spid="17"/>
                                        </p:tgtEl>
                                      </p:cBhvr>
                                    </p:animEffect>
                                  </p:childTnLst>
                                </p:cTn>
                              </p:par>
                              <p:par>
                                <p:cTn id="40" presetID="22" presetClass="entr" presetSubtype="1" fill="hold" nodeType="with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wipe(right)">
                                      <p:cBhvr>
                                        <p:cTn id="42" dur="420"/>
                                        <p:tgtEl>
                                          <p:spTgt spid="18"/>
                                        </p:tgtEl>
                                      </p:cBhvr>
                                    </p:animEffect>
                                  </p:childTnLst>
                                </p:cTn>
                              </p:par>
                              <p:par>
                                <p:cTn id="43" presetID="22" presetClass="entr" presetSubtype="1" fill="hold" nodeType="withEffect">
                                  <p:stCondLst>
                                    <p:cond delay="0"/>
                                  </p:stCondLst>
                                  <p:childTnLst>
                                    <p:set>
                                      <p:cBhvr>
                                        <p:cTn id="44" dur="1" fill="hold">
                                          <p:stCondLst>
                                            <p:cond delay="0"/>
                                          </p:stCondLst>
                                        </p:cTn>
                                        <p:tgtEl>
                                          <p:spTgt spid="19"/>
                                        </p:tgtEl>
                                        <p:attrNameLst>
                                          <p:attrName>style.visibility</p:attrName>
                                        </p:attrNameLst>
                                      </p:cBhvr>
                                      <p:to>
                                        <p:strVal val="visible"/>
                                      </p:to>
                                    </p:set>
                                    <p:animEffect transition="in" filter="wipe(right)">
                                      <p:cBhvr>
                                        <p:cTn id="45" dur="420"/>
                                        <p:tgtEl>
                                          <p:spTgt spid="19"/>
                                        </p:tgtEl>
                                      </p:cBhvr>
                                    </p:animEffect>
                                  </p:childTnLst>
                                </p:cTn>
                              </p:par>
                              <p:par>
                                <p:cTn id="46" presetID="22" presetClass="entr" presetSubtype="1" fill="hold" nodeType="withEffect">
                                  <p:stCondLst>
                                    <p:cond delay="0"/>
                                  </p:stCondLst>
                                  <p:childTnLst>
                                    <p:set>
                                      <p:cBhvr>
                                        <p:cTn id="47" dur="1" fill="hold">
                                          <p:stCondLst>
                                            <p:cond delay="0"/>
                                          </p:stCondLst>
                                        </p:cTn>
                                        <p:tgtEl>
                                          <p:spTgt spid="20"/>
                                        </p:tgtEl>
                                        <p:attrNameLst>
                                          <p:attrName>style.visibility</p:attrName>
                                        </p:attrNameLst>
                                      </p:cBhvr>
                                      <p:to>
                                        <p:strVal val="visible"/>
                                      </p:to>
                                    </p:set>
                                    <p:animEffect transition="in" filter="wipe(right)">
                                      <p:cBhvr>
                                        <p:cTn id="48" dur="420"/>
                                        <p:tgtEl>
                                          <p:spTgt spid="20"/>
                                        </p:tgtEl>
                                      </p:cBhvr>
                                    </p:animEffect>
                                  </p:childTnLst>
                                </p:cTn>
                              </p:par>
                              <p:par>
                                <p:cTn id="49" presetID="22" presetClass="entr" presetSubtype="1" fill="hold" nodeType="withEffect">
                                  <p:stCondLst>
                                    <p:cond delay="0"/>
                                  </p:stCondLst>
                                  <p:childTnLst>
                                    <p:set>
                                      <p:cBhvr>
                                        <p:cTn id="50" dur="1" fill="hold">
                                          <p:stCondLst>
                                            <p:cond delay="0"/>
                                          </p:stCondLst>
                                        </p:cTn>
                                        <p:tgtEl>
                                          <p:spTgt spid="21"/>
                                        </p:tgtEl>
                                        <p:attrNameLst>
                                          <p:attrName>style.visibility</p:attrName>
                                        </p:attrNameLst>
                                      </p:cBhvr>
                                      <p:to>
                                        <p:strVal val="visible"/>
                                      </p:to>
                                    </p:set>
                                    <p:animEffect transition="in" filter="wipe(right)">
                                      <p:cBhvr>
                                        <p:cTn id="51" dur="420"/>
                                        <p:tgtEl>
                                          <p:spTgt spid="21"/>
                                        </p:tgtEl>
                                      </p:cBhvr>
                                    </p:animEffect>
                                  </p:childTnLst>
                                </p:cTn>
                              </p:par>
                              <p:par>
                                <p:cTn id="52" presetID="22" presetClass="entr" presetSubtype="1" fill="hold" nodeType="withEffect">
                                  <p:stCondLst>
                                    <p:cond delay="0"/>
                                  </p:stCondLst>
                                  <p:childTnLst>
                                    <p:set>
                                      <p:cBhvr>
                                        <p:cTn id="53" dur="1" fill="hold">
                                          <p:stCondLst>
                                            <p:cond delay="0"/>
                                          </p:stCondLst>
                                        </p:cTn>
                                        <p:tgtEl>
                                          <p:spTgt spid="22"/>
                                        </p:tgtEl>
                                        <p:attrNameLst>
                                          <p:attrName>style.visibility</p:attrName>
                                        </p:attrNameLst>
                                      </p:cBhvr>
                                      <p:to>
                                        <p:strVal val="visible"/>
                                      </p:to>
                                    </p:set>
                                    <p:animEffect transition="in" filter="wipe(right)">
                                      <p:cBhvr>
                                        <p:cTn id="54" dur="420"/>
                                        <p:tgtEl>
                                          <p:spTgt spid="22"/>
                                        </p:tgtEl>
                                      </p:cBhvr>
                                    </p:animEffect>
                                  </p:childTnLst>
                                </p:cTn>
                              </p:par>
                              <p:par>
                                <p:cTn id="55" presetID="22" presetClass="entr" presetSubtype="1" fill="hold" nodeType="withEffect">
                                  <p:stCondLst>
                                    <p:cond delay="0"/>
                                  </p:stCondLst>
                                  <p:childTnLst>
                                    <p:set>
                                      <p:cBhvr>
                                        <p:cTn id="56" dur="1" fill="hold">
                                          <p:stCondLst>
                                            <p:cond delay="0"/>
                                          </p:stCondLst>
                                        </p:cTn>
                                        <p:tgtEl>
                                          <p:spTgt spid="23"/>
                                        </p:tgtEl>
                                        <p:attrNameLst>
                                          <p:attrName>style.visibility</p:attrName>
                                        </p:attrNameLst>
                                      </p:cBhvr>
                                      <p:to>
                                        <p:strVal val="visible"/>
                                      </p:to>
                                    </p:set>
                                    <p:animEffect transition="in" filter="wipe(right)">
                                      <p:cBhvr>
                                        <p:cTn id="57" dur="420"/>
                                        <p:tgtEl>
                                          <p:spTgt spid="23"/>
                                        </p:tgtEl>
                                      </p:cBhvr>
                                    </p:animEffect>
                                  </p:childTnLst>
                                </p:cTn>
                              </p:par>
                              <p:par>
                                <p:cTn id="58" presetID="22" presetClass="entr" presetSubtype="1" fill="hold" nodeType="withEffect">
                                  <p:stCondLst>
                                    <p:cond delay="0"/>
                                  </p:stCondLst>
                                  <p:childTnLst>
                                    <p:set>
                                      <p:cBhvr>
                                        <p:cTn id="59" dur="1" fill="hold">
                                          <p:stCondLst>
                                            <p:cond delay="0"/>
                                          </p:stCondLst>
                                        </p:cTn>
                                        <p:tgtEl>
                                          <p:spTgt spid="24"/>
                                        </p:tgtEl>
                                        <p:attrNameLst>
                                          <p:attrName>style.visibility</p:attrName>
                                        </p:attrNameLst>
                                      </p:cBhvr>
                                      <p:to>
                                        <p:strVal val="visible"/>
                                      </p:to>
                                    </p:set>
                                    <p:animEffect transition="in" filter="wipe(right)">
                                      <p:cBhvr>
                                        <p:cTn id="60" dur="420"/>
                                        <p:tgtEl>
                                          <p:spTgt spid="24"/>
                                        </p:tgtEl>
                                      </p:cBhvr>
                                    </p:animEffect>
                                  </p:childTnLst>
                                </p:cTn>
                              </p:par>
                              <p:par>
                                <p:cTn id="61" presetID="22" presetClass="entr" presetSubtype="1" fill="hold" nodeType="withEffect">
                                  <p:stCondLst>
                                    <p:cond delay="0"/>
                                  </p:stCondLst>
                                  <p:childTnLst>
                                    <p:set>
                                      <p:cBhvr>
                                        <p:cTn id="62" dur="1" fill="hold">
                                          <p:stCondLst>
                                            <p:cond delay="0"/>
                                          </p:stCondLst>
                                        </p:cTn>
                                        <p:tgtEl>
                                          <p:spTgt spid="25"/>
                                        </p:tgtEl>
                                        <p:attrNameLst>
                                          <p:attrName>style.visibility</p:attrName>
                                        </p:attrNameLst>
                                      </p:cBhvr>
                                      <p:to>
                                        <p:strVal val="visible"/>
                                      </p:to>
                                    </p:set>
                                    <p:animEffect transition="in" filter="wipe(right)">
                                      <p:cBhvr>
                                        <p:cTn id="63" dur="420"/>
                                        <p:tgtEl>
                                          <p:spTgt spid="25"/>
                                        </p:tgtEl>
                                      </p:cBhvr>
                                    </p:animEffect>
                                  </p:childTnLst>
                                </p:cTn>
                              </p:par>
                              <p:par>
                                <p:cTn id="64" presetID="22" presetClass="entr" presetSubtype="1" fill="hold" nodeType="withEffect">
                                  <p:stCondLst>
                                    <p:cond delay="0"/>
                                  </p:stCondLst>
                                  <p:childTnLst>
                                    <p:set>
                                      <p:cBhvr>
                                        <p:cTn id="65" dur="1" fill="hold">
                                          <p:stCondLst>
                                            <p:cond delay="0"/>
                                          </p:stCondLst>
                                        </p:cTn>
                                        <p:tgtEl>
                                          <p:spTgt spid="26"/>
                                        </p:tgtEl>
                                        <p:attrNameLst>
                                          <p:attrName>style.visibility</p:attrName>
                                        </p:attrNameLst>
                                      </p:cBhvr>
                                      <p:to>
                                        <p:strVal val="visible"/>
                                      </p:to>
                                    </p:set>
                                    <p:animEffect transition="in" filter="wipe(right)">
                                      <p:cBhvr>
                                        <p:cTn id="66" dur="420"/>
                                        <p:tgtEl>
                                          <p:spTgt spid="26"/>
                                        </p:tgtEl>
                                      </p:cBhvr>
                                    </p:animEffect>
                                  </p:childTnLst>
                                </p:cTn>
                              </p:par>
                              <p:par>
                                <p:cTn id="67" presetID="22" presetClass="entr" presetSubtype="1" fill="hold" nodeType="withEffect">
                                  <p:stCondLst>
                                    <p:cond delay="0"/>
                                  </p:stCondLst>
                                  <p:childTnLst>
                                    <p:set>
                                      <p:cBhvr>
                                        <p:cTn id="68" dur="1" fill="hold">
                                          <p:stCondLst>
                                            <p:cond delay="0"/>
                                          </p:stCondLst>
                                        </p:cTn>
                                        <p:tgtEl>
                                          <p:spTgt spid="27"/>
                                        </p:tgtEl>
                                        <p:attrNameLst>
                                          <p:attrName>style.visibility</p:attrName>
                                        </p:attrNameLst>
                                      </p:cBhvr>
                                      <p:to>
                                        <p:strVal val="visible"/>
                                      </p:to>
                                    </p:set>
                                    <p:animEffect transition="in" filter="wipe(right)">
                                      <p:cBhvr>
                                        <p:cTn id="69" dur="420"/>
                                        <p:tgtEl>
                                          <p:spTgt spid="27"/>
                                        </p:tgtEl>
                                      </p:cBhvr>
                                    </p:animEffect>
                                  </p:childTnLst>
                                </p:cTn>
                              </p:par>
                              <p:par>
                                <p:cTn id="70" presetID="22" presetClass="entr" presetSubtype="1" fill="hold" nodeType="withEffect">
                                  <p:stCondLst>
                                    <p:cond delay="0"/>
                                  </p:stCondLst>
                                  <p:childTnLst>
                                    <p:set>
                                      <p:cBhvr>
                                        <p:cTn id="71" dur="1" fill="hold">
                                          <p:stCondLst>
                                            <p:cond delay="0"/>
                                          </p:stCondLst>
                                        </p:cTn>
                                        <p:tgtEl>
                                          <p:spTgt spid="28"/>
                                        </p:tgtEl>
                                        <p:attrNameLst>
                                          <p:attrName>style.visibility</p:attrName>
                                        </p:attrNameLst>
                                      </p:cBhvr>
                                      <p:to>
                                        <p:strVal val="visible"/>
                                      </p:to>
                                    </p:set>
                                    <p:animEffect transition="in" filter="wipe(right)">
                                      <p:cBhvr>
                                        <p:cTn id="72" dur="420"/>
                                        <p:tgtEl>
                                          <p:spTgt spid="28"/>
                                        </p:tgtEl>
                                      </p:cBhvr>
                                    </p:animEffect>
                                  </p:childTnLst>
                                </p:cTn>
                              </p:par>
                              <p:par>
                                <p:cTn id="73" presetID="22" presetClass="entr" presetSubtype="1" fill="hold" nodeType="withEffect">
                                  <p:stCondLst>
                                    <p:cond delay="0"/>
                                  </p:stCondLst>
                                  <p:childTnLst>
                                    <p:set>
                                      <p:cBhvr>
                                        <p:cTn id="74" dur="1" fill="hold">
                                          <p:stCondLst>
                                            <p:cond delay="0"/>
                                          </p:stCondLst>
                                        </p:cTn>
                                        <p:tgtEl>
                                          <p:spTgt spid="29"/>
                                        </p:tgtEl>
                                        <p:attrNameLst>
                                          <p:attrName>style.visibility</p:attrName>
                                        </p:attrNameLst>
                                      </p:cBhvr>
                                      <p:to>
                                        <p:strVal val="visible"/>
                                      </p:to>
                                    </p:set>
                                    <p:animEffect transition="in" filter="wipe(right)">
                                      <p:cBhvr>
                                        <p:cTn id="75" dur="420"/>
                                        <p:tgtEl>
                                          <p:spTgt spid="29"/>
                                        </p:tgtEl>
                                      </p:cBhvr>
                                    </p:animEffect>
                                  </p:childTnLst>
                                </p:cTn>
                              </p:par>
                              <p:par>
                                <p:cTn id="76" presetID="22" presetClass="entr" presetSubtype="1" fill="hold" nodeType="withEffect">
                                  <p:stCondLst>
                                    <p:cond delay="0"/>
                                  </p:stCondLst>
                                  <p:childTnLst>
                                    <p:set>
                                      <p:cBhvr>
                                        <p:cTn id="77" dur="1" fill="hold">
                                          <p:stCondLst>
                                            <p:cond delay="0"/>
                                          </p:stCondLst>
                                        </p:cTn>
                                        <p:tgtEl>
                                          <p:spTgt spid="30"/>
                                        </p:tgtEl>
                                        <p:attrNameLst>
                                          <p:attrName>style.visibility</p:attrName>
                                        </p:attrNameLst>
                                      </p:cBhvr>
                                      <p:to>
                                        <p:strVal val="visible"/>
                                      </p:to>
                                    </p:set>
                                    <p:animEffect transition="in" filter="wipe(right)">
                                      <p:cBhvr>
                                        <p:cTn id="78" dur="420"/>
                                        <p:tgtEl>
                                          <p:spTgt spid="30"/>
                                        </p:tgtEl>
                                      </p:cBhvr>
                                    </p:animEffect>
                                  </p:childTnLst>
                                </p:cTn>
                              </p:par>
                              <p:par>
                                <p:cTn id="79" presetID="22" presetClass="entr" presetSubtype="1" fill="hold" nodeType="withEffect">
                                  <p:stCondLst>
                                    <p:cond delay="0"/>
                                  </p:stCondLst>
                                  <p:childTnLst>
                                    <p:set>
                                      <p:cBhvr>
                                        <p:cTn id="80" dur="1" fill="hold">
                                          <p:stCondLst>
                                            <p:cond delay="0"/>
                                          </p:stCondLst>
                                        </p:cTn>
                                        <p:tgtEl>
                                          <p:spTgt spid="31"/>
                                        </p:tgtEl>
                                        <p:attrNameLst>
                                          <p:attrName>style.visibility</p:attrName>
                                        </p:attrNameLst>
                                      </p:cBhvr>
                                      <p:to>
                                        <p:strVal val="visible"/>
                                      </p:to>
                                    </p:set>
                                    <p:animEffect transition="in" filter="wipe(right)">
                                      <p:cBhvr>
                                        <p:cTn id="81" dur="420"/>
                                        <p:tgtEl>
                                          <p:spTgt spid="31"/>
                                        </p:tgtEl>
                                      </p:cBhvr>
                                    </p:animEffect>
                                  </p:childTnLst>
                                </p:cTn>
                              </p:par>
                            </p:childTnLst>
                          </p:cTn>
                        </p:par>
                      </p:childTnLst>
                    </p:cTn>
                  </p:par>
                  <p:par>
                    <p:cTn id="82" fill="hold">
                      <p:stCondLst>
                        <p:cond delay="indefinite"/>
                      </p:stCondLst>
                      <p:childTnLst>
                        <p:par>
                          <p:cTn id="83" fill="hold">
                            <p:stCondLst>
                              <p:cond delay="0"/>
                            </p:stCondLst>
                            <p:childTnLst>
                              <p:par>
                                <p:cTn id="84" presetID="42" presetClass="entr" presetSubtype="0" fill="hold" nodeType="clickEffect">
                                  <p:stCondLst>
                                    <p:cond delay="0"/>
                                  </p:stCondLst>
                                  <p:childTnLst>
                                    <p:set>
                                      <p:cBhvr>
                                        <p:cTn id="85" dur="1" fill="hold">
                                          <p:stCondLst>
                                            <p:cond delay="0"/>
                                          </p:stCondLst>
                                        </p:cTn>
                                        <p:tgtEl>
                                          <p:spTgt spid="32"/>
                                        </p:tgtEl>
                                        <p:attrNameLst>
                                          <p:attrName>style.visibility</p:attrName>
                                        </p:attrNameLst>
                                      </p:cBhvr>
                                      <p:to>
                                        <p:strVal val="visible"/>
                                      </p:to>
                                    </p:set>
                                    <p:anim calcmode="lin" valueType="num">
                                      <p:cBhvr additive="base">
                                        <p:cTn id="86" dur="420" decel="60000" fill="hold"/>
                                        <p:tgtEl>
                                          <p:spTgt spid="32"/>
                                        </p:tgtEl>
                                        <p:attrNameLst>
                                          <p:attrName>ppt_y</p:attrName>
                                        </p:attrNameLst>
                                      </p:cBhvr>
                                      <p:tavLst>
                                        <p:tav tm="0">
                                          <p:val>
                                            <p:strVal val="#ppt_y+.014"/>
                                          </p:val>
                                        </p:tav>
                                        <p:tav tm="100000">
                                          <p:val>
                                            <p:strVal val="#ppt_y"/>
                                          </p:val>
                                        </p:tav>
                                      </p:tavLst>
                                    </p:anim>
                                    <p:animEffect transition="in" filter="fade">
                                      <p:cBhvr>
                                        <p:cTn id="87" dur="420"/>
                                        <p:tgtEl>
                                          <p:spTgt spid="32"/>
                                        </p:tgtEl>
                                      </p:cBhvr>
                                    </p:animEffect>
                                  </p:childTnLst>
                                </p:cTn>
                              </p:par>
                              <p:par>
                                <p:cTn id="88" presetID="42" presetClass="entr" presetSubtype="0" fill="hold" nodeType="withEffect">
                                  <p:stCondLst>
                                    <p:cond delay="0"/>
                                  </p:stCondLst>
                                  <p:childTnLst>
                                    <p:set>
                                      <p:cBhvr>
                                        <p:cTn id="89" dur="1" fill="hold">
                                          <p:stCondLst>
                                            <p:cond delay="0"/>
                                          </p:stCondLst>
                                        </p:cTn>
                                        <p:tgtEl>
                                          <p:spTgt spid="33"/>
                                        </p:tgtEl>
                                        <p:attrNameLst>
                                          <p:attrName>style.visibility</p:attrName>
                                        </p:attrNameLst>
                                      </p:cBhvr>
                                      <p:to>
                                        <p:strVal val="visible"/>
                                      </p:to>
                                    </p:set>
                                    <p:anim calcmode="lin" valueType="num">
                                      <p:cBhvr additive="base">
                                        <p:cTn id="90" dur="420" decel="60000" fill="hold"/>
                                        <p:tgtEl>
                                          <p:spTgt spid="33"/>
                                        </p:tgtEl>
                                        <p:attrNameLst>
                                          <p:attrName>ppt_y</p:attrName>
                                        </p:attrNameLst>
                                      </p:cBhvr>
                                      <p:tavLst>
                                        <p:tav tm="0">
                                          <p:val>
                                            <p:strVal val="#ppt_y+.014"/>
                                          </p:val>
                                        </p:tav>
                                        <p:tav tm="100000">
                                          <p:val>
                                            <p:strVal val="#ppt_y"/>
                                          </p:val>
                                        </p:tav>
                                      </p:tavLst>
                                    </p:anim>
                                    <p:animEffect transition="in" filter="fade">
                                      <p:cBhvr>
                                        <p:cTn id="91" dur="42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7090D"/>
        </a:solidFill>
        <a:effectLst/>
      </p:bgPr>
    </p:bg>
    <p:spTree>
      <p:nvGrpSpPr>
        <p:cNvPr id="1" name=""/>
        <p:cNvGrpSpPr/>
        <p:nvPr/>
      </p:nvGrpSpPr>
      <p:grpSpPr>
        <a:xfrm>
          <a:off x="0" y="0"/>
          <a:ext cx="0" cy="0"/>
          <a:chOff x="0" y="0"/>
          <a:chExt cx="0" cy="0"/>
        </a:xfrm>
      </p:grpSpPr>
      <p:sp>
        <p:nvSpPr>
          <p:cNvPr id="2" name="Text 0"/>
          <p:cNvSpPr/>
          <p:nvPr/>
        </p:nvSpPr>
        <p:spPr>
          <a:xfrm>
            <a:off x="566928" y="274320"/>
            <a:ext cx="10607040" cy="274320"/>
          </a:xfrm>
          <a:prstGeom prst="rect">
            <a:avLst/>
          </a:prstGeom>
          <a:noFill/>
          <a:ln/>
        </p:spPr>
        <p:txBody>
          <a:bodyPr wrap="square" rtlCol="0" anchor="t"/>
          <a:lstStyle/>
          <a:p>
            <a:pPr marL="0" indent="0">
              <a:lnSpc>
                <a:spcPct val="105000"/>
              </a:lnSpc>
              <a:buNone/>
            </a:pPr>
            <a:r>
              <a:rPr lang="en-US" sz="1200" b="1" kern="0" spc="260" dirty="0">
                <a:solidFill>
                  <a:srgbClr val="75EDBB"/>
                </a:solidFill>
                <a:latin typeface="Helvetica Neue" pitchFamily="34" charset="0"/>
                <a:ea typeface="Helvetica Neue" pitchFamily="34" charset="-122"/>
                <a:cs typeface="Helvetica Neue" pitchFamily="34" charset="-120"/>
              </a:rPr>
              <a:t>SETUP</a:t>
            </a:r>
            <a:endParaRPr lang="en-US" sz="1200" dirty="0"/>
          </a:p>
        </p:txBody>
      </p:sp>
      <p:sp>
        <p:nvSpPr>
          <p:cNvPr id="3" name="Text 1"/>
          <p:cNvSpPr/>
          <p:nvPr/>
        </p:nvSpPr>
        <p:spPr>
          <a:xfrm>
            <a:off x="566928" y="585216"/>
            <a:ext cx="10789920" cy="731520"/>
          </a:xfrm>
          <a:prstGeom prst="rect">
            <a:avLst/>
          </a:prstGeom>
          <a:noFill/>
          <a:ln/>
        </p:spPr>
        <p:txBody>
          <a:bodyPr wrap="square" rtlCol="0" anchor="ctr"/>
          <a:lstStyle/>
          <a:p>
            <a:pPr marL="0" indent="0">
              <a:lnSpc>
                <a:spcPct val="95000"/>
              </a:lnSpc>
              <a:buNone/>
            </a:pPr>
            <a:r>
              <a:rPr lang="en-US" sz="3800" dirty="0">
                <a:solidFill>
                  <a:srgbClr val="F3F6FA"/>
                </a:solidFill>
                <a:latin typeface="Avenir Next" pitchFamily="34" charset="0"/>
                <a:ea typeface="Avenir Next" pitchFamily="34" charset="-122"/>
                <a:cs typeface="Avenir Next" pitchFamily="34" charset="-120"/>
              </a:rPr>
              <a:t>Build the rig before the feature</a:t>
            </a:r>
            <a:endParaRPr lang="en-US" sz="3800" dirty="0"/>
          </a:p>
        </p:txBody>
      </p:sp>
      <p:sp>
        <p:nvSpPr>
          <p:cNvPr id="4" name="Text 2"/>
          <p:cNvSpPr/>
          <p:nvPr/>
        </p:nvSpPr>
        <p:spPr>
          <a:xfrm>
            <a:off x="566928" y="1335024"/>
            <a:ext cx="9692640" cy="384048"/>
          </a:xfrm>
          <a:prstGeom prst="rect">
            <a:avLst/>
          </a:prstGeom>
          <a:noFill/>
          <a:ln/>
        </p:spPr>
        <p:txBody>
          <a:bodyPr wrap="square" rtlCol="0" anchor="t"/>
          <a:lstStyle/>
          <a:p>
            <a:pPr marL="0" indent="0">
              <a:lnSpc>
                <a:spcPct val="105000"/>
              </a:lnSpc>
              <a:buNone/>
            </a:pPr>
            <a:r>
              <a:rPr lang="en-US" sz="1900" dirty="0">
                <a:solidFill>
                  <a:srgbClr val="B2BDCD"/>
                </a:solidFill>
                <a:latin typeface="Helvetica Neue" pitchFamily="34" charset="0"/>
                <a:ea typeface="Helvetica Neue" pitchFamily="34" charset="-122"/>
                <a:cs typeface="Helvetica Neue" pitchFamily="34" charset="-120"/>
              </a:rPr>
              <a:t>Give the agent a way to check its own work.</a:t>
            </a:r>
            <a:endParaRPr lang="en-US" sz="1900" dirty="0"/>
          </a:p>
        </p:txBody>
      </p:sp>
      <p:sp>
        <p:nvSpPr>
          <p:cNvPr id="5" name="Shape 3"/>
          <p:cNvSpPr/>
          <p:nvPr/>
        </p:nvSpPr>
        <p:spPr>
          <a:xfrm>
            <a:off x="566928" y="2011680"/>
            <a:ext cx="6766560" cy="3200400"/>
          </a:xfrm>
          <a:prstGeom prst="roundRect">
            <a:avLst>
              <a:gd name="adj" fmla="val 5714"/>
            </a:avLst>
          </a:prstGeom>
          <a:solidFill>
            <a:srgbClr val="0A0D13"/>
          </a:solidFill>
          <a:ln w="12700">
            <a:solidFill>
              <a:srgbClr val="232C3A"/>
            </a:solidFill>
            <a:prstDash val="solid"/>
          </a:ln>
        </p:spPr>
        <p:txBody>
          <a:bodyPr/>
          <a:lstStyle/>
          <a:p>
            <a:endParaRPr lang="en-US"/>
          </a:p>
        </p:txBody>
      </p:sp>
      <p:sp>
        <p:nvSpPr>
          <p:cNvPr id="6" name="Text 4"/>
          <p:cNvSpPr/>
          <p:nvPr/>
        </p:nvSpPr>
        <p:spPr>
          <a:xfrm>
            <a:off x="868680" y="2176272"/>
            <a:ext cx="6126480" cy="274320"/>
          </a:xfrm>
          <a:prstGeom prst="rect">
            <a:avLst/>
          </a:prstGeom>
          <a:noFill/>
          <a:ln/>
        </p:spPr>
        <p:txBody>
          <a:bodyPr wrap="square" rtlCol="0" anchor="t"/>
          <a:lstStyle/>
          <a:p>
            <a:pPr marL="0" indent="0">
              <a:lnSpc>
                <a:spcPct val="105000"/>
              </a:lnSpc>
              <a:buNone/>
            </a:pPr>
            <a:r>
              <a:rPr lang="en-US" sz="1200" b="1" kern="0" spc="200" dirty="0">
                <a:solidFill>
                  <a:srgbClr val="75EDBB"/>
                </a:solidFill>
                <a:latin typeface="Helvetica Neue" pitchFamily="34" charset="0"/>
                <a:ea typeface="Helvetica Neue" pitchFamily="34" charset="-122"/>
                <a:cs typeface="Helvetica Neue" pitchFamily="34" charset="-120"/>
              </a:rPr>
              <a:t>LOCAL CONTAINER</a:t>
            </a:r>
            <a:endParaRPr lang="en-US" sz="1200" dirty="0"/>
          </a:p>
        </p:txBody>
      </p:sp>
      <p:sp>
        <p:nvSpPr>
          <p:cNvPr id="7" name="b01-rise-rig-contents"/>
          <p:cNvSpPr/>
          <p:nvPr/>
        </p:nvSpPr>
        <p:spPr>
          <a:xfrm>
            <a:off x="868680" y="2606040"/>
            <a:ext cx="6163056" cy="685800"/>
          </a:xfrm>
          <a:prstGeom prst="roundRect">
            <a:avLst>
              <a:gd name="adj" fmla="val 13333"/>
            </a:avLst>
          </a:prstGeom>
          <a:solidFill>
            <a:srgbClr val="0E1219"/>
          </a:solidFill>
          <a:ln w="12700">
            <a:solidFill>
              <a:srgbClr val="232C3A"/>
            </a:solidFill>
            <a:prstDash val="solid"/>
          </a:ln>
        </p:spPr>
        <p:txBody>
          <a:bodyPr/>
          <a:lstStyle/>
          <a:p>
            <a:endParaRPr lang="en-US"/>
          </a:p>
        </p:txBody>
      </p:sp>
      <p:sp>
        <p:nvSpPr>
          <p:cNvPr id="8" name="b01-rise-rig-contents"/>
          <p:cNvSpPr/>
          <p:nvPr/>
        </p:nvSpPr>
        <p:spPr>
          <a:xfrm>
            <a:off x="1014984" y="2606040"/>
            <a:ext cx="5870448" cy="685800"/>
          </a:xfrm>
          <a:prstGeom prst="rect">
            <a:avLst/>
          </a:prstGeom>
          <a:noFill/>
          <a:ln/>
        </p:spPr>
        <p:txBody>
          <a:bodyPr wrap="square" rtlCol="0" anchor="ctr"/>
          <a:lstStyle/>
          <a:p>
            <a:pPr marL="0" indent="0" algn="l">
              <a:lnSpc>
                <a:spcPct val="105000"/>
              </a:lnSpc>
              <a:buNone/>
            </a:pPr>
            <a:r>
              <a:rPr lang="en-US" sz="1800" dirty="0">
                <a:solidFill>
                  <a:srgbClr val="F3F6FA"/>
                </a:solidFill>
                <a:latin typeface="Helvetica Neue" pitchFamily="34" charset="0"/>
                <a:ea typeface="Helvetica Neue" pitchFamily="34" charset="-122"/>
                <a:cs typeface="Helvetica Neue" pitchFamily="34" charset="-120"/>
              </a:rPr>
              <a:t>Deterministic fixture</a:t>
            </a:r>
            <a:endParaRPr lang="en-US" sz="1800" dirty="0"/>
          </a:p>
        </p:txBody>
      </p:sp>
      <p:sp>
        <p:nvSpPr>
          <p:cNvPr id="9" name="b01-rise-rig-contents"/>
          <p:cNvSpPr/>
          <p:nvPr/>
        </p:nvSpPr>
        <p:spPr>
          <a:xfrm>
            <a:off x="868680" y="3429000"/>
            <a:ext cx="6163056" cy="685800"/>
          </a:xfrm>
          <a:prstGeom prst="roundRect">
            <a:avLst>
              <a:gd name="adj" fmla="val 13333"/>
            </a:avLst>
          </a:prstGeom>
          <a:solidFill>
            <a:srgbClr val="0E1219"/>
          </a:solidFill>
          <a:ln w="12700">
            <a:solidFill>
              <a:srgbClr val="232C3A"/>
            </a:solidFill>
            <a:prstDash val="solid"/>
          </a:ln>
        </p:spPr>
        <p:txBody>
          <a:bodyPr/>
          <a:lstStyle/>
          <a:p>
            <a:endParaRPr lang="en-US"/>
          </a:p>
        </p:txBody>
      </p:sp>
      <p:sp>
        <p:nvSpPr>
          <p:cNvPr id="10" name="b01-rise-rig-contents"/>
          <p:cNvSpPr/>
          <p:nvPr/>
        </p:nvSpPr>
        <p:spPr>
          <a:xfrm>
            <a:off x="1014984" y="3429000"/>
            <a:ext cx="5870448" cy="685800"/>
          </a:xfrm>
          <a:prstGeom prst="rect">
            <a:avLst/>
          </a:prstGeom>
          <a:noFill/>
          <a:ln/>
        </p:spPr>
        <p:txBody>
          <a:bodyPr wrap="square" rtlCol="0" anchor="ctr"/>
          <a:lstStyle/>
          <a:p>
            <a:pPr marL="0" indent="0" algn="l">
              <a:lnSpc>
                <a:spcPct val="105000"/>
              </a:lnSpc>
              <a:buNone/>
            </a:pPr>
            <a:r>
              <a:rPr lang="en-US" sz="1800" dirty="0">
                <a:solidFill>
                  <a:srgbClr val="F3F6FA"/>
                </a:solidFill>
                <a:latin typeface="Helvetica Neue" pitchFamily="34" charset="0"/>
                <a:ea typeface="Helvetica Neue" pitchFamily="34" charset="-122"/>
                <a:cs typeface="Helvetica Neue" pitchFamily="34" charset="-120"/>
              </a:rPr>
              <a:t>One command runs the checks</a:t>
            </a:r>
            <a:endParaRPr lang="en-US" sz="1800" dirty="0"/>
          </a:p>
        </p:txBody>
      </p:sp>
      <p:sp>
        <p:nvSpPr>
          <p:cNvPr id="11" name="b01-rise-rig-contents"/>
          <p:cNvSpPr/>
          <p:nvPr/>
        </p:nvSpPr>
        <p:spPr>
          <a:xfrm>
            <a:off x="868680" y="4251960"/>
            <a:ext cx="6163056" cy="685800"/>
          </a:xfrm>
          <a:prstGeom prst="roundRect">
            <a:avLst>
              <a:gd name="adj" fmla="val 13333"/>
            </a:avLst>
          </a:prstGeom>
          <a:solidFill>
            <a:srgbClr val="0E1219"/>
          </a:solidFill>
          <a:ln w="12700">
            <a:solidFill>
              <a:srgbClr val="232C3A"/>
            </a:solidFill>
            <a:prstDash val="solid"/>
          </a:ln>
        </p:spPr>
        <p:txBody>
          <a:bodyPr/>
          <a:lstStyle/>
          <a:p>
            <a:endParaRPr lang="en-US"/>
          </a:p>
        </p:txBody>
      </p:sp>
      <p:sp>
        <p:nvSpPr>
          <p:cNvPr id="12" name="b01-rise-rig-contents"/>
          <p:cNvSpPr/>
          <p:nvPr/>
        </p:nvSpPr>
        <p:spPr>
          <a:xfrm>
            <a:off x="1014984" y="4251960"/>
            <a:ext cx="5870448" cy="685800"/>
          </a:xfrm>
          <a:prstGeom prst="rect">
            <a:avLst/>
          </a:prstGeom>
          <a:noFill/>
          <a:ln/>
        </p:spPr>
        <p:txBody>
          <a:bodyPr wrap="square" rtlCol="0" anchor="ctr"/>
          <a:lstStyle/>
          <a:p>
            <a:pPr marL="0" indent="0" algn="l">
              <a:lnSpc>
                <a:spcPct val="105000"/>
              </a:lnSpc>
              <a:buNone/>
            </a:pPr>
            <a:r>
              <a:rPr lang="en-US" sz="1800" dirty="0">
                <a:solidFill>
                  <a:srgbClr val="F3F6FA"/>
                </a:solidFill>
                <a:latin typeface="Helvetica Neue" pitchFamily="34" charset="0"/>
                <a:ea typeface="Helvetica Neue" pitchFamily="34" charset="-122"/>
                <a:cs typeface="Helvetica Neue" pitchFamily="34" charset="-120"/>
              </a:rPr>
              <a:t>A report that names the failing case</a:t>
            </a:r>
            <a:endParaRPr lang="en-US" sz="1800" dirty="0"/>
          </a:p>
        </p:txBody>
      </p:sp>
      <p:sp>
        <p:nvSpPr>
          <p:cNvPr id="13" name="b02-fade-inner-loop-stubs"/>
          <p:cNvSpPr/>
          <p:nvPr/>
        </p:nvSpPr>
        <p:spPr>
          <a:xfrm>
            <a:off x="7589520" y="2011680"/>
            <a:ext cx="4023360" cy="1463040"/>
          </a:xfrm>
          <a:prstGeom prst="roundRect">
            <a:avLst>
              <a:gd name="adj" fmla="val 8125"/>
            </a:avLst>
          </a:prstGeom>
          <a:solidFill>
            <a:srgbClr val="0E1219"/>
          </a:solidFill>
          <a:ln w="12700">
            <a:solidFill>
              <a:srgbClr val="1A212C"/>
            </a:solidFill>
            <a:prstDash val="solid"/>
          </a:ln>
        </p:spPr>
        <p:txBody>
          <a:bodyPr/>
          <a:lstStyle/>
          <a:p>
            <a:endParaRPr lang="en-US"/>
          </a:p>
        </p:txBody>
      </p:sp>
      <p:sp>
        <p:nvSpPr>
          <p:cNvPr id="14" name="b02-fade-inner-loop-stubs"/>
          <p:cNvSpPr/>
          <p:nvPr/>
        </p:nvSpPr>
        <p:spPr>
          <a:xfrm>
            <a:off x="7845552" y="2212848"/>
            <a:ext cx="3511296" cy="237744"/>
          </a:xfrm>
          <a:prstGeom prst="rect">
            <a:avLst/>
          </a:prstGeom>
          <a:noFill/>
          <a:ln/>
        </p:spPr>
        <p:txBody>
          <a:bodyPr wrap="square" rtlCol="0" anchor="t"/>
          <a:lstStyle/>
          <a:p>
            <a:pPr marL="0" indent="0">
              <a:lnSpc>
                <a:spcPct val="105000"/>
              </a:lnSpc>
              <a:buNone/>
            </a:pPr>
            <a:r>
              <a:rPr lang="en-US" sz="1100" b="1" kern="0" spc="200" dirty="0">
                <a:solidFill>
                  <a:srgbClr val="A99AFF"/>
                </a:solidFill>
                <a:latin typeface="Helvetica Neue" pitchFamily="34" charset="0"/>
                <a:ea typeface="Helvetica Neue" pitchFamily="34" charset="-122"/>
                <a:cs typeface="Helvetica Neue" pitchFamily="34" charset="-120"/>
              </a:rPr>
              <a:t>STUBBED FOR THE INNER LOOP</a:t>
            </a:r>
            <a:endParaRPr lang="en-US" sz="1100" dirty="0"/>
          </a:p>
        </p:txBody>
      </p:sp>
      <p:sp>
        <p:nvSpPr>
          <p:cNvPr id="15" name="b02-fade-inner-loop-stubs"/>
          <p:cNvSpPr/>
          <p:nvPr/>
        </p:nvSpPr>
        <p:spPr>
          <a:xfrm>
            <a:off x="7845552" y="2523744"/>
            <a:ext cx="3511296" cy="804672"/>
          </a:xfrm>
          <a:prstGeom prst="rect">
            <a:avLst/>
          </a:prstGeom>
          <a:noFill/>
          <a:ln/>
        </p:spPr>
        <p:txBody>
          <a:bodyPr wrap="square" rtlCol="0" anchor="t"/>
          <a:lstStyle/>
          <a:p>
            <a:pPr marL="0" indent="0">
              <a:lnSpc>
                <a:spcPct val="105000"/>
              </a:lnSpc>
              <a:buNone/>
            </a:pPr>
            <a:r>
              <a:rPr lang="en-US" sz="1700" dirty="0">
                <a:solidFill>
                  <a:srgbClr val="B2BDCD"/>
                </a:solidFill>
                <a:latin typeface="Helvetica Neue" pitchFamily="34" charset="0"/>
                <a:ea typeface="Helvetica Neue" pitchFamily="34" charset="-122"/>
                <a:cs typeface="Helvetica Neue" pitchFamily="34" charset="-120"/>
              </a:rPr>
              <a:t>payment gateway, mail, identity provider</a:t>
            </a:r>
            <a:endParaRPr lang="en-US" sz="1700" dirty="0"/>
          </a:p>
        </p:txBody>
      </p:sp>
      <p:sp>
        <p:nvSpPr>
          <p:cNvPr id="16" name="b03-rise-final-gate"/>
          <p:cNvSpPr/>
          <p:nvPr/>
        </p:nvSpPr>
        <p:spPr>
          <a:xfrm>
            <a:off x="7589520" y="3749040"/>
            <a:ext cx="4023360" cy="1463040"/>
          </a:xfrm>
          <a:prstGeom prst="roundRect">
            <a:avLst>
              <a:gd name="adj" fmla="val 8125"/>
            </a:avLst>
          </a:prstGeom>
          <a:solidFill>
            <a:srgbClr val="0E1219"/>
          </a:solidFill>
          <a:ln w="12700">
            <a:solidFill>
              <a:srgbClr val="75EDBB"/>
            </a:solidFill>
            <a:prstDash val="solid"/>
          </a:ln>
        </p:spPr>
        <p:txBody>
          <a:bodyPr/>
          <a:lstStyle/>
          <a:p>
            <a:endParaRPr lang="en-US"/>
          </a:p>
        </p:txBody>
      </p:sp>
      <p:sp>
        <p:nvSpPr>
          <p:cNvPr id="17" name="b03-rise-final-gate"/>
          <p:cNvSpPr/>
          <p:nvPr/>
        </p:nvSpPr>
        <p:spPr>
          <a:xfrm>
            <a:off x="7845552" y="3950208"/>
            <a:ext cx="3511296" cy="237744"/>
          </a:xfrm>
          <a:prstGeom prst="rect">
            <a:avLst/>
          </a:prstGeom>
          <a:noFill/>
          <a:ln/>
        </p:spPr>
        <p:txBody>
          <a:bodyPr wrap="square" rtlCol="0" anchor="t"/>
          <a:lstStyle/>
          <a:p>
            <a:pPr marL="0" indent="0">
              <a:lnSpc>
                <a:spcPct val="105000"/>
              </a:lnSpc>
              <a:buNone/>
            </a:pPr>
            <a:r>
              <a:rPr lang="en-US" sz="1100" b="1" kern="0" spc="200" dirty="0">
                <a:solidFill>
                  <a:srgbClr val="75EDBB"/>
                </a:solidFill>
                <a:latin typeface="Helvetica Neue" pitchFamily="34" charset="0"/>
                <a:ea typeface="Helvetica Neue" pitchFamily="34" charset="-122"/>
                <a:cs typeface="Helvetica Neue" pitchFamily="34" charset="-120"/>
              </a:rPr>
              <a:t>KEPT FOR THE FINAL GATE</a:t>
            </a:r>
            <a:endParaRPr lang="en-US" sz="1100" dirty="0"/>
          </a:p>
        </p:txBody>
      </p:sp>
      <p:sp>
        <p:nvSpPr>
          <p:cNvPr id="18" name="b03-rise-final-gate"/>
          <p:cNvSpPr/>
          <p:nvPr/>
        </p:nvSpPr>
        <p:spPr>
          <a:xfrm>
            <a:off x="7845552" y="4261104"/>
            <a:ext cx="3511296" cy="804672"/>
          </a:xfrm>
          <a:prstGeom prst="rect">
            <a:avLst/>
          </a:prstGeom>
          <a:noFill/>
          <a:ln/>
        </p:spPr>
        <p:txBody>
          <a:bodyPr wrap="square" rtlCol="0" anchor="t"/>
          <a:lstStyle/>
          <a:p>
            <a:pPr marL="0" indent="0">
              <a:lnSpc>
                <a:spcPct val="105000"/>
              </a:lnSpc>
              <a:buNone/>
            </a:pPr>
            <a:r>
              <a:rPr lang="en-US" sz="1700" dirty="0">
                <a:solidFill>
                  <a:srgbClr val="B2BDCD"/>
                </a:solidFill>
                <a:latin typeface="Helvetica Neue" pitchFamily="34" charset="0"/>
                <a:ea typeface="Helvetica Neue" pitchFamily="34" charset="-122"/>
                <a:cs typeface="Helvetica Neue" pitchFamily="34" charset="-120"/>
              </a:rPr>
              <a:t>real auth with an isolated test identity</a:t>
            </a:r>
            <a:endParaRPr lang="en-US" sz="1700" dirty="0"/>
          </a:p>
        </p:txBody>
      </p:sp>
      <p:sp>
        <p:nvSpPr>
          <p:cNvPr id="19" name="b03-rise-final-gate"/>
          <p:cNvSpPr/>
          <p:nvPr/>
        </p:nvSpPr>
        <p:spPr>
          <a:xfrm>
            <a:off x="566928" y="5532120"/>
            <a:ext cx="11064240" cy="548640"/>
          </a:xfrm>
          <a:prstGeom prst="roundRect">
            <a:avLst>
              <a:gd name="adj" fmla="val 21667"/>
            </a:avLst>
          </a:prstGeom>
          <a:solidFill>
            <a:srgbClr val="0E1219"/>
          </a:solidFill>
          <a:ln w="12700">
            <a:solidFill>
              <a:srgbClr val="232C3A"/>
            </a:solidFill>
            <a:prstDash val="solid"/>
          </a:ln>
        </p:spPr>
        <p:txBody>
          <a:bodyPr/>
          <a:lstStyle/>
          <a:p>
            <a:endParaRPr lang="en-US"/>
          </a:p>
        </p:txBody>
      </p:sp>
      <p:sp>
        <p:nvSpPr>
          <p:cNvPr id="20" name="b03-rise-final-gate"/>
          <p:cNvSpPr/>
          <p:nvPr/>
        </p:nvSpPr>
        <p:spPr>
          <a:xfrm>
            <a:off x="841248" y="5532120"/>
            <a:ext cx="10515600" cy="548640"/>
          </a:xfrm>
          <a:prstGeom prst="rect">
            <a:avLst/>
          </a:prstGeom>
          <a:noFill/>
          <a:ln/>
        </p:spPr>
        <p:txBody>
          <a:bodyPr wrap="square" rtlCol="0" anchor="ctr"/>
          <a:lstStyle/>
          <a:p>
            <a:pPr marL="0" indent="0">
              <a:lnSpc>
                <a:spcPct val="105000"/>
              </a:lnSpc>
              <a:buNone/>
            </a:pPr>
            <a:r>
              <a:rPr lang="en-US" sz="1800" dirty="0">
                <a:solidFill>
                  <a:srgbClr val="F3F6FA"/>
                </a:solidFill>
                <a:latin typeface="Helvetica Neue" pitchFamily="34" charset="0"/>
                <a:ea typeface="Helvetica Neue" pitchFamily="34" charset="-122"/>
                <a:cs typeface="Helvetica Neue" pitchFamily="34" charset="-120"/>
              </a:rPr>
              <a:t>The rig is what lets the agent check itself, so build it before the feature.</a:t>
            </a:r>
            <a:endParaRPr lang="en-US" sz="1800" dirty="0"/>
          </a:p>
        </p:txBody>
      </p:sp>
      <p:sp>
        <p:nvSpPr>
          <p:cNvPr id="21" name="Text 19"/>
          <p:cNvSpPr/>
          <p:nvPr/>
        </p:nvSpPr>
        <p:spPr>
          <a:xfrm>
            <a:off x="566928" y="6391656"/>
            <a:ext cx="8961120" cy="274320"/>
          </a:xfrm>
          <a:prstGeom prst="rect">
            <a:avLst/>
          </a:prstGeom>
          <a:noFill/>
          <a:ln/>
        </p:spPr>
        <p:txBody>
          <a:bodyPr wrap="square" rtlCol="0" anchor="ctr"/>
          <a:lstStyle/>
          <a:p>
            <a:pPr marL="0" indent="0">
              <a:lnSpc>
                <a:spcPct val="105000"/>
              </a:lnSpc>
              <a:buNone/>
            </a:pPr>
            <a:r>
              <a:rPr lang="en-US" sz="1100" dirty="0">
                <a:solidFill>
                  <a:srgbClr val="6F7B8D"/>
                </a:solidFill>
                <a:latin typeface="Helvetica Neue" pitchFamily="34" charset="0"/>
                <a:ea typeface="Helvetica Neue" pitchFamily="34" charset="-122"/>
                <a:cs typeface="Helvetica Neue" pitchFamily="34" charset="-120"/>
              </a:rPr>
              <a:t>Local speeds up the inner loop. It does not replace the integration path.</a:t>
            </a:r>
            <a:endParaRPr lang="en-US" sz="1100" dirty="0"/>
          </a:p>
        </p:txBody>
      </p:sp>
      <p:sp>
        <p:nvSpPr>
          <p:cNvPr id="22" name="Text 20"/>
          <p:cNvSpPr/>
          <p:nvPr/>
        </p:nvSpPr>
        <p:spPr>
          <a:xfrm>
            <a:off x="9692640" y="6391656"/>
            <a:ext cx="1929384" cy="274320"/>
          </a:xfrm>
          <a:prstGeom prst="rect">
            <a:avLst/>
          </a:prstGeom>
          <a:noFill/>
          <a:ln/>
        </p:spPr>
        <p:txBody>
          <a:bodyPr wrap="square" rtlCol="0" anchor="ctr"/>
          <a:lstStyle/>
          <a:p>
            <a:pPr marL="0" indent="0" algn="r">
              <a:lnSpc>
                <a:spcPct val="105000"/>
              </a:lnSpc>
              <a:buNone/>
            </a:pPr>
            <a:r>
              <a:rPr lang="en-US" sz="1100" dirty="0">
                <a:solidFill>
                  <a:srgbClr val="6F7B8D"/>
                </a:solidFill>
                <a:latin typeface="Helvetica Neue" pitchFamily="34" charset="0"/>
                <a:ea typeface="Helvetica Neue" pitchFamily="34" charset="-122"/>
                <a:cs typeface="Helvetica Neue" pitchFamily="34" charset="-120"/>
              </a:rPr>
              <a:t>11 / 20</a:t>
            </a:r>
            <a:endParaRPr lang="en-US" sz="1100"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420" decel="60000" fill="hold"/>
                                        <p:tgtEl>
                                          <p:spTgt spid="7"/>
                                        </p:tgtEl>
                                        <p:attrNameLst>
                                          <p:attrName>ppt_y</p:attrName>
                                        </p:attrNameLst>
                                      </p:cBhvr>
                                      <p:tavLst>
                                        <p:tav tm="0">
                                          <p:val>
                                            <p:strVal val="#ppt_y+.014"/>
                                          </p:val>
                                        </p:tav>
                                        <p:tav tm="100000">
                                          <p:val>
                                            <p:strVal val="#ppt_y"/>
                                          </p:val>
                                        </p:tav>
                                      </p:tavLst>
                                    </p:anim>
                                    <p:animEffect transition="in" filter="fade">
                                      <p:cBhvr>
                                        <p:cTn id="8" dur="420"/>
                                        <p:tgtEl>
                                          <p:spTgt spid="7"/>
                                        </p:tgtEl>
                                      </p:cBhvr>
                                    </p:animEffect>
                                  </p:childTnLst>
                                </p:cTn>
                              </p:par>
                              <p:par>
                                <p:cTn id="9" presetID="42"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420" decel="60000" fill="hold"/>
                                        <p:tgtEl>
                                          <p:spTgt spid="8"/>
                                        </p:tgtEl>
                                        <p:attrNameLst>
                                          <p:attrName>ppt_y</p:attrName>
                                        </p:attrNameLst>
                                      </p:cBhvr>
                                      <p:tavLst>
                                        <p:tav tm="0">
                                          <p:val>
                                            <p:strVal val="#ppt_y+.014"/>
                                          </p:val>
                                        </p:tav>
                                        <p:tav tm="100000">
                                          <p:val>
                                            <p:strVal val="#ppt_y"/>
                                          </p:val>
                                        </p:tav>
                                      </p:tavLst>
                                    </p:anim>
                                    <p:animEffect transition="in" filter="fade">
                                      <p:cBhvr>
                                        <p:cTn id="12" dur="420"/>
                                        <p:tgtEl>
                                          <p:spTgt spid="8"/>
                                        </p:tgtEl>
                                      </p:cBhvr>
                                    </p:animEffect>
                                  </p:childTnLst>
                                </p:cTn>
                              </p:par>
                              <p:par>
                                <p:cTn id="13" presetID="42"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420" decel="60000" fill="hold"/>
                                        <p:tgtEl>
                                          <p:spTgt spid="9"/>
                                        </p:tgtEl>
                                        <p:attrNameLst>
                                          <p:attrName>ppt_y</p:attrName>
                                        </p:attrNameLst>
                                      </p:cBhvr>
                                      <p:tavLst>
                                        <p:tav tm="0">
                                          <p:val>
                                            <p:strVal val="#ppt_y+.014"/>
                                          </p:val>
                                        </p:tav>
                                        <p:tav tm="100000">
                                          <p:val>
                                            <p:strVal val="#ppt_y"/>
                                          </p:val>
                                        </p:tav>
                                      </p:tavLst>
                                    </p:anim>
                                    <p:animEffect transition="in" filter="fade">
                                      <p:cBhvr>
                                        <p:cTn id="16" dur="420"/>
                                        <p:tgtEl>
                                          <p:spTgt spid="9"/>
                                        </p:tgtEl>
                                      </p:cBhvr>
                                    </p:animEffect>
                                  </p:childTnLst>
                                </p:cTn>
                              </p:par>
                              <p:par>
                                <p:cTn id="17" presetID="42" presetClass="entr" presetSubtype="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420" decel="60000" fill="hold"/>
                                        <p:tgtEl>
                                          <p:spTgt spid="10"/>
                                        </p:tgtEl>
                                        <p:attrNameLst>
                                          <p:attrName>ppt_y</p:attrName>
                                        </p:attrNameLst>
                                      </p:cBhvr>
                                      <p:tavLst>
                                        <p:tav tm="0">
                                          <p:val>
                                            <p:strVal val="#ppt_y+.014"/>
                                          </p:val>
                                        </p:tav>
                                        <p:tav tm="100000">
                                          <p:val>
                                            <p:strVal val="#ppt_y"/>
                                          </p:val>
                                        </p:tav>
                                      </p:tavLst>
                                    </p:anim>
                                    <p:animEffect transition="in" filter="fade">
                                      <p:cBhvr>
                                        <p:cTn id="20" dur="420"/>
                                        <p:tgtEl>
                                          <p:spTgt spid="10"/>
                                        </p:tgtEl>
                                      </p:cBhvr>
                                    </p:animEffect>
                                  </p:childTnLst>
                                </p:cTn>
                              </p:par>
                              <p:par>
                                <p:cTn id="21" presetID="42" presetClass="entr" presetSubtype="0" fill="hold" nodeType="withEffect">
                                  <p:stCondLst>
                                    <p:cond delay="0"/>
                                  </p:stCondLst>
                                  <p:childTnLst>
                                    <p:set>
                                      <p:cBhvr>
                                        <p:cTn id="22" dur="1" fill="hold">
                                          <p:stCondLst>
                                            <p:cond delay="0"/>
                                          </p:stCondLst>
                                        </p:cTn>
                                        <p:tgtEl>
                                          <p:spTgt spid="11"/>
                                        </p:tgtEl>
                                        <p:attrNameLst>
                                          <p:attrName>style.visibility</p:attrName>
                                        </p:attrNameLst>
                                      </p:cBhvr>
                                      <p:to>
                                        <p:strVal val="visible"/>
                                      </p:to>
                                    </p:set>
                                    <p:anim calcmode="lin" valueType="num">
                                      <p:cBhvr additive="base">
                                        <p:cTn id="23" dur="420" decel="60000" fill="hold"/>
                                        <p:tgtEl>
                                          <p:spTgt spid="11"/>
                                        </p:tgtEl>
                                        <p:attrNameLst>
                                          <p:attrName>ppt_y</p:attrName>
                                        </p:attrNameLst>
                                      </p:cBhvr>
                                      <p:tavLst>
                                        <p:tav tm="0">
                                          <p:val>
                                            <p:strVal val="#ppt_y+.014"/>
                                          </p:val>
                                        </p:tav>
                                        <p:tav tm="100000">
                                          <p:val>
                                            <p:strVal val="#ppt_y"/>
                                          </p:val>
                                        </p:tav>
                                      </p:tavLst>
                                    </p:anim>
                                    <p:animEffect transition="in" filter="fade">
                                      <p:cBhvr>
                                        <p:cTn id="24" dur="420"/>
                                        <p:tgtEl>
                                          <p:spTgt spid="11"/>
                                        </p:tgtEl>
                                      </p:cBhvr>
                                    </p:animEffect>
                                  </p:childTnLst>
                                </p:cTn>
                              </p:par>
                              <p:par>
                                <p:cTn id="25" presetID="42" presetClass="entr" presetSubtype="0" fill="hold" nodeType="withEffect">
                                  <p:stCondLst>
                                    <p:cond delay="0"/>
                                  </p:stCondLst>
                                  <p:childTnLst>
                                    <p:set>
                                      <p:cBhvr>
                                        <p:cTn id="26" dur="1" fill="hold">
                                          <p:stCondLst>
                                            <p:cond delay="0"/>
                                          </p:stCondLst>
                                        </p:cTn>
                                        <p:tgtEl>
                                          <p:spTgt spid="12"/>
                                        </p:tgtEl>
                                        <p:attrNameLst>
                                          <p:attrName>style.visibility</p:attrName>
                                        </p:attrNameLst>
                                      </p:cBhvr>
                                      <p:to>
                                        <p:strVal val="visible"/>
                                      </p:to>
                                    </p:set>
                                    <p:anim calcmode="lin" valueType="num">
                                      <p:cBhvr additive="base">
                                        <p:cTn id="27" dur="420" decel="60000" fill="hold"/>
                                        <p:tgtEl>
                                          <p:spTgt spid="12"/>
                                        </p:tgtEl>
                                        <p:attrNameLst>
                                          <p:attrName>ppt_y</p:attrName>
                                        </p:attrNameLst>
                                      </p:cBhvr>
                                      <p:tavLst>
                                        <p:tav tm="0">
                                          <p:val>
                                            <p:strVal val="#ppt_y+.014"/>
                                          </p:val>
                                        </p:tav>
                                        <p:tav tm="100000">
                                          <p:val>
                                            <p:strVal val="#ppt_y"/>
                                          </p:val>
                                        </p:tav>
                                      </p:tavLst>
                                    </p:anim>
                                    <p:animEffect transition="in" filter="fade">
                                      <p:cBhvr>
                                        <p:cTn id="28" dur="420"/>
                                        <p:tgtEl>
                                          <p:spTgt spid="12"/>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20"/>
                                        <p:tgtEl>
                                          <p:spTgt spid="13"/>
                                        </p:tgtEl>
                                      </p:cBhvr>
                                    </p:animEffect>
                                  </p:childTnLst>
                                </p:cTn>
                              </p:par>
                              <p:par>
                                <p:cTn id="34" presetID="10" presetClass="entr" presetSubtype="0" fill="hold"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20"/>
                                        <p:tgtEl>
                                          <p:spTgt spid="14"/>
                                        </p:tgtEl>
                                      </p:cBhvr>
                                    </p:animEffect>
                                  </p:childTnLst>
                                </p:cTn>
                              </p:par>
                              <p:par>
                                <p:cTn id="37" presetID="10" presetClass="entr" presetSubtype="0" fill="hold" nodeType="with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420"/>
                                        <p:tgtEl>
                                          <p:spTgt spid="15"/>
                                        </p:tgtEl>
                                      </p:cBhvr>
                                    </p:animEffect>
                                  </p:childTnLst>
                                </p:cTn>
                              </p:par>
                            </p:childTnLst>
                          </p:cTn>
                        </p:par>
                      </p:childTnLst>
                    </p:cTn>
                  </p:par>
                  <p:par>
                    <p:cTn id="40" fill="hold">
                      <p:stCondLst>
                        <p:cond delay="indefinite"/>
                      </p:stCondLst>
                      <p:childTnLst>
                        <p:par>
                          <p:cTn id="41" fill="hold">
                            <p:stCondLst>
                              <p:cond delay="0"/>
                            </p:stCondLst>
                            <p:childTnLst>
                              <p:par>
                                <p:cTn id="42" presetID="42" presetClass="entr" presetSubtype="0" fill="hold" nodeType="clickEffect">
                                  <p:stCondLst>
                                    <p:cond delay="0"/>
                                  </p:stCondLst>
                                  <p:childTnLst>
                                    <p:set>
                                      <p:cBhvr>
                                        <p:cTn id="43" dur="1" fill="hold">
                                          <p:stCondLst>
                                            <p:cond delay="0"/>
                                          </p:stCondLst>
                                        </p:cTn>
                                        <p:tgtEl>
                                          <p:spTgt spid="16"/>
                                        </p:tgtEl>
                                        <p:attrNameLst>
                                          <p:attrName>style.visibility</p:attrName>
                                        </p:attrNameLst>
                                      </p:cBhvr>
                                      <p:to>
                                        <p:strVal val="visible"/>
                                      </p:to>
                                    </p:set>
                                    <p:anim calcmode="lin" valueType="num">
                                      <p:cBhvr additive="base">
                                        <p:cTn id="44" dur="420" decel="60000" fill="hold"/>
                                        <p:tgtEl>
                                          <p:spTgt spid="16"/>
                                        </p:tgtEl>
                                        <p:attrNameLst>
                                          <p:attrName>ppt_y</p:attrName>
                                        </p:attrNameLst>
                                      </p:cBhvr>
                                      <p:tavLst>
                                        <p:tav tm="0">
                                          <p:val>
                                            <p:strVal val="#ppt_y+.014"/>
                                          </p:val>
                                        </p:tav>
                                        <p:tav tm="100000">
                                          <p:val>
                                            <p:strVal val="#ppt_y"/>
                                          </p:val>
                                        </p:tav>
                                      </p:tavLst>
                                    </p:anim>
                                    <p:animEffect transition="in" filter="fade">
                                      <p:cBhvr>
                                        <p:cTn id="45" dur="420"/>
                                        <p:tgtEl>
                                          <p:spTgt spid="16"/>
                                        </p:tgtEl>
                                      </p:cBhvr>
                                    </p:animEffect>
                                  </p:childTnLst>
                                </p:cTn>
                              </p:par>
                              <p:par>
                                <p:cTn id="46" presetID="42" presetClass="entr" presetSubtype="0" fill="hold" nodeType="withEffect">
                                  <p:stCondLst>
                                    <p:cond delay="0"/>
                                  </p:stCondLst>
                                  <p:childTnLst>
                                    <p:set>
                                      <p:cBhvr>
                                        <p:cTn id="47" dur="1" fill="hold">
                                          <p:stCondLst>
                                            <p:cond delay="0"/>
                                          </p:stCondLst>
                                        </p:cTn>
                                        <p:tgtEl>
                                          <p:spTgt spid="17"/>
                                        </p:tgtEl>
                                        <p:attrNameLst>
                                          <p:attrName>style.visibility</p:attrName>
                                        </p:attrNameLst>
                                      </p:cBhvr>
                                      <p:to>
                                        <p:strVal val="visible"/>
                                      </p:to>
                                    </p:set>
                                    <p:anim calcmode="lin" valueType="num">
                                      <p:cBhvr additive="base">
                                        <p:cTn id="48" dur="420" decel="60000" fill="hold"/>
                                        <p:tgtEl>
                                          <p:spTgt spid="17"/>
                                        </p:tgtEl>
                                        <p:attrNameLst>
                                          <p:attrName>ppt_y</p:attrName>
                                        </p:attrNameLst>
                                      </p:cBhvr>
                                      <p:tavLst>
                                        <p:tav tm="0">
                                          <p:val>
                                            <p:strVal val="#ppt_y+.014"/>
                                          </p:val>
                                        </p:tav>
                                        <p:tav tm="100000">
                                          <p:val>
                                            <p:strVal val="#ppt_y"/>
                                          </p:val>
                                        </p:tav>
                                      </p:tavLst>
                                    </p:anim>
                                    <p:animEffect transition="in" filter="fade">
                                      <p:cBhvr>
                                        <p:cTn id="49" dur="420"/>
                                        <p:tgtEl>
                                          <p:spTgt spid="17"/>
                                        </p:tgtEl>
                                      </p:cBhvr>
                                    </p:animEffect>
                                  </p:childTnLst>
                                </p:cTn>
                              </p:par>
                              <p:par>
                                <p:cTn id="50" presetID="42" presetClass="entr" presetSubtype="0" fill="hold" nodeType="withEffect">
                                  <p:stCondLst>
                                    <p:cond delay="0"/>
                                  </p:stCondLst>
                                  <p:childTnLst>
                                    <p:set>
                                      <p:cBhvr>
                                        <p:cTn id="51" dur="1" fill="hold">
                                          <p:stCondLst>
                                            <p:cond delay="0"/>
                                          </p:stCondLst>
                                        </p:cTn>
                                        <p:tgtEl>
                                          <p:spTgt spid="18"/>
                                        </p:tgtEl>
                                        <p:attrNameLst>
                                          <p:attrName>style.visibility</p:attrName>
                                        </p:attrNameLst>
                                      </p:cBhvr>
                                      <p:to>
                                        <p:strVal val="visible"/>
                                      </p:to>
                                    </p:set>
                                    <p:anim calcmode="lin" valueType="num">
                                      <p:cBhvr additive="base">
                                        <p:cTn id="52" dur="420" decel="60000" fill="hold"/>
                                        <p:tgtEl>
                                          <p:spTgt spid="18"/>
                                        </p:tgtEl>
                                        <p:attrNameLst>
                                          <p:attrName>ppt_y</p:attrName>
                                        </p:attrNameLst>
                                      </p:cBhvr>
                                      <p:tavLst>
                                        <p:tav tm="0">
                                          <p:val>
                                            <p:strVal val="#ppt_y+.014"/>
                                          </p:val>
                                        </p:tav>
                                        <p:tav tm="100000">
                                          <p:val>
                                            <p:strVal val="#ppt_y"/>
                                          </p:val>
                                        </p:tav>
                                      </p:tavLst>
                                    </p:anim>
                                    <p:animEffect transition="in" filter="fade">
                                      <p:cBhvr>
                                        <p:cTn id="53" dur="420"/>
                                        <p:tgtEl>
                                          <p:spTgt spid="18"/>
                                        </p:tgtEl>
                                      </p:cBhvr>
                                    </p:animEffect>
                                  </p:childTnLst>
                                </p:cTn>
                              </p:par>
                              <p:par>
                                <p:cTn id="54" presetID="42" presetClass="entr" presetSubtype="0" fill="hold" nodeType="withEffect">
                                  <p:stCondLst>
                                    <p:cond delay="0"/>
                                  </p:stCondLst>
                                  <p:childTnLst>
                                    <p:set>
                                      <p:cBhvr>
                                        <p:cTn id="55" dur="1" fill="hold">
                                          <p:stCondLst>
                                            <p:cond delay="0"/>
                                          </p:stCondLst>
                                        </p:cTn>
                                        <p:tgtEl>
                                          <p:spTgt spid="19"/>
                                        </p:tgtEl>
                                        <p:attrNameLst>
                                          <p:attrName>style.visibility</p:attrName>
                                        </p:attrNameLst>
                                      </p:cBhvr>
                                      <p:to>
                                        <p:strVal val="visible"/>
                                      </p:to>
                                    </p:set>
                                    <p:anim calcmode="lin" valueType="num">
                                      <p:cBhvr additive="base">
                                        <p:cTn id="56" dur="420" decel="60000" fill="hold"/>
                                        <p:tgtEl>
                                          <p:spTgt spid="19"/>
                                        </p:tgtEl>
                                        <p:attrNameLst>
                                          <p:attrName>ppt_y</p:attrName>
                                        </p:attrNameLst>
                                      </p:cBhvr>
                                      <p:tavLst>
                                        <p:tav tm="0">
                                          <p:val>
                                            <p:strVal val="#ppt_y+.014"/>
                                          </p:val>
                                        </p:tav>
                                        <p:tav tm="100000">
                                          <p:val>
                                            <p:strVal val="#ppt_y"/>
                                          </p:val>
                                        </p:tav>
                                      </p:tavLst>
                                    </p:anim>
                                    <p:animEffect transition="in" filter="fade">
                                      <p:cBhvr>
                                        <p:cTn id="57" dur="420"/>
                                        <p:tgtEl>
                                          <p:spTgt spid="19"/>
                                        </p:tgtEl>
                                      </p:cBhvr>
                                    </p:animEffect>
                                  </p:childTnLst>
                                </p:cTn>
                              </p:par>
                              <p:par>
                                <p:cTn id="58" presetID="42" presetClass="entr" presetSubtype="0" fill="hold" nodeType="withEffect">
                                  <p:stCondLst>
                                    <p:cond delay="0"/>
                                  </p:stCondLst>
                                  <p:childTnLst>
                                    <p:set>
                                      <p:cBhvr>
                                        <p:cTn id="59" dur="1" fill="hold">
                                          <p:stCondLst>
                                            <p:cond delay="0"/>
                                          </p:stCondLst>
                                        </p:cTn>
                                        <p:tgtEl>
                                          <p:spTgt spid="20"/>
                                        </p:tgtEl>
                                        <p:attrNameLst>
                                          <p:attrName>style.visibility</p:attrName>
                                        </p:attrNameLst>
                                      </p:cBhvr>
                                      <p:to>
                                        <p:strVal val="visible"/>
                                      </p:to>
                                    </p:set>
                                    <p:anim calcmode="lin" valueType="num">
                                      <p:cBhvr additive="base">
                                        <p:cTn id="60" dur="420" decel="60000" fill="hold"/>
                                        <p:tgtEl>
                                          <p:spTgt spid="20"/>
                                        </p:tgtEl>
                                        <p:attrNameLst>
                                          <p:attrName>ppt_y</p:attrName>
                                        </p:attrNameLst>
                                      </p:cBhvr>
                                      <p:tavLst>
                                        <p:tav tm="0">
                                          <p:val>
                                            <p:strVal val="#ppt_y+.014"/>
                                          </p:val>
                                        </p:tav>
                                        <p:tav tm="100000">
                                          <p:val>
                                            <p:strVal val="#ppt_y"/>
                                          </p:val>
                                        </p:tav>
                                      </p:tavLst>
                                    </p:anim>
                                    <p:animEffect transition="in" filter="fade">
                                      <p:cBhvr>
                                        <p:cTn id="61" dur="42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7090D"/>
        </a:solidFill>
        <a:effectLst/>
      </p:bgPr>
    </p:bg>
    <p:spTree>
      <p:nvGrpSpPr>
        <p:cNvPr id="1" name=""/>
        <p:cNvGrpSpPr/>
        <p:nvPr/>
      </p:nvGrpSpPr>
      <p:grpSpPr>
        <a:xfrm>
          <a:off x="0" y="0"/>
          <a:ext cx="0" cy="0"/>
          <a:chOff x="0" y="0"/>
          <a:chExt cx="0" cy="0"/>
        </a:xfrm>
      </p:grpSpPr>
      <p:sp>
        <p:nvSpPr>
          <p:cNvPr id="2" name="Text 0"/>
          <p:cNvSpPr/>
          <p:nvPr/>
        </p:nvSpPr>
        <p:spPr>
          <a:xfrm>
            <a:off x="566928" y="274320"/>
            <a:ext cx="10607040" cy="274320"/>
          </a:xfrm>
          <a:prstGeom prst="rect">
            <a:avLst/>
          </a:prstGeom>
          <a:noFill/>
          <a:ln/>
        </p:spPr>
        <p:txBody>
          <a:bodyPr wrap="square" rtlCol="0" anchor="t"/>
          <a:lstStyle/>
          <a:p>
            <a:pPr marL="0" indent="0">
              <a:lnSpc>
                <a:spcPct val="105000"/>
              </a:lnSpc>
              <a:buNone/>
            </a:pPr>
            <a:r>
              <a:rPr lang="en-US" sz="1200" b="1" kern="0" spc="260" dirty="0">
                <a:solidFill>
                  <a:srgbClr val="75EDBB"/>
                </a:solidFill>
                <a:latin typeface="Helvetica Neue" pitchFamily="34" charset="0"/>
                <a:ea typeface="Helvetica Neue" pitchFamily="34" charset="-122"/>
                <a:cs typeface="Helvetica Neue" pitchFamily="34" charset="-120"/>
              </a:rPr>
              <a:t>INNER LOOP</a:t>
            </a:r>
            <a:endParaRPr lang="en-US" sz="1200" dirty="0"/>
          </a:p>
        </p:txBody>
      </p:sp>
      <p:sp>
        <p:nvSpPr>
          <p:cNvPr id="3" name="Text 1"/>
          <p:cNvSpPr/>
          <p:nvPr/>
        </p:nvSpPr>
        <p:spPr>
          <a:xfrm>
            <a:off x="566928" y="585216"/>
            <a:ext cx="10789920" cy="731520"/>
          </a:xfrm>
          <a:prstGeom prst="rect">
            <a:avLst/>
          </a:prstGeom>
          <a:noFill/>
          <a:ln/>
        </p:spPr>
        <p:txBody>
          <a:bodyPr wrap="square" rtlCol="0" anchor="ctr"/>
          <a:lstStyle/>
          <a:p>
            <a:pPr marL="0" indent="0">
              <a:lnSpc>
                <a:spcPct val="95000"/>
              </a:lnSpc>
              <a:buNone/>
            </a:pPr>
            <a:r>
              <a:rPr lang="en-US" sz="3800" dirty="0">
                <a:solidFill>
                  <a:srgbClr val="F3F6FA"/>
                </a:solidFill>
                <a:latin typeface="Avenir Next" pitchFamily="34" charset="0"/>
                <a:ea typeface="Avenir Next" pitchFamily="34" charset="-122"/>
                <a:cs typeface="Avenir Next" pitchFamily="34" charset="-120"/>
              </a:rPr>
              <a:t>Put the cheapest reliable check first</a:t>
            </a:r>
            <a:endParaRPr lang="en-US" sz="3800" dirty="0"/>
          </a:p>
        </p:txBody>
      </p:sp>
      <p:sp>
        <p:nvSpPr>
          <p:cNvPr id="4" name="Text 2"/>
          <p:cNvSpPr/>
          <p:nvPr/>
        </p:nvSpPr>
        <p:spPr>
          <a:xfrm>
            <a:off x="566928" y="1335024"/>
            <a:ext cx="9692640" cy="384048"/>
          </a:xfrm>
          <a:prstGeom prst="rect">
            <a:avLst/>
          </a:prstGeom>
          <a:noFill/>
          <a:ln/>
        </p:spPr>
        <p:txBody>
          <a:bodyPr wrap="square" rtlCol="0" anchor="t"/>
          <a:lstStyle/>
          <a:p>
            <a:pPr marL="0" indent="0">
              <a:lnSpc>
                <a:spcPct val="105000"/>
              </a:lnSpc>
              <a:buNone/>
            </a:pPr>
            <a:r>
              <a:rPr lang="en-US" sz="1900" dirty="0">
                <a:solidFill>
                  <a:srgbClr val="B2BDCD"/>
                </a:solidFill>
                <a:latin typeface="Helvetica Neue" pitchFamily="34" charset="0"/>
                <a:ea typeface="Helvetica Neue" pitchFamily="34" charset="-122"/>
                <a:cs typeface="Helvetica Neue" pitchFamily="34" charset="-120"/>
              </a:rPr>
              <a:t>Same question, smaller and more direct evidence.</a:t>
            </a:r>
            <a:endParaRPr lang="en-US" sz="1900" dirty="0"/>
          </a:p>
        </p:txBody>
      </p:sp>
      <p:sp>
        <p:nvSpPr>
          <p:cNvPr id="5" name="Text 3"/>
          <p:cNvSpPr/>
          <p:nvPr/>
        </p:nvSpPr>
        <p:spPr>
          <a:xfrm>
            <a:off x="566928" y="1965960"/>
            <a:ext cx="4023360" cy="868680"/>
          </a:xfrm>
          <a:prstGeom prst="rect">
            <a:avLst/>
          </a:prstGeom>
          <a:noFill/>
          <a:ln/>
        </p:spPr>
        <p:txBody>
          <a:bodyPr wrap="square" rtlCol="0" anchor="t"/>
          <a:lstStyle/>
          <a:p>
            <a:pPr marL="0" indent="0">
              <a:lnSpc>
                <a:spcPct val="105000"/>
              </a:lnSpc>
              <a:buNone/>
            </a:pPr>
            <a:r>
              <a:rPr lang="en-US" sz="4600" dirty="0">
                <a:solidFill>
                  <a:srgbClr val="6F7B8D"/>
                </a:solidFill>
                <a:latin typeface="Avenir Next" pitchFamily="34" charset="0"/>
                <a:ea typeface="Avenir Next" pitchFamily="34" charset="-122"/>
                <a:cs typeface="Avenir Next" pitchFamily="34" charset="-120"/>
              </a:rPr>
              <a:t>400,000</a:t>
            </a:r>
            <a:endParaRPr lang="en-US" sz="4600" dirty="0"/>
          </a:p>
        </p:txBody>
      </p:sp>
      <p:sp>
        <p:nvSpPr>
          <p:cNvPr id="6" name="Text 4"/>
          <p:cNvSpPr/>
          <p:nvPr/>
        </p:nvSpPr>
        <p:spPr>
          <a:xfrm>
            <a:off x="566928" y="2852928"/>
            <a:ext cx="4023360" cy="292608"/>
          </a:xfrm>
          <a:prstGeom prst="rect">
            <a:avLst/>
          </a:prstGeom>
          <a:noFill/>
          <a:ln/>
        </p:spPr>
        <p:txBody>
          <a:bodyPr wrap="square" rtlCol="0" anchor="t"/>
          <a:lstStyle/>
          <a:p>
            <a:pPr marL="0" indent="0">
              <a:lnSpc>
                <a:spcPct val="105000"/>
              </a:lnSpc>
              <a:buNone/>
            </a:pPr>
            <a:r>
              <a:rPr lang="en-US" sz="1500" dirty="0">
                <a:solidFill>
                  <a:srgbClr val="6F7B8D"/>
                </a:solidFill>
                <a:latin typeface="Helvetica Neue" pitchFamily="34" charset="0"/>
                <a:ea typeface="Helvetica Neue" pitchFamily="34" charset="-122"/>
                <a:cs typeface="Helvetica Neue" pitchFamily="34" charset="-120"/>
              </a:rPr>
              <a:t>synthetic rows in the dataset</a:t>
            </a:r>
            <a:endParaRPr lang="en-US" sz="1500" dirty="0"/>
          </a:p>
        </p:txBody>
      </p:sp>
      <p:sp>
        <p:nvSpPr>
          <p:cNvPr id="7" name="Shape 5"/>
          <p:cNvSpPr/>
          <p:nvPr/>
        </p:nvSpPr>
        <p:spPr>
          <a:xfrm>
            <a:off x="4754880" y="2395728"/>
            <a:ext cx="822960" cy="0"/>
          </a:xfrm>
          <a:prstGeom prst="line">
            <a:avLst/>
          </a:prstGeom>
          <a:noFill/>
          <a:ln w="25400">
            <a:solidFill>
              <a:srgbClr val="75EDBB"/>
            </a:solidFill>
            <a:prstDash val="solid"/>
            <a:tailEnd type="triangle"/>
          </a:ln>
        </p:spPr>
        <p:txBody>
          <a:bodyPr/>
          <a:lstStyle/>
          <a:p>
            <a:endParaRPr lang="en-US"/>
          </a:p>
        </p:txBody>
      </p:sp>
      <p:sp>
        <p:nvSpPr>
          <p:cNvPr id="8" name="b01-zoom-sample-count"/>
          <p:cNvSpPr/>
          <p:nvPr/>
        </p:nvSpPr>
        <p:spPr>
          <a:xfrm>
            <a:off x="5852160" y="1828800"/>
            <a:ext cx="5760720" cy="1051560"/>
          </a:xfrm>
          <a:prstGeom prst="rect">
            <a:avLst/>
          </a:prstGeom>
          <a:noFill/>
          <a:ln/>
        </p:spPr>
        <p:txBody>
          <a:bodyPr wrap="square" rtlCol="0" anchor="t"/>
          <a:lstStyle/>
          <a:p>
            <a:pPr marL="0" indent="0">
              <a:lnSpc>
                <a:spcPct val="105000"/>
              </a:lnSpc>
              <a:buNone/>
            </a:pPr>
            <a:r>
              <a:rPr lang="en-US" sz="6000" dirty="0">
                <a:solidFill>
                  <a:srgbClr val="75EDBB"/>
                </a:solidFill>
                <a:latin typeface="Avenir Next" pitchFamily="34" charset="0"/>
                <a:ea typeface="Avenir Next" pitchFamily="34" charset="-122"/>
                <a:cs typeface="Avenir Next" pitchFamily="34" charset="-120"/>
              </a:rPr>
              <a:t>100</a:t>
            </a:r>
            <a:endParaRPr lang="en-US" sz="6000" dirty="0"/>
          </a:p>
        </p:txBody>
      </p:sp>
      <p:sp>
        <p:nvSpPr>
          <p:cNvPr id="9" name="b01-zoom-sample-count"/>
          <p:cNvSpPr/>
          <p:nvPr/>
        </p:nvSpPr>
        <p:spPr>
          <a:xfrm>
            <a:off x="5852160" y="2852928"/>
            <a:ext cx="5760720" cy="292608"/>
          </a:xfrm>
          <a:prstGeom prst="rect">
            <a:avLst/>
          </a:prstGeom>
          <a:noFill/>
          <a:ln/>
        </p:spPr>
        <p:txBody>
          <a:bodyPr wrap="square" rtlCol="0" anchor="t"/>
          <a:lstStyle/>
          <a:p>
            <a:pPr marL="0" indent="0">
              <a:lnSpc>
                <a:spcPct val="105000"/>
              </a:lnSpc>
              <a:buNone/>
            </a:pPr>
            <a:r>
              <a:rPr lang="en-US" sz="1500" dirty="0">
                <a:solidFill>
                  <a:srgbClr val="75EDBB"/>
                </a:solidFill>
                <a:latin typeface="Helvetica Neue" pitchFamily="34" charset="0"/>
                <a:ea typeface="Helvetica Neue" pitchFamily="34" charset="-122"/>
                <a:cs typeface="Helvetica Neue" pitchFamily="34" charset="-120"/>
              </a:rPr>
              <a:t>curated functional cases, edge cases included</a:t>
            </a:r>
            <a:endParaRPr lang="en-US" sz="1500" dirty="0"/>
          </a:p>
        </p:txBody>
      </p:sp>
      <p:sp>
        <p:nvSpPr>
          <p:cNvPr id="10" name="Shape 8"/>
          <p:cNvSpPr/>
          <p:nvPr/>
        </p:nvSpPr>
        <p:spPr>
          <a:xfrm>
            <a:off x="566928" y="3474720"/>
            <a:ext cx="11064240" cy="0"/>
          </a:xfrm>
          <a:prstGeom prst="line">
            <a:avLst/>
          </a:prstGeom>
          <a:noFill/>
          <a:ln w="12700">
            <a:solidFill>
              <a:srgbClr val="1A212C"/>
            </a:solidFill>
            <a:prstDash val="solid"/>
          </a:ln>
        </p:spPr>
        <p:txBody>
          <a:bodyPr/>
          <a:lstStyle/>
          <a:p>
            <a:endParaRPr lang="en-US"/>
          </a:p>
        </p:txBody>
      </p:sp>
      <p:sp>
        <p:nvSpPr>
          <p:cNvPr id="11" name="Text 9"/>
          <p:cNvSpPr/>
          <p:nvPr/>
        </p:nvSpPr>
        <p:spPr>
          <a:xfrm>
            <a:off x="566928" y="3749040"/>
            <a:ext cx="4023360" cy="457200"/>
          </a:xfrm>
          <a:prstGeom prst="rect">
            <a:avLst/>
          </a:prstGeom>
          <a:noFill/>
          <a:ln/>
        </p:spPr>
        <p:txBody>
          <a:bodyPr wrap="square" rtlCol="0" anchor="t"/>
          <a:lstStyle/>
          <a:p>
            <a:pPr marL="0" indent="0">
              <a:lnSpc>
                <a:spcPct val="105000"/>
              </a:lnSpc>
              <a:buNone/>
            </a:pPr>
            <a:r>
              <a:rPr lang="en-US" sz="2200" dirty="0">
                <a:solidFill>
                  <a:srgbClr val="B2BDCD"/>
                </a:solidFill>
                <a:latin typeface="Helvetica Neue" pitchFamily="34" charset="0"/>
                <a:ea typeface="Helvetica Neue" pitchFamily="34" charset="-122"/>
                <a:cs typeface="Helvetica Neue" pitchFamily="34" charset="-120"/>
              </a:rPr>
              <a:t>drive a browser</a:t>
            </a:r>
            <a:endParaRPr lang="en-US" sz="2200" dirty="0"/>
          </a:p>
        </p:txBody>
      </p:sp>
      <p:sp>
        <p:nvSpPr>
          <p:cNvPr id="12" name="Text 10"/>
          <p:cNvSpPr/>
          <p:nvPr/>
        </p:nvSpPr>
        <p:spPr>
          <a:xfrm>
            <a:off x="566928" y="4261104"/>
            <a:ext cx="4023360" cy="292608"/>
          </a:xfrm>
          <a:prstGeom prst="rect">
            <a:avLst/>
          </a:prstGeom>
          <a:noFill/>
          <a:ln/>
        </p:spPr>
        <p:txBody>
          <a:bodyPr wrap="square" rtlCol="0" anchor="t"/>
          <a:lstStyle/>
          <a:p>
            <a:pPr marL="0" indent="0">
              <a:lnSpc>
                <a:spcPct val="105000"/>
              </a:lnSpc>
              <a:buNone/>
            </a:pPr>
            <a:r>
              <a:rPr lang="en-US" sz="1500" dirty="0">
                <a:solidFill>
                  <a:srgbClr val="6F7B8D"/>
                </a:solidFill>
                <a:latin typeface="Helvetica Neue" pitchFamily="34" charset="0"/>
                <a:ea typeface="Helvetica Neue" pitchFamily="34" charset="-122"/>
                <a:cs typeface="Helvetica Neue" pitchFamily="34" charset="-120"/>
              </a:rPr>
              <a:t>to read one table row</a:t>
            </a:r>
            <a:endParaRPr lang="en-US" sz="1500" dirty="0"/>
          </a:p>
        </p:txBody>
      </p:sp>
      <p:sp>
        <p:nvSpPr>
          <p:cNvPr id="13" name="b02-wipe-html-check"/>
          <p:cNvSpPr/>
          <p:nvPr/>
        </p:nvSpPr>
        <p:spPr>
          <a:xfrm>
            <a:off x="4754880" y="3977640"/>
            <a:ext cx="822960" cy="0"/>
          </a:xfrm>
          <a:prstGeom prst="line">
            <a:avLst/>
          </a:prstGeom>
          <a:noFill/>
          <a:ln w="25400">
            <a:solidFill>
              <a:srgbClr val="75EDBB"/>
            </a:solidFill>
            <a:prstDash val="solid"/>
            <a:tailEnd type="triangle"/>
          </a:ln>
        </p:spPr>
        <p:txBody>
          <a:bodyPr/>
          <a:lstStyle/>
          <a:p>
            <a:endParaRPr lang="en-US"/>
          </a:p>
        </p:txBody>
      </p:sp>
      <p:sp>
        <p:nvSpPr>
          <p:cNvPr id="14" name="b02-wipe-html-check"/>
          <p:cNvSpPr/>
          <p:nvPr/>
        </p:nvSpPr>
        <p:spPr>
          <a:xfrm>
            <a:off x="5852160" y="3749040"/>
            <a:ext cx="5760720" cy="457200"/>
          </a:xfrm>
          <a:prstGeom prst="rect">
            <a:avLst/>
          </a:prstGeom>
          <a:noFill/>
          <a:ln/>
        </p:spPr>
        <p:txBody>
          <a:bodyPr wrap="square" rtlCol="0" anchor="t"/>
          <a:lstStyle/>
          <a:p>
            <a:pPr marL="0" indent="0">
              <a:lnSpc>
                <a:spcPct val="105000"/>
              </a:lnSpc>
              <a:buNone/>
            </a:pPr>
            <a:r>
              <a:rPr lang="en-US" sz="2200" dirty="0">
                <a:solidFill>
                  <a:srgbClr val="75EDBB"/>
                </a:solidFill>
                <a:latin typeface="Helvetica Neue" pitchFamily="34" charset="0"/>
                <a:ea typeface="Helvetica Neue" pitchFamily="34" charset="-122"/>
                <a:cs typeface="Helvetica Neue" pitchFamily="34" charset="-120"/>
              </a:rPr>
              <a:t>assert the HTML the app generated</a:t>
            </a:r>
            <a:endParaRPr lang="en-US" sz="2200" dirty="0"/>
          </a:p>
        </p:txBody>
      </p:sp>
      <p:sp>
        <p:nvSpPr>
          <p:cNvPr id="15" name="b02-wipe-html-check"/>
          <p:cNvSpPr/>
          <p:nvPr/>
        </p:nvSpPr>
        <p:spPr>
          <a:xfrm>
            <a:off x="5852160" y="4261104"/>
            <a:ext cx="5760720" cy="292608"/>
          </a:xfrm>
          <a:prstGeom prst="rect">
            <a:avLst/>
          </a:prstGeom>
          <a:noFill/>
          <a:ln/>
        </p:spPr>
        <p:txBody>
          <a:bodyPr wrap="square" rtlCol="0" anchor="t"/>
          <a:lstStyle/>
          <a:p>
            <a:pPr marL="0" indent="0">
              <a:lnSpc>
                <a:spcPct val="105000"/>
              </a:lnSpc>
              <a:buNone/>
            </a:pPr>
            <a:r>
              <a:rPr lang="en-US" sz="1500" dirty="0">
                <a:solidFill>
                  <a:srgbClr val="75EDBB"/>
                </a:solidFill>
                <a:latin typeface="Helvetica Neue" pitchFamily="34" charset="0"/>
                <a:ea typeface="Helvetica Neue" pitchFamily="34" charset="-122"/>
                <a:cs typeface="Helvetica Neue" pitchFamily="34" charset="-120"/>
              </a:rPr>
              <a:t>same evidence, fewer moving parts</a:t>
            </a:r>
            <a:endParaRPr lang="en-US" sz="1500" dirty="0"/>
          </a:p>
        </p:txBody>
      </p:sp>
      <p:sp>
        <p:nvSpPr>
          <p:cNvPr id="16" name="b03-rise-final-gate-note"/>
          <p:cNvSpPr/>
          <p:nvPr/>
        </p:nvSpPr>
        <p:spPr>
          <a:xfrm>
            <a:off x="566928" y="5074920"/>
            <a:ext cx="11064240" cy="777240"/>
          </a:xfrm>
          <a:prstGeom prst="roundRect">
            <a:avLst>
              <a:gd name="adj" fmla="val 15294"/>
            </a:avLst>
          </a:prstGeom>
          <a:solidFill>
            <a:srgbClr val="0E1219"/>
          </a:solidFill>
          <a:ln w="12700">
            <a:solidFill>
              <a:srgbClr val="232C3A"/>
            </a:solidFill>
            <a:prstDash val="solid"/>
          </a:ln>
        </p:spPr>
        <p:txBody>
          <a:bodyPr/>
          <a:lstStyle/>
          <a:p>
            <a:endParaRPr lang="en-US"/>
          </a:p>
        </p:txBody>
      </p:sp>
      <p:sp>
        <p:nvSpPr>
          <p:cNvPr id="17" name="b03-rise-final-gate-note"/>
          <p:cNvSpPr/>
          <p:nvPr/>
        </p:nvSpPr>
        <p:spPr>
          <a:xfrm>
            <a:off x="841248" y="5074920"/>
            <a:ext cx="10515600" cy="777240"/>
          </a:xfrm>
          <a:prstGeom prst="rect">
            <a:avLst/>
          </a:prstGeom>
          <a:noFill/>
          <a:ln/>
        </p:spPr>
        <p:txBody>
          <a:bodyPr wrap="square" rtlCol="0" anchor="ctr"/>
          <a:lstStyle/>
          <a:p>
            <a:pPr marL="0" indent="0">
              <a:lnSpc>
                <a:spcPct val="105000"/>
              </a:lnSpc>
              <a:buNone/>
            </a:pPr>
            <a:r>
              <a:rPr lang="en-US" sz="1900" dirty="0">
                <a:solidFill>
                  <a:srgbClr val="F3F6FA"/>
                </a:solidFill>
                <a:latin typeface="Helvetica Neue" pitchFamily="34" charset="0"/>
                <a:ea typeface="Helvetica Neue" pitchFamily="34" charset="-122"/>
                <a:cs typeface="Helvetica Neue" pitchFamily="34" charset="-120"/>
              </a:rPr>
              <a:t>Inner loop only. The final gate still runs real auth, one browser check and full-scale data.</a:t>
            </a:r>
            <a:endParaRPr lang="en-US" sz="1900" dirty="0"/>
          </a:p>
        </p:txBody>
      </p:sp>
      <p:sp>
        <p:nvSpPr>
          <p:cNvPr id="18" name="Text 16"/>
          <p:cNvSpPr/>
          <p:nvPr/>
        </p:nvSpPr>
        <p:spPr>
          <a:xfrm>
            <a:off x="566928" y="6391656"/>
            <a:ext cx="8961120" cy="274320"/>
          </a:xfrm>
          <a:prstGeom prst="rect">
            <a:avLst/>
          </a:prstGeom>
          <a:noFill/>
          <a:ln/>
        </p:spPr>
        <p:txBody>
          <a:bodyPr wrap="square" rtlCol="0" anchor="ctr"/>
          <a:lstStyle/>
          <a:p>
            <a:pPr marL="0" indent="0">
              <a:lnSpc>
                <a:spcPct val="105000"/>
              </a:lnSpc>
              <a:buNone/>
            </a:pPr>
            <a:r>
              <a:rPr lang="en-US" sz="1100" dirty="0">
                <a:solidFill>
                  <a:srgbClr val="6F7B8D"/>
                </a:solidFill>
                <a:latin typeface="Helvetica Neue" pitchFamily="34" charset="0"/>
                <a:ea typeface="Helvetica Neue" pitchFamily="34" charset="-122"/>
                <a:cs typeface="Helvetica Neue" pitchFamily="34" charset="-120"/>
              </a:rPr>
              <a:t>A smaller sample is a speed choice, not a token measurement. Record any claim live.</a:t>
            </a:r>
            <a:endParaRPr lang="en-US" sz="1100" dirty="0"/>
          </a:p>
        </p:txBody>
      </p:sp>
      <p:sp>
        <p:nvSpPr>
          <p:cNvPr id="19" name="Text 17"/>
          <p:cNvSpPr/>
          <p:nvPr/>
        </p:nvSpPr>
        <p:spPr>
          <a:xfrm>
            <a:off x="9692640" y="6391656"/>
            <a:ext cx="1929384" cy="274320"/>
          </a:xfrm>
          <a:prstGeom prst="rect">
            <a:avLst/>
          </a:prstGeom>
          <a:noFill/>
          <a:ln/>
        </p:spPr>
        <p:txBody>
          <a:bodyPr wrap="square" rtlCol="0" anchor="ctr"/>
          <a:lstStyle/>
          <a:p>
            <a:pPr marL="0" indent="0" algn="r">
              <a:lnSpc>
                <a:spcPct val="105000"/>
              </a:lnSpc>
              <a:buNone/>
            </a:pPr>
            <a:r>
              <a:rPr lang="en-US" sz="1100" dirty="0">
                <a:solidFill>
                  <a:srgbClr val="6F7B8D"/>
                </a:solidFill>
                <a:latin typeface="Helvetica Neue" pitchFamily="34" charset="0"/>
                <a:ea typeface="Helvetica Neue" pitchFamily="34" charset="-122"/>
                <a:cs typeface="Helvetica Neue" pitchFamily="34" charset="-120"/>
              </a:rPr>
              <a:t>12 / 20</a:t>
            </a:r>
            <a:endParaRPr lang="en-US" sz="1100"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Scale zoomContents="1">
                                      <p:cBhvr>
                                        <p:cTn id="7" dur="420" decel="50000" fill="hold"/>
                                        <p:tgtEl>
                                          <p:spTgt spid="8"/>
                                        </p:tgtEl>
                                      </p:cBhvr>
                                      <p:from x="95000" y="95000"/>
                                      <p:to x="100000" y="100000"/>
                                    </p:animScale>
                                    <p:animEffect transition="in" filter="fade">
                                      <p:cBhvr>
                                        <p:cTn id="8" dur="420"/>
                                        <p:tgtEl>
                                          <p:spTgt spid="8"/>
                                        </p:tgtEl>
                                      </p:cBhvr>
                                    </p:animEffect>
                                  </p:childTnLst>
                                </p:cTn>
                              </p:par>
                              <p:par>
                                <p:cTn id="9" presetID="23"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animScale zoomContents="1">
                                      <p:cBhvr>
                                        <p:cTn id="11" dur="420" decel="50000" fill="hold"/>
                                        <p:tgtEl>
                                          <p:spTgt spid="9"/>
                                        </p:tgtEl>
                                      </p:cBhvr>
                                      <p:from x="95000" y="95000"/>
                                      <p:to x="100000" y="100000"/>
                                    </p:animScale>
                                    <p:animEffect transition="in" filter="fade">
                                      <p:cBhvr>
                                        <p:cTn id="12" dur="42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wipe(right)">
                                      <p:cBhvr>
                                        <p:cTn id="17" dur="420"/>
                                        <p:tgtEl>
                                          <p:spTgt spid="13"/>
                                        </p:tgtEl>
                                      </p:cBhvr>
                                    </p:animEffect>
                                  </p:childTnLst>
                                </p:cTn>
                              </p:par>
                              <p:par>
                                <p:cTn id="18" presetID="22" presetClass="entr" presetSubtype="1" fill="hold" nodeType="with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wipe(right)">
                                      <p:cBhvr>
                                        <p:cTn id="20" dur="420"/>
                                        <p:tgtEl>
                                          <p:spTgt spid="14"/>
                                        </p:tgtEl>
                                      </p:cBhvr>
                                    </p:animEffect>
                                  </p:childTnLst>
                                </p:cTn>
                              </p:par>
                              <p:par>
                                <p:cTn id="21" presetID="22" presetClass="entr" presetSubtype="1" fill="hold" nodeType="with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right)">
                                      <p:cBhvr>
                                        <p:cTn id="23" dur="42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6"/>
                                        </p:tgtEl>
                                        <p:attrNameLst>
                                          <p:attrName>style.visibility</p:attrName>
                                        </p:attrNameLst>
                                      </p:cBhvr>
                                      <p:to>
                                        <p:strVal val="visible"/>
                                      </p:to>
                                    </p:set>
                                    <p:anim calcmode="lin" valueType="num">
                                      <p:cBhvr additive="base">
                                        <p:cTn id="28" dur="420" decel="60000" fill="hold"/>
                                        <p:tgtEl>
                                          <p:spTgt spid="16"/>
                                        </p:tgtEl>
                                        <p:attrNameLst>
                                          <p:attrName>ppt_y</p:attrName>
                                        </p:attrNameLst>
                                      </p:cBhvr>
                                      <p:tavLst>
                                        <p:tav tm="0">
                                          <p:val>
                                            <p:strVal val="#ppt_y+.014"/>
                                          </p:val>
                                        </p:tav>
                                        <p:tav tm="100000">
                                          <p:val>
                                            <p:strVal val="#ppt_y"/>
                                          </p:val>
                                        </p:tav>
                                      </p:tavLst>
                                    </p:anim>
                                    <p:animEffect transition="in" filter="fade">
                                      <p:cBhvr>
                                        <p:cTn id="29" dur="420"/>
                                        <p:tgtEl>
                                          <p:spTgt spid="16"/>
                                        </p:tgtEl>
                                      </p:cBhvr>
                                    </p:animEffect>
                                  </p:childTnLst>
                                </p:cTn>
                              </p:par>
                              <p:par>
                                <p:cTn id="30" presetID="42"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 calcmode="lin" valueType="num">
                                      <p:cBhvr additive="base">
                                        <p:cTn id="32" dur="420" decel="60000" fill="hold"/>
                                        <p:tgtEl>
                                          <p:spTgt spid="17"/>
                                        </p:tgtEl>
                                        <p:attrNameLst>
                                          <p:attrName>ppt_y</p:attrName>
                                        </p:attrNameLst>
                                      </p:cBhvr>
                                      <p:tavLst>
                                        <p:tav tm="0">
                                          <p:val>
                                            <p:strVal val="#ppt_y+.014"/>
                                          </p:val>
                                        </p:tav>
                                        <p:tav tm="100000">
                                          <p:val>
                                            <p:strVal val="#ppt_y"/>
                                          </p:val>
                                        </p:tav>
                                      </p:tavLst>
                                    </p:anim>
                                    <p:animEffect transition="in" filter="fade">
                                      <p:cBhvr>
                                        <p:cTn id="33" dur="42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7090D"/>
        </a:solidFill>
        <a:effectLst/>
      </p:bgPr>
    </p:bg>
    <p:spTree>
      <p:nvGrpSpPr>
        <p:cNvPr id="1" name=""/>
        <p:cNvGrpSpPr/>
        <p:nvPr/>
      </p:nvGrpSpPr>
      <p:grpSpPr>
        <a:xfrm>
          <a:off x="0" y="0"/>
          <a:ext cx="0" cy="0"/>
          <a:chOff x="0" y="0"/>
          <a:chExt cx="0" cy="0"/>
        </a:xfrm>
      </p:grpSpPr>
      <p:sp>
        <p:nvSpPr>
          <p:cNvPr id="2" name="Text 0"/>
          <p:cNvSpPr/>
          <p:nvPr/>
        </p:nvSpPr>
        <p:spPr>
          <a:xfrm>
            <a:off x="566928" y="274320"/>
            <a:ext cx="10607040" cy="274320"/>
          </a:xfrm>
          <a:prstGeom prst="rect">
            <a:avLst/>
          </a:prstGeom>
          <a:noFill/>
          <a:ln/>
        </p:spPr>
        <p:txBody>
          <a:bodyPr wrap="square" rtlCol="0" anchor="t"/>
          <a:lstStyle/>
          <a:p>
            <a:pPr marL="0" indent="0">
              <a:lnSpc>
                <a:spcPct val="105000"/>
              </a:lnSpc>
              <a:buNone/>
            </a:pPr>
            <a:r>
              <a:rPr lang="en-US" sz="1200" b="1" kern="0" spc="260" dirty="0">
                <a:solidFill>
                  <a:srgbClr val="75EDBB"/>
                </a:solidFill>
                <a:latin typeface="Helvetica Neue" pitchFamily="34" charset="0"/>
                <a:ea typeface="Helvetica Neue" pitchFamily="34" charset="-122"/>
                <a:cs typeface="Helvetica Neue" pitchFamily="34" charset="-120"/>
              </a:rPr>
              <a:t>PATTERN</a:t>
            </a:r>
            <a:endParaRPr lang="en-US" sz="1200" dirty="0"/>
          </a:p>
        </p:txBody>
      </p:sp>
      <p:sp>
        <p:nvSpPr>
          <p:cNvPr id="3" name="Text 1"/>
          <p:cNvSpPr/>
          <p:nvPr/>
        </p:nvSpPr>
        <p:spPr>
          <a:xfrm>
            <a:off x="566928" y="585216"/>
            <a:ext cx="10789920" cy="731520"/>
          </a:xfrm>
          <a:prstGeom prst="rect">
            <a:avLst/>
          </a:prstGeom>
          <a:noFill/>
          <a:ln/>
        </p:spPr>
        <p:txBody>
          <a:bodyPr wrap="square" rtlCol="0" anchor="ctr"/>
          <a:lstStyle/>
          <a:p>
            <a:pPr marL="0" indent="0">
              <a:lnSpc>
                <a:spcPct val="95000"/>
              </a:lnSpc>
              <a:buNone/>
            </a:pPr>
            <a:r>
              <a:rPr lang="en-US" sz="3800" dirty="0">
                <a:solidFill>
                  <a:srgbClr val="F3F6FA"/>
                </a:solidFill>
                <a:latin typeface="Avenir Next" pitchFamily="34" charset="0"/>
                <a:ea typeface="Avenir Next" pitchFamily="34" charset="-122"/>
                <a:cs typeface="Avenir Next" pitchFamily="34" charset="-120"/>
              </a:rPr>
              <a:t>TWTTY: Tell me What To Tell You</a:t>
            </a:r>
            <a:endParaRPr lang="en-US" sz="3800" dirty="0"/>
          </a:p>
        </p:txBody>
      </p:sp>
      <p:sp>
        <p:nvSpPr>
          <p:cNvPr id="4" name="Text 2"/>
          <p:cNvSpPr/>
          <p:nvPr/>
        </p:nvSpPr>
        <p:spPr>
          <a:xfrm>
            <a:off x="566928" y="1335024"/>
            <a:ext cx="9692640" cy="384048"/>
          </a:xfrm>
          <a:prstGeom prst="rect">
            <a:avLst/>
          </a:prstGeom>
          <a:noFill/>
          <a:ln/>
        </p:spPr>
        <p:txBody>
          <a:bodyPr wrap="square" rtlCol="0" anchor="t"/>
          <a:lstStyle/>
          <a:p>
            <a:pPr marL="0" indent="0">
              <a:lnSpc>
                <a:spcPct val="105000"/>
              </a:lnSpc>
              <a:buNone/>
            </a:pPr>
            <a:r>
              <a:rPr lang="en-US" sz="1900" dirty="0">
                <a:solidFill>
                  <a:srgbClr val="B2BDCD"/>
                </a:solidFill>
                <a:latin typeface="Helvetica Neue" pitchFamily="34" charset="0"/>
                <a:ea typeface="Helvetica Neue" pitchFamily="34" charset="-122"/>
                <a:cs typeface="Helvetica Neue" pitchFamily="34" charset="-120"/>
              </a:rPr>
              <a:t>Ask the agent to diagnose its own loop, then verify.</a:t>
            </a:r>
            <a:endParaRPr lang="en-US" sz="1900" dirty="0"/>
          </a:p>
        </p:txBody>
      </p:sp>
      <p:sp>
        <p:nvSpPr>
          <p:cNvPr id="5" name="Shape 3"/>
          <p:cNvSpPr/>
          <p:nvPr/>
        </p:nvSpPr>
        <p:spPr>
          <a:xfrm>
            <a:off x="566928" y="1965960"/>
            <a:ext cx="7040880" cy="2697480"/>
          </a:xfrm>
          <a:prstGeom prst="roundRect">
            <a:avLst>
              <a:gd name="adj" fmla="val 5424"/>
            </a:avLst>
          </a:prstGeom>
          <a:solidFill>
            <a:srgbClr val="0A0D13"/>
          </a:solidFill>
          <a:ln w="12700">
            <a:solidFill>
              <a:srgbClr val="A99AFF"/>
            </a:solidFill>
            <a:prstDash val="solid"/>
          </a:ln>
        </p:spPr>
        <p:txBody>
          <a:bodyPr/>
          <a:lstStyle/>
          <a:p>
            <a:endParaRPr lang="en-US"/>
          </a:p>
        </p:txBody>
      </p:sp>
      <p:sp>
        <p:nvSpPr>
          <p:cNvPr id="6" name="Text 4"/>
          <p:cNvSpPr/>
          <p:nvPr/>
        </p:nvSpPr>
        <p:spPr>
          <a:xfrm>
            <a:off x="841248" y="2130552"/>
            <a:ext cx="6492240" cy="256032"/>
          </a:xfrm>
          <a:prstGeom prst="rect">
            <a:avLst/>
          </a:prstGeom>
          <a:noFill/>
          <a:ln/>
        </p:spPr>
        <p:txBody>
          <a:bodyPr wrap="square" rtlCol="0" anchor="t"/>
          <a:lstStyle/>
          <a:p>
            <a:pPr marL="0" indent="0">
              <a:lnSpc>
                <a:spcPct val="105000"/>
              </a:lnSpc>
              <a:buNone/>
            </a:pPr>
            <a:r>
              <a:rPr lang="en-US" sz="1100" b="1" kern="0" spc="200" dirty="0">
                <a:solidFill>
                  <a:srgbClr val="A99AFF"/>
                </a:solidFill>
                <a:latin typeface="Helvetica Neue" pitchFamily="34" charset="0"/>
                <a:ea typeface="Helvetica Neue" pitchFamily="34" charset="-122"/>
                <a:cs typeface="Helvetica Neue" pitchFamily="34" charset="-120"/>
              </a:rPr>
              <a:t>PROMPT</a:t>
            </a:r>
            <a:endParaRPr lang="en-US" sz="1100" dirty="0"/>
          </a:p>
        </p:txBody>
      </p:sp>
      <p:sp>
        <p:nvSpPr>
          <p:cNvPr id="7" name="b01-fade-twtty-prompt"/>
          <p:cNvSpPr/>
          <p:nvPr/>
        </p:nvSpPr>
        <p:spPr>
          <a:xfrm>
            <a:off x="841248" y="2487168"/>
            <a:ext cx="6492240" cy="2011680"/>
          </a:xfrm>
          <a:prstGeom prst="rect">
            <a:avLst/>
          </a:prstGeom>
          <a:noFill/>
          <a:ln/>
        </p:spPr>
        <p:txBody>
          <a:bodyPr wrap="square" rtlCol="0" anchor="t"/>
          <a:lstStyle/>
          <a:p>
            <a:pPr marL="0" indent="0">
              <a:lnSpc>
                <a:spcPct val="125000"/>
              </a:lnSpc>
              <a:buNone/>
            </a:pPr>
            <a:r>
              <a:rPr lang="en-US" sz="1700" dirty="0">
                <a:solidFill>
                  <a:srgbClr val="F3F6FA"/>
                </a:solidFill>
                <a:latin typeface="Menlo" pitchFamily="34" charset="0"/>
                <a:ea typeface="Menlo" pitchFamily="34" charset="-122"/>
                <a:cs typeface="Menlo" pitchFamily="34" charset="-120"/>
              </a:rPr>
              <a:t>Look at the timings we just recorded and name the slowest step in this loop. Propose the smallest safe change that keeps every acceptance criterion.</a:t>
            </a:r>
            <a:endParaRPr lang="en-US" sz="1700" dirty="0"/>
          </a:p>
        </p:txBody>
      </p:sp>
      <p:sp>
        <p:nvSpPr>
          <p:cNvPr id="8" name="b02-wipe-twtty-loop"/>
          <p:cNvSpPr/>
          <p:nvPr/>
        </p:nvSpPr>
        <p:spPr>
          <a:xfrm>
            <a:off x="8138160" y="1965960"/>
            <a:ext cx="3474720" cy="822960"/>
          </a:xfrm>
          <a:prstGeom prst="roundRect">
            <a:avLst>
              <a:gd name="adj" fmla="val 11111"/>
            </a:avLst>
          </a:prstGeom>
          <a:solidFill>
            <a:srgbClr val="0E1219"/>
          </a:solidFill>
          <a:ln w="12700">
            <a:solidFill>
              <a:srgbClr val="232C3A"/>
            </a:solidFill>
            <a:prstDash val="solid"/>
          </a:ln>
        </p:spPr>
        <p:txBody>
          <a:bodyPr/>
          <a:lstStyle/>
          <a:p>
            <a:endParaRPr lang="en-US"/>
          </a:p>
        </p:txBody>
      </p:sp>
      <p:sp>
        <p:nvSpPr>
          <p:cNvPr id="9" name="b02-wipe-twtty-loop"/>
          <p:cNvSpPr/>
          <p:nvPr/>
        </p:nvSpPr>
        <p:spPr>
          <a:xfrm>
            <a:off x="8284464" y="1965960"/>
            <a:ext cx="3182112" cy="822960"/>
          </a:xfrm>
          <a:prstGeom prst="rect">
            <a:avLst/>
          </a:prstGeom>
          <a:noFill/>
          <a:ln/>
        </p:spPr>
        <p:txBody>
          <a:bodyPr wrap="square" rtlCol="0" anchor="ctr"/>
          <a:lstStyle/>
          <a:p>
            <a:pPr marL="0" indent="0" algn="ctr">
              <a:lnSpc>
                <a:spcPct val="105000"/>
              </a:lnSpc>
              <a:buNone/>
            </a:pPr>
            <a:r>
              <a:rPr lang="en-US" sz="1800" dirty="0">
                <a:solidFill>
                  <a:srgbClr val="F3F6FA"/>
                </a:solidFill>
                <a:latin typeface="Helvetica Neue" pitchFamily="34" charset="0"/>
                <a:ea typeface="Helvetica Neue" pitchFamily="34" charset="-122"/>
                <a:cs typeface="Helvetica Neue" pitchFamily="34" charset="-120"/>
              </a:rPr>
              <a:t>Diagnose</a:t>
            </a:r>
            <a:endParaRPr lang="en-US" sz="1800" dirty="0"/>
          </a:p>
        </p:txBody>
      </p:sp>
      <p:sp>
        <p:nvSpPr>
          <p:cNvPr id="10" name="b02-wipe-twtty-loop"/>
          <p:cNvSpPr/>
          <p:nvPr/>
        </p:nvSpPr>
        <p:spPr>
          <a:xfrm>
            <a:off x="9875520" y="2788920"/>
            <a:ext cx="0" cy="274320"/>
          </a:xfrm>
          <a:prstGeom prst="line">
            <a:avLst/>
          </a:prstGeom>
          <a:noFill/>
          <a:ln w="19050">
            <a:solidFill>
              <a:srgbClr val="75EDBB"/>
            </a:solidFill>
            <a:prstDash val="solid"/>
            <a:tailEnd type="triangle"/>
          </a:ln>
        </p:spPr>
        <p:txBody>
          <a:bodyPr/>
          <a:lstStyle/>
          <a:p>
            <a:endParaRPr lang="en-US"/>
          </a:p>
        </p:txBody>
      </p:sp>
      <p:sp>
        <p:nvSpPr>
          <p:cNvPr id="11" name="b02-wipe-twtty-loop"/>
          <p:cNvSpPr/>
          <p:nvPr/>
        </p:nvSpPr>
        <p:spPr>
          <a:xfrm>
            <a:off x="8138160" y="3063240"/>
            <a:ext cx="3474720" cy="822960"/>
          </a:xfrm>
          <a:prstGeom prst="roundRect">
            <a:avLst>
              <a:gd name="adj" fmla="val 11111"/>
            </a:avLst>
          </a:prstGeom>
          <a:solidFill>
            <a:srgbClr val="0E1219"/>
          </a:solidFill>
          <a:ln w="12700">
            <a:solidFill>
              <a:srgbClr val="232C3A"/>
            </a:solidFill>
            <a:prstDash val="solid"/>
          </a:ln>
        </p:spPr>
        <p:txBody>
          <a:bodyPr/>
          <a:lstStyle/>
          <a:p>
            <a:endParaRPr lang="en-US"/>
          </a:p>
        </p:txBody>
      </p:sp>
      <p:sp>
        <p:nvSpPr>
          <p:cNvPr id="12" name="b02-wipe-twtty-loop"/>
          <p:cNvSpPr/>
          <p:nvPr/>
        </p:nvSpPr>
        <p:spPr>
          <a:xfrm>
            <a:off x="8284464" y="3063240"/>
            <a:ext cx="3182112" cy="822960"/>
          </a:xfrm>
          <a:prstGeom prst="rect">
            <a:avLst/>
          </a:prstGeom>
          <a:noFill/>
          <a:ln/>
        </p:spPr>
        <p:txBody>
          <a:bodyPr wrap="square" rtlCol="0" anchor="ctr"/>
          <a:lstStyle/>
          <a:p>
            <a:pPr marL="0" indent="0" algn="ctr">
              <a:lnSpc>
                <a:spcPct val="105000"/>
              </a:lnSpc>
              <a:buNone/>
            </a:pPr>
            <a:r>
              <a:rPr lang="en-US" sz="1800" dirty="0">
                <a:solidFill>
                  <a:srgbClr val="F3F6FA"/>
                </a:solidFill>
                <a:latin typeface="Helvetica Neue" pitchFamily="34" charset="0"/>
                <a:ea typeface="Helvetica Neue" pitchFamily="34" charset="-122"/>
                <a:cs typeface="Helvetica Neue" pitchFamily="34" charset="-120"/>
              </a:rPr>
              <a:t>Change one thing</a:t>
            </a:r>
            <a:endParaRPr lang="en-US" sz="1800" dirty="0"/>
          </a:p>
        </p:txBody>
      </p:sp>
      <p:sp>
        <p:nvSpPr>
          <p:cNvPr id="13" name="b02-wipe-twtty-loop"/>
          <p:cNvSpPr/>
          <p:nvPr/>
        </p:nvSpPr>
        <p:spPr>
          <a:xfrm>
            <a:off x="9875520" y="3886200"/>
            <a:ext cx="0" cy="274320"/>
          </a:xfrm>
          <a:prstGeom prst="line">
            <a:avLst/>
          </a:prstGeom>
          <a:noFill/>
          <a:ln w="19050">
            <a:solidFill>
              <a:srgbClr val="75EDBB"/>
            </a:solidFill>
            <a:prstDash val="solid"/>
            <a:tailEnd type="triangle"/>
          </a:ln>
        </p:spPr>
        <p:txBody>
          <a:bodyPr/>
          <a:lstStyle/>
          <a:p>
            <a:endParaRPr lang="en-US"/>
          </a:p>
        </p:txBody>
      </p:sp>
      <p:sp>
        <p:nvSpPr>
          <p:cNvPr id="14" name="b02-wipe-twtty-loop"/>
          <p:cNvSpPr/>
          <p:nvPr/>
        </p:nvSpPr>
        <p:spPr>
          <a:xfrm>
            <a:off x="8138160" y="4160520"/>
            <a:ext cx="3474720" cy="822960"/>
          </a:xfrm>
          <a:prstGeom prst="roundRect">
            <a:avLst>
              <a:gd name="adj" fmla="val 11111"/>
            </a:avLst>
          </a:prstGeom>
          <a:solidFill>
            <a:srgbClr val="0E1219"/>
          </a:solidFill>
          <a:ln w="12700">
            <a:solidFill>
              <a:srgbClr val="232C3A"/>
            </a:solidFill>
            <a:prstDash val="solid"/>
          </a:ln>
        </p:spPr>
        <p:txBody>
          <a:bodyPr/>
          <a:lstStyle/>
          <a:p>
            <a:endParaRPr lang="en-US"/>
          </a:p>
        </p:txBody>
      </p:sp>
      <p:sp>
        <p:nvSpPr>
          <p:cNvPr id="15" name="b02-wipe-twtty-loop"/>
          <p:cNvSpPr/>
          <p:nvPr/>
        </p:nvSpPr>
        <p:spPr>
          <a:xfrm>
            <a:off x="8284464" y="4160520"/>
            <a:ext cx="3182112" cy="822960"/>
          </a:xfrm>
          <a:prstGeom prst="rect">
            <a:avLst/>
          </a:prstGeom>
          <a:noFill/>
          <a:ln/>
        </p:spPr>
        <p:txBody>
          <a:bodyPr wrap="square" rtlCol="0" anchor="ctr"/>
          <a:lstStyle/>
          <a:p>
            <a:pPr marL="0" indent="0" algn="ctr">
              <a:lnSpc>
                <a:spcPct val="105000"/>
              </a:lnSpc>
              <a:buNone/>
            </a:pPr>
            <a:r>
              <a:rPr lang="en-US" sz="1800" dirty="0">
                <a:solidFill>
                  <a:srgbClr val="F3F6FA"/>
                </a:solidFill>
                <a:latin typeface="Helvetica Neue" pitchFamily="34" charset="0"/>
                <a:ea typeface="Helvetica Neue" pitchFamily="34" charset="-122"/>
                <a:cs typeface="Helvetica Neue" pitchFamily="34" charset="-120"/>
              </a:rPr>
              <a:t>Verify by measuring</a:t>
            </a:r>
            <a:endParaRPr lang="en-US" sz="1800" dirty="0"/>
          </a:p>
        </p:txBody>
      </p:sp>
      <p:sp>
        <p:nvSpPr>
          <p:cNvPr id="16" name="b02-wipe-twtty-loop"/>
          <p:cNvSpPr/>
          <p:nvPr/>
        </p:nvSpPr>
        <p:spPr>
          <a:xfrm flipH="1">
            <a:off x="7863840" y="4572000"/>
            <a:ext cx="274320" cy="0"/>
          </a:xfrm>
          <a:prstGeom prst="line">
            <a:avLst/>
          </a:prstGeom>
          <a:noFill/>
          <a:ln w="19050">
            <a:solidFill>
              <a:srgbClr val="75EDBB"/>
            </a:solidFill>
            <a:prstDash val="solid"/>
          </a:ln>
        </p:spPr>
        <p:txBody>
          <a:bodyPr/>
          <a:lstStyle/>
          <a:p>
            <a:endParaRPr lang="en-US"/>
          </a:p>
        </p:txBody>
      </p:sp>
      <p:sp>
        <p:nvSpPr>
          <p:cNvPr id="17" name="b02-wipe-twtty-loop"/>
          <p:cNvSpPr/>
          <p:nvPr/>
        </p:nvSpPr>
        <p:spPr>
          <a:xfrm flipV="1">
            <a:off x="7863840" y="2377440"/>
            <a:ext cx="0" cy="2194560"/>
          </a:xfrm>
          <a:prstGeom prst="line">
            <a:avLst/>
          </a:prstGeom>
          <a:noFill/>
          <a:ln w="19050">
            <a:solidFill>
              <a:srgbClr val="75EDBB"/>
            </a:solidFill>
            <a:prstDash val="solid"/>
          </a:ln>
        </p:spPr>
        <p:txBody>
          <a:bodyPr/>
          <a:lstStyle/>
          <a:p>
            <a:endParaRPr lang="en-US"/>
          </a:p>
        </p:txBody>
      </p:sp>
      <p:sp>
        <p:nvSpPr>
          <p:cNvPr id="18" name="b02-wipe-twtty-loop"/>
          <p:cNvSpPr/>
          <p:nvPr/>
        </p:nvSpPr>
        <p:spPr>
          <a:xfrm>
            <a:off x="7863840" y="2377440"/>
            <a:ext cx="274320" cy="0"/>
          </a:xfrm>
          <a:prstGeom prst="line">
            <a:avLst/>
          </a:prstGeom>
          <a:noFill/>
          <a:ln w="19050">
            <a:solidFill>
              <a:srgbClr val="75EDBB"/>
            </a:solidFill>
            <a:prstDash val="solid"/>
            <a:tailEnd type="triangle"/>
          </a:ln>
        </p:spPr>
        <p:txBody>
          <a:bodyPr/>
          <a:lstStyle/>
          <a:p>
            <a:endParaRPr lang="en-US"/>
          </a:p>
        </p:txBody>
      </p:sp>
      <p:sp>
        <p:nvSpPr>
          <p:cNvPr id="19" name="b03-rise-twtty-caution"/>
          <p:cNvSpPr/>
          <p:nvPr/>
        </p:nvSpPr>
        <p:spPr>
          <a:xfrm>
            <a:off x="566928" y="5138928"/>
            <a:ext cx="11064240" cy="658368"/>
          </a:xfrm>
          <a:prstGeom prst="roundRect">
            <a:avLst>
              <a:gd name="adj" fmla="val 18056"/>
            </a:avLst>
          </a:prstGeom>
          <a:solidFill>
            <a:srgbClr val="3A2E1C"/>
          </a:solidFill>
          <a:ln w="12700">
            <a:solidFill>
              <a:srgbClr val="FFCA83"/>
            </a:solidFill>
            <a:prstDash val="solid"/>
          </a:ln>
        </p:spPr>
        <p:txBody>
          <a:bodyPr/>
          <a:lstStyle/>
          <a:p>
            <a:endParaRPr lang="en-US"/>
          </a:p>
        </p:txBody>
      </p:sp>
      <p:sp>
        <p:nvSpPr>
          <p:cNvPr id="20" name="b03-rise-twtty-caution"/>
          <p:cNvSpPr/>
          <p:nvPr/>
        </p:nvSpPr>
        <p:spPr>
          <a:xfrm>
            <a:off x="841248" y="5138928"/>
            <a:ext cx="10515600" cy="658368"/>
          </a:xfrm>
          <a:prstGeom prst="rect">
            <a:avLst/>
          </a:prstGeom>
          <a:noFill/>
          <a:ln/>
        </p:spPr>
        <p:txBody>
          <a:bodyPr wrap="square" rtlCol="0" anchor="ctr"/>
          <a:lstStyle/>
          <a:p>
            <a:pPr marL="0" indent="0">
              <a:lnSpc>
                <a:spcPct val="105000"/>
              </a:lnSpc>
              <a:buNone/>
            </a:pPr>
            <a:r>
              <a:rPr lang="en-US" sz="1800" dirty="0">
                <a:solidFill>
                  <a:srgbClr val="FFCA83"/>
                </a:solidFill>
                <a:latin typeface="Helvetica Neue" pitchFamily="34" charset="0"/>
                <a:ea typeface="Helvetica Neue" pitchFamily="34" charset="-122"/>
                <a:cs typeface="Helvetica Neue" pitchFamily="34" charset="-120"/>
              </a:rPr>
              <a:t>The diagnosis is a hypothesis. Confirm it with a measurement before you keep it.</a:t>
            </a:r>
            <a:endParaRPr lang="en-US" sz="1800" dirty="0"/>
          </a:p>
        </p:txBody>
      </p:sp>
      <p:sp>
        <p:nvSpPr>
          <p:cNvPr id="21" name="Text 19"/>
          <p:cNvSpPr/>
          <p:nvPr/>
        </p:nvSpPr>
        <p:spPr>
          <a:xfrm>
            <a:off x="566928" y="6391656"/>
            <a:ext cx="8961120" cy="274320"/>
          </a:xfrm>
          <a:prstGeom prst="rect">
            <a:avLst/>
          </a:prstGeom>
          <a:noFill/>
          <a:ln/>
        </p:spPr>
        <p:txBody>
          <a:bodyPr wrap="square" rtlCol="0" anchor="ctr"/>
          <a:lstStyle/>
          <a:p>
            <a:pPr marL="0" indent="0">
              <a:lnSpc>
                <a:spcPct val="105000"/>
              </a:lnSpc>
              <a:buNone/>
            </a:pPr>
            <a:r>
              <a:rPr lang="en-US" sz="1100" dirty="0">
                <a:solidFill>
                  <a:srgbClr val="6F7B8D"/>
                </a:solidFill>
                <a:latin typeface="Helvetica Neue" pitchFamily="34" charset="0"/>
                <a:ea typeface="Helvetica Neue" pitchFamily="34" charset="-122"/>
                <a:cs typeface="Helvetica Neue" pitchFamily="34" charset="-120"/>
              </a:rPr>
              <a:t>Fuller copyable prompt and the field case are in the speaker notes.</a:t>
            </a:r>
            <a:endParaRPr lang="en-US" sz="1100" dirty="0"/>
          </a:p>
        </p:txBody>
      </p:sp>
      <p:sp>
        <p:nvSpPr>
          <p:cNvPr id="22" name="Text 20"/>
          <p:cNvSpPr/>
          <p:nvPr/>
        </p:nvSpPr>
        <p:spPr>
          <a:xfrm>
            <a:off x="9692640" y="6391656"/>
            <a:ext cx="1929384" cy="274320"/>
          </a:xfrm>
          <a:prstGeom prst="rect">
            <a:avLst/>
          </a:prstGeom>
          <a:noFill/>
          <a:ln/>
        </p:spPr>
        <p:txBody>
          <a:bodyPr wrap="square" rtlCol="0" anchor="ctr"/>
          <a:lstStyle/>
          <a:p>
            <a:pPr marL="0" indent="0" algn="r">
              <a:lnSpc>
                <a:spcPct val="105000"/>
              </a:lnSpc>
              <a:buNone/>
            </a:pPr>
            <a:r>
              <a:rPr lang="en-US" sz="1100" dirty="0">
                <a:solidFill>
                  <a:srgbClr val="6F7B8D"/>
                </a:solidFill>
                <a:latin typeface="Helvetica Neue" pitchFamily="34" charset="0"/>
                <a:ea typeface="Helvetica Neue" pitchFamily="34" charset="-122"/>
                <a:cs typeface="Helvetica Neue" pitchFamily="34" charset="-120"/>
              </a:rPr>
              <a:t>13 / 20</a:t>
            </a:r>
            <a:endParaRPr lang="en-US" sz="1100"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2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right)">
                                      <p:cBhvr>
                                        <p:cTn id="12" dur="420"/>
                                        <p:tgtEl>
                                          <p:spTgt spid="8"/>
                                        </p:tgtEl>
                                      </p:cBhvr>
                                    </p:animEffect>
                                  </p:childTnLst>
                                </p:cTn>
                              </p:par>
                              <p:par>
                                <p:cTn id="13" presetID="22" presetClass="entr" presetSubtype="1" fill="hold" nodeType="with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wipe(right)">
                                      <p:cBhvr>
                                        <p:cTn id="15" dur="420"/>
                                        <p:tgtEl>
                                          <p:spTgt spid="9"/>
                                        </p:tgtEl>
                                      </p:cBhvr>
                                    </p:animEffect>
                                  </p:childTnLst>
                                </p:cTn>
                              </p:par>
                              <p:par>
                                <p:cTn id="16" presetID="22" presetClass="entr" presetSubtype="1" fill="hold"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wipe(right)">
                                      <p:cBhvr>
                                        <p:cTn id="18" dur="420"/>
                                        <p:tgtEl>
                                          <p:spTgt spid="10"/>
                                        </p:tgtEl>
                                      </p:cBhvr>
                                    </p:animEffect>
                                  </p:childTnLst>
                                </p:cTn>
                              </p:par>
                              <p:par>
                                <p:cTn id="19" presetID="22" presetClass="entr" presetSubtype="1"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wipe(right)">
                                      <p:cBhvr>
                                        <p:cTn id="21" dur="420"/>
                                        <p:tgtEl>
                                          <p:spTgt spid="11"/>
                                        </p:tgtEl>
                                      </p:cBhvr>
                                    </p:animEffect>
                                  </p:childTnLst>
                                </p:cTn>
                              </p:par>
                              <p:par>
                                <p:cTn id="22" presetID="22" presetClass="entr" presetSubtype="1" fill="hold" nodeType="with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wipe(right)">
                                      <p:cBhvr>
                                        <p:cTn id="24" dur="420"/>
                                        <p:tgtEl>
                                          <p:spTgt spid="12"/>
                                        </p:tgtEl>
                                      </p:cBhvr>
                                    </p:animEffect>
                                  </p:childTnLst>
                                </p:cTn>
                              </p:par>
                              <p:par>
                                <p:cTn id="25" presetID="22" presetClass="entr" presetSubtype="1" fill="hold"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wipe(right)">
                                      <p:cBhvr>
                                        <p:cTn id="27" dur="420"/>
                                        <p:tgtEl>
                                          <p:spTgt spid="13"/>
                                        </p:tgtEl>
                                      </p:cBhvr>
                                    </p:animEffect>
                                  </p:childTnLst>
                                </p:cTn>
                              </p:par>
                              <p:par>
                                <p:cTn id="28" presetID="22" presetClass="entr" presetSubtype="1" fill="hold"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wipe(right)">
                                      <p:cBhvr>
                                        <p:cTn id="30" dur="420"/>
                                        <p:tgtEl>
                                          <p:spTgt spid="14"/>
                                        </p:tgtEl>
                                      </p:cBhvr>
                                    </p:animEffect>
                                  </p:childTnLst>
                                </p:cTn>
                              </p:par>
                              <p:par>
                                <p:cTn id="31" presetID="22" presetClass="entr" presetSubtype="1" fill="hold"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wipe(right)">
                                      <p:cBhvr>
                                        <p:cTn id="33" dur="420"/>
                                        <p:tgtEl>
                                          <p:spTgt spid="15"/>
                                        </p:tgtEl>
                                      </p:cBhvr>
                                    </p:animEffect>
                                  </p:childTnLst>
                                </p:cTn>
                              </p:par>
                              <p:par>
                                <p:cTn id="34" presetID="22" presetClass="entr" presetSubtype="1" fill="hold"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420"/>
                                        <p:tgtEl>
                                          <p:spTgt spid="16"/>
                                        </p:tgtEl>
                                      </p:cBhvr>
                                    </p:animEffect>
                                  </p:childTnLst>
                                </p:cTn>
                              </p:par>
                              <p:par>
                                <p:cTn id="37" presetID="22" presetClass="entr" presetSubtype="1" fill="hold"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wipe(right)">
                                      <p:cBhvr>
                                        <p:cTn id="39" dur="420"/>
                                        <p:tgtEl>
                                          <p:spTgt spid="17"/>
                                        </p:tgtEl>
                                      </p:cBhvr>
                                    </p:animEffect>
                                  </p:childTnLst>
                                </p:cTn>
                              </p:par>
                              <p:par>
                                <p:cTn id="40" presetID="22" presetClass="entr" presetSubtype="1" fill="hold" nodeType="with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wipe(right)">
                                      <p:cBhvr>
                                        <p:cTn id="42" dur="420"/>
                                        <p:tgtEl>
                                          <p:spTgt spid="18"/>
                                        </p:tgtEl>
                                      </p:cBhvr>
                                    </p:animEffect>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nodeType="clickEffect">
                                  <p:stCondLst>
                                    <p:cond delay="0"/>
                                  </p:stCondLst>
                                  <p:childTnLst>
                                    <p:set>
                                      <p:cBhvr>
                                        <p:cTn id="46" dur="1" fill="hold">
                                          <p:stCondLst>
                                            <p:cond delay="0"/>
                                          </p:stCondLst>
                                        </p:cTn>
                                        <p:tgtEl>
                                          <p:spTgt spid="19"/>
                                        </p:tgtEl>
                                        <p:attrNameLst>
                                          <p:attrName>style.visibility</p:attrName>
                                        </p:attrNameLst>
                                      </p:cBhvr>
                                      <p:to>
                                        <p:strVal val="visible"/>
                                      </p:to>
                                    </p:set>
                                    <p:anim calcmode="lin" valueType="num">
                                      <p:cBhvr additive="base">
                                        <p:cTn id="47" dur="420" decel="60000" fill="hold"/>
                                        <p:tgtEl>
                                          <p:spTgt spid="19"/>
                                        </p:tgtEl>
                                        <p:attrNameLst>
                                          <p:attrName>ppt_y</p:attrName>
                                        </p:attrNameLst>
                                      </p:cBhvr>
                                      <p:tavLst>
                                        <p:tav tm="0">
                                          <p:val>
                                            <p:strVal val="#ppt_y+.014"/>
                                          </p:val>
                                        </p:tav>
                                        <p:tav tm="100000">
                                          <p:val>
                                            <p:strVal val="#ppt_y"/>
                                          </p:val>
                                        </p:tav>
                                      </p:tavLst>
                                    </p:anim>
                                    <p:animEffect transition="in" filter="fade">
                                      <p:cBhvr>
                                        <p:cTn id="48" dur="420"/>
                                        <p:tgtEl>
                                          <p:spTgt spid="19"/>
                                        </p:tgtEl>
                                      </p:cBhvr>
                                    </p:animEffect>
                                  </p:childTnLst>
                                </p:cTn>
                              </p:par>
                              <p:par>
                                <p:cTn id="49" presetID="42" presetClass="entr" presetSubtype="0" fill="hold" nodeType="withEffect">
                                  <p:stCondLst>
                                    <p:cond delay="0"/>
                                  </p:stCondLst>
                                  <p:childTnLst>
                                    <p:set>
                                      <p:cBhvr>
                                        <p:cTn id="50" dur="1" fill="hold">
                                          <p:stCondLst>
                                            <p:cond delay="0"/>
                                          </p:stCondLst>
                                        </p:cTn>
                                        <p:tgtEl>
                                          <p:spTgt spid="20"/>
                                        </p:tgtEl>
                                        <p:attrNameLst>
                                          <p:attrName>style.visibility</p:attrName>
                                        </p:attrNameLst>
                                      </p:cBhvr>
                                      <p:to>
                                        <p:strVal val="visible"/>
                                      </p:to>
                                    </p:set>
                                    <p:anim calcmode="lin" valueType="num">
                                      <p:cBhvr additive="base">
                                        <p:cTn id="51" dur="420" decel="60000" fill="hold"/>
                                        <p:tgtEl>
                                          <p:spTgt spid="20"/>
                                        </p:tgtEl>
                                        <p:attrNameLst>
                                          <p:attrName>ppt_y</p:attrName>
                                        </p:attrNameLst>
                                      </p:cBhvr>
                                      <p:tavLst>
                                        <p:tav tm="0">
                                          <p:val>
                                            <p:strVal val="#ppt_y+.014"/>
                                          </p:val>
                                        </p:tav>
                                        <p:tav tm="100000">
                                          <p:val>
                                            <p:strVal val="#ppt_y"/>
                                          </p:val>
                                        </p:tav>
                                      </p:tavLst>
                                    </p:anim>
                                    <p:animEffect transition="in" filter="fade">
                                      <p:cBhvr>
                                        <p:cTn id="52" dur="42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7090D"/>
        </a:solidFill>
        <a:effectLst/>
      </p:bgPr>
    </p:bg>
    <p:spTree>
      <p:nvGrpSpPr>
        <p:cNvPr id="1" name=""/>
        <p:cNvGrpSpPr/>
        <p:nvPr/>
      </p:nvGrpSpPr>
      <p:grpSpPr>
        <a:xfrm>
          <a:off x="0" y="0"/>
          <a:ext cx="0" cy="0"/>
          <a:chOff x="0" y="0"/>
          <a:chExt cx="0" cy="0"/>
        </a:xfrm>
      </p:grpSpPr>
      <p:sp>
        <p:nvSpPr>
          <p:cNvPr id="2" name="Text 0"/>
          <p:cNvSpPr/>
          <p:nvPr/>
        </p:nvSpPr>
        <p:spPr>
          <a:xfrm>
            <a:off x="566928" y="274320"/>
            <a:ext cx="10607040" cy="274320"/>
          </a:xfrm>
          <a:prstGeom prst="rect">
            <a:avLst/>
          </a:prstGeom>
          <a:noFill/>
          <a:ln/>
        </p:spPr>
        <p:txBody>
          <a:bodyPr wrap="square" rtlCol="0" anchor="t"/>
          <a:lstStyle/>
          <a:p>
            <a:pPr marL="0" indent="0">
              <a:lnSpc>
                <a:spcPct val="105000"/>
              </a:lnSpc>
              <a:buNone/>
            </a:pPr>
            <a:r>
              <a:rPr lang="en-US" sz="1200" b="1" kern="0" spc="260" dirty="0">
                <a:solidFill>
                  <a:srgbClr val="75EDBB"/>
                </a:solidFill>
                <a:latin typeface="Helvetica Neue" pitchFamily="34" charset="0"/>
                <a:ea typeface="Helvetica Neue" pitchFamily="34" charset="-122"/>
                <a:cs typeface="Helvetica Neue" pitchFamily="34" charset="-120"/>
              </a:rPr>
              <a:t>REPO MEMORY</a:t>
            </a:r>
            <a:endParaRPr lang="en-US" sz="1200" dirty="0"/>
          </a:p>
        </p:txBody>
      </p:sp>
      <p:sp>
        <p:nvSpPr>
          <p:cNvPr id="3" name="Text 1"/>
          <p:cNvSpPr/>
          <p:nvPr/>
        </p:nvSpPr>
        <p:spPr>
          <a:xfrm>
            <a:off x="566928" y="585216"/>
            <a:ext cx="10789920" cy="731520"/>
          </a:xfrm>
          <a:prstGeom prst="rect">
            <a:avLst/>
          </a:prstGeom>
          <a:noFill/>
          <a:ln/>
        </p:spPr>
        <p:txBody>
          <a:bodyPr wrap="square" rtlCol="0" anchor="ctr"/>
          <a:lstStyle/>
          <a:p>
            <a:pPr marL="0" indent="0">
              <a:lnSpc>
                <a:spcPct val="95000"/>
              </a:lnSpc>
              <a:buNone/>
            </a:pPr>
            <a:r>
              <a:rPr lang="en-US" sz="3800" dirty="0">
                <a:solidFill>
                  <a:srgbClr val="F3F6FA"/>
                </a:solidFill>
                <a:latin typeface="Avenir Next" pitchFamily="34" charset="0"/>
                <a:ea typeface="Avenir Next" pitchFamily="34" charset="-122"/>
                <a:cs typeface="Avenir Next" pitchFamily="34" charset="-120"/>
              </a:rPr>
              <a:t>Record the traps once</a:t>
            </a:r>
            <a:endParaRPr lang="en-US" sz="3800" dirty="0"/>
          </a:p>
        </p:txBody>
      </p:sp>
      <p:sp>
        <p:nvSpPr>
          <p:cNvPr id="4" name="Text 2"/>
          <p:cNvSpPr/>
          <p:nvPr/>
        </p:nvSpPr>
        <p:spPr>
          <a:xfrm>
            <a:off x="566928" y="1335024"/>
            <a:ext cx="9692640" cy="384048"/>
          </a:xfrm>
          <a:prstGeom prst="rect">
            <a:avLst/>
          </a:prstGeom>
          <a:noFill/>
          <a:ln/>
        </p:spPr>
        <p:txBody>
          <a:bodyPr wrap="square" rtlCol="0" anchor="t"/>
          <a:lstStyle/>
          <a:p>
            <a:pPr marL="0" indent="0">
              <a:lnSpc>
                <a:spcPct val="105000"/>
              </a:lnSpc>
              <a:buNone/>
            </a:pPr>
            <a:r>
              <a:rPr lang="en-US" sz="1900" dirty="0">
                <a:solidFill>
                  <a:srgbClr val="B2BDCD"/>
                </a:solidFill>
                <a:latin typeface="Helvetica Neue" pitchFamily="34" charset="0"/>
                <a:ea typeface="Helvetica Neue" pitchFamily="34" charset="-122"/>
                <a:cs typeface="Helvetica Neue" pitchFamily="34" charset="-120"/>
              </a:rPr>
              <a:t>Short, true, next to the code.</a:t>
            </a:r>
            <a:endParaRPr lang="en-US" sz="1900" dirty="0"/>
          </a:p>
        </p:txBody>
      </p:sp>
      <p:sp>
        <p:nvSpPr>
          <p:cNvPr id="5" name="Shape 3"/>
          <p:cNvSpPr/>
          <p:nvPr/>
        </p:nvSpPr>
        <p:spPr>
          <a:xfrm>
            <a:off x="566928" y="1783080"/>
            <a:ext cx="7498080" cy="4023360"/>
          </a:xfrm>
          <a:prstGeom prst="roundRect">
            <a:avLst>
              <a:gd name="adj" fmla="val 3636"/>
            </a:avLst>
          </a:prstGeom>
          <a:solidFill>
            <a:srgbClr val="0A0D13"/>
          </a:solidFill>
          <a:ln w="12700">
            <a:solidFill>
              <a:srgbClr val="232C3A"/>
            </a:solidFill>
            <a:prstDash val="solid"/>
          </a:ln>
        </p:spPr>
        <p:txBody>
          <a:bodyPr/>
          <a:lstStyle/>
          <a:p>
            <a:endParaRPr lang="en-US"/>
          </a:p>
        </p:txBody>
      </p:sp>
      <p:sp>
        <p:nvSpPr>
          <p:cNvPr id="6" name="Shape 4"/>
          <p:cNvSpPr/>
          <p:nvPr/>
        </p:nvSpPr>
        <p:spPr>
          <a:xfrm>
            <a:off x="566928" y="1783080"/>
            <a:ext cx="7498080" cy="420624"/>
          </a:xfrm>
          <a:prstGeom prst="roundRect">
            <a:avLst>
              <a:gd name="adj" fmla="val 34783"/>
            </a:avLst>
          </a:prstGeom>
          <a:solidFill>
            <a:srgbClr val="141A24"/>
          </a:solidFill>
          <a:ln w="12700">
            <a:solidFill>
              <a:srgbClr val="1A212C"/>
            </a:solidFill>
            <a:prstDash val="solid"/>
          </a:ln>
        </p:spPr>
        <p:txBody>
          <a:bodyPr/>
          <a:lstStyle/>
          <a:p>
            <a:endParaRPr lang="en-US"/>
          </a:p>
        </p:txBody>
      </p:sp>
      <p:sp>
        <p:nvSpPr>
          <p:cNvPr id="7" name="Shape 5"/>
          <p:cNvSpPr/>
          <p:nvPr/>
        </p:nvSpPr>
        <p:spPr>
          <a:xfrm>
            <a:off x="786384" y="1938528"/>
            <a:ext cx="109728" cy="109728"/>
          </a:xfrm>
          <a:prstGeom prst="ellipse">
            <a:avLst/>
          </a:prstGeom>
          <a:solidFill>
            <a:srgbClr val="232C3A"/>
          </a:solidFill>
          <a:ln w="6350">
            <a:solidFill>
              <a:srgbClr val="232C3A"/>
            </a:solidFill>
            <a:prstDash val="solid"/>
          </a:ln>
        </p:spPr>
        <p:txBody>
          <a:bodyPr/>
          <a:lstStyle/>
          <a:p>
            <a:endParaRPr lang="en-US"/>
          </a:p>
        </p:txBody>
      </p:sp>
      <p:sp>
        <p:nvSpPr>
          <p:cNvPr id="8" name="Shape 6"/>
          <p:cNvSpPr/>
          <p:nvPr/>
        </p:nvSpPr>
        <p:spPr>
          <a:xfrm>
            <a:off x="987552" y="1938528"/>
            <a:ext cx="109728" cy="109728"/>
          </a:xfrm>
          <a:prstGeom prst="ellipse">
            <a:avLst/>
          </a:prstGeom>
          <a:solidFill>
            <a:srgbClr val="232C3A"/>
          </a:solidFill>
          <a:ln w="6350">
            <a:solidFill>
              <a:srgbClr val="232C3A"/>
            </a:solidFill>
            <a:prstDash val="solid"/>
          </a:ln>
        </p:spPr>
        <p:txBody>
          <a:bodyPr/>
          <a:lstStyle/>
          <a:p>
            <a:endParaRPr lang="en-US"/>
          </a:p>
        </p:txBody>
      </p:sp>
      <p:sp>
        <p:nvSpPr>
          <p:cNvPr id="9" name="Shape 7"/>
          <p:cNvSpPr/>
          <p:nvPr/>
        </p:nvSpPr>
        <p:spPr>
          <a:xfrm>
            <a:off x="1188720" y="1938528"/>
            <a:ext cx="109728" cy="109728"/>
          </a:xfrm>
          <a:prstGeom prst="ellipse">
            <a:avLst/>
          </a:prstGeom>
          <a:solidFill>
            <a:srgbClr val="232C3A"/>
          </a:solidFill>
          <a:ln w="6350">
            <a:solidFill>
              <a:srgbClr val="232C3A"/>
            </a:solidFill>
            <a:prstDash val="solid"/>
          </a:ln>
        </p:spPr>
        <p:txBody>
          <a:bodyPr/>
          <a:lstStyle/>
          <a:p>
            <a:endParaRPr lang="en-US"/>
          </a:p>
        </p:txBody>
      </p:sp>
      <p:sp>
        <p:nvSpPr>
          <p:cNvPr id="10" name="Text 8"/>
          <p:cNvSpPr/>
          <p:nvPr/>
        </p:nvSpPr>
        <p:spPr>
          <a:xfrm>
            <a:off x="1481328" y="1783080"/>
            <a:ext cx="2743200" cy="420624"/>
          </a:xfrm>
          <a:prstGeom prst="rect">
            <a:avLst/>
          </a:prstGeom>
          <a:noFill/>
          <a:ln/>
        </p:spPr>
        <p:txBody>
          <a:bodyPr wrap="square" rtlCol="0" anchor="ctr"/>
          <a:lstStyle/>
          <a:p>
            <a:pPr marL="0" indent="0">
              <a:lnSpc>
                <a:spcPct val="105000"/>
              </a:lnSpc>
              <a:buNone/>
            </a:pPr>
            <a:r>
              <a:rPr lang="en-US" sz="1500" dirty="0">
                <a:solidFill>
                  <a:srgbClr val="B2BDCD"/>
                </a:solidFill>
                <a:latin typeface="Menlo" pitchFamily="34" charset="0"/>
                <a:ea typeface="Menlo" pitchFamily="34" charset="-122"/>
                <a:cs typeface="Menlo" pitchFamily="34" charset="-120"/>
              </a:rPr>
              <a:t>AGENTS.md</a:t>
            </a:r>
            <a:endParaRPr lang="en-US" sz="1500" dirty="0"/>
          </a:p>
        </p:txBody>
      </p:sp>
      <p:sp>
        <p:nvSpPr>
          <p:cNvPr id="11" name="Shape 9"/>
          <p:cNvSpPr/>
          <p:nvPr/>
        </p:nvSpPr>
        <p:spPr>
          <a:xfrm>
            <a:off x="576072" y="2203704"/>
            <a:ext cx="530352" cy="3602736"/>
          </a:xfrm>
          <a:prstGeom prst="roundRect">
            <a:avLst/>
          </a:prstGeom>
          <a:solidFill>
            <a:srgbClr val="0A0D13"/>
          </a:solidFill>
          <a:ln w="12700">
            <a:solidFill>
              <a:srgbClr val="0A0D13"/>
            </a:solidFill>
            <a:prstDash val="solid"/>
          </a:ln>
        </p:spPr>
        <p:txBody>
          <a:bodyPr/>
          <a:lstStyle/>
          <a:p>
            <a:endParaRPr lang="en-US"/>
          </a:p>
        </p:txBody>
      </p:sp>
      <p:sp>
        <p:nvSpPr>
          <p:cNvPr id="12" name="Text 10"/>
          <p:cNvSpPr/>
          <p:nvPr/>
        </p:nvSpPr>
        <p:spPr>
          <a:xfrm>
            <a:off x="566928" y="2395728"/>
            <a:ext cx="402336" cy="274320"/>
          </a:xfrm>
          <a:prstGeom prst="rect">
            <a:avLst/>
          </a:prstGeom>
          <a:noFill/>
          <a:ln/>
        </p:spPr>
        <p:txBody>
          <a:bodyPr wrap="square" rtlCol="0" anchor="t"/>
          <a:lstStyle/>
          <a:p>
            <a:pPr marL="0" indent="0" algn="r">
              <a:lnSpc>
                <a:spcPct val="105000"/>
              </a:lnSpc>
              <a:buNone/>
            </a:pPr>
            <a:r>
              <a:rPr lang="en-US" sz="1100" dirty="0">
                <a:solidFill>
                  <a:srgbClr val="6F7B8D"/>
                </a:solidFill>
                <a:latin typeface="Menlo" pitchFamily="34" charset="0"/>
                <a:ea typeface="Menlo" pitchFamily="34" charset="-122"/>
                <a:cs typeface="Menlo" pitchFamily="34" charset="-120"/>
              </a:rPr>
              <a:t>1</a:t>
            </a:r>
            <a:endParaRPr lang="en-US" sz="1100" dirty="0"/>
          </a:p>
        </p:txBody>
      </p:sp>
      <p:sp>
        <p:nvSpPr>
          <p:cNvPr id="13" name="Text 11"/>
          <p:cNvSpPr/>
          <p:nvPr/>
        </p:nvSpPr>
        <p:spPr>
          <a:xfrm>
            <a:off x="1225296" y="2395728"/>
            <a:ext cx="6583680" cy="274320"/>
          </a:xfrm>
          <a:prstGeom prst="rect">
            <a:avLst/>
          </a:prstGeom>
          <a:noFill/>
          <a:ln/>
        </p:spPr>
        <p:txBody>
          <a:bodyPr wrap="square" rtlCol="0" anchor="t"/>
          <a:lstStyle/>
          <a:p>
            <a:pPr marL="0" indent="0">
              <a:lnSpc>
                <a:spcPct val="105000"/>
              </a:lnSpc>
              <a:buNone/>
            </a:pPr>
            <a:r>
              <a:rPr lang="en-US" sz="1500" b="1" dirty="0">
                <a:solidFill>
                  <a:srgbClr val="A99AFF"/>
                </a:solidFill>
                <a:latin typeface="Menlo" pitchFamily="34" charset="0"/>
                <a:ea typeface="Menlo" pitchFamily="34" charset="-122"/>
                <a:cs typeface="Menlo" pitchFamily="34" charset="-120"/>
              </a:rPr>
              <a:t># Scope</a:t>
            </a:r>
            <a:endParaRPr lang="en-US" sz="1500" dirty="0"/>
          </a:p>
        </p:txBody>
      </p:sp>
      <p:sp>
        <p:nvSpPr>
          <p:cNvPr id="14" name="Text 12"/>
          <p:cNvSpPr/>
          <p:nvPr/>
        </p:nvSpPr>
        <p:spPr>
          <a:xfrm>
            <a:off x="566928" y="2724912"/>
            <a:ext cx="402336" cy="274320"/>
          </a:xfrm>
          <a:prstGeom prst="rect">
            <a:avLst/>
          </a:prstGeom>
          <a:noFill/>
          <a:ln/>
        </p:spPr>
        <p:txBody>
          <a:bodyPr wrap="square" rtlCol="0" anchor="t"/>
          <a:lstStyle/>
          <a:p>
            <a:pPr marL="0" indent="0" algn="r">
              <a:lnSpc>
                <a:spcPct val="105000"/>
              </a:lnSpc>
              <a:buNone/>
            </a:pPr>
            <a:r>
              <a:rPr lang="en-US" sz="1100" dirty="0">
                <a:solidFill>
                  <a:srgbClr val="6F7B8D"/>
                </a:solidFill>
                <a:latin typeface="Menlo" pitchFamily="34" charset="0"/>
                <a:ea typeface="Menlo" pitchFamily="34" charset="-122"/>
                <a:cs typeface="Menlo" pitchFamily="34" charset="-120"/>
              </a:rPr>
              <a:t>2</a:t>
            </a:r>
            <a:endParaRPr lang="en-US" sz="1100" dirty="0"/>
          </a:p>
        </p:txBody>
      </p:sp>
      <p:sp>
        <p:nvSpPr>
          <p:cNvPr id="15" name="Text 13"/>
          <p:cNvSpPr/>
          <p:nvPr/>
        </p:nvSpPr>
        <p:spPr>
          <a:xfrm>
            <a:off x="1225296" y="2724912"/>
            <a:ext cx="6583680" cy="274320"/>
          </a:xfrm>
          <a:prstGeom prst="rect">
            <a:avLst/>
          </a:prstGeom>
          <a:noFill/>
          <a:ln/>
        </p:spPr>
        <p:txBody>
          <a:bodyPr wrap="square" rtlCol="0" anchor="t"/>
          <a:lstStyle/>
          <a:p>
            <a:pPr marL="0" indent="0">
              <a:lnSpc>
                <a:spcPct val="105000"/>
              </a:lnSpc>
              <a:buNone/>
            </a:pPr>
            <a:r>
              <a:rPr lang="en-US" sz="1500" dirty="0">
                <a:solidFill>
                  <a:srgbClr val="B2BDCD"/>
                </a:solidFill>
                <a:latin typeface="Menlo" pitchFamily="34" charset="0"/>
                <a:ea typeface="Menlo" pitchFamily="34" charset="-122"/>
                <a:cs typeface="Menlo" pitchFamily="34" charset="-120"/>
              </a:rPr>
              <a:t>Only src/invoices and its tests.</a:t>
            </a:r>
            <a:endParaRPr lang="en-US" sz="1500" dirty="0"/>
          </a:p>
        </p:txBody>
      </p:sp>
      <p:sp>
        <p:nvSpPr>
          <p:cNvPr id="16" name="Text 14"/>
          <p:cNvSpPr/>
          <p:nvPr/>
        </p:nvSpPr>
        <p:spPr>
          <a:xfrm>
            <a:off x="566928" y="3054096"/>
            <a:ext cx="402336" cy="274320"/>
          </a:xfrm>
          <a:prstGeom prst="rect">
            <a:avLst/>
          </a:prstGeom>
          <a:noFill/>
          <a:ln/>
        </p:spPr>
        <p:txBody>
          <a:bodyPr wrap="square" rtlCol="0" anchor="t"/>
          <a:lstStyle/>
          <a:p>
            <a:pPr marL="0" indent="0" algn="r">
              <a:lnSpc>
                <a:spcPct val="105000"/>
              </a:lnSpc>
              <a:buNone/>
            </a:pPr>
            <a:r>
              <a:rPr lang="en-US" sz="1100" dirty="0">
                <a:solidFill>
                  <a:srgbClr val="6F7B8D"/>
                </a:solidFill>
                <a:latin typeface="Menlo" pitchFamily="34" charset="0"/>
                <a:ea typeface="Menlo" pitchFamily="34" charset="-122"/>
                <a:cs typeface="Menlo" pitchFamily="34" charset="-120"/>
              </a:rPr>
              <a:t>3</a:t>
            </a:r>
            <a:endParaRPr lang="en-US" sz="1100" dirty="0"/>
          </a:p>
        </p:txBody>
      </p:sp>
      <p:sp>
        <p:nvSpPr>
          <p:cNvPr id="17" name="Text 15"/>
          <p:cNvSpPr/>
          <p:nvPr/>
        </p:nvSpPr>
        <p:spPr>
          <a:xfrm>
            <a:off x="1225296" y="3054096"/>
            <a:ext cx="6583680" cy="274320"/>
          </a:xfrm>
          <a:prstGeom prst="rect">
            <a:avLst/>
          </a:prstGeom>
          <a:noFill/>
          <a:ln/>
        </p:spPr>
        <p:txBody>
          <a:bodyPr wrap="square" rtlCol="0" anchor="t"/>
          <a:lstStyle/>
          <a:p>
            <a:pPr marL="0" indent="0">
              <a:lnSpc>
                <a:spcPct val="105000"/>
              </a:lnSpc>
              <a:buNone/>
            </a:pPr>
            <a:r>
              <a:rPr lang="en-US" sz="1500" b="1" dirty="0">
                <a:solidFill>
                  <a:srgbClr val="A99AFF"/>
                </a:solidFill>
                <a:latin typeface="Menlo" pitchFamily="34" charset="0"/>
                <a:ea typeface="Menlo" pitchFamily="34" charset="-122"/>
                <a:cs typeface="Menlo" pitchFamily="34" charset="-120"/>
              </a:rPr>
              <a:t># Verify</a:t>
            </a:r>
            <a:endParaRPr lang="en-US" sz="1500" dirty="0"/>
          </a:p>
        </p:txBody>
      </p:sp>
      <p:sp>
        <p:nvSpPr>
          <p:cNvPr id="18" name="Text 16"/>
          <p:cNvSpPr/>
          <p:nvPr/>
        </p:nvSpPr>
        <p:spPr>
          <a:xfrm>
            <a:off x="566928" y="3383280"/>
            <a:ext cx="402336" cy="274320"/>
          </a:xfrm>
          <a:prstGeom prst="rect">
            <a:avLst/>
          </a:prstGeom>
          <a:noFill/>
          <a:ln/>
        </p:spPr>
        <p:txBody>
          <a:bodyPr wrap="square" rtlCol="0" anchor="t"/>
          <a:lstStyle/>
          <a:p>
            <a:pPr marL="0" indent="0" algn="r">
              <a:lnSpc>
                <a:spcPct val="105000"/>
              </a:lnSpc>
              <a:buNone/>
            </a:pPr>
            <a:r>
              <a:rPr lang="en-US" sz="1100" dirty="0">
                <a:solidFill>
                  <a:srgbClr val="6F7B8D"/>
                </a:solidFill>
                <a:latin typeface="Menlo" pitchFamily="34" charset="0"/>
                <a:ea typeface="Menlo" pitchFamily="34" charset="-122"/>
                <a:cs typeface="Menlo" pitchFamily="34" charset="-120"/>
              </a:rPr>
              <a:t>4</a:t>
            </a:r>
            <a:endParaRPr lang="en-US" sz="1100" dirty="0"/>
          </a:p>
        </p:txBody>
      </p:sp>
      <p:sp>
        <p:nvSpPr>
          <p:cNvPr id="19" name="b02-pulse-verify-line"/>
          <p:cNvSpPr/>
          <p:nvPr/>
        </p:nvSpPr>
        <p:spPr>
          <a:xfrm>
            <a:off x="1207008" y="3346704"/>
            <a:ext cx="4023360" cy="347472"/>
          </a:xfrm>
          <a:prstGeom prst="roundRect">
            <a:avLst>
              <a:gd name="adj" fmla="val 15789"/>
            </a:avLst>
          </a:prstGeom>
          <a:solidFill>
            <a:srgbClr val="1E3A33"/>
          </a:solidFill>
          <a:ln w="12700">
            <a:solidFill>
              <a:srgbClr val="75EDBB"/>
            </a:solidFill>
            <a:prstDash val="solid"/>
          </a:ln>
        </p:spPr>
        <p:txBody>
          <a:bodyPr/>
          <a:lstStyle/>
          <a:p>
            <a:endParaRPr lang="en-US"/>
          </a:p>
        </p:txBody>
      </p:sp>
      <p:sp>
        <p:nvSpPr>
          <p:cNvPr id="20" name="b02-pulse-verify-line"/>
          <p:cNvSpPr/>
          <p:nvPr/>
        </p:nvSpPr>
        <p:spPr>
          <a:xfrm>
            <a:off x="1335024" y="3383280"/>
            <a:ext cx="6583680" cy="274320"/>
          </a:xfrm>
          <a:prstGeom prst="rect">
            <a:avLst/>
          </a:prstGeom>
          <a:noFill/>
          <a:ln/>
        </p:spPr>
        <p:txBody>
          <a:bodyPr wrap="square" rtlCol="0" anchor="t"/>
          <a:lstStyle/>
          <a:p>
            <a:pPr marL="0" indent="0">
              <a:lnSpc>
                <a:spcPct val="105000"/>
              </a:lnSpc>
              <a:buNone/>
            </a:pPr>
            <a:r>
              <a:rPr lang="en-US" sz="1500" dirty="0">
                <a:solidFill>
                  <a:srgbClr val="75EDBB"/>
                </a:solidFill>
                <a:latin typeface="Menlo" pitchFamily="34" charset="0"/>
                <a:ea typeface="Menlo" pitchFamily="34" charset="-122"/>
                <a:cs typeface="Menlo" pitchFamily="34" charset="-120"/>
              </a:rPr>
              <a:t>npm run test:invoices</a:t>
            </a:r>
            <a:endParaRPr lang="en-US" sz="1500" dirty="0"/>
          </a:p>
        </p:txBody>
      </p:sp>
      <p:sp>
        <p:nvSpPr>
          <p:cNvPr id="21" name="Text 19"/>
          <p:cNvSpPr/>
          <p:nvPr/>
        </p:nvSpPr>
        <p:spPr>
          <a:xfrm>
            <a:off x="566928" y="3712464"/>
            <a:ext cx="402336" cy="274320"/>
          </a:xfrm>
          <a:prstGeom prst="rect">
            <a:avLst/>
          </a:prstGeom>
          <a:noFill/>
          <a:ln/>
        </p:spPr>
        <p:txBody>
          <a:bodyPr wrap="square" rtlCol="0" anchor="t"/>
          <a:lstStyle/>
          <a:p>
            <a:pPr marL="0" indent="0" algn="r">
              <a:lnSpc>
                <a:spcPct val="105000"/>
              </a:lnSpc>
              <a:buNone/>
            </a:pPr>
            <a:r>
              <a:rPr lang="en-US" sz="1100" dirty="0">
                <a:solidFill>
                  <a:srgbClr val="6F7B8D"/>
                </a:solidFill>
                <a:latin typeface="Menlo" pitchFamily="34" charset="0"/>
                <a:ea typeface="Menlo" pitchFamily="34" charset="-122"/>
                <a:cs typeface="Menlo" pitchFamily="34" charset="-120"/>
              </a:rPr>
              <a:t>5</a:t>
            </a:r>
            <a:endParaRPr lang="en-US" sz="1100" dirty="0"/>
          </a:p>
        </p:txBody>
      </p:sp>
      <p:sp>
        <p:nvSpPr>
          <p:cNvPr id="22" name="Text 20"/>
          <p:cNvSpPr/>
          <p:nvPr/>
        </p:nvSpPr>
        <p:spPr>
          <a:xfrm>
            <a:off x="1225296" y="3712464"/>
            <a:ext cx="6583680" cy="274320"/>
          </a:xfrm>
          <a:prstGeom prst="rect">
            <a:avLst/>
          </a:prstGeom>
          <a:noFill/>
          <a:ln/>
        </p:spPr>
        <p:txBody>
          <a:bodyPr wrap="square" rtlCol="0" anchor="t"/>
          <a:lstStyle/>
          <a:p>
            <a:pPr marL="0" indent="0">
              <a:lnSpc>
                <a:spcPct val="105000"/>
              </a:lnSpc>
              <a:buNone/>
            </a:pPr>
            <a:r>
              <a:rPr lang="en-US" sz="1500" b="1" dirty="0">
                <a:solidFill>
                  <a:srgbClr val="A99AFF"/>
                </a:solidFill>
                <a:latin typeface="Menlo" pitchFamily="34" charset="0"/>
                <a:ea typeface="Menlo" pitchFamily="34" charset="-122"/>
                <a:cs typeface="Menlo" pitchFamily="34" charset="-120"/>
              </a:rPr>
              <a:t># Environment</a:t>
            </a:r>
            <a:endParaRPr lang="en-US" sz="1500" dirty="0"/>
          </a:p>
        </p:txBody>
      </p:sp>
      <p:sp>
        <p:nvSpPr>
          <p:cNvPr id="23" name="Text 21"/>
          <p:cNvSpPr/>
          <p:nvPr/>
        </p:nvSpPr>
        <p:spPr>
          <a:xfrm>
            <a:off x="566928" y="4041648"/>
            <a:ext cx="402336" cy="274320"/>
          </a:xfrm>
          <a:prstGeom prst="rect">
            <a:avLst/>
          </a:prstGeom>
          <a:noFill/>
          <a:ln/>
        </p:spPr>
        <p:txBody>
          <a:bodyPr wrap="square" rtlCol="0" anchor="t"/>
          <a:lstStyle/>
          <a:p>
            <a:pPr marL="0" indent="0" algn="r">
              <a:lnSpc>
                <a:spcPct val="105000"/>
              </a:lnSpc>
              <a:buNone/>
            </a:pPr>
            <a:r>
              <a:rPr lang="en-US" sz="1100" dirty="0">
                <a:solidFill>
                  <a:srgbClr val="6F7B8D"/>
                </a:solidFill>
                <a:latin typeface="Menlo" pitchFamily="34" charset="0"/>
                <a:ea typeface="Menlo" pitchFamily="34" charset="-122"/>
                <a:cs typeface="Menlo" pitchFamily="34" charset="-120"/>
              </a:rPr>
              <a:t>6</a:t>
            </a:r>
            <a:endParaRPr lang="en-US" sz="1100" dirty="0"/>
          </a:p>
        </p:txBody>
      </p:sp>
      <p:sp>
        <p:nvSpPr>
          <p:cNvPr id="24" name="Text 22"/>
          <p:cNvSpPr/>
          <p:nvPr/>
        </p:nvSpPr>
        <p:spPr>
          <a:xfrm>
            <a:off x="1225296" y="4041648"/>
            <a:ext cx="6583680" cy="274320"/>
          </a:xfrm>
          <a:prstGeom prst="rect">
            <a:avLst/>
          </a:prstGeom>
          <a:noFill/>
          <a:ln/>
        </p:spPr>
        <p:txBody>
          <a:bodyPr wrap="square" rtlCol="0" anchor="t"/>
          <a:lstStyle/>
          <a:p>
            <a:pPr marL="0" indent="0">
              <a:lnSpc>
                <a:spcPct val="105000"/>
              </a:lnSpc>
              <a:buNone/>
            </a:pPr>
            <a:r>
              <a:rPr lang="en-US" sz="1500" dirty="0">
                <a:solidFill>
                  <a:srgbClr val="B2BDCD"/>
                </a:solidFill>
                <a:latin typeface="Menlo" pitchFamily="34" charset="0"/>
                <a:ea typeface="Menlo" pitchFamily="34" charset="-122"/>
                <a:cs typeface="Menlo" pitchFamily="34" charset="-120"/>
              </a:rPr>
              <a:t>Package registry needs the VPN.</a:t>
            </a:r>
            <a:endParaRPr lang="en-US" sz="1500" dirty="0"/>
          </a:p>
        </p:txBody>
      </p:sp>
      <p:sp>
        <p:nvSpPr>
          <p:cNvPr id="25" name="Text 23"/>
          <p:cNvSpPr/>
          <p:nvPr/>
        </p:nvSpPr>
        <p:spPr>
          <a:xfrm>
            <a:off x="566928" y="4370832"/>
            <a:ext cx="402336" cy="274320"/>
          </a:xfrm>
          <a:prstGeom prst="rect">
            <a:avLst/>
          </a:prstGeom>
          <a:noFill/>
          <a:ln/>
        </p:spPr>
        <p:txBody>
          <a:bodyPr wrap="square" rtlCol="0" anchor="t"/>
          <a:lstStyle/>
          <a:p>
            <a:pPr marL="0" indent="0" algn="r">
              <a:lnSpc>
                <a:spcPct val="105000"/>
              </a:lnSpc>
              <a:buNone/>
            </a:pPr>
            <a:r>
              <a:rPr lang="en-US" sz="1100" dirty="0">
                <a:solidFill>
                  <a:srgbClr val="6F7B8D"/>
                </a:solidFill>
                <a:latin typeface="Menlo" pitchFamily="34" charset="0"/>
                <a:ea typeface="Menlo" pitchFamily="34" charset="-122"/>
                <a:cs typeface="Menlo" pitchFamily="34" charset="-120"/>
              </a:rPr>
              <a:t>7</a:t>
            </a:r>
            <a:endParaRPr lang="en-US" sz="1100" dirty="0"/>
          </a:p>
        </p:txBody>
      </p:sp>
      <p:sp>
        <p:nvSpPr>
          <p:cNvPr id="26" name="Text 24"/>
          <p:cNvSpPr/>
          <p:nvPr/>
        </p:nvSpPr>
        <p:spPr>
          <a:xfrm>
            <a:off x="1225296" y="4370832"/>
            <a:ext cx="6583680" cy="274320"/>
          </a:xfrm>
          <a:prstGeom prst="rect">
            <a:avLst/>
          </a:prstGeom>
          <a:noFill/>
          <a:ln/>
        </p:spPr>
        <p:txBody>
          <a:bodyPr wrap="square" rtlCol="0" anchor="t"/>
          <a:lstStyle/>
          <a:p>
            <a:pPr marL="0" indent="0">
              <a:lnSpc>
                <a:spcPct val="105000"/>
              </a:lnSpc>
              <a:buNone/>
            </a:pPr>
            <a:r>
              <a:rPr lang="en-US" sz="1500" b="1" dirty="0">
                <a:solidFill>
                  <a:srgbClr val="A99AFF"/>
                </a:solidFill>
                <a:latin typeface="Menlo" pitchFamily="34" charset="0"/>
                <a:ea typeface="Menlo" pitchFamily="34" charset="-122"/>
                <a:cs typeface="Menlo" pitchFamily="34" charset="-120"/>
              </a:rPr>
              <a:t># Mocks</a:t>
            </a:r>
            <a:endParaRPr lang="en-US" sz="1500" dirty="0"/>
          </a:p>
        </p:txBody>
      </p:sp>
      <p:sp>
        <p:nvSpPr>
          <p:cNvPr id="27" name="Text 25"/>
          <p:cNvSpPr/>
          <p:nvPr/>
        </p:nvSpPr>
        <p:spPr>
          <a:xfrm>
            <a:off x="566928" y="4700016"/>
            <a:ext cx="402336" cy="274320"/>
          </a:xfrm>
          <a:prstGeom prst="rect">
            <a:avLst/>
          </a:prstGeom>
          <a:noFill/>
          <a:ln/>
        </p:spPr>
        <p:txBody>
          <a:bodyPr wrap="square" rtlCol="0" anchor="t"/>
          <a:lstStyle/>
          <a:p>
            <a:pPr marL="0" indent="0" algn="r">
              <a:lnSpc>
                <a:spcPct val="105000"/>
              </a:lnSpc>
              <a:buNone/>
            </a:pPr>
            <a:r>
              <a:rPr lang="en-US" sz="1100" dirty="0">
                <a:solidFill>
                  <a:srgbClr val="6F7B8D"/>
                </a:solidFill>
                <a:latin typeface="Menlo" pitchFamily="34" charset="0"/>
                <a:ea typeface="Menlo" pitchFamily="34" charset="-122"/>
                <a:cs typeface="Menlo" pitchFamily="34" charset="-120"/>
              </a:rPr>
              <a:t>8</a:t>
            </a:r>
            <a:endParaRPr lang="en-US" sz="1100" dirty="0"/>
          </a:p>
        </p:txBody>
      </p:sp>
      <p:sp>
        <p:nvSpPr>
          <p:cNvPr id="28" name="Text 26"/>
          <p:cNvSpPr/>
          <p:nvPr/>
        </p:nvSpPr>
        <p:spPr>
          <a:xfrm>
            <a:off x="1225296" y="4700016"/>
            <a:ext cx="6583680" cy="274320"/>
          </a:xfrm>
          <a:prstGeom prst="rect">
            <a:avLst/>
          </a:prstGeom>
          <a:noFill/>
          <a:ln/>
        </p:spPr>
        <p:txBody>
          <a:bodyPr wrap="square" rtlCol="0" anchor="t"/>
          <a:lstStyle/>
          <a:p>
            <a:pPr marL="0" indent="0">
              <a:lnSpc>
                <a:spcPct val="105000"/>
              </a:lnSpc>
              <a:buNone/>
            </a:pPr>
            <a:r>
              <a:rPr lang="en-US" sz="1500" dirty="0">
                <a:solidFill>
                  <a:srgbClr val="B2BDCD"/>
                </a:solidFill>
                <a:latin typeface="Menlo" pitchFamily="34" charset="0"/>
                <a:ea typeface="Menlo" pitchFamily="34" charset="-122"/>
                <a:cs typeface="Menlo" pitchFamily="34" charset="-120"/>
              </a:rPr>
              <a:t>Stub the payment gateway in the inner loop.</a:t>
            </a:r>
            <a:endParaRPr lang="en-US" sz="1500" dirty="0"/>
          </a:p>
        </p:txBody>
      </p:sp>
      <p:sp>
        <p:nvSpPr>
          <p:cNvPr id="29" name="Text 27"/>
          <p:cNvSpPr/>
          <p:nvPr/>
        </p:nvSpPr>
        <p:spPr>
          <a:xfrm>
            <a:off x="566928" y="5029200"/>
            <a:ext cx="402336" cy="274320"/>
          </a:xfrm>
          <a:prstGeom prst="rect">
            <a:avLst/>
          </a:prstGeom>
          <a:noFill/>
          <a:ln/>
        </p:spPr>
        <p:txBody>
          <a:bodyPr wrap="square" rtlCol="0" anchor="t"/>
          <a:lstStyle/>
          <a:p>
            <a:pPr marL="0" indent="0" algn="r">
              <a:lnSpc>
                <a:spcPct val="105000"/>
              </a:lnSpc>
              <a:buNone/>
            </a:pPr>
            <a:r>
              <a:rPr lang="en-US" sz="1100" dirty="0">
                <a:solidFill>
                  <a:srgbClr val="6F7B8D"/>
                </a:solidFill>
                <a:latin typeface="Menlo" pitchFamily="34" charset="0"/>
                <a:ea typeface="Menlo" pitchFamily="34" charset="-122"/>
                <a:cs typeface="Menlo" pitchFamily="34" charset="-120"/>
              </a:rPr>
              <a:t>9</a:t>
            </a:r>
            <a:endParaRPr lang="en-US" sz="1100" dirty="0"/>
          </a:p>
        </p:txBody>
      </p:sp>
      <p:sp>
        <p:nvSpPr>
          <p:cNvPr id="30" name="Text 28"/>
          <p:cNvSpPr/>
          <p:nvPr/>
        </p:nvSpPr>
        <p:spPr>
          <a:xfrm>
            <a:off x="1225296" y="5029200"/>
            <a:ext cx="6583680" cy="274320"/>
          </a:xfrm>
          <a:prstGeom prst="rect">
            <a:avLst/>
          </a:prstGeom>
          <a:noFill/>
          <a:ln/>
        </p:spPr>
        <p:txBody>
          <a:bodyPr wrap="square" rtlCol="0" anchor="t"/>
          <a:lstStyle/>
          <a:p>
            <a:pPr marL="0" indent="0">
              <a:lnSpc>
                <a:spcPct val="105000"/>
              </a:lnSpc>
              <a:buNone/>
            </a:pPr>
            <a:r>
              <a:rPr lang="en-US" sz="1500" b="1" dirty="0">
                <a:solidFill>
                  <a:srgbClr val="A99AFF"/>
                </a:solidFill>
                <a:latin typeface="Menlo" pitchFamily="34" charset="0"/>
                <a:ea typeface="Menlo" pitchFamily="34" charset="-122"/>
                <a:cs typeface="Menlo" pitchFamily="34" charset="-120"/>
              </a:rPr>
              <a:t># Source control</a:t>
            </a:r>
            <a:endParaRPr lang="en-US" sz="1500" dirty="0"/>
          </a:p>
        </p:txBody>
      </p:sp>
      <p:sp>
        <p:nvSpPr>
          <p:cNvPr id="31" name="Text 29"/>
          <p:cNvSpPr/>
          <p:nvPr/>
        </p:nvSpPr>
        <p:spPr>
          <a:xfrm>
            <a:off x="566928" y="5358384"/>
            <a:ext cx="402336" cy="274320"/>
          </a:xfrm>
          <a:prstGeom prst="rect">
            <a:avLst/>
          </a:prstGeom>
          <a:noFill/>
          <a:ln/>
        </p:spPr>
        <p:txBody>
          <a:bodyPr wrap="square" rtlCol="0" anchor="t"/>
          <a:lstStyle/>
          <a:p>
            <a:pPr marL="0" indent="0" algn="r">
              <a:lnSpc>
                <a:spcPct val="105000"/>
              </a:lnSpc>
              <a:buNone/>
            </a:pPr>
            <a:r>
              <a:rPr lang="en-US" sz="1100" dirty="0">
                <a:solidFill>
                  <a:srgbClr val="6F7B8D"/>
                </a:solidFill>
                <a:latin typeface="Menlo" pitchFamily="34" charset="0"/>
                <a:ea typeface="Menlo" pitchFamily="34" charset="-122"/>
                <a:cs typeface="Menlo" pitchFamily="34" charset="-120"/>
              </a:rPr>
              <a:t>10</a:t>
            </a:r>
            <a:endParaRPr lang="en-US" sz="1100" dirty="0"/>
          </a:p>
        </p:txBody>
      </p:sp>
      <p:sp>
        <p:nvSpPr>
          <p:cNvPr id="32" name="Text 30"/>
          <p:cNvSpPr/>
          <p:nvPr/>
        </p:nvSpPr>
        <p:spPr>
          <a:xfrm>
            <a:off x="1225296" y="5358384"/>
            <a:ext cx="6583680" cy="274320"/>
          </a:xfrm>
          <a:prstGeom prst="rect">
            <a:avLst/>
          </a:prstGeom>
          <a:noFill/>
          <a:ln/>
        </p:spPr>
        <p:txBody>
          <a:bodyPr wrap="square" rtlCol="0" anchor="t"/>
          <a:lstStyle/>
          <a:p>
            <a:pPr marL="0" indent="0">
              <a:lnSpc>
                <a:spcPct val="105000"/>
              </a:lnSpc>
              <a:buNone/>
            </a:pPr>
            <a:r>
              <a:rPr lang="en-US" sz="1500" dirty="0">
                <a:solidFill>
                  <a:srgbClr val="B2BDCD"/>
                </a:solidFill>
                <a:latin typeface="Menlo" pitchFamily="34" charset="0"/>
                <a:ea typeface="Menlo" pitchFamily="34" charset="-122"/>
                <a:cs typeface="Menlo" pitchFamily="34" charset="-120"/>
              </a:rPr>
              <a:t>Worktree branch. No force push.</a:t>
            </a:r>
            <a:endParaRPr lang="en-US" sz="1500" dirty="0"/>
          </a:p>
        </p:txBody>
      </p:sp>
      <p:sp>
        <p:nvSpPr>
          <p:cNvPr id="33" name="b01-fade-instruction-rules"/>
          <p:cNvSpPr/>
          <p:nvPr/>
        </p:nvSpPr>
        <p:spPr>
          <a:xfrm>
            <a:off x="8412480" y="2194560"/>
            <a:ext cx="3200400" cy="713232"/>
          </a:xfrm>
          <a:prstGeom prst="roundRect">
            <a:avLst>
              <a:gd name="adj" fmla="val 12821"/>
            </a:avLst>
          </a:prstGeom>
          <a:solidFill>
            <a:srgbClr val="0E1219"/>
          </a:solidFill>
          <a:ln w="12700">
            <a:solidFill>
              <a:srgbClr val="1A212C"/>
            </a:solidFill>
            <a:prstDash val="solid"/>
          </a:ln>
        </p:spPr>
        <p:txBody>
          <a:bodyPr/>
          <a:lstStyle/>
          <a:p>
            <a:endParaRPr lang="en-US"/>
          </a:p>
        </p:txBody>
      </p:sp>
      <p:sp>
        <p:nvSpPr>
          <p:cNvPr id="34" name="b01-fade-instruction-rules"/>
          <p:cNvSpPr/>
          <p:nvPr/>
        </p:nvSpPr>
        <p:spPr>
          <a:xfrm>
            <a:off x="8558784" y="2194560"/>
            <a:ext cx="2907792" cy="713232"/>
          </a:xfrm>
          <a:prstGeom prst="rect">
            <a:avLst/>
          </a:prstGeom>
          <a:noFill/>
          <a:ln/>
        </p:spPr>
        <p:txBody>
          <a:bodyPr wrap="square" rtlCol="0" anchor="ctr"/>
          <a:lstStyle/>
          <a:p>
            <a:pPr marL="0" indent="0" algn="l">
              <a:lnSpc>
                <a:spcPct val="105000"/>
              </a:lnSpc>
              <a:buNone/>
            </a:pPr>
            <a:r>
              <a:rPr lang="en-US" sz="1600" dirty="0">
                <a:solidFill>
                  <a:srgbClr val="F3F6FA"/>
                </a:solidFill>
                <a:latin typeface="Helvetica Neue" pitchFamily="34" charset="0"/>
                <a:ea typeface="Helvetica Neue" pitchFamily="34" charset="-122"/>
                <a:cs typeface="Helvetica Neue" pitchFamily="34" charset="-120"/>
              </a:rPr>
              <a:t>Short enough to stay true</a:t>
            </a:r>
            <a:endParaRPr lang="en-US" sz="1600" dirty="0"/>
          </a:p>
        </p:txBody>
      </p:sp>
      <p:sp>
        <p:nvSpPr>
          <p:cNvPr id="35" name="b01-fade-instruction-rules"/>
          <p:cNvSpPr/>
          <p:nvPr/>
        </p:nvSpPr>
        <p:spPr>
          <a:xfrm>
            <a:off x="8412480" y="3035808"/>
            <a:ext cx="3200400" cy="713232"/>
          </a:xfrm>
          <a:prstGeom prst="roundRect">
            <a:avLst>
              <a:gd name="adj" fmla="val 12821"/>
            </a:avLst>
          </a:prstGeom>
          <a:solidFill>
            <a:srgbClr val="0E1219"/>
          </a:solidFill>
          <a:ln w="12700">
            <a:solidFill>
              <a:srgbClr val="1A212C"/>
            </a:solidFill>
            <a:prstDash val="solid"/>
          </a:ln>
        </p:spPr>
        <p:txBody>
          <a:bodyPr/>
          <a:lstStyle/>
          <a:p>
            <a:endParaRPr lang="en-US"/>
          </a:p>
        </p:txBody>
      </p:sp>
      <p:sp>
        <p:nvSpPr>
          <p:cNvPr id="36" name="b01-fade-instruction-rules"/>
          <p:cNvSpPr/>
          <p:nvPr/>
        </p:nvSpPr>
        <p:spPr>
          <a:xfrm>
            <a:off x="8558784" y="3035808"/>
            <a:ext cx="2907792" cy="713232"/>
          </a:xfrm>
          <a:prstGeom prst="rect">
            <a:avLst/>
          </a:prstGeom>
          <a:noFill/>
          <a:ln/>
        </p:spPr>
        <p:txBody>
          <a:bodyPr wrap="square" rtlCol="0" anchor="ctr"/>
          <a:lstStyle/>
          <a:p>
            <a:pPr marL="0" indent="0" algn="l">
              <a:lnSpc>
                <a:spcPct val="105000"/>
              </a:lnSpc>
              <a:buNone/>
            </a:pPr>
            <a:r>
              <a:rPr lang="en-US" sz="1600" dirty="0">
                <a:solidFill>
                  <a:srgbClr val="F3F6FA"/>
                </a:solidFill>
                <a:latin typeface="Helvetica Neue" pitchFamily="34" charset="0"/>
                <a:ea typeface="Helvetica Neue" pitchFamily="34" charset="-122"/>
                <a:cs typeface="Helvetica Neue" pitchFamily="34" charset="-120"/>
              </a:rPr>
              <a:t>No credentials</a:t>
            </a:r>
            <a:endParaRPr lang="en-US" sz="1600" dirty="0"/>
          </a:p>
        </p:txBody>
      </p:sp>
      <p:sp>
        <p:nvSpPr>
          <p:cNvPr id="37" name="b01-fade-instruction-rules"/>
          <p:cNvSpPr/>
          <p:nvPr/>
        </p:nvSpPr>
        <p:spPr>
          <a:xfrm>
            <a:off x="8412480" y="3877056"/>
            <a:ext cx="3200400" cy="713232"/>
          </a:xfrm>
          <a:prstGeom prst="roundRect">
            <a:avLst>
              <a:gd name="adj" fmla="val 12821"/>
            </a:avLst>
          </a:prstGeom>
          <a:solidFill>
            <a:srgbClr val="0E1219"/>
          </a:solidFill>
          <a:ln w="12700">
            <a:solidFill>
              <a:srgbClr val="1A212C"/>
            </a:solidFill>
            <a:prstDash val="solid"/>
          </a:ln>
        </p:spPr>
        <p:txBody>
          <a:bodyPr/>
          <a:lstStyle/>
          <a:p>
            <a:endParaRPr lang="en-US"/>
          </a:p>
        </p:txBody>
      </p:sp>
      <p:sp>
        <p:nvSpPr>
          <p:cNvPr id="38" name="b01-fade-instruction-rules"/>
          <p:cNvSpPr/>
          <p:nvPr/>
        </p:nvSpPr>
        <p:spPr>
          <a:xfrm>
            <a:off x="8558784" y="3877056"/>
            <a:ext cx="2907792" cy="713232"/>
          </a:xfrm>
          <a:prstGeom prst="rect">
            <a:avLst/>
          </a:prstGeom>
          <a:noFill/>
          <a:ln/>
        </p:spPr>
        <p:txBody>
          <a:bodyPr wrap="square" rtlCol="0" anchor="ctr"/>
          <a:lstStyle/>
          <a:p>
            <a:pPr marL="0" indent="0" algn="l">
              <a:lnSpc>
                <a:spcPct val="105000"/>
              </a:lnSpc>
              <a:buNone/>
            </a:pPr>
            <a:r>
              <a:rPr lang="en-US" sz="1600" dirty="0">
                <a:solidFill>
                  <a:srgbClr val="F3F6FA"/>
                </a:solidFill>
                <a:latin typeface="Helvetica Neue" pitchFamily="34" charset="0"/>
                <a:ea typeface="Helvetica Neue" pitchFamily="34" charset="-122"/>
                <a:cs typeface="Helvetica Neue" pitchFamily="34" charset="-120"/>
              </a:rPr>
              <a:t>Update it when the repo changes</a:t>
            </a:r>
            <a:endParaRPr lang="en-US" sz="1600" dirty="0"/>
          </a:p>
        </p:txBody>
      </p:sp>
      <p:sp>
        <p:nvSpPr>
          <p:cNvPr id="39" name="b02-rise-stale-command"/>
          <p:cNvSpPr/>
          <p:nvPr/>
        </p:nvSpPr>
        <p:spPr>
          <a:xfrm>
            <a:off x="8412480" y="4892040"/>
            <a:ext cx="3200400" cy="914400"/>
          </a:xfrm>
          <a:prstGeom prst="roundRect">
            <a:avLst>
              <a:gd name="adj" fmla="val 13000"/>
            </a:avLst>
          </a:prstGeom>
          <a:solidFill>
            <a:srgbClr val="3A2E1C"/>
          </a:solidFill>
          <a:ln w="12700">
            <a:solidFill>
              <a:srgbClr val="FFCA83"/>
            </a:solidFill>
            <a:prstDash val="solid"/>
          </a:ln>
        </p:spPr>
        <p:txBody>
          <a:bodyPr/>
          <a:lstStyle/>
          <a:p>
            <a:endParaRPr lang="en-US"/>
          </a:p>
        </p:txBody>
      </p:sp>
      <p:sp>
        <p:nvSpPr>
          <p:cNvPr id="40" name="b02-rise-stale-command"/>
          <p:cNvSpPr/>
          <p:nvPr/>
        </p:nvSpPr>
        <p:spPr>
          <a:xfrm>
            <a:off x="8613648" y="4892040"/>
            <a:ext cx="2798064" cy="914400"/>
          </a:xfrm>
          <a:prstGeom prst="rect">
            <a:avLst/>
          </a:prstGeom>
          <a:noFill/>
          <a:ln/>
        </p:spPr>
        <p:txBody>
          <a:bodyPr wrap="square" rtlCol="0" anchor="ctr"/>
          <a:lstStyle/>
          <a:p>
            <a:pPr marL="0" indent="0">
              <a:lnSpc>
                <a:spcPct val="105000"/>
              </a:lnSpc>
              <a:buNone/>
            </a:pPr>
            <a:r>
              <a:rPr lang="en-US" sz="1600" dirty="0">
                <a:solidFill>
                  <a:srgbClr val="FFCA83"/>
                </a:solidFill>
                <a:latin typeface="Helvetica Neue" pitchFamily="34" charset="0"/>
                <a:ea typeface="Helvetica Neue" pitchFamily="34" charset="-122"/>
                <a:cs typeface="Helvetica Neue" pitchFamily="34" charset="-120"/>
              </a:rPr>
              <a:t>A stale command costs more than a missing line.</a:t>
            </a:r>
            <a:endParaRPr lang="en-US" sz="1600" dirty="0"/>
          </a:p>
        </p:txBody>
      </p:sp>
      <p:sp>
        <p:nvSpPr>
          <p:cNvPr id="41" name="Text 39"/>
          <p:cNvSpPr/>
          <p:nvPr/>
        </p:nvSpPr>
        <p:spPr>
          <a:xfrm>
            <a:off x="566928" y="6391656"/>
            <a:ext cx="8961120" cy="274320"/>
          </a:xfrm>
          <a:prstGeom prst="rect">
            <a:avLst/>
          </a:prstGeom>
          <a:noFill/>
          <a:ln/>
        </p:spPr>
        <p:txBody>
          <a:bodyPr wrap="square" rtlCol="0" anchor="ctr"/>
          <a:lstStyle/>
          <a:p>
            <a:pPr marL="0" indent="0">
              <a:lnSpc>
                <a:spcPct val="105000"/>
              </a:lnSpc>
              <a:buNone/>
            </a:pPr>
            <a:r>
              <a:rPr lang="en-US" sz="1100" dirty="0">
                <a:solidFill>
                  <a:srgbClr val="6F7B8D"/>
                </a:solidFill>
                <a:latin typeface="Helvetica Neue" pitchFamily="34" charset="0"/>
                <a:ea typeface="Helvetica Neue" pitchFamily="34" charset="-122"/>
                <a:cs typeface="Helvetica Neue" pitchFamily="34" charset="-120"/>
              </a:rPr>
              <a:t>Illustrative file. Filenames and loading rules differ per harness.</a:t>
            </a:r>
            <a:endParaRPr lang="en-US" sz="1100" dirty="0"/>
          </a:p>
        </p:txBody>
      </p:sp>
      <p:sp>
        <p:nvSpPr>
          <p:cNvPr id="42" name="Text 40"/>
          <p:cNvSpPr/>
          <p:nvPr/>
        </p:nvSpPr>
        <p:spPr>
          <a:xfrm>
            <a:off x="9692640" y="6391656"/>
            <a:ext cx="1929384" cy="274320"/>
          </a:xfrm>
          <a:prstGeom prst="rect">
            <a:avLst/>
          </a:prstGeom>
          <a:noFill/>
          <a:ln/>
        </p:spPr>
        <p:txBody>
          <a:bodyPr wrap="square" rtlCol="0" anchor="ctr"/>
          <a:lstStyle/>
          <a:p>
            <a:pPr marL="0" indent="0" algn="r">
              <a:lnSpc>
                <a:spcPct val="105000"/>
              </a:lnSpc>
              <a:buNone/>
            </a:pPr>
            <a:r>
              <a:rPr lang="en-US" sz="1100" dirty="0">
                <a:solidFill>
                  <a:srgbClr val="6F7B8D"/>
                </a:solidFill>
                <a:latin typeface="Helvetica Neue" pitchFamily="34" charset="0"/>
                <a:ea typeface="Helvetica Neue" pitchFamily="34" charset="-122"/>
                <a:cs typeface="Helvetica Neue" pitchFamily="34" charset="-120"/>
              </a:rPr>
              <a:t>14 / 20</a:t>
            </a:r>
            <a:endParaRPr lang="en-US" sz="1100"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420"/>
                                        <p:tgtEl>
                                          <p:spTgt spid="33"/>
                                        </p:tgtEl>
                                      </p:cBhvr>
                                    </p:animEffect>
                                  </p:childTnLst>
                                </p:cTn>
                              </p:par>
                              <p:par>
                                <p:cTn id="8" presetID="10" presetClass="entr" presetSubtype="0" fill="hold" nodeType="withEffect">
                                  <p:stCondLst>
                                    <p:cond delay="0"/>
                                  </p:stCondLst>
                                  <p:childTnLst>
                                    <p:set>
                                      <p:cBhvr>
                                        <p:cTn id="9" dur="1" fill="hold">
                                          <p:stCondLst>
                                            <p:cond delay="0"/>
                                          </p:stCondLst>
                                        </p:cTn>
                                        <p:tgtEl>
                                          <p:spTgt spid="34"/>
                                        </p:tgtEl>
                                        <p:attrNameLst>
                                          <p:attrName>style.visibility</p:attrName>
                                        </p:attrNameLst>
                                      </p:cBhvr>
                                      <p:to>
                                        <p:strVal val="visible"/>
                                      </p:to>
                                    </p:set>
                                    <p:animEffect transition="in" filter="fade">
                                      <p:cBhvr>
                                        <p:cTn id="10" dur="420"/>
                                        <p:tgtEl>
                                          <p:spTgt spid="34"/>
                                        </p:tgtEl>
                                      </p:cBhvr>
                                    </p:animEffect>
                                  </p:childTnLst>
                                </p:cTn>
                              </p:par>
                              <p:par>
                                <p:cTn id="11" presetID="10" presetClass="entr" presetSubtype="0" fill="hold" nodeType="withEffect">
                                  <p:stCondLst>
                                    <p:cond delay="0"/>
                                  </p:stCondLst>
                                  <p:childTnLst>
                                    <p:set>
                                      <p:cBhvr>
                                        <p:cTn id="12" dur="1" fill="hold">
                                          <p:stCondLst>
                                            <p:cond delay="0"/>
                                          </p:stCondLst>
                                        </p:cTn>
                                        <p:tgtEl>
                                          <p:spTgt spid="35"/>
                                        </p:tgtEl>
                                        <p:attrNameLst>
                                          <p:attrName>style.visibility</p:attrName>
                                        </p:attrNameLst>
                                      </p:cBhvr>
                                      <p:to>
                                        <p:strVal val="visible"/>
                                      </p:to>
                                    </p:set>
                                    <p:animEffect transition="in" filter="fade">
                                      <p:cBhvr>
                                        <p:cTn id="13" dur="420"/>
                                        <p:tgtEl>
                                          <p:spTgt spid="35"/>
                                        </p:tgtEl>
                                      </p:cBhvr>
                                    </p:animEffect>
                                  </p:childTnLst>
                                </p:cTn>
                              </p:par>
                              <p:par>
                                <p:cTn id="14" presetID="10" presetClass="entr" presetSubtype="0" fill="hold" nodeType="withEffect">
                                  <p:stCondLst>
                                    <p:cond delay="0"/>
                                  </p:stCondLst>
                                  <p:childTnLst>
                                    <p:set>
                                      <p:cBhvr>
                                        <p:cTn id="15" dur="1" fill="hold">
                                          <p:stCondLst>
                                            <p:cond delay="0"/>
                                          </p:stCondLst>
                                        </p:cTn>
                                        <p:tgtEl>
                                          <p:spTgt spid="36"/>
                                        </p:tgtEl>
                                        <p:attrNameLst>
                                          <p:attrName>style.visibility</p:attrName>
                                        </p:attrNameLst>
                                      </p:cBhvr>
                                      <p:to>
                                        <p:strVal val="visible"/>
                                      </p:to>
                                    </p:set>
                                    <p:animEffect transition="in" filter="fade">
                                      <p:cBhvr>
                                        <p:cTn id="16" dur="420"/>
                                        <p:tgtEl>
                                          <p:spTgt spid="36"/>
                                        </p:tgtEl>
                                      </p:cBhvr>
                                    </p:animEffect>
                                  </p:childTnLst>
                                </p:cTn>
                              </p:par>
                              <p:par>
                                <p:cTn id="17" presetID="10" presetClass="entr" presetSubtype="0" fill="hold" nodeType="withEffect">
                                  <p:stCondLst>
                                    <p:cond delay="0"/>
                                  </p:stCondLst>
                                  <p:childTnLst>
                                    <p:set>
                                      <p:cBhvr>
                                        <p:cTn id="18" dur="1" fill="hold">
                                          <p:stCondLst>
                                            <p:cond delay="0"/>
                                          </p:stCondLst>
                                        </p:cTn>
                                        <p:tgtEl>
                                          <p:spTgt spid="37"/>
                                        </p:tgtEl>
                                        <p:attrNameLst>
                                          <p:attrName>style.visibility</p:attrName>
                                        </p:attrNameLst>
                                      </p:cBhvr>
                                      <p:to>
                                        <p:strVal val="visible"/>
                                      </p:to>
                                    </p:set>
                                    <p:animEffect transition="in" filter="fade">
                                      <p:cBhvr>
                                        <p:cTn id="19" dur="420"/>
                                        <p:tgtEl>
                                          <p:spTgt spid="37"/>
                                        </p:tgtEl>
                                      </p:cBhvr>
                                    </p:animEffect>
                                  </p:childTnLst>
                                </p:cTn>
                              </p:par>
                              <p:par>
                                <p:cTn id="20" presetID="10" presetClass="entr" presetSubtype="0" fill="hold" nodeType="withEffect">
                                  <p:stCondLst>
                                    <p:cond delay="0"/>
                                  </p:stCondLst>
                                  <p:childTnLst>
                                    <p:set>
                                      <p:cBhvr>
                                        <p:cTn id="21" dur="1" fill="hold">
                                          <p:stCondLst>
                                            <p:cond delay="0"/>
                                          </p:stCondLst>
                                        </p:cTn>
                                        <p:tgtEl>
                                          <p:spTgt spid="38"/>
                                        </p:tgtEl>
                                        <p:attrNameLst>
                                          <p:attrName>style.visibility</p:attrName>
                                        </p:attrNameLst>
                                      </p:cBhvr>
                                      <p:to>
                                        <p:strVal val="visible"/>
                                      </p:to>
                                    </p:set>
                                    <p:animEffect transition="in" filter="fade">
                                      <p:cBhvr>
                                        <p:cTn id="22" dur="420"/>
                                        <p:tgtEl>
                                          <p:spTgt spid="38"/>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mph" presetSubtype="0" fill="hold" nodeType="clickEffect">
                                  <p:stCondLst>
                                    <p:cond delay="0"/>
                                  </p:stCondLst>
                                  <p:childTnLst>
                                    <p:animScale zoomContents="1">
                                      <p:cBhvr>
                                        <p:cTn id="26" dur="200" accel="30000" decel="30000" autoRev="1" fill="remove"/>
                                        <p:tgtEl>
                                          <p:spTgt spid="19"/>
                                        </p:tgtEl>
                                      </p:cBhvr>
                                      <p:from x="100000" y="100000"/>
                                      <p:to x="104000" y="104000"/>
                                    </p:animScale>
                                  </p:childTnLst>
                                </p:cTn>
                              </p:par>
                              <p:par>
                                <p:cTn id="27" presetID="6" presetClass="emph" presetSubtype="0" fill="hold" nodeType="withEffect">
                                  <p:stCondLst>
                                    <p:cond delay="0"/>
                                  </p:stCondLst>
                                  <p:childTnLst>
                                    <p:animScale zoomContents="1">
                                      <p:cBhvr>
                                        <p:cTn id="28" dur="200" accel="30000" decel="30000" autoRev="1" fill="remove"/>
                                        <p:tgtEl>
                                          <p:spTgt spid="20"/>
                                        </p:tgtEl>
                                      </p:cBhvr>
                                      <p:from x="100000" y="100000"/>
                                      <p:to x="104000" y="104000"/>
                                    </p:animScale>
                                  </p:childTnLst>
                                </p:cTn>
                              </p:par>
                              <p:par>
                                <p:cTn id="29" presetID="42" presetClass="entr" presetSubtype="0" fill="hold" nodeType="withEffect">
                                  <p:stCondLst>
                                    <p:cond delay="0"/>
                                  </p:stCondLst>
                                  <p:childTnLst>
                                    <p:set>
                                      <p:cBhvr>
                                        <p:cTn id="30" dur="1" fill="hold">
                                          <p:stCondLst>
                                            <p:cond delay="0"/>
                                          </p:stCondLst>
                                        </p:cTn>
                                        <p:tgtEl>
                                          <p:spTgt spid="39"/>
                                        </p:tgtEl>
                                        <p:attrNameLst>
                                          <p:attrName>style.visibility</p:attrName>
                                        </p:attrNameLst>
                                      </p:cBhvr>
                                      <p:to>
                                        <p:strVal val="visible"/>
                                      </p:to>
                                    </p:set>
                                    <p:anim calcmode="lin" valueType="num">
                                      <p:cBhvr additive="base">
                                        <p:cTn id="31" dur="420" decel="60000" fill="hold"/>
                                        <p:tgtEl>
                                          <p:spTgt spid="39"/>
                                        </p:tgtEl>
                                        <p:attrNameLst>
                                          <p:attrName>ppt_y</p:attrName>
                                        </p:attrNameLst>
                                      </p:cBhvr>
                                      <p:tavLst>
                                        <p:tav tm="0">
                                          <p:val>
                                            <p:strVal val="#ppt_y+.014"/>
                                          </p:val>
                                        </p:tav>
                                        <p:tav tm="100000">
                                          <p:val>
                                            <p:strVal val="#ppt_y"/>
                                          </p:val>
                                        </p:tav>
                                      </p:tavLst>
                                    </p:anim>
                                    <p:animEffect transition="in" filter="fade">
                                      <p:cBhvr>
                                        <p:cTn id="32" dur="420"/>
                                        <p:tgtEl>
                                          <p:spTgt spid="39"/>
                                        </p:tgtEl>
                                      </p:cBhvr>
                                    </p:animEffect>
                                  </p:childTnLst>
                                </p:cTn>
                              </p:par>
                              <p:par>
                                <p:cTn id="33" presetID="42" presetClass="entr" presetSubtype="0" fill="hold" nodeType="withEffect">
                                  <p:stCondLst>
                                    <p:cond delay="0"/>
                                  </p:stCondLst>
                                  <p:childTnLst>
                                    <p:set>
                                      <p:cBhvr>
                                        <p:cTn id="34" dur="1" fill="hold">
                                          <p:stCondLst>
                                            <p:cond delay="0"/>
                                          </p:stCondLst>
                                        </p:cTn>
                                        <p:tgtEl>
                                          <p:spTgt spid="40"/>
                                        </p:tgtEl>
                                        <p:attrNameLst>
                                          <p:attrName>style.visibility</p:attrName>
                                        </p:attrNameLst>
                                      </p:cBhvr>
                                      <p:to>
                                        <p:strVal val="visible"/>
                                      </p:to>
                                    </p:set>
                                    <p:anim calcmode="lin" valueType="num">
                                      <p:cBhvr additive="base">
                                        <p:cTn id="35" dur="420" decel="60000" fill="hold"/>
                                        <p:tgtEl>
                                          <p:spTgt spid="40"/>
                                        </p:tgtEl>
                                        <p:attrNameLst>
                                          <p:attrName>ppt_y</p:attrName>
                                        </p:attrNameLst>
                                      </p:cBhvr>
                                      <p:tavLst>
                                        <p:tav tm="0">
                                          <p:val>
                                            <p:strVal val="#ppt_y+.014"/>
                                          </p:val>
                                        </p:tav>
                                        <p:tav tm="100000">
                                          <p:val>
                                            <p:strVal val="#ppt_y"/>
                                          </p:val>
                                        </p:tav>
                                      </p:tavLst>
                                    </p:anim>
                                    <p:animEffect transition="in" filter="fade">
                                      <p:cBhvr>
                                        <p:cTn id="36" dur="42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7090D"/>
        </a:solidFill>
        <a:effectLst/>
      </p:bgPr>
    </p:bg>
    <p:spTree>
      <p:nvGrpSpPr>
        <p:cNvPr id="1" name=""/>
        <p:cNvGrpSpPr/>
        <p:nvPr/>
      </p:nvGrpSpPr>
      <p:grpSpPr>
        <a:xfrm>
          <a:off x="0" y="0"/>
          <a:ext cx="0" cy="0"/>
          <a:chOff x="0" y="0"/>
          <a:chExt cx="0" cy="0"/>
        </a:xfrm>
      </p:grpSpPr>
      <p:sp>
        <p:nvSpPr>
          <p:cNvPr id="2" name="Text 0"/>
          <p:cNvSpPr/>
          <p:nvPr/>
        </p:nvSpPr>
        <p:spPr>
          <a:xfrm>
            <a:off x="566928" y="274320"/>
            <a:ext cx="10607040" cy="274320"/>
          </a:xfrm>
          <a:prstGeom prst="rect">
            <a:avLst/>
          </a:prstGeom>
          <a:noFill/>
          <a:ln/>
        </p:spPr>
        <p:txBody>
          <a:bodyPr wrap="square" rtlCol="0" anchor="t"/>
          <a:lstStyle/>
          <a:p>
            <a:pPr marL="0" indent="0">
              <a:lnSpc>
                <a:spcPct val="105000"/>
              </a:lnSpc>
              <a:buNone/>
            </a:pPr>
            <a:r>
              <a:rPr lang="en-US" sz="1200" b="1" kern="0" spc="260" dirty="0">
                <a:solidFill>
                  <a:srgbClr val="75EDBB"/>
                </a:solidFill>
                <a:latin typeface="Helvetica Neue" pitchFamily="34" charset="0"/>
                <a:ea typeface="Helvetica Neue" pitchFamily="34" charset="-122"/>
                <a:cs typeface="Helvetica Neue" pitchFamily="34" charset="-120"/>
              </a:rPr>
              <a:t>ORCHESTRATION</a:t>
            </a:r>
            <a:endParaRPr lang="en-US" sz="1200" dirty="0"/>
          </a:p>
        </p:txBody>
      </p:sp>
      <p:sp>
        <p:nvSpPr>
          <p:cNvPr id="3" name="Text 1"/>
          <p:cNvSpPr/>
          <p:nvPr/>
        </p:nvSpPr>
        <p:spPr>
          <a:xfrm>
            <a:off x="566928" y="585216"/>
            <a:ext cx="10789920" cy="731520"/>
          </a:xfrm>
          <a:prstGeom prst="rect">
            <a:avLst/>
          </a:prstGeom>
          <a:noFill/>
          <a:ln/>
        </p:spPr>
        <p:txBody>
          <a:bodyPr wrap="square" rtlCol="0" anchor="ctr"/>
          <a:lstStyle/>
          <a:p>
            <a:pPr marL="0" indent="0">
              <a:lnSpc>
                <a:spcPct val="95000"/>
              </a:lnSpc>
              <a:buNone/>
            </a:pPr>
            <a:r>
              <a:rPr lang="en-US" sz="3800" dirty="0">
                <a:solidFill>
                  <a:srgbClr val="F3F6FA"/>
                </a:solidFill>
                <a:latin typeface="Avenir Next" pitchFamily="34" charset="0"/>
                <a:ea typeface="Avenir Next" pitchFamily="34" charset="-122"/>
                <a:cs typeface="Avenir Next" pitchFamily="34" charset="-120"/>
              </a:rPr>
              <a:t>Delegate within one feature</a:t>
            </a:r>
            <a:endParaRPr lang="en-US" sz="3800" dirty="0"/>
          </a:p>
        </p:txBody>
      </p:sp>
      <p:sp>
        <p:nvSpPr>
          <p:cNvPr id="4" name="Text 2"/>
          <p:cNvSpPr/>
          <p:nvPr/>
        </p:nvSpPr>
        <p:spPr>
          <a:xfrm>
            <a:off x="566928" y="1335024"/>
            <a:ext cx="9692640" cy="384048"/>
          </a:xfrm>
          <a:prstGeom prst="rect">
            <a:avLst/>
          </a:prstGeom>
          <a:noFill/>
          <a:ln/>
        </p:spPr>
        <p:txBody>
          <a:bodyPr wrap="square" rtlCol="0" anchor="t"/>
          <a:lstStyle/>
          <a:p>
            <a:pPr marL="0" indent="0">
              <a:lnSpc>
                <a:spcPct val="105000"/>
              </a:lnSpc>
              <a:buNone/>
            </a:pPr>
            <a:r>
              <a:rPr lang="en-US" sz="1900" dirty="0">
                <a:solidFill>
                  <a:srgbClr val="B2BDCD"/>
                </a:solidFill>
                <a:latin typeface="Helvetica Neue" pitchFamily="34" charset="0"/>
                <a:ea typeface="Helvetica Neue" pitchFamily="34" charset="-122"/>
                <a:cs typeface="Helvetica Neue" pitchFamily="34" charset="-120"/>
              </a:rPr>
              <a:t>One objective, bounded tasks, one shared gate.</a:t>
            </a:r>
            <a:endParaRPr lang="en-US" sz="1900" dirty="0"/>
          </a:p>
        </p:txBody>
      </p:sp>
      <p:sp>
        <p:nvSpPr>
          <p:cNvPr id="5" name="Shape 3"/>
          <p:cNvSpPr/>
          <p:nvPr/>
        </p:nvSpPr>
        <p:spPr>
          <a:xfrm>
            <a:off x="4114800" y="1828800"/>
            <a:ext cx="3931920" cy="731520"/>
          </a:xfrm>
          <a:prstGeom prst="roundRect">
            <a:avLst>
              <a:gd name="adj" fmla="val 12500"/>
            </a:avLst>
          </a:prstGeom>
          <a:solidFill>
            <a:srgbClr val="1E3A33"/>
          </a:solidFill>
          <a:ln w="12700">
            <a:solidFill>
              <a:srgbClr val="75EDBB"/>
            </a:solidFill>
            <a:prstDash val="solid"/>
          </a:ln>
        </p:spPr>
        <p:txBody>
          <a:bodyPr/>
          <a:lstStyle/>
          <a:p>
            <a:endParaRPr lang="en-US"/>
          </a:p>
        </p:txBody>
      </p:sp>
      <p:sp>
        <p:nvSpPr>
          <p:cNvPr id="6" name="Text 4"/>
          <p:cNvSpPr/>
          <p:nvPr/>
        </p:nvSpPr>
        <p:spPr>
          <a:xfrm>
            <a:off x="4261104" y="1828800"/>
            <a:ext cx="3639312" cy="731520"/>
          </a:xfrm>
          <a:prstGeom prst="rect">
            <a:avLst/>
          </a:prstGeom>
          <a:noFill/>
          <a:ln/>
        </p:spPr>
        <p:txBody>
          <a:bodyPr wrap="square" rtlCol="0" anchor="ctr"/>
          <a:lstStyle/>
          <a:p>
            <a:pPr marL="0" indent="0" algn="ctr">
              <a:lnSpc>
                <a:spcPct val="105000"/>
              </a:lnSpc>
              <a:buNone/>
            </a:pPr>
            <a:r>
              <a:rPr lang="en-US" sz="1800" dirty="0">
                <a:solidFill>
                  <a:srgbClr val="75EDBB"/>
                </a:solidFill>
                <a:latin typeface="Helvetica Neue" pitchFamily="34" charset="0"/>
                <a:ea typeface="Helvetica Neue" pitchFamily="34" charset="-122"/>
                <a:cs typeface="Helvetica Neue" pitchFamily="34" charset="-120"/>
              </a:rPr>
              <a:t>One owner · one objective</a:t>
            </a:r>
            <a:endParaRPr lang="en-US" sz="1800" dirty="0"/>
          </a:p>
        </p:txBody>
      </p:sp>
      <p:sp>
        <p:nvSpPr>
          <p:cNvPr id="7" name="b01-fade-bounded-tasks"/>
          <p:cNvSpPr/>
          <p:nvPr/>
        </p:nvSpPr>
        <p:spPr>
          <a:xfrm>
            <a:off x="566928" y="2926080"/>
            <a:ext cx="3566160" cy="1188720"/>
          </a:xfrm>
          <a:prstGeom prst="roundRect">
            <a:avLst>
              <a:gd name="adj" fmla="val 10000"/>
            </a:avLst>
          </a:prstGeom>
          <a:solidFill>
            <a:srgbClr val="0E1219"/>
          </a:solidFill>
          <a:ln w="12700">
            <a:solidFill>
              <a:srgbClr val="232C3A"/>
            </a:solidFill>
            <a:prstDash val="solid"/>
          </a:ln>
        </p:spPr>
        <p:txBody>
          <a:bodyPr/>
          <a:lstStyle/>
          <a:p>
            <a:endParaRPr lang="en-US"/>
          </a:p>
        </p:txBody>
      </p:sp>
      <p:sp>
        <p:nvSpPr>
          <p:cNvPr id="8" name="b01-fade-bounded-tasks"/>
          <p:cNvSpPr/>
          <p:nvPr/>
        </p:nvSpPr>
        <p:spPr>
          <a:xfrm>
            <a:off x="804672" y="3145536"/>
            <a:ext cx="3090672" cy="384048"/>
          </a:xfrm>
          <a:prstGeom prst="rect">
            <a:avLst/>
          </a:prstGeom>
          <a:noFill/>
          <a:ln/>
        </p:spPr>
        <p:txBody>
          <a:bodyPr wrap="square" rtlCol="0" anchor="t"/>
          <a:lstStyle/>
          <a:p>
            <a:pPr marL="0" indent="0">
              <a:lnSpc>
                <a:spcPct val="105000"/>
              </a:lnSpc>
              <a:buNone/>
            </a:pPr>
            <a:r>
              <a:rPr lang="en-US" sz="1900" b="1" dirty="0">
                <a:solidFill>
                  <a:srgbClr val="F3F6FA"/>
                </a:solidFill>
                <a:latin typeface="Helvetica Neue" pitchFamily="34" charset="0"/>
                <a:ea typeface="Helvetica Neue" pitchFamily="34" charset="-122"/>
                <a:cs typeface="Helvetica Neue" pitchFamily="34" charset="-120"/>
              </a:rPr>
              <a:t>Route and query</a:t>
            </a:r>
            <a:endParaRPr lang="en-US" sz="1900" dirty="0"/>
          </a:p>
        </p:txBody>
      </p:sp>
      <p:sp>
        <p:nvSpPr>
          <p:cNvPr id="9" name="b01-fade-bounded-tasks"/>
          <p:cNvSpPr/>
          <p:nvPr/>
        </p:nvSpPr>
        <p:spPr>
          <a:xfrm>
            <a:off x="804672" y="3584448"/>
            <a:ext cx="3090672" cy="384048"/>
          </a:xfrm>
          <a:prstGeom prst="rect">
            <a:avLst/>
          </a:prstGeom>
          <a:noFill/>
          <a:ln/>
        </p:spPr>
        <p:txBody>
          <a:bodyPr wrap="square" rtlCol="0" anchor="t"/>
          <a:lstStyle/>
          <a:p>
            <a:pPr marL="0" indent="0">
              <a:lnSpc>
                <a:spcPct val="105000"/>
              </a:lnSpc>
              <a:buNone/>
            </a:pPr>
            <a:r>
              <a:rPr lang="en-US" sz="1500" dirty="0">
                <a:solidFill>
                  <a:srgbClr val="6F7B8D"/>
                </a:solidFill>
                <a:latin typeface="Menlo" pitchFamily="34" charset="0"/>
                <a:ea typeface="Menlo" pitchFamily="34" charset="-122"/>
                <a:cs typeface="Menlo" pitchFamily="34" charset="-120"/>
              </a:rPr>
              <a:t>worktree A</a:t>
            </a:r>
            <a:endParaRPr lang="en-US" sz="1500" dirty="0"/>
          </a:p>
        </p:txBody>
      </p:sp>
      <p:sp>
        <p:nvSpPr>
          <p:cNvPr id="10" name="b01-fade-bounded-tasks"/>
          <p:cNvSpPr/>
          <p:nvPr/>
        </p:nvSpPr>
        <p:spPr>
          <a:xfrm>
            <a:off x="4306824" y="2926080"/>
            <a:ext cx="3566160" cy="1188720"/>
          </a:xfrm>
          <a:prstGeom prst="roundRect">
            <a:avLst>
              <a:gd name="adj" fmla="val 10000"/>
            </a:avLst>
          </a:prstGeom>
          <a:solidFill>
            <a:srgbClr val="0E1219"/>
          </a:solidFill>
          <a:ln w="12700">
            <a:solidFill>
              <a:srgbClr val="232C3A"/>
            </a:solidFill>
            <a:prstDash val="solid"/>
          </a:ln>
        </p:spPr>
        <p:txBody>
          <a:bodyPr/>
          <a:lstStyle/>
          <a:p>
            <a:endParaRPr lang="en-US"/>
          </a:p>
        </p:txBody>
      </p:sp>
      <p:sp>
        <p:nvSpPr>
          <p:cNvPr id="11" name="b01-fade-bounded-tasks"/>
          <p:cNvSpPr/>
          <p:nvPr/>
        </p:nvSpPr>
        <p:spPr>
          <a:xfrm>
            <a:off x="4544568" y="3145536"/>
            <a:ext cx="3090672" cy="384048"/>
          </a:xfrm>
          <a:prstGeom prst="rect">
            <a:avLst/>
          </a:prstGeom>
          <a:noFill/>
          <a:ln/>
        </p:spPr>
        <p:txBody>
          <a:bodyPr wrap="square" rtlCol="0" anchor="t"/>
          <a:lstStyle/>
          <a:p>
            <a:pPr marL="0" indent="0">
              <a:lnSpc>
                <a:spcPct val="105000"/>
              </a:lnSpc>
              <a:buNone/>
            </a:pPr>
            <a:r>
              <a:rPr lang="en-US" sz="1900" b="1" dirty="0">
                <a:solidFill>
                  <a:srgbClr val="F3F6FA"/>
                </a:solidFill>
                <a:latin typeface="Helvetica Neue" pitchFamily="34" charset="0"/>
                <a:ea typeface="Helvetica Neue" pitchFamily="34" charset="-122"/>
                <a:cs typeface="Helvetica Neue" pitchFamily="34" charset="-120"/>
              </a:rPr>
              <a:t>HTML and formatting</a:t>
            </a:r>
            <a:endParaRPr lang="en-US" sz="1900" dirty="0"/>
          </a:p>
        </p:txBody>
      </p:sp>
      <p:sp>
        <p:nvSpPr>
          <p:cNvPr id="12" name="b01-fade-bounded-tasks"/>
          <p:cNvSpPr/>
          <p:nvPr/>
        </p:nvSpPr>
        <p:spPr>
          <a:xfrm>
            <a:off x="4544568" y="3584448"/>
            <a:ext cx="3090672" cy="384048"/>
          </a:xfrm>
          <a:prstGeom prst="rect">
            <a:avLst/>
          </a:prstGeom>
          <a:noFill/>
          <a:ln/>
        </p:spPr>
        <p:txBody>
          <a:bodyPr wrap="square" rtlCol="0" anchor="t"/>
          <a:lstStyle/>
          <a:p>
            <a:pPr marL="0" indent="0">
              <a:lnSpc>
                <a:spcPct val="105000"/>
              </a:lnSpc>
              <a:buNone/>
            </a:pPr>
            <a:r>
              <a:rPr lang="en-US" sz="1500" dirty="0">
                <a:solidFill>
                  <a:srgbClr val="6F7B8D"/>
                </a:solidFill>
                <a:latin typeface="Menlo" pitchFamily="34" charset="0"/>
                <a:ea typeface="Menlo" pitchFamily="34" charset="-122"/>
                <a:cs typeface="Menlo" pitchFamily="34" charset="-120"/>
              </a:rPr>
              <a:t>worktree B</a:t>
            </a:r>
            <a:endParaRPr lang="en-US" sz="1500" dirty="0"/>
          </a:p>
        </p:txBody>
      </p:sp>
      <p:sp>
        <p:nvSpPr>
          <p:cNvPr id="13" name="b01-fade-bounded-tasks"/>
          <p:cNvSpPr/>
          <p:nvPr/>
        </p:nvSpPr>
        <p:spPr>
          <a:xfrm>
            <a:off x="8046720" y="2926080"/>
            <a:ext cx="3566160" cy="1188720"/>
          </a:xfrm>
          <a:prstGeom prst="roundRect">
            <a:avLst>
              <a:gd name="adj" fmla="val 10000"/>
            </a:avLst>
          </a:prstGeom>
          <a:solidFill>
            <a:srgbClr val="0E1219"/>
          </a:solidFill>
          <a:ln w="12700">
            <a:solidFill>
              <a:srgbClr val="232C3A"/>
            </a:solidFill>
            <a:prstDash val="solid"/>
          </a:ln>
        </p:spPr>
        <p:txBody>
          <a:bodyPr/>
          <a:lstStyle/>
          <a:p>
            <a:endParaRPr lang="en-US"/>
          </a:p>
        </p:txBody>
      </p:sp>
      <p:sp>
        <p:nvSpPr>
          <p:cNvPr id="14" name="b01-fade-bounded-tasks"/>
          <p:cNvSpPr/>
          <p:nvPr/>
        </p:nvSpPr>
        <p:spPr>
          <a:xfrm>
            <a:off x="8284464" y="3145536"/>
            <a:ext cx="3090672" cy="384048"/>
          </a:xfrm>
          <a:prstGeom prst="rect">
            <a:avLst/>
          </a:prstGeom>
          <a:noFill/>
          <a:ln/>
        </p:spPr>
        <p:txBody>
          <a:bodyPr wrap="square" rtlCol="0" anchor="t"/>
          <a:lstStyle/>
          <a:p>
            <a:pPr marL="0" indent="0">
              <a:lnSpc>
                <a:spcPct val="105000"/>
              </a:lnSpc>
              <a:buNone/>
            </a:pPr>
            <a:r>
              <a:rPr lang="en-US" sz="1900" b="1" dirty="0">
                <a:solidFill>
                  <a:srgbClr val="F3F6FA"/>
                </a:solidFill>
                <a:latin typeface="Helvetica Neue" pitchFamily="34" charset="0"/>
                <a:ea typeface="Helvetica Neue" pitchFamily="34" charset="-122"/>
                <a:cs typeface="Helvetica Neue" pitchFamily="34" charset="-120"/>
              </a:rPr>
              <a:t>Tests and fixtures</a:t>
            </a:r>
            <a:endParaRPr lang="en-US" sz="1900" dirty="0"/>
          </a:p>
        </p:txBody>
      </p:sp>
      <p:sp>
        <p:nvSpPr>
          <p:cNvPr id="15" name="b01-fade-bounded-tasks"/>
          <p:cNvSpPr/>
          <p:nvPr/>
        </p:nvSpPr>
        <p:spPr>
          <a:xfrm>
            <a:off x="8284464" y="3584448"/>
            <a:ext cx="3090672" cy="384048"/>
          </a:xfrm>
          <a:prstGeom prst="rect">
            <a:avLst/>
          </a:prstGeom>
          <a:noFill/>
          <a:ln/>
        </p:spPr>
        <p:txBody>
          <a:bodyPr wrap="square" rtlCol="0" anchor="t"/>
          <a:lstStyle/>
          <a:p>
            <a:pPr marL="0" indent="0">
              <a:lnSpc>
                <a:spcPct val="105000"/>
              </a:lnSpc>
              <a:buNone/>
            </a:pPr>
            <a:r>
              <a:rPr lang="en-US" sz="1500" dirty="0">
                <a:solidFill>
                  <a:srgbClr val="6F7B8D"/>
                </a:solidFill>
                <a:latin typeface="Menlo" pitchFamily="34" charset="0"/>
                <a:ea typeface="Menlo" pitchFamily="34" charset="-122"/>
                <a:cs typeface="Menlo" pitchFamily="34" charset="-120"/>
              </a:rPr>
              <a:t>worktree C</a:t>
            </a:r>
            <a:endParaRPr lang="en-US" sz="1500" dirty="0"/>
          </a:p>
        </p:txBody>
      </p:sp>
      <p:sp>
        <p:nvSpPr>
          <p:cNvPr id="16" name="b01-wipe-task-split"/>
          <p:cNvSpPr/>
          <p:nvPr/>
        </p:nvSpPr>
        <p:spPr>
          <a:xfrm flipH="1">
            <a:off x="2350008" y="2560320"/>
            <a:ext cx="3730752" cy="365760"/>
          </a:xfrm>
          <a:prstGeom prst="line">
            <a:avLst/>
          </a:prstGeom>
          <a:noFill/>
          <a:ln w="19050">
            <a:solidFill>
              <a:srgbClr val="75EDBB"/>
            </a:solidFill>
            <a:prstDash val="solid"/>
            <a:tailEnd type="triangle"/>
          </a:ln>
        </p:spPr>
        <p:txBody>
          <a:bodyPr/>
          <a:lstStyle/>
          <a:p>
            <a:endParaRPr lang="en-US"/>
          </a:p>
        </p:txBody>
      </p:sp>
      <p:sp>
        <p:nvSpPr>
          <p:cNvPr id="17" name="b01-wipe-task-split"/>
          <p:cNvSpPr/>
          <p:nvPr/>
        </p:nvSpPr>
        <p:spPr>
          <a:xfrm>
            <a:off x="6080760" y="2560320"/>
            <a:ext cx="0" cy="365760"/>
          </a:xfrm>
          <a:prstGeom prst="line">
            <a:avLst/>
          </a:prstGeom>
          <a:noFill/>
          <a:ln w="19050">
            <a:solidFill>
              <a:srgbClr val="75EDBB"/>
            </a:solidFill>
            <a:prstDash val="solid"/>
            <a:tailEnd type="triangle"/>
          </a:ln>
        </p:spPr>
        <p:txBody>
          <a:bodyPr/>
          <a:lstStyle/>
          <a:p>
            <a:endParaRPr lang="en-US"/>
          </a:p>
        </p:txBody>
      </p:sp>
      <p:sp>
        <p:nvSpPr>
          <p:cNvPr id="18" name="b01-wipe-task-split"/>
          <p:cNvSpPr/>
          <p:nvPr/>
        </p:nvSpPr>
        <p:spPr>
          <a:xfrm>
            <a:off x="6080760" y="2560320"/>
            <a:ext cx="3749040" cy="365760"/>
          </a:xfrm>
          <a:prstGeom prst="line">
            <a:avLst/>
          </a:prstGeom>
          <a:noFill/>
          <a:ln w="19050">
            <a:solidFill>
              <a:srgbClr val="75EDBB"/>
            </a:solidFill>
            <a:prstDash val="solid"/>
            <a:tailEnd type="triangle"/>
          </a:ln>
        </p:spPr>
        <p:txBody>
          <a:bodyPr/>
          <a:lstStyle/>
          <a:p>
            <a:endParaRPr lang="en-US"/>
          </a:p>
        </p:txBody>
      </p:sp>
      <p:sp>
        <p:nvSpPr>
          <p:cNvPr id="19" name="b02-wipe-converge-gate"/>
          <p:cNvSpPr/>
          <p:nvPr/>
        </p:nvSpPr>
        <p:spPr>
          <a:xfrm>
            <a:off x="2350008" y="4114800"/>
            <a:ext cx="1490472" cy="457200"/>
          </a:xfrm>
          <a:prstGeom prst="line">
            <a:avLst/>
          </a:prstGeom>
          <a:noFill/>
          <a:ln w="19050">
            <a:solidFill>
              <a:srgbClr val="A99AFF"/>
            </a:solidFill>
            <a:prstDash val="solid"/>
            <a:tailEnd type="triangle"/>
          </a:ln>
        </p:spPr>
        <p:txBody>
          <a:bodyPr/>
          <a:lstStyle/>
          <a:p>
            <a:endParaRPr lang="en-US"/>
          </a:p>
        </p:txBody>
      </p:sp>
      <p:sp>
        <p:nvSpPr>
          <p:cNvPr id="20" name="b02-wipe-converge-gate"/>
          <p:cNvSpPr/>
          <p:nvPr/>
        </p:nvSpPr>
        <p:spPr>
          <a:xfrm>
            <a:off x="6080760" y="4114800"/>
            <a:ext cx="0" cy="457200"/>
          </a:xfrm>
          <a:prstGeom prst="line">
            <a:avLst/>
          </a:prstGeom>
          <a:noFill/>
          <a:ln w="19050">
            <a:solidFill>
              <a:srgbClr val="A99AFF"/>
            </a:solidFill>
            <a:prstDash val="solid"/>
            <a:tailEnd type="triangle"/>
          </a:ln>
        </p:spPr>
        <p:txBody>
          <a:bodyPr/>
          <a:lstStyle/>
          <a:p>
            <a:endParaRPr lang="en-US"/>
          </a:p>
        </p:txBody>
      </p:sp>
      <p:sp>
        <p:nvSpPr>
          <p:cNvPr id="21" name="b02-wipe-converge-gate"/>
          <p:cNvSpPr/>
          <p:nvPr/>
        </p:nvSpPr>
        <p:spPr>
          <a:xfrm flipH="1">
            <a:off x="8321040" y="4114800"/>
            <a:ext cx="1508760" cy="457200"/>
          </a:xfrm>
          <a:prstGeom prst="line">
            <a:avLst/>
          </a:prstGeom>
          <a:noFill/>
          <a:ln w="19050">
            <a:solidFill>
              <a:srgbClr val="A99AFF"/>
            </a:solidFill>
            <a:prstDash val="solid"/>
            <a:tailEnd type="triangle"/>
          </a:ln>
        </p:spPr>
        <p:txBody>
          <a:bodyPr/>
          <a:lstStyle/>
          <a:p>
            <a:endParaRPr lang="en-US"/>
          </a:p>
        </p:txBody>
      </p:sp>
      <p:sp>
        <p:nvSpPr>
          <p:cNvPr id="22" name="b02-wipe-converge-gate"/>
          <p:cNvSpPr/>
          <p:nvPr/>
        </p:nvSpPr>
        <p:spPr>
          <a:xfrm>
            <a:off x="2743200" y="4572000"/>
            <a:ext cx="6675120" cy="777240"/>
          </a:xfrm>
          <a:prstGeom prst="roundRect">
            <a:avLst>
              <a:gd name="adj" fmla="val 11765"/>
            </a:avLst>
          </a:prstGeom>
          <a:solidFill>
            <a:srgbClr val="2A2547"/>
          </a:solidFill>
          <a:ln w="12700">
            <a:solidFill>
              <a:srgbClr val="A99AFF"/>
            </a:solidFill>
            <a:prstDash val="solid"/>
          </a:ln>
        </p:spPr>
        <p:txBody>
          <a:bodyPr/>
          <a:lstStyle/>
          <a:p>
            <a:endParaRPr lang="en-US"/>
          </a:p>
        </p:txBody>
      </p:sp>
      <p:sp>
        <p:nvSpPr>
          <p:cNvPr id="23" name="b02-wipe-converge-gate"/>
          <p:cNvSpPr/>
          <p:nvPr/>
        </p:nvSpPr>
        <p:spPr>
          <a:xfrm>
            <a:off x="2889504" y="4572000"/>
            <a:ext cx="6382512" cy="777240"/>
          </a:xfrm>
          <a:prstGeom prst="rect">
            <a:avLst/>
          </a:prstGeom>
          <a:noFill/>
          <a:ln/>
        </p:spPr>
        <p:txBody>
          <a:bodyPr wrap="square" rtlCol="0" anchor="ctr"/>
          <a:lstStyle/>
          <a:p>
            <a:pPr marL="0" indent="0" algn="ctr">
              <a:lnSpc>
                <a:spcPct val="105000"/>
              </a:lnSpc>
              <a:buNone/>
            </a:pPr>
            <a:r>
              <a:rPr lang="en-US" sz="1800" dirty="0">
                <a:solidFill>
                  <a:srgbClr val="F3F6FA"/>
                </a:solidFill>
                <a:latin typeface="Helvetica Neue" pitchFamily="34" charset="0"/>
                <a:ea typeface="Helvetica Neue" pitchFamily="34" charset="-122"/>
                <a:cs typeface="Helvetica Neue" pitchFamily="34" charset="-120"/>
              </a:rPr>
              <a:t>Shared integration and review gate, then the next feature</a:t>
            </a:r>
            <a:endParaRPr lang="en-US" sz="1800" dirty="0"/>
          </a:p>
        </p:txBody>
      </p:sp>
      <p:sp>
        <p:nvSpPr>
          <p:cNvPr id="24" name="b03-rise-independence-rule"/>
          <p:cNvSpPr/>
          <p:nvPr/>
        </p:nvSpPr>
        <p:spPr>
          <a:xfrm>
            <a:off x="566928" y="5532120"/>
            <a:ext cx="11064240" cy="548640"/>
          </a:xfrm>
          <a:prstGeom prst="roundRect">
            <a:avLst>
              <a:gd name="adj" fmla="val 21667"/>
            </a:avLst>
          </a:prstGeom>
          <a:solidFill>
            <a:srgbClr val="0E1219"/>
          </a:solidFill>
          <a:ln w="12700">
            <a:solidFill>
              <a:srgbClr val="232C3A"/>
            </a:solidFill>
            <a:prstDash val="solid"/>
          </a:ln>
        </p:spPr>
        <p:txBody>
          <a:bodyPr/>
          <a:lstStyle/>
          <a:p>
            <a:endParaRPr lang="en-US"/>
          </a:p>
        </p:txBody>
      </p:sp>
      <p:sp>
        <p:nvSpPr>
          <p:cNvPr id="25" name="b03-rise-independence-rule"/>
          <p:cNvSpPr/>
          <p:nvPr/>
        </p:nvSpPr>
        <p:spPr>
          <a:xfrm>
            <a:off x="841248" y="5532120"/>
            <a:ext cx="10515600" cy="548640"/>
          </a:xfrm>
          <a:prstGeom prst="rect">
            <a:avLst/>
          </a:prstGeom>
          <a:noFill/>
          <a:ln/>
        </p:spPr>
        <p:txBody>
          <a:bodyPr wrap="square" rtlCol="0" anchor="ctr"/>
          <a:lstStyle/>
          <a:p>
            <a:pPr marL="0" indent="0">
              <a:lnSpc>
                <a:spcPct val="105000"/>
              </a:lnSpc>
              <a:buNone/>
            </a:pPr>
            <a:r>
              <a:rPr lang="en-US" sz="1800" dirty="0">
                <a:solidFill>
                  <a:srgbClr val="F3F6FA"/>
                </a:solidFill>
                <a:latin typeface="Helvetica Neue" pitchFamily="34" charset="0"/>
                <a:ea typeface="Helvetica Neue" pitchFamily="34" charset="-122"/>
                <a:cs typeface="Helvetica Neue" pitchFamily="34" charset="-120"/>
              </a:rPr>
              <a:t>Parallel work pays only when the tasks do not share files.</a:t>
            </a:r>
            <a:endParaRPr lang="en-US" sz="1800" dirty="0"/>
          </a:p>
        </p:txBody>
      </p:sp>
      <p:sp>
        <p:nvSpPr>
          <p:cNvPr id="26" name="Text 24"/>
          <p:cNvSpPr/>
          <p:nvPr/>
        </p:nvSpPr>
        <p:spPr>
          <a:xfrm>
            <a:off x="566928" y="6391656"/>
            <a:ext cx="8961120" cy="274320"/>
          </a:xfrm>
          <a:prstGeom prst="rect">
            <a:avLst/>
          </a:prstGeom>
          <a:noFill/>
          <a:ln/>
        </p:spPr>
        <p:txBody>
          <a:bodyPr wrap="square" rtlCol="0" anchor="ctr"/>
          <a:lstStyle/>
          <a:p>
            <a:pPr marL="0" indent="0">
              <a:lnSpc>
                <a:spcPct val="105000"/>
              </a:lnSpc>
              <a:buNone/>
            </a:pPr>
            <a:r>
              <a:rPr lang="en-US" sz="1100" dirty="0">
                <a:solidFill>
                  <a:srgbClr val="6F7B8D"/>
                </a:solidFill>
                <a:latin typeface="Helvetica Neue" pitchFamily="34" charset="0"/>
                <a:ea typeface="Helvetica Neue" pitchFamily="34" charset="-122"/>
                <a:cs typeface="Helvetica Neue" pitchFamily="34" charset="-120"/>
              </a:rPr>
              <a:t>Agent-written code goes through the same review as anyone else's.</a:t>
            </a:r>
            <a:endParaRPr lang="en-US" sz="1100" dirty="0"/>
          </a:p>
        </p:txBody>
      </p:sp>
      <p:sp>
        <p:nvSpPr>
          <p:cNvPr id="27" name="Text 25"/>
          <p:cNvSpPr/>
          <p:nvPr/>
        </p:nvSpPr>
        <p:spPr>
          <a:xfrm>
            <a:off x="9692640" y="6391656"/>
            <a:ext cx="1929384" cy="274320"/>
          </a:xfrm>
          <a:prstGeom prst="rect">
            <a:avLst/>
          </a:prstGeom>
          <a:noFill/>
          <a:ln/>
        </p:spPr>
        <p:txBody>
          <a:bodyPr wrap="square" rtlCol="0" anchor="ctr"/>
          <a:lstStyle/>
          <a:p>
            <a:pPr marL="0" indent="0" algn="r">
              <a:lnSpc>
                <a:spcPct val="105000"/>
              </a:lnSpc>
              <a:buNone/>
            </a:pPr>
            <a:r>
              <a:rPr lang="en-US" sz="1100" dirty="0">
                <a:solidFill>
                  <a:srgbClr val="6F7B8D"/>
                </a:solidFill>
                <a:latin typeface="Helvetica Neue" pitchFamily="34" charset="0"/>
                <a:ea typeface="Helvetica Neue" pitchFamily="34" charset="-122"/>
                <a:cs typeface="Helvetica Neue" pitchFamily="34" charset="-120"/>
              </a:rPr>
              <a:t>15 / 20</a:t>
            </a:r>
            <a:endParaRPr lang="en-US" sz="1100"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2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420"/>
                                        <p:tgtEl>
                                          <p:spTgt spid="8"/>
                                        </p:tgtEl>
                                      </p:cBhvr>
                                    </p:animEffect>
                                  </p:childTnLst>
                                </p:cTn>
                              </p:par>
                              <p:par>
                                <p:cTn id="11" presetID="10"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420"/>
                                        <p:tgtEl>
                                          <p:spTgt spid="9"/>
                                        </p:tgtEl>
                                      </p:cBhvr>
                                    </p:animEffect>
                                  </p:childTnLst>
                                </p:cTn>
                              </p:par>
                              <p:par>
                                <p:cTn id="14" presetID="10" presetClass="entr" presetSubtype="0" fill="hold"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420"/>
                                        <p:tgtEl>
                                          <p:spTgt spid="10"/>
                                        </p:tgtEl>
                                      </p:cBhvr>
                                    </p:animEffect>
                                  </p:childTnLst>
                                </p:cTn>
                              </p:par>
                              <p:par>
                                <p:cTn id="17" presetID="10"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420"/>
                                        <p:tgtEl>
                                          <p:spTgt spid="11"/>
                                        </p:tgtEl>
                                      </p:cBhvr>
                                    </p:animEffect>
                                  </p:childTnLst>
                                </p:cTn>
                              </p:par>
                              <p:par>
                                <p:cTn id="20" presetID="10" presetClass="entr" presetSubtype="0" fill="hold"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420"/>
                                        <p:tgtEl>
                                          <p:spTgt spid="12"/>
                                        </p:tgtEl>
                                      </p:cBhvr>
                                    </p:animEffect>
                                  </p:childTnLst>
                                </p:cTn>
                              </p:par>
                              <p:par>
                                <p:cTn id="23" presetID="10" presetClass="entr" presetSubtype="0"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420"/>
                                        <p:tgtEl>
                                          <p:spTgt spid="13"/>
                                        </p:tgtEl>
                                      </p:cBhvr>
                                    </p:animEffect>
                                  </p:childTnLst>
                                </p:cTn>
                              </p:par>
                              <p:par>
                                <p:cTn id="26" presetID="10" presetClass="entr" presetSubtype="0" fill="hold" nodeType="withEffect">
                                  <p:stCondLst>
                                    <p:cond delay="0"/>
                                  </p:stCondLst>
                                  <p:childTnLst>
                                    <p:set>
                                      <p:cBhvr>
                                        <p:cTn id="27" dur="1" fill="hold">
                                          <p:stCondLst>
                                            <p:cond delay="0"/>
                                          </p:stCondLst>
                                        </p:cTn>
                                        <p:tgtEl>
                                          <p:spTgt spid="14"/>
                                        </p:tgtEl>
                                        <p:attrNameLst>
                                          <p:attrName>style.visibility</p:attrName>
                                        </p:attrNameLst>
                                      </p:cBhvr>
                                      <p:to>
                                        <p:strVal val="visible"/>
                                      </p:to>
                                    </p:set>
                                    <p:animEffect transition="in" filter="fade">
                                      <p:cBhvr>
                                        <p:cTn id="28" dur="420"/>
                                        <p:tgtEl>
                                          <p:spTgt spid="14"/>
                                        </p:tgtEl>
                                      </p:cBhvr>
                                    </p:animEffect>
                                  </p:childTnLst>
                                </p:cTn>
                              </p:par>
                              <p:par>
                                <p:cTn id="29" presetID="10" presetClass="entr" presetSubtype="0" fill="hold" nodeType="withEffect">
                                  <p:stCondLst>
                                    <p:cond delay="0"/>
                                  </p:stCondLst>
                                  <p:childTnLst>
                                    <p:set>
                                      <p:cBhvr>
                                        <p:cTn id="30" dur="1" fill="hold">
                                          <p:stCondLst>
                                            <p:cond delay="0"/>
                                          </p:stCondLst>
                                        </p:cTn>
                                        <p:tgtEl>
                                          <p:spTgt spid="15"/>
                                        </p:tgtEl>
                                        <p:attrNameLst>
                                          <p:attrName>style.visibility</p:attrName>
                                        </p:attrNameLst>
                                      </p:cBhvr>
                                      <p:to>
                                        <p:strVal val="visible"/>
                                      </p:to>
                                    </p:set>
                                    <p:animEffect transition="in" filter="fade">
                                      <p:cBhvr>
                                        <p:cTn id="31" dur="420"/>
                                        <p:tgtEl>
                                          <p:spTgt spid="15"/>
                                        </p:tgtEl>
                                      </p:cBhvr>
                                    </p:animEffect>
                                  </p:childTnLst>
                                </p:cTn>
                              </p:par>
                              <p:par>
                                <p:cTn id="32" presetID="22" presetClass="entr" presetSubtype="1" fill="hold" nodeType="with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wipe(right)">
                                      <p:cBhvr>
                                        <p:cTn id="34" dur="420"/>
                                        <p:tgtEl>
                                          <p:spTgt spid="16"/>
                                        </p:tgtEl>
                                      </p:cBhvr>
                                    </p:animEffect>
                                  </p:childTnLst>
                                </p:cTn>
                              </p:par>
                              <p:par>
                                <p:cTn id="35" presetID="22" presetClass="entr" presetSubtype="1" fill="hold" nodeType="with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wipe(right)">
                                      <p:cBhvr>
                                        <p:cTn id="37" dur="420"/>
                                        <p:tgtEl>
                                          <p:spTgt spid="17"/>
                                        </p:tgtEl>
                                      </p:cBhvr>
                                    </p:animEffect>
                                  </p:childTnLst>
                                </p:cTn>
                              </p:par>
                              <p:par>
                                <p:cTn id="38" presetID="22" presetClass="entr" presetSubtype="1" fill="hold" nodeType="withEffect">
                                  <p:stCondLst>
                                    <p:cond delay="0"/>
                                  </p:stCondLst>
                                  <p:childTnLst>
                                    <p:set>
                                      <p:cBhvr>
                                        <p:cTn id="39" dur="1" fill="hold">
                                          <p:stCondLst>
                                            <p:cond delay="0"/>
                                          </p:stCondLst>
                                        </p:cTn>
                                        <p:tgtEl>
                                          <p:spTgt spid="18"/>
                                        </p:tgtEl>
                                        <p:attrNameLst>
                                          <p:attrName>style.visibility</p:attrName>
                                        </p:attrNameLst>
                                      </p:cBhvr>
                                      <p:to>
                                        <p:strVal val="visible"/>
                                      </p:to>
                                    </p:set>
                                    <p:animEffect transition="in" filter="wipe(right)">
                                      <p:cBhvr>
                                        <p:cTn id="40" dur="420"/>
                                        <p:tgtEl>
                                          <p:spTgt spid="18"/>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1" fill="hold" nodeType="clickEffect">
                                  <p:stCondLst>
                                    <p:cond delay="0"/>
                                  </p:stCondLst>
                                  <p:childTnLst>
                                    <p:set>
                                      <p:cBhvr>
                                        <p:cTn id="44" dur="1" fill="hold">
                                          <p:stCondLst>
                                            <p:cond delay="0"/>
                                          </p:stCondLst>
                                        </p:cTn>
                                        <p:tgtEl>
                                          <p:spTgt spid="19"/>
                                        </p:tgtEl>
                                        <p:attrNameLst>
                                          <p:attrName>style.visibility</p:attrName>
                                        </p:attrNameLst>
                                      </p:cBhvr>
                                      <p:to>
                                        <p:strVal val="visible"/>
                                      </p:to>
                                    </p:set>
                                    <p:animEffect transition="in" filter="wipe(right)">
                                      <p:cBhvr>
                                        <p:cTn id="45" dur="420"/>
                                        <p:tgtEl>
                                          <p:spTgt spid="19"/>
                                        </p:tgtEl>
                                      </p:cBhvr>
                                    </p:animEffect>
                                  </p:childTnLst>
                                </p:cTn>
                              </p:par>
                              <p:par>
                                <p:cTn id="46" presetID="22" presetClass="entr" presetSubtype="1" fill="hold" nodeType="withEffect">
                                  <p:stCondLst>
                                    <p:cond delay="0"/>
                                  </p:stCondLst>
                                  <p:childTnLst>
                                    <p:set>
                                      <p:cBhvr>
                                        <p:cTn id="47" dur="1" fill="hold">
                                          <p:stCondLst>
                                            <p:cond delay="0"/>
                                          </p:stCondLst>
                                        </p:cTn>
                                        <p:tgtEl>
                                          <p:spTgt spid="20"/>
                                        </p:tgtEl>
                                        <p:attrNameLst>
                                          <p:attrName>style.visibility</p:attrName>
                                        </p:attrNameLst>
                                      </p:cBhvr>
                                      <p:to>
                                        <p:strVal val="visible"/>
                                      </p:to>
                                    </p:set>
                                    <p:animEffect transition="in" filter="wipe(right)">
                                      <p:cBhvr>
                                        <p:cTn id="48" dur="420"/>
                                        <p:tgtEl>
                                          <p:spTgt spid="20"/>
                                        </p:tgtEl>
                                      </p:cBhvr>
                                    </p:animEffect>
                                  </p:childTnLst>
                                </p:cTn>
                              </p:par>
                              <p:par>
                                <p:cTn id="49" presetID="22" presetClass="entr" presetSubtype="1" fill="hold" nodeType="withEffect">
                                  <p:stCondLst>
                                    <p:cond delay="0"/>
                                  </p:stCondLst>
                                  <p:childTnLst>
                                    <p:set>
                                      <p:cBhvr>
                                        <p:cTn id="50" dur="1" fill="hold">
                                          <p:stCondLst>
                                            <p:cond delay="0"/>
                                          </p:stCondLst>
                                        </p:cTn>
                                        <p:tgtEl>
                                          <p:spTgt spid="21"/>
                                        </p:tgtEl>
                                        <p:attrNameLst>
                                          <p:attrName>style.visibility</p:attrName>
                                        </p:attrNameLst>
                                      </p:cBhvr>
                                      <p:to>
                                        <p:strVal val="visible"/>
                                      </p:to>
                                    </p:set>
                                    <p:animEffect transition="in" filter="wipe(right)">
                                      <p:cBhvr>
                                        <p:cTn id="51" dur="420"/>
                                        <p:tgtEl>
                                          <p:spTgt spid="21"/>
                                        </p:tgtEl>
                                      </p:cBhvr>
                                    </p:animEffect>
                                  </p:childTnLst>
                                </p:cTn>
                              </p:par>
                              <p:par>
                                <p:cTn id="52" presetID="22" presetClass="entr" presetSubtype="1" fill="hold" nodeType="withEffect">
                                  <p:stCondLst>
                                    <p:cond delay="0"/>
                                  </p:stCondLst>
                                  <p:childTnLst>
                                    <p:set>
                                      <p:cBhvr>
                                        <p:cTn id="53" dur="1" fill="hold">
                                          <p:stCondLst>
                                            <p:cond delay="0"/>
                                          </p:stCondLst>
                                        </p:cTn>
                                        <p:tgtEl>
                                          <p:spTgt spid="22"/>
                                        </p:tgtEl>
                                        <p:attrNameLst>
                                          <p:attrName>style.visibility</p:attrName>
                                        </p:attrNameLst>
                                      </p:cBhvr>
                                      <p:to>
                                        <p:strVal val="visible"/>
                                      </p:to>
                                    </p:set>
                                    <p:animEffect transition="in" filter="wipe(right)">
                                      <p:cBhvr>
                                        <p:cTn id="54" dur="420"/>
                                        <p:tgtEl>
                                          <p:spTgt spid="22"/>
                                        </p:tgtEl>
                                      </p:cBhvr>
                                    </p:animEffect>
                                  </p:childTnLst>
                                </p:cTn>
                              </p:par>
                              <p:par>
                                <p:cTn id="55" presetID="22" presetClass="entr" presetSubtype="1" fill="hold" nodeType="withEffect">
                                  <p:stCondLst>
                                    <p:cond delay="0"/>
                                  </p:stCondLst>
                                  <p:childTnLst>
                                    <p:set>
                                      <p:cBhvr>
                                        <p:cTn id="56" dur="1" fill="hold">
                                          <p:stCondLst>
                                            <p:cond delay="0"/>
                                          </p:stCondLst>
                                        </p:cTn>
                                        <p:tgtEl>
                                          <p:spTgt spid="23"/>
                                        </p:tgtEl>
                                        <p:attrNameLst>
                                          <p:attrName>style.visibility</p:attrName>
                                        </p:attrNameLst>
                                      </p:cBhvr>
                                      <p:to>
                                        <p:strVal val="visible"/>
                                      </p:to>
                                    </p:set>
                                    <p:animEffect transition="in" filter="wipe(right)">
                                      <p:cBhvr>
                                        <p:cTn id="57" dur="420"/>
                                        <p:tgtEl>
                                          <p:spTgt spid="23"/>
                                        </p:tgtEl>
                                      </p:cBhvr>
                                    </p:animEffect>
                                  </p:childTnLst>
                                </p:cTn>
                              </p:par>
                            </p:childTnLst>
                          </p:cTn>
                        </p:par>
                      </p:childTnLst>
                    </p:cTn>
                  </p:par>
                  <p:par>
                    <p:cTn id="58" fill="hold">
                      <p:stCondLst>
                        <p:cond delay="indefinite"/>
                      </p:stCondLst>
                      <p:childTnLst>
                        <p:par>
                          <p:cTn id="59" fill="hold">
                            <p:stCondLst>
                              <p:cond delay="0"/>
                            </p:stCondLst>
                            <p:childTnLst>
                              <p:par>
                                <p:cTn id="60" presetID="42" presetClass="entr" presetSubtype="0" fill="hold" nodeType="clickEffect">
                                  <p:stCondLst>
                                    <p:cond delay="0"/>
                                  </p:stCondLst>
                                  <p:childTnLst>
                                    <p:set>
                                      <p:cBhvr>
                                        <p:cTn id="61" dur="1" fill="hold">
                                          <p:stCondLst>
                                            <p:cond delay="0"/>
                                          </p:stCondLst>
                                        </p:cTn>
                                        <p:tgtEl>
                                          <p:spTgt spid="24"/>
                                        </p:tgtEl>
                                        <p:attrNameLst>
                                          <p:attrName>style.visibility</p:attrName>
                                        </p:attrNameLst>
                                      </p:cBhvr>
                                      <p:to>
                                        <p:strVal val="visible"/>
                                      </p:to>
                                    </p:set>
                                    <p:anim calcmode="lin" valueType="num">
                                      <p:cBhvr additive="base">
                                        <p:cTn id="62" dur="420" decel="60000" fill="hold"/>
                                        <p:tgtEl>
                                          <p:spTgt spid="24"/>
                                        </p:tgtEl>
                                        <p:attrNameLst>
                                          <p:attrName>ppt_y</p:attrName>
                                        </p:attrNameLst>
                                      </p:cBhvr>
                                      <p:tavLst>
                                        <p:tav tm="0">
                                          <p:val>
                                            <p:strVal val="#ppt_y+.014"/>
                                          </p:val>
                                        </p:tav>
                                        <p:tav tm="100000">
                                          <p:val>
                                            <p:strVal val="#ppt_y"/>
                                          </p:val>
                                        </p:tav>
                                      </p:tavLst>
                                    </p:anim>
                                    <p:animEffect transition="in" filter="fade">
                                      <p:cBhvr>
                                        <p:cTn id="63" dur="420"/>
                                        <p:tgtEl>
                                          <p:spTgt spid="24"/>
                                        </p:tgtEl>
                                      </p:cBhvr>
                                    </p:animEffect>
                                  </p:childTnLst>
                                </p:cTn>
                              </p:par>
                              <p:par>
                                <p:cTn id="64" presetID="42" presetClass="entr" presetSubtype="0" fill="hold" nodeType="withEffect">
                                  <p:stCondLst>
                                    <p:cond delay="0"/>
                                  </p:stCondLst>
                                  <p:childTnLst>
                                    <p:set>
                                      <p:cBhvr>
                                        <p:cTn id="65" dur="1" fill="hold">
                                          <p:stCondLst>
                                            <p:cond delay="0"/>
                                          </p:stCondLst>
                                        </p:cTn>
                                        <p:tgtEl>
                                          <p:spTgt spid="25"/>
                                        </p:tgtEl>
                                        <p:attrNameLst>
                                          <p:attrName>style.visibility</p:attrName>
                                        </p:attrNameLst>
                                      </p:cBhvr>
                                      <p:to>
                                        <p:strVal val="visible"/>
                                      </p:to>
                                    </p:set>
                                    <p:anim calcmode="lin" valueType="num">
                                      <p:cBhvr additive="base">
                                        <p:cTn id="66" dur="420" decel="60000" fill="hold"/>
                                        <p:tgtEl>
                                          <p:spTgt spid="25"/>
                                        </p:tgtEl>
                                        <p:attrNameLst>
                                          <p:attrName>ppt_y</p:attrName>
                                        </p:attrNameLst>
                                      </p:cBhvr>
                                      <p:tavLst>
                                        <p:tav tm="0">
                                          <p:val>
                                            <p:strVal val="#ppt_y+.014"/>
                                          </p:val>
                                        </p:tav>
                                        <p:tav tm="100000">
                                          <p:val>
                                            <p:strVal val="#ppt_y"/>
                                          </p:val>
                                        </p:tav>
                                      </p:tavLst>
                                    </p:anim>
                                    <p:animEffect transition="in" filter="fade">
                                      <p:cBhvr>
                                        <p:cTn id="67" dur="42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7090D"/>
        </a:solidFill>
        <a:effectLst/>
      </p:bgPr>
    </p:bg>
    <p:spTree>
      <p:nvGrpSpPr>
        <p:cNvPr id="1" name=""/>
        <p:cNvGrpSpPr/>
        <p:nvPr/>
      </p:nvGrpSpPr>
      <p:grpSpPr>
        <a:xfrm>
          <a:off x="0" y="0"/>
          <a:ext cx="0" cy="0"/>
          <a:chOff x="0" y="0"/>
          <a:chExt cx="0" cy="0"/>
        </a:xfrm>
      </p:grpSpPr>
      <p:sp>
        <p:nvSpPr>
          <p:cNvPr id="2" name="Text 0"/>
          <p:cNvSpPr/>
          <p:nvPr/>
        </p:nvSpPr>
        <p:spPr>
          <a:xfrm>
            <a:off x="566928" y="274320"/>
            <a:ext cx="10607040" cy="274320"/>
          </a:xfrm>
          <a:prstGeom prst="rect">
            <a:avLst/>
          </a:prstGeom>
          <a:noFill/>
          <a:ln/>
        </p:spPr>
        <p:txBody>
          <a:bodyPr wrap="square" rtlCol="0" anchor="t"/>
          <a:lstStyle/>
          <a:p>
            <a:pPr marL="0" indent="0">
              <a:lnSpc>
                <a:spcPct val="105000"/>
              </a:lnSpc>
              <a:buNone/>
            </a:pPr>
            <a:r>
              <a:rPr lang="en-US" sz="1200" b="1" kern="0" spc="260" dirty="0">
                <a:solidFill>
                  <a:srgbClr val="75EDBB"/>
                </a:solidFill>
                <a:latin typeface="Helvetica Neue" pitchFamily="34" charset="0"/>
                <a:ea typeface="Helvetica Neue" pitchFamily="34" charset="-122"/>
                <a:cs typeface="Helvetica Neue" pitchFamily="34" charset="-120"/>
              </a:rPr>
              <a:t>MODEL CHOICE</a:t>
            </a:r>
            <a:endParaRPr lang="en-US" sz="1200" dirty="0"/>
          </a:p>
        </p:txBody>
      </p:sp>
      <p:sp>
        <p:nvSpPr>
          <p:cNvPr id="3" name="Text 1"/>
          <p:cNvSpPr/>
          <p:nvPr/>
        </p:nvSpPr>
        <p:spPr>
          <a:xfrm>
            <a:off x="566928" y="585216"/>
            <a:ext cx="10789920" cy="731520"/>
          </a:xfrm>
          <a:prstGeom prst="rect">
            <a:avLst/>
          </a:prstGeom>
          <a:noFill/>
          <a:ln/>
        </p:spPr>
        <p:txBody>
          <a:bodyPr wrap="square" rtlCol="0" anchor="ctr"/>
          <a:lstStyle/>
          <a:p>
            <a:pPr marL="0" indent="0">
              <a:lnSpc>
                <a:spcPct val="95000"/>
              </a:lnSpc>
              <a:buNone/>
            </a:pPr>
            <a:r>
              <a:rPr lang="en-US" sz="3800" dirty="0">
                <a:solidFill>
                  <a:srgbClr val="F3F6FA"/>
                </a:solidFill>
                <a:latin typeface="Avenir Next" pitchFamily="34" charset="0"/>
                <a:ea typeface="Avenir Next" pitchFamily="34" charset="-122"/>
                <a:cs typeface="Avenir Next" pitchFamily="34" charset="-120"/>
              </a:rPr>
              <a:t>Match reasoning effort to the job</a:t>
            </a:r>
            <a:endParaRPr lang="en-US" sz="3800" dirty="0"/>
          </a:p>
        </p:txBody>
      </p:sp>
      <p:sp>
        <p:nvSpPr>
          <p:cNvPr id="4" name="Text 2"/>
          <p:cNvSpPr/>
          <p:nvPr/>
        </p:nvSpPr>
        <p:spPr>
          <a:xfrm>
            <a:off x="566928" y="1335024"/>
            <a:ext cx="9692640" cy="384048"/>
          </a:xfrm>
          <a:prstGeom prst="rect">
            <a:avLst/>
          </a:prstGeom>
          <a:noFill/>
          <a:ln/>
        </p:spPr>
        <p:txBody>
          <a:bodyPr wrap="square" rtlCol="0" anchor="t"/>
          <a:lstStyle/>
          <a:p>
            <a:pPr marL="0" indent="0">
              <a:lnSpc>
                <a:spcPct val="105000"/>
              </a:lnSpc>
              <a:buNone/>
            </a:pPr>
            <a:r>
              <a:rPr lang="en-US" sz="1900" dirty="0">
                <a:solidFill>
                  <a:srgbClr val="B2BDCD"/>
                </a:solidFill>
                <a:latin typeface="Helvetica Neue" pitchFamily="34" charset="0"/>
                <a:ea typeface="Helvetica Neue" pitchFamily="34" charset="-122"/>
                <a:cs typeface="Helvetica Neue" pitchFamily="34" charset="-120"/>
              </a:rPr>
              <a:t>Recommendations from use, not a benchmark.</a:t>
            </a:r>
            <a:endParaRPr lang="en-US" sz="1900" dirty="0"/>
          </a:p>
        </p:txBody>
      </p:sp>
      <p:sp>
        <p:nvSpPr>
          <p:cNvPr id="5" name="b01-fade-model-options"/>
          <p:cNvSpPr/>
          <p:nvPr/>
        </p:nvSpPr>
        <p:spPr>
          <a:xfrm>
            <a:off x="566928" y="2286000"/>
            <a:ext cx="2560320" cy="2377440"/>
          </a:xfrm>
          <a:prstGeom prst="roundRect">
            <a:avLst>
              <a:gd name="adj" fmla="val 5000"/>
            </a:avLst>
          </a:prstGeom>
          <a:solidFill>
            <a:srgbClr val="0E1219"/>
          </a:solidFill>
          <a:ln w="12700">
            <a:solidFill>
              <a:srgbClr val="232C3A"/>
            </a:solidFill>
            <a:prstDash val="solid"/>
          </a:ln>
        </p:spPr>
        <p:txBody>
          <a:bodyPr/>
          <a:lstStyle/>
          <a:p>
            <a:endParaRPr lang="en-US"/>
          </a:p>
        </p:txBody>
      </p:sp>
      <p:sp>
        <p:nvSpPr>
          <p:cNvPr id="6" name="b01-fade-model-options"/>
          <p:cNvSpPr/>
          <p:nvPr/>
        </p:nvSpPr>
        <p:spPr>
          <a:xfrm>
            <a:off x="804672" y="2578608"/>
            <a:ext cx="2084832" cy="640080"/>
          </a:xfrm>
          <a:prstGeom prst="rect">
            <a:avLst/>
          </a:prstGeom>
          <a:noFill/>
          <a:ln/>
        </p:spPr>
        <p:txBody>
          <a:bodyPr wrap="square" rtlCol="0" anchor="t"/>
          <a:lstStyle/>
          <a:p>
            <a:pPr marL="0" indent="0">
              <a:lnSpc>
                <a:spcPct val="105000"/>
              </a:lnSpc>
              <a:buNone/>
            </a:pPr>
            <a:r>
              <a:rPr lang="en-US" sz="2000" b="1" dirty="0">
                <a:solidFill>
                  <a:srgbClr val="F3F6FA"/>
                </a:solidFill>
                <a:latin typeface="Helvetica Neue" pitchFamily="34" charset="0"/>
                <a:ea typeface="Helvetica Neue" pitchFamily="34" charset="-122"/>
                <a:cs typeface="Helvetica Neue" pitchFamily="34" charset="-120"/>
              </a:rPr>
              <a:t>GPT-5.6 Luna</a:t>
            </a:r>
            <a:endParaRPr lang="en-US" sz="2000" dirty="0"/>
          </a:p>
        </p:txBody>
      </p:sp>
      <p:sp>
        <p:nvSpPr>
          <p:cNvPr id="7" name="b01-fade-model-options"/>
          <p:cNvSpPr/>
          <p:nvPr/>
        </p:nvSpPr>
        <p:spPr>
          <a:xfrm>
            <a:off x="804672" y="3273552"/>
            <a:ext cx="2084832" cy="1243584"/>
          </a:xfrm>
          <a:prstGeom prst="rect">
            <a:avLst/>
          </a:prstGeom>
          <a:noFill/>
          <a:ln/>
        </p:spPr>
        <p:txBody>
          <a:bodyPr wrap="square" rtlCol="0" anchor="t"/>
          <a:lstStyle/>
          <a:p>
            <a:pPr marL="0" indent="0">
              <a:lnSpc>
                <a:spcPct val="105000"/>
              </a:lnSpc>
              <a:buNone/>
            </a:pPr>
            <a:r>
              <a:rPr lang="en-US" sz="1600" dirty="0">
                <a:solidFill>
                  <a:srgbClr val="B2BDCD"/>
                </a:solidFill>
                <a:latin typeface="Helvetica Neue" pitchFamily="34" charset="0"/>
                <a:ea typeface="Helvetica Neue" pitchFamily="34" charset="-122"/>
                <a:cs typeface="Helvetica Neue" pitchFamily="34" charset="-120"/>
              </a:rPr>
              <a:t>Bounded, well-specified changes</a:t>
            </a:r>
            <a:endParaRPr lang="en-US" sz="1600" dirty="0"/>
          </a:p>
        </p:txBody>
      </p:sp>
      <p:sp>
        <p:nvSpPr>
          <p:cNvPr id="8" name="b02-pulse-terra-card"/>
          <p:cNvSpPr/>
          <p:nvPr/>
        </p:nvSpPr>
        <p:spPr>
          <a:xfrm>
            <a:off x="3401568" y="2286000"/>
            <a:ext cx="2560320" cy="2377440"/>
          </a:xfrm>
          <a:prstGeom prst="roundRect">
            <a:avLst>
              <a:gd name="adj" fmla="val 5000"/>
            </a:avLst>
          </a:prstGeom>
          <a:solidFill>
            <a:srgbClr val="1E3A33"/>
          </a:solidFill>
          <a:ln w="22225">
            <a:solidFill>
              <a:srgbClr val="75EDBB"/>
            </a:solidFill>
            <a:prstDash val="solid"/>
          </a:ln>
        </p:spPr>
        <p:txBody>
          <a:bodyPr/>
          <a:lstStyle/>
          <a:p>
            <a:endParaRPr lang="en-US"/>
          </a:p>
        </p:txBody>
      </p:sp>
      <p:sp>
        <p:nvSpPr>
          <p:cNvPr id="9" name="b02-pulse-terra-card"/>
          <p:cNvSpPr/>
          <p:nvPr/>
        </p:nvSpPr>
        <p:spPr>
          <a:xfrm>
            <a:off x="3639312" y="2578608"/>
            <a:ext cx="2084832" cy="640080"/>
          </a:xfrm>
          <a:prstGeom prst="rect">
            <a:avLst/>
          </a:prstGeom>
          <a:noFill/>
          <a:ln/>
        </p:spPr>
        <p:txBody>
          <a:bodyPr wrap="square" rtlCol="0" anchor="t"/>
          <a:lstStyle/>
          <a:p>
            <a:pPr marL="0" indent="0">
              <a:lnSpc>
                <a:spcPct val="105000"/>
              </a:lnSpc>
              <a:buNone/>
            </a:pPr>
            <a:r>
              <a:rPr lang="en-US" sz="2000" b="1" dirty="0">
                <a:solidFill>
                  <a:srgbClr val="75EDBB"/>
                </a:solidFill>
                <a:latin typeface="Helvetica Neue" pitchFamily="34" charset="0"/>
                <a:ea typeface="Helvetica Neue" pitchFamily="34" charset="-122"/>
                <a:cs typeface="Helvetica Neue" pitchFamily="34" charset="-120"/>
              </a:rPr>
              <a:t>GPT-5.6 Terra</a:t>
            </a:r>
            <a:endParaRPr lang="en-US" sz="2000" dirty="0"/>
          </a:p>
        </p:txBody>
      </p:sp>
      <p:sp>
        <p:nvSpPr>
          <p:cNvPr id="10" name="b02-pulse-terra-card"/>
          <p:cNvSpPr/>
          <p:nvPr/>
        </p:nvSpPr>
        <p:spPr>
          <a:xfrm>
            <a:off x="3639312" y="3273552"/>
            <a:ext cx="2084832" cy="1243584"/>
          </a:xfrm>
          <a:prstGeom prst="rect">
            <a:avLst/>
          </a:prstGeom>
          <a:noFill/>
          <a:ln/>
        </p:spPr>
        <p:txBody>
          <a:bodyPr wrap="square" rtlCol="0" anchor="t"/>
          <a:lstStyle/>
          <a:p>
            <a:pPr marL="0" indent="0">
              <a:lnSpc>
                <a:spcPct val="105000"/>
              </a:lnSpc>
              <a:buNone/>
            </a:pPr>
            <a:r>
              <a:rPr lang="en-US" sz="1600" dirty="0">
                <a:solidFill>
                  <a:srgbClr val="75EDBB"/>
                </a:solidFill>
                <a:latin typeface="Helvetica Neue" pitchFamily="34" charset="0"/>
                <a:ea typeface="Helvetica Neue" pitchFamily="34" charset="-122"/>
                <a:cs typeface="Helvetica Neue" pitchFamily="34" charset="-120"/>
              </a:rPr>
              <a:t>Everyday implementation work</a:t>
            </a:r>
            <a:endParaRPr lang="en-US" sz="1600" dirty="0"/>
          </a:p>
        </p:txBody>
      </p:sp>
      <p:sp>
        <p:nvSpPr>
          <p:cNvPr id="11" name="b01-fade-model-options"/>
          <p:cNvSpPr/>
          <p:nvPr/>
        </p:nvSpPr>
        <p:spPr>
          <a:xfrm>
            <a:off x="6236208" y="2286000"/>
            <a:ext cx="2560320" cy="2377440"/>
          </a:xfrm>
          <a:prstGeom prst="roundRect">
            <a:avLst>
              <a:gd name="adj" fmla="val 5000"/>
            </a:avLst>
          </a:prstGeom>
          <a:solidFill>
            <a:srgbClr val="0E1219"/>
          </a:solidFill>
          <a:ln w="12700">
            <a:solidFill>
              <a:srgbClr val="232C3A"/>
            </a:solidFill>
            <a:prstDash val="solid"/>
          </a:ln>
        </p:spPr>
        <p:txBody>
          <a:bodyPr/>
          <a:lstStyle/>
          <a:p>
            <a:endParaRPr lang="en-US"/>
          </a:p>
        </p:txBody>
      </p:sp>
      <p:sp>
        <p:nvSpPr>
          <p:cNvPr id="12" name="b01-fade-model-options"/>
          <p:cNvSpPr/>
          <p:nvPr/>
        </p:nvSpPr>
        <p:spPr>
          <a:xfrm>
            <a:off x="6473952" y="2578608"/>
            <a:ext cx="2084832" cy="640080"/>
          </a:xfrm>
          <a:prstGeom prst="rect">
            <a:avLst/>
          </a:prstGeom>
          <a:noFill/>
          <a:ln/>
        </p:spPr>
        <p:txBody>
          <a:bodyPr wrap="square" rtlCol="0" anchor="t"/>
          <a:lstStyle/>
          <a:p>
            <a:pPr marL="0" indent="0">
              <a:lnSpc>
                <a:spcPct val="105000"/>
              </a:lnSpc>
              <a:buNone/>
            </a:pPr>
            <a:r>
              <a:rPr lang="en-US" sz="2000" b="1" dirty="0">
                <a:solidFill>
                  <a:srgbClr val="F3F6FA"/>
                </a:solidFill>
                <a:latin typeface="Helvetica Neue" pitchFamily="34" charset="0"/>
                <a:ea typeface="Helvetica Neue" pitchFamily="34" charset="-122"/>
                <a:cs typeface="Helvetica Neue" pitchFamily="34" charset="-120"/>
              </a:rPr>
              <a:t>GPT-5.6 Sol</a:t>
            </a:r>
            <a:endParaRPr lang="en-US" sz="2000" dirty="0"/>
          </a:p>
        </p:txBody>
      </p:sp>
      <p:sp>
        <p:nvSpPr>
          <p:cNvPr id="13" name="b01-fade-model-options"/>
          <p:cNvSpPr/>
          <p:nvPr/>
        </p:nvSpPr>
        <p:spPr>
          <a:xfrm>
            <a:off x="6473952" y="3273552"/>
            <a:ext cx="2084832" cy="1243584"/>
          </a:xfrm>
          <a:prstGeom prst="rect">
            <a:avLst/>
          </a:prstGeom>
          <a:noFill/>
          <a:ln/>
        </p:spPr>
        <p:txBody>
          <a:bodyPr wrap="square" rtlCol="0" anchor="t"/>
          <a:lstStyle/>
          <a:p>
            <a:pPr marL="0" indent="0">
              <a:lnSpc>
                <a:spcPct val="105000"/>
              </a:lnSpc>
              <a:buNone/>
            </a:pPr>
            <a:r>
              <a:rPr lang="en-US" sz="1600" dirty="0">
                <a:solidFill>
                  <a:srgbClr val="B2BDCD"/>
                </a:solidFill>
                <a:latin typeface="Helvetica Neue" pitchFamily="34" charset="0"/>
                <a:ea typeface="Helvetica Neue" pitchFamily="34" charset="-122"/>
                <a:cs typeface="Helvetica Neue" pitchFamily="34" charset="-120"/>
              </a:rPr>
              <a:t>Complex analysis across a system</a:t>
            </a:r>
            <a:endParaRPr lang="en-US" sz="1600" dirty="0"/>
          </a:p>
        </p:txBody>
      </p:sp>
      <p:sp>
        <p:nvSpPr>
          <p:cNvPr id="14" name="b01-fade-model-options"/>
          <p:cNvSpPr/>
          <p:nvPr/>
        </p:nvSpPr>
        <p:spPr>
          <a:xfrm>
            <a:off x="9070848" y="2286000"/>
            <a:ext cx="2560320" cy="2377440"/>
          </a:xfrm>
          <a:prstGeom prst="roundRect">
            <a:avLst>
              <a:gd name="adj" fmla="val 5000"/>
            </a:avLst>
          </a:prstGeom>
          <a:solidFill>
            <a:srgbClr val="0E1219"/>
          </a:solidFill>
          <a:ln w="12700">
            <a:solidFill>
              <a:srgbClr val="232C3A"/>
            </a:solidFill>
            <a:prstDash val="solid"/>
          </a:ln>
        </p:spPr>
        <p:txBody>
          <a:bodyPr/>
          <a:lstStyle/>
          <a:p>
            <a:endParaRPr lang="en-US"/>
          </a:p>
        </p:txBody>
      </p:sp>
      <p:sp>
        <p:nvSpPr>
          <p:cNvPr id="15" name="b01-fade-model-options"/>
          <p:cNvSpPr/>
          <p:nvPr/>
        </p:nvSpPr>
        <p:spPr>
          <a:xfrm>
            <a:off x="9308592" y="2578608"/>
            <a:ext cx="2084832" cy="640080"/>
          </a:xfrm>
          <a:prstGeom prst="rect">
            <a:avLst/>
          </a:prstGeom>
          <a:noFill/>
          <a:ln/>
        </p:spPr>
        <p:txBody>
          <a:bodyPr wrap="square" rtlCol="0" anchor="t"/>
          <a:lstStyle/>
          <a:p>
            <a:pPr marL="0" indent="0">
              <a:lnSpc>
                <a:spcPct val="105000"/>
              </a:lnSpc>
              <a:buNone/>
            </a:pPr>
            <a:r>
              <a:rPr lang="en-US" sz="2000" b="1" dirty="0">
                <a:solidFill>
                  <a:srgbClr val="F3F6FA"/>
                </a:solidFill>
                <a:latin typeface="Helvetica Neue" pitchFamily="34" charset="0"/>
                <a:ea typeface="Helvetica Neue" pitchFamily="34" charset="-122"/>
                <a:cs typeface="Helvetica Neue" pitchFamily="34" charset="-120"/>
              </a:rPr>
              <a:t>GPT-6 Astra</a:t>
            </a:r>
            <a:endParaRPr lang="en-US" sz="2000" dirty="0"/>
          </a:p>
        </p:txBody>
      </p:sp>
      <p:sp>
        <p:nvSpPr>
          <p:cNvPr id="16" name="b01-fade-model-options"/>
          <p:cNvSpPr/>
          <p:nvPr/>
        </p:nvSpPr>
        <p:spPr>
          <a:xfrm>
            <a:off x="9308592" y="3273552"/>
            <a:ext cx="2084832" cy="1243584"/>
          </a:xfrm>
          <a:prstGeom prst="rect">
            <a:avLst/>
          </a:prstGeom>
          <a:noFill/>
          <a:ln/>
        </p:spPr>
        <p:txBody>
          <a:bodyPr wrap="square" rtlCol="0" anchor="t"/>
          <a:lstStyle/>
          <a:p>
            <a:pPr marL="0" indent="0">
              <a:lnSpc>
                <a:spcPct val="105000"/>
              </a:lnSpc>
              <a:buNone/>
            </a:pPr>
            <a:r>
              <a:rPr lang="en-US" sz="1600" dirty="0">
                <a:solidFill>
                  <a:srgbClr val="B2BDCD"/>
                </a:solidFill>
                <a:latin typeface="Helvetica Neue" pitchFamily="34" charset="0"/>
                <a:ea typeface="Helvetica Neue" pitchFamily="34" charset="-122"/>
                <a:cs typeface="Helvetica Neue" pitchFamily="34" charset="-120"/>
              </a:rPr>
              <a:t>Long, sustained complex work</a:t>
            </a:r>
            <a:endParaRPr lang="en-US" sz="1600" dirty="0"/>
          </a:p>
        </p:txBody>
      </p:sp>
      <p:sp>
        <p:nvSpPr>
          <p:cNvPr id="17" name="b02-rise-demo-model-tag"/>
          <p:cNvSpPr/>
          <p:nvPr/>
        </p:nvSpPr>
        <p:spPr>
          <a:xfrm>
            <a:off x="3401568" y="4846320"/>
            <a:ext cx="2560320" cy="502920"/>
          </a:xfrm>
          <a:prstGeom prst="roundRect">
            <a:avLst>
              <a:gd name="adj" fmla="val 18182"/>
            </a:avLst>
          </a:prstGeom>
          <a:solidFill>
            <a:srgbClr val="0E1219"/>
          </a:solidFill>
          <a:ln w="12700">
            <a:solidFill>
              <a:srgbClr val="75EDBB"/>
            </a:solidFill>
            <a:prstDash val="solid"/>
          </a:ln>
        </p:spPr>
        <p:txBody>
          <a:bodyPr/>
          <a:lstStyle/>
          <a:p>
            <a:endParaRPr lang="en-US"/>
          </a:p>
        </p:txBody>
      </p:sp>
      <p:sp>
        <p:nvSpPr>
          <p:cNvPr id="18" name="b02-rise-demo-model-tag"/>
          <p:cNvSpPr/>
          <p:nvPr/>
        </p:nvSpPr>
        <p:spPr>
          <a:xfrm>
            <a:off x="3547872" y="4846320"/>
            <a:ext cx="2267712" cy="502920"/>
          </a:xfrm>
          <a:prstGeom prst="rect">
            <a:avLst/>
          </a:prstGeom>
          <a:noFill/>
          <a:ln/>
        </p:spPr>
        <p:txBody>
          <a:bodyPr wrap="square" rtlCol="0" anchor="ctr"/>
          <a:lstStyle/>
          <a:p>
            <a:pPr marL="0" indent="0" algn="ctr">
              <a:lnSpc>
                <a:spcPct val="105000"/>
              </a:lnSpc>
              <a:buNone/>
            </a:pPr>
            <a:r>
              <a:rPr lang="en-US" sz="1600" dirty="0">
                <a:solidFill>
                  <a:srgbClr val="75EDBB"/>
                </a:solidFill>
                <a:latin typeface="Helvetica Neue" pitchFamily="34" charset="0"/>
                <a:ea typeface="Helvetica Neue" pitchFamily="34" charset="-122"/>
                <a:cs typeface="Helvetica Neue" pitchFamily="34" charset="-120"/>
              </a:rPr>
              <a:t>today's demo</a:t>
            </a:r>
            <a:endParaRPr lang="en-US" sz="1600" dirty="0"/>
          </a:p>
        </p:txBody>
      </p:sp>
      <p:sp>
        <p:nvSpPr>
          <p:cNvPr id="19" name="b03-rise-model-caution"/>
          <p:cNvSpPr/>
          <p:nvPr/>
        </p:nvSpPr>
        <p:spPr>
          <a:xfrm>
            <a:off x="566928" y="5577840"/>
            <a:ext cx="11064240" cy="548640"/>
          </a:xfrm>
          <a:prstGeom prst="roundRect">
            <a:avLst>
              <a:gd name="adj" fmla="val 21667"/>
            </a:avLst>
          </a:prstGeom>
          <a:solidFill>
            <a:srgbClr val="0E1219"/>
          </a:solidFill>
          <a:ln w="12700">
            <a:solidFill>
              <a:srgbClr val="232C3A"/>
            </a:solidFill>
            <a:prstDash val="solid"/>
          </a:ln>
        </p:spPr>
        <p:txBody>
          <a:bodyPr/>
          <a:lstStyle/>
          <a:p>
            <a:endParaRPr lang="en-US"/>
          </a:p>
        </p:txBody>
      </p:sp>
      <p:sp>
        <p:nvSpPr>
          <p:cNvPr id="20" name="b03-rise-model-caution"/>
          <p:cNvSpPr/>
          <p:nvPr/>
        </p:nvSpPr>
        <p:spPr>
          <a:xfrm>
            <a:off x="841248" y="5577840"/>
            <a:ext cx="10515600" cy="548640"/>
          </a:xfrm>
          <a:prstGeom prst="rect">
            <a:avLst/>
          </a:prstGeom>
          <a:noFill/>
          <a:ln/>
        </p:spPr>
        <p:txBody>
          <a:bodyPr wrap="square" rtlCol="0" anchor="ctr"/>
          <a:lstStyle/>
          <a:p>
            <a:pPr marL="0" indent="0">
              <a:lnSpc>
                <a:spcPct val="105000"/>
              </a:lnSpc>
              <a:buNone/>
            </a:pPr>
            <a:r>
              <a:rPr lang="en-US" sz="1800" dirty="0">
                <a:solidFill>
                  <a:srgbClr val="F3F6FA"/>
                </a:solidFill>
                <a:latin typeface="Helvetica Neue" pitchFamily="34" charset="0"/>
                <a:ea typeface="Helvetica Neue" pitchFamily="34" charset="-122"/>
                <a:cs typeface="Helvetica Neue" pitchFamily="34" charset="-120"/>
              </a:rPr>
              <a:t>Starting points. Compare them on your own work before you standardise.</a:t>
            </a:r>
            <a:endParaRPr lang="en-US" sz="1800" dirty="0"/>
          </a:p>
        </p:txBody>
      </p:sp>
      <p:sp>
        <p:nvSpPr>
          <p:cNvPr id="21" name="Text 19"/>
          <p:cNvSpPr/>
          <p:nvPr/>
        </p:nvSpPr>
        <p:spPr>
          <a:xfrm>
            <a:off x="566928" y="6391656"/>
            <a:ext cx="8961120" cy="274320"/>
          </a:xfrm>
          <a:prstGeom prst="rect">
            <a:avLst/>
          </a:prstGeom>
          <a:noFill/>
          <a:ln/>
        </p:spPr>
        <p:txBody>
          <a:bodyPr wrap="square" rtlCol="0" anchor="ctr"/>
          <a:lstStyle/>
          <a:p>
            <a:pPr marL="0" indent="0">
              <a:lnSpc>
                <a:spcPct val="105000"/>
              </a:lnSpc>
              <a:buNone/>
            </a:pPr>
            <a:r>
              <a:rPr lang="en-US" sz="1100" dirty="0">
                <a:solidFill>
                  <a:srgbClr val="6F7B8D"/>
                </a:solidFill>
                <a:latin typeface="Helvetica Neue" pitchFamily="34" charset="0"/>
                <a:ea typeface="Helvetica Neue" pitchFamily="34" charset="-122"/>
                <a:cs typeface="Helvetica Neue" pitchFamily="34" charset="-120"/>
              </a:rPr>
              <a:t>Copilot changelog, July 9 2026 (Sol, Terra, Luna); Astra availability, September 4 2026.</a:t>
            </a:r>
            <a:endParaRPr lang="en-US" sz="1100" dirty="0"/>
          </a:p>
        </p:txBody>
      </p:sp>
      <p:sp>
        <p:nvSpPr>
          <p:cNvPr id="22" name="Text 20"/>
          <p:cNvSpPr/>
          <p:nvPr/>
        </p:nvSpPr>
        <p:spPr>
          <a:xfrm>
            <a:off x="9692640" y="6391656"/>
            <a:ext cx="1929384" cy="274320"/>
          </a:xfrm>
          <a:prstGeom prst="rect">
            <a:avLst/>
          </a:prstGeom>
          <a:noFill/>
          <a:ln/>
        </p:spPr>
        <p:txBody>
          <a:bodyPr wrap="square" rtlCol="0" anchor="ctr"/>
          <a:lstStyle/>
          <a:p>
            <a:pPr marL="0" indent="0" algn="r">
              <a:lnSpc>
                <a:spcPct val="105000"/>
              </a:lnSpc>
              <a:buNone/>
            </a:pPr>
            <a:r>
              <a:rPr lang="en-US" sz="1100" dirty="0">
                <a:solidFill>
                  <a:srgbClr val="6F7B8D"/>
                </a:solidFill>
                <a:latin typeface="Helvetica Neue" pitchFamily="34" charset="0"/>
                <a:ea typeface="Helvetica Neue" pitchFamily="34" charset="-122"/>
                <a:cs typeface="Helvetica Neue" pitchFamily="34" charset="-120"/>
              </a:rPr>
              <a:t>16 / 20</a:t>
            </a:r>
            <a:endParaRPr lang="en-US" sz="1100"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2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20"/>
                                        <p:tgtEl>
                                          <p:spTgt spid="6"/>
                                        </p:tgtEl>
                                      </p:cBhvr>
                                    </p:animEffect>
                                  </p:childTnLst>
                                </p:cTn>
                              </p:par>
                              <p:par>
                                <p:cTn id="11" presetID="10"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20"/>
                                        <p:tgtEl>
                                          <p:spTgt spid="7"/>
                                        </p:tgtEl>
                                      </p:cBhvr>
                                    </p:animEffect>
                                  </p:childTnLst>
                                </p:cTn>
                              </p:par>
                              <p:par>
                                <p:cTn id="14" presetID="10" presetClass="entr" presetSubtype="0" fill="hold"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420"/>
                                        <p:tgtEl>
                                          <p:spTgt spid="11"/>
                                        </p:tgtEl>
                                      </p:cBhvr>
                                    </p:animEffect>
                                  </p:childTnLst>
                                </p:cTn>
                              </p:par>
                              <p:par>
                                <p:cTn id="17" presetID="10"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420"/>
                                        <p:tgtEl>
                                          <p:spTgt spid="12"/>
                                        </p:tgtEl>
                                      </p:cBhvr>
                                    </p:animEffect>
                                  </p:childTnLst>
                                </p:cTn>
                              </p:par>
                              <p:par>
                                <p:cTn id="20" presetID="10" presetClass="entr" presetSubtype="0" fill="hold"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420"/>
                                        <p:tgtEl>
                                          <p:spTgt spid="13"/>
                                        </p:tgtEl>
                                      </p:cBhvr>
                                    </p:animEffect>
                                  </p:childTnLst>
                                </p:cTn>
                              </p:par>
                              <p:par>
                                <p:cTn id="23" presetID="10" presetClass="entr" presetSubtype="0" fill="hold" nodeType="with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420"/>
                                        <p:tgtEl>
                                          <p:spTgt spid="14"/>
                                        </p:tgtEl>
                                      </p:cBhvr>
                                    </p:animEffect>
                                  </p:childTnLst>
                                </p:cTn>
                              </p:par>
                              <p:par>
                                <p:cTn id="26" presetID="10" presetClass="entr" presetSubtype="0" fill="hold" nodeType="withEffect">
                                  <p:stCondLst>
                                    <p:cond delay="0"/>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420"/>
                                        <p:tgtEl>
                                          <p:spTgt spid="15"/>
                                        </p:tgtEl>
                                      </p:cBhvr>
                                    </p:animEffect>
                                  </p:childTnLst>
                                </p:cTn>
                              </p:par>
                              <p:par>
                                <p:cTn id="29" presetID="10" presetClass="entr" presetSubtype="0" fill="hold" nodeType="with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31" dur="420"/>
                                        <p:tgtEl>
                                          <p:spTgt spid="16"/>
                                        </p:tgtEl>
                                      </p:cBhvr>
                                    </p:animEffect>
                                  </p:childTnLst>
                                </p:cTn>
                              </p:par>
                            </p:childTnLst>
                          </p:cTn>
                        </p:par>
                      </p:childTnLst>
                    </p:cTn>
                  </p:par>
                  <p:par>
                    <p:cTn id="32" fill="hold">
                      <p:stCondLst>
                        <p:cond delay="indefinite"/>
                      </p:stCondLst>
                      <p:childTnLst>
                        <p:par>
                          <p:cTn id="33" fill="hold">
                            <p:stCondLst>
                              <p:cond delay="0"/>
                            </p:stCondLst>
                            <p:childTnLst>
                              <p:par>
                                <p:cTn id="34" presetID="6" presetClass="emph" presetSubtype="0" fill="hold" nodeType="clickEffect">
                                  <p:stCondLst>
                                    <p:cond delay="0"/>
                                  </p:stCondLst>
                                  <p:childTnLst>
                                    <p:animScale zoomContents="1">
                                      <p:cBhvr>
                                        <p:cTn id="35" dur="200" accel="30000" decel="30000" autoRev="1" fill="remove"/>
                                        <p:tgtEl>
                                          <p:spTgt spid="8"/>
                                        </p:tgtEl>
                                      </p:cBhvr>
                                      <p:from x="100000" y="100000"/>
                                      <p:to x="104000" y="104000"/>
                                    </p:animScale>
                                  </p:childTnLst>
                                </p:cTn>
                              </p:par>
                              <p:par>
                                <p:cTn id="36" presetID="6" presetClass="emph" presetSubtype="0" fill="hold" nodeType="withEffect">
                                  <p:stCondLst>
                                    <p:cond delay="0"/>
                                  </p:stCondLst>
                                  <p:childTnLst>
                                    <p:animScale zoomContents="1">
                                      <p:cBhvr>
                                        <p:cTn id="37" dur="200" accel="30000" decel="30000" autoRev="1" fill="remove"/>
                                        <p:tgtEl>
                                          <p:spTgt spid="9"/>
                                        </p:tgtEl>
                                      </p:cBhvr>
                                      <p:from x="100000" y="100000"/>
                                      <p:to x="104000" y="104000"/>
                                    </p:animScale>
                                  </p:childTnLst>
                                </p:cTn>
                              </p:par>
                              <p:par>
                                <p:cTn id="38" presetID="6" presetClass="emph" presetSubtype="0" fill="hold" nodeType="withEffect">
                                  <p:stCondLst>
                                    <p:cond delay="0"/>
                                  </p:stCondLst>
                                  <p:childTnLst>
                                    <p:animScale zoomContents="1">
                                      <p:cBhvr>
                                        <p:cTn id="39" dur="200" accel="30000" decel="30000" autoRev="1" fill="remove"/>
                                        <p:tgtEl>
                                          <p:spTgt spid="10"/>
                                        </p:tgtEl>
                                      </p:cBhvr>
                                      <p:from x="100000" y="100000"/>
                                      <p:to x="104000" y="104000"/>
                                    </p:animScale>
                                  </p:childTnLst>
                                </p:cTn>
                              </p:par>
                              <p:par>
                                <p:cTn id="40" presetID="42" presetClass="entr" presetSubtype="0" fill="hold" nodeType="withEffect">
                                  <p:stCondLst>
                                    <p:cond delay="0"/>
                                  </p:stCondLst>
                                  <p:childTnLst>
                                    <p:set>
                                      <p:cBhvr>
                                        <p:cTn id="41" dur="1" fill="hold">
                                          <p:stCondLst>
                                            <p:cond delay="0"/>
                                          </p:stCondLst>
                                        </p:cTn>
                                        <p:tgtEl>
                                          <p:spTgt spid="17"/>
                                        </p:tgtEl>
                                        <p:attrNameLst>
                                          <p:attrName>style.visibility</p:attrName>
                                        </p:attrNameLst>
                                      </p:cBhvr>
                                      <p:to>
                                        <p:strVal val="visible"/>
                                      </p:to>
                                    </p:set>
                                    <p:anim calcmode="lin" valueType="num">
                                      <p:cBhvr additive="base">
                                        <p:cTn id="42" dur="420" decel="60000" fill="hold"/>
                                        <p:tgtEl>
                                          <p:spTgt spid="17"/>
                                        </p:tgtEl>
                                        <p:attrNameLst>
                                          <p:attrName>ppt_y</p:attrName>
                                        </p:attrNameLst>
                                      </p:cBhvr>
                                      <p:tavLst>
                                        <p:tav tm="0">
                                          <p:val>
                                            <p:strVal val="#ppt_y+.014"/>
                                          </p:val>
                                        </p:tav>
                                        <p:tav tm="100000">
                                          <p:val>
                                            <p:strVal val="#ppt_y"/>
                                          </p:val>
                                        </p:tav>
                                      </p:tavLst>
                                    </p:anim>
                                    <p:animEffect transition="in" filter="fade">
                                      <p:cBhvr>
                                        <p:cTn id="43" dur="420"/>
                                        <p:tgtEl>
                                          <p:spTgt spid="17"/>
                                        </p:tgtEl>
                                      </p:cBhvr>
                                    </p:animEffect>
                                  </p:childTnLst>
                                </p:cTn>
                              </p:par>
                              <p:par>
                                <p:cTn id="44" presetID="42" presetClass="entr" presetSubtype="0" fill="hold" nodeType="withEffect">
                                  <p:stCondLst>
                                    <p:cond delay="0"/>
                                  </p:stCondLst>
                                  <p:childTnLst>
                                    <p:set>
                                      <p:cBhvr>
                                        <p:cTn id="45" dur="1" fill="hold">
                                          <p:stCondLst>
                                            <p:cond delay="0"/>
                                          </p:stCondLst>
                                        </p:cTn>
                                        <p:tgtEl>
                                          <p:spTgt spid="18"/>
                                        </p:tgtEl>
                                        <p:attrNameLst>
                                          <p:attrName>style.visibility</p:attrName>
                                        </p:attrNameLst>
                                      </p:cBhvr>
                                      <p:to>
                                        <p:strVal val="visible"/>
                                      </p:to>
                                    </p:set>
                                    <p:anim calcmode="lin" valueType="num">
                                      <p:cBhvr additive="base">
                                        <p:cTn id="46" dur="420" decel="60000" fill="hold"/>
                                        <p:tgtEl>
                                          <p:spTgt spid="18"/>
                                        </p:tgtEl>
                                        <p:attrNameLst>
                                          <p:attrName>ppt_y</p:attrName>
                                        </p:attrNameLst>
                                      </p:cBhvr>
                                      <p:tavLst>
                                        <p:tav tm="0">
                                          <p:val>
                                            <p:strVal val="#ppt_y+.014"/>
                                          </p:val>
                                        </p:tav>
                                        <p:tav tm="100000">
                                          <p:val>
                                            <p:strVal val="#ppt_y"/>
                                          </p:val>
                                        </p:tav>
                                      </p:tavLst>
                                    </p:anim>
                                    <p:animEffect transition="in" filter="fade">
                                      <p:cBhvr>
                                        <p:cTn id="47" dur="42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42" presetClass="entr" presetSubtype="0" fill="hold" nodeType="clickEffect">
                                  <p:stCondLst>
                                    <p:cond delay="0"/>
                                  </p:stCondLst>
                                  <p:childTnLst>
                                    <p:set>
                                      <p:cBhvr>
                                        <p:cTn id="51" dur="1" fill="hold">
                                          <p:stCondLst>
                                            <p:cond delay="0"/>
                                          </p:stCondLst>
                                        </p:cTn>
                                        <p:tgtEl>
                                          <p:spTgt spid="19"/>
                                        </p:tgtEl>
                                        <p:attrNameLst>
                                          <p:attrName>style.visibility</p:attrName>
                                        </p:attrNameLst>
                                      </p:cBhvr>
                                      <p:to>
                                        <p:strVal val="visible"/>
                                      </p:to>
                                    </p:set>
                                    <p:anim calcmode="lin" valueType="num">
                                      <p:cBhvr additive="base">
                                        <p:cTn id="52" dur="420" decel="60000" fill="hold"/>
                                        <p:tgtEl>
                                          <p:spTgt spid="19"/>
                                        </p:tgtEl>
                                        <p:attrNameLst>
                                          <p:attrName>ppt_y</p:attrName>
                                        </p:attrNameLst>
                                      </p:cBhvr>
                                      <p:tavLst>
                                        <p:tav tm="0">
                                          <p:val>
                                            <p:strVal val="#ppt_y+.014"/>
                                          </p:val>
                                        </p:tav>
                                        <p:tav tm="100000">
                                          <p:val>
                                            <p:strVal val="#ppt_y"/>
                                          </p:val>
                                        </p:tav>
                                      </p:tavLst>
                                    </p:anim>
                                    <p:animEffect transition="in" filter="fade">
                                      <p:cBhvr>
                                        <p:cTn id="53" dur="420"/>
                                        <p:tgtEl>
                                          <p:spTgt spid="19"/>
                                        </p:tgtEl>
                                      </p:cBhvr>
                                    </p:animEffect>
                                  </p:childTnLst>
                                </p:cTn>
                              </p:par>
                              <p:par>
                                <p:cTn id="54" presetID="42" presetClass="entr" presetSubtype="0" fill="hold" nodeType="withEffect">
                                  <p:stCondLst>
                                    <p:cond delay="0"/>
                                  </p:stCondLst>
                                  <p:childTnLst>
                                    <p:set>
                                      <p:cBhvr>
                                        <p:cTn id="55" dur="1" fill="hold">
                                          <p:stCondLst>
                                            <p:cond delay="0"/>
                                          </p:stCondLst>
                                        </p:cTn>
                                        <p:tgtEl>
                                          <p:spTgt spid="20"/>
                                        </p:tgtEl>
                                        <p:attrNameLst>
                                          <p:attrName>style.visibility</p:attrName>
                                        </p:attrNameLst>
                                      </p:cBhvr>
                                      <p:to>
                                        <p:strVal val="visible"/>
                                      </p:to>
                                    </p:set>
                                    <p:anim calcmode="lin" valueType="num">
                                      <p:cBhvr additive="base">
                                        <p:cTn id="56" dur="420" decel="60000" fill="hold"/>
                                        <p:tgtEl>
                                          <p:spTgt spid="20"/>
                                        </p:tgtEl>
                                        <p:attrNameLst>
                                          <p:attrName>ppt_y</p:attrName>
                                        </p:attrNameLst>
                                      </p:cBhvr>
                                      <p:tavLst>
                                        <p:tav tm="0">
                                          <p:val>
                                            <p:strVal val="#ppt_y+.014"/>
                                          </p:val>
                                        </p:tav>
                                        <p:tav tm="100000">
                                          <p:val>
                                            <p:strVal val="#ppt_y"/>
                                          </p:val>
                                        </p:tav>
                                      </p:tavLst>
                                    </p:anim>
                                    <p:animEffect transition="in" filter="fade">
                                      <p:cBhvr>
                                        <p:cTn id="57" dur="42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7090D"/>
        </a:solidFill>
        <a:effectLst/>
      </p:bgPr>
    </p:bg>
    <p:spTree>
      <p:nvGrpSpPr>
        <p:cNvPr id="1" name=""/>
        <p:cNvGrpSpPr/>
        <p:nvPr/>
      </p:nvGrpSpPr>
      <p:grpSpPr>
        <a:xfrm>
          <a:off x="0" y="0"/>
          <a:ext cx="0" cy="0"/>
          <a:chOff x="0" y="0"/>
          <a:chExt cx="0" cy="0"/>
        </a:xfrm>
      </p:grpSpPr>
      <p:sp>
        <p:nvSpPr>
          <p:cNvPr id="2" name="Text 0"/>
          <p:cNvSpPr/>
          <p:nvPr/>
        </p:nvSpPr>
        <p:spPr>
          <a:xfrm>
            <a:off x="566928" y="274320"/>
            <a:ext cx="10607040" cy="274320"/>
          </a:xfrm>
          <a:prstGeom prst="rect">
            <a:avLst/>
          </a:prstGeom>
          <a:noFill/>
          <a:ln/>
        </p:spPr>
        <p:txBody>
          <a:bodyPr wrap="square" rtlCol="0" anchor="t"/>
          <a:lstStyle/>
          <a:p>
            <a:pPr marL="0" indent="0">
              <a:lnSpc>
                <a:spcPct val="105000"/>
              </a:lnSpc>
              <a:buNone/>
            </a:pPr>
            <a:r>
              <a:rPr lang="en-US" sz="1200" b="1" kern="0" spc="260" dirty="0">
                <a:solidFill>
                  <a:srgbClr val="75EDBB"/>
                </a:solidFill>
                <a:latin typeface="Helvetica Neue" pitchFamily="34" charset="0"/>
                <a:ea typeface="Helvetica Neue" pitchFamily="34" charset="-122"/>
                <a:cs typeface="Helvetica Neue" pitchFamily="34" charset="-120"/>
              </a:rPr>
              <a:t>BEFORE THE DEMO</a:t>
            </a:r>
            <a:endParaRPr lang="en-US" sz="1200" dirty="0"/>
          </a:p>
        </p:txBody>
      </p:sp>
      <p:sp>
        <p:nvSpPr>
          <p:cNvPr id="3" name="Text 1"/>
          <p:cNvSpPr/>
          <p:nvPr/>
        </p:nvSpPr>
        <p:spPr>
          <a:xfrm>
            <a:off x="566928" y="585216"/>
            <a:ext cx="10789920" cy="731520"/>
          </a:xfrm>
          <a:prstGeom prst="rect">
            <a:avLst/>
          </a:prstGeom>
          <a:noFill/>
          <a:ln/>
        </p:spPr>
        <p:txBody>
          <a:bodyPr wrap="square" rtlCol="0" anchor="ctr"/>
          <a:lstStyle/>
          <a:p>
            <a:pPr marL="0" indent="0">
              <a:lnSpc>
                <a:spcPct val="95000"/>
              </a:lnSpc>
              <a:buNone/>
            </a:pPr>
            <a:r>
              <a:rPr lang="en-US" sz="3800" dirty="0">
                <a:solidFill>
                  <a:srgbClr val="F3F6FA"/>
                </a:solidFill>
                <a:latin typeface="Avenir Next" pitchFamily="34" charset="0"/>
                <a:ea typeface="Avenir Next" pitchFamily="34" charset="-122"/>
                <a:cs typeface="Avenir Next" pitchFamily="34" charset="-120"/>
              </a:rPr>
              <a:t>Measure a verified change</a:t>
            </a:r>
            <a:endParaRPr lang="en-US" sz="3800" dirty="0"/>
          </a:p>
        </p:txBody>
      </p:sp>
      <p:sp>
        <p:nvSpPr>
          <p:cNvPr id="4" name="Text 2"/>
          <p:cNvSpPr/>
          <p:nvPr/>
        </p:nvSpPr>
        <p:spPr>
          <a:xfrm>
            <a:off x="566928" y="1335024"/>
            <a:ext cx="9692640" cy="384048"/>
          </a:xfrm>
          <a:prstGeom prst="rect">
            <a:avLst/>
          </a:prstGeom>
          <a:noFill/>
          <a:ln/>
        </p:spPr>
        <p:txBody>
          <a:bodyPr wrap="square" rtlCol="0" anchor="t"/>
          <a:lstStyle/>
          <a:p>
            <a:pPr marL="0" indent="0">
              <a:lnSpc>
                <a:spcPct val="105000"/>
              </a:lnSpc>
              <a:buNone/>
            </a:pPr>
            <a:r>
              <a:rPr lang="en-US" sz="1900" dirty="0">
                <a:solidFill>
                  <a:srgbClr val="B2BDCD"/>
                </a:solidFill>
                <a:latin typeface="Helvetica Neue" pitchFamily="34" charset="0"/>
                <a:ea typeface="Helvetica Neue" pitchFamily="34" charset="-122"/>
                <a:cs typeface="Helvetica Neue" pitchFamily="34" charset="-120"/>
              </a:rPr>
              <a:t>Four things worth recording live.</a:t>
            </a:r>
            <a:endParaRPr lang="en-US" sz="1900" dirty="0"/>
          </a:p>
        </p:txBody>
      </p:sp>
      <p:sp>
        <p:nvSpPr>
          <p:cNvPr id="5" name="Shape 3"/>
          <p:cNvSpPr/>
          <p:nvPr/>
        </p:nvSpPr>
        <p:spPr>
          <a:xfrm>
            <a:off x="566928" y="2103120"/>
            <a:ext cx="11064240" cy="731520"/>
          </a:xfrm>
          <a:prstGeom prst="roundRect">
            <a:avLst>
              <a:gd name="adj" fmla="val 16250"/>
            </a:avLst>
          </a:prstGeom>
          <a:solidFill>
            <a:srgbClr val="0E1219"/>
          </a:solidFill>
          <a:ln w="12700">
            <a:solidFill>
              <a:srgbClr val="1A212C"/>
            </a:solidFill>
            <a:prstDash val="solid"/>
          </a:ln>
        </p:spPr>
        <p:txBody>
          <a:bodyPr/>
          <a:lstStyle/>
          <a:p>
            <a:endParaRPr lang="en-US"/>
          </a:p>
        </p:txBody>
      </p:sp>
      <p:sp>
        <p:nvSpPr>
          <p:cNvPr id="6" name="Text 4"/>
          <p:cNvSpPr/>
          <p:nvPr/>
        </p:nvSpPr>
        <p:spPr>
          <a:xfrm>
            <a:off x="841248" y="2103120"/>
            <a:ext cx="3931920" cy="731520"/>
          </a:xfrm>
          <a:prstGeom prst="rect">
            <a:avLst/>
          </a:prstGeom>
          <a:noFill/>
          <a:ln/>
        </p:spPr>
        <p:txBody>
          <a:bodyPr wrap="square" rtlCol="0" anchor="ctr"/>
          <a:lstStyle/>
          <a:p>
            <a:pPr marL="0" indent="0">
              <a:lnSpc>
                <a:spcPct val="105000"/>
              </a:lnSpc>
              <a:buNone/>
            </a:pPr>
            <a:r>
              <a:rPr lang="en-US" sz="1900" dirty="0">
                <a:solidFill>
                  <a:srgbClr val="F3F6FA"/>
                </a:solidFill>
                <a:latin typeface="Helvetica Neue" pitchFamily="34" charset="0"/>
                <a:ea typeface="Helvetica Neue" pitchFamily="34" charset="-122"/>
                <a:cs typeface="Helvetica Neue" pitchFamily="34" charset="-120"/>
              </a:rPr>
              <a:t>Elapsed time</a:t>
            </a:r>
            <a:endParaRPr lang="en-US" sz="1900" dirty="0"/>
          </a:p>
        </p:txBody>
      </p:sp>
      <p:sp>
        <p:nvSpPr>
          <p:cNvPr id="7" name="Text 5"/>
          <p:cNvSpPr/>
          <p:nvPr/>
        </p:nvSpPr>
        <p:spPr>
          <a:xfrm>
            <a:off x="4846320" y="2103120"/>
            <a:ext cx="3474720" cy="731520"/>
          </a:xfrm>
          <a:prstGeom prst="rect">
            <a:avLst/>
          </a:prstGeom>
          <a:noFill/>
          <a:ln/>
        </p:spPr>
        <p:txBody>
          <a:bodyPr wrap="square" rtlCol="0" anchor="ctr"/>
          <a:lstStyle/>
          <a:p>
            <a:pPr marL="0" indent="0">
              <a:lnSpc>
                <a:spcPct val="105000"/>
              </a:lnSpc>
              <a:buNone/>
            </a:pPr>
            <a:r>
              <a:rPr lang="en-US" sz="1500" dirty="0">
                <a:solidFill>
                  <a:srgbClr val="6F7B8D"/>
                </a:solidFill>
                <a:latin typeface="Helvetica Neue" pitchFamily="34" charset="0"/>
                <a:ea typeface="Helvetica Neue" pitchFamily="34" charset="-122"/>
                <a:cs typeface="Helvetica Neue" pitchFamily="34" charset="-120"/>
              </a:rPr>
              <a:t>setup, per iteration, total</a:t>
            </a:r>
            <a:endParaRPr lang="en-US" sz="1500" dirty="0"/>
          </a:p>
        </p:txBody>
      </p:sp>
      <p:sp>
        <p:nvSpPr>
          <p:cNvPr id="8" name="b01-fade-measurement-slots"/>
          <p:cNvSpPr/>
          <p:nvPr/>
        </p:nvSpPr>
        <p:spPr>
          <a:xfrm>
            <a:off x="8503920" y="2231136"/>
            <a:ext cx="2834640" cy="475488"/>
          </a:xfrm>
          <a:prstGeom prst="roundRect">
            <a:avLst>
              <a:gd name="adj" fmla="val 19231"/>
            </a:avLst>
          </a:prstGeom>
          <a:solidFill>
            <a:srgbClr val="0A0D13"/>
          </a:solidFill>
          <a:ln w="12700">
            <a:solidFill>
              <a:srgbClr val="75EDBB"/>
            </a:solidFill>
            <a:prstDash val="dash"/>
          </a:ln>
        </p:spPr>
        <p:txBody>
          <a:bodyPr/>
          <a:lstStyle/>
          <a:p>
            <a:endParaRPr lang="en-US"/>
          </a:p>
        </p:txBody>
      </p:sp>
      <p:sp>
        <p:nvSpPr>
          <p:cNvPr id="9" name="b01-fade-measurement-slots"/>
          <p:cNvSpPr/>
          <p:nvPr/>
        </p:nvSpPr>
        <p:spPr>
          <a:xfrm>
            <a:off x="8503920" y="2231136"/>
            <a:ext cx="2834640" cy="475488"/>
          </a:xfrm>
          <a:prstGeom prst="rect">
            <a:avLst/>
          </a:prstGeom>
          <a:noFill/>
          <a:ln/>
        </p:spPr>
        <p:txBody>
          <a:bodyPr wrap="square" rtlCol="0" anchor="ctr"/>
          <a:lstStyle/>
          <a:p>
            <a:pPr marL="0" indent="0" algn="ctr">
              <a:lnSpc>
                <a:spcPct val="105000"/>
              </a:lnSpc>
              <a:buNone/>
            </a:pPr>
            <a:r>
              <a:rPr lang="en-US" sz="1500" dirty="0">
                <a:solidFill>
                  <a:srgbClr val="75EDBB"/>
                </a:solidFill>
                <a:latin typeface="Menlo" pitchFamily="34" charset="0"/>
                <a:ea typeface="Menlo" pitchFamily="34" charset="-122"/>
                <a:cs typeface="Menlo" pitchFamily="34" charset="-120"/>
              </a:rPr>
              <a:t>record live</a:t>
            </a:r>
            <a:endParaRPr lang="en-US" sz="1500" dirty="0"/>
          </a:p>
        </p:txBody>
      </p:sp>
      <p:sp>
        <p:nvSpPr>
          <p:cNvPr id="10" name="Shape 8"/>
          <p:cNvSpPr/>
          <p:nvPr/>
        </p:nvSpPr>
        <p:spPr>
          <a:xfrm>
            <a:off x="566928" y="2971800"/>
            <a:ext cx="11064240" cy="731520"/>
          </a:xfrm>
          <a:prstGeom prst="roundRect">
            <a:avLst>
              <a:gd name="adj" fmla="val 16250"/>
            </a:avLst>
          </a:prstGeom>
          <a:solidFill>
            <a:srgbClr val="0E1219"/>
          </a:solidFill>
          <a:ln w="12700">
            <a:solidFill>
              <a:srgbClr val="1A212C"/>
            </a:solidFill>
            <a:prstDash val="solid"/>
          </a:ln>
        </p:spPr>
        <p:txBody>
          <a:bodyPr/>
          <a:lstStyle/>
          <a:p>
            <a:endParaRPr lang="en-US"/>
          </a:p>
        </p:txBody>
      </p:sp>
      <p:sp>
        <p:nvSpPr>
          <p:cNvPr id="11" name="Text 9"/>
          <p:cNvSpPr/>
          <p:nvPr/>
        </p:nvSpPr>
        <p:spPr>
          <a:xfrm>
            <a:off x="841248" y="2971800"/>
            <a:ext cx="3931920" cy="731520"/>
          </a:xfrm>
          <a:prstGeom prst="rect">
            <a:avLst/>
          </a:prstGeom>
          <a:noFill/>
          <a:ln/>
        </p:spPr>
        <p:txBody>
          <a:bodyPr wrap="square" rtlCol="0" anchor="ctr"/>
          <a:lstStyle/>
          <a:p>
            <a:pPr marL="0" indent="0">
              <a:lnSpc>
                <a:spcPct val="105000"/>
              </a:lnSpc>
              <a:buNone/>
            </a:pPr>
            <a:r>
              <a:rPr lang="en-US" sz="1900" dirty="0">
                <a:solidFill>
                  <a:srgbClr val="F3F6FA"/>
                </a:solidFill>
                <a:latin typeface="Helvetica Neue" pitchFamily="34" charset="0"/>
                <a:ea typeface="Helvetica Neue" pitchFamily="34" charset="-122"/>
                <a:cs typeface="Helvetica Neue" pitchFamily="34" charset="-120"/>
              </a:rPr>
              <a:t>AI usage</a:t>
            </a:r>
            <a:endParaRPr lang="en-US" sz="1900" dirty="0"/>
          </a:p>
        </p:txBody>
      </p:sp>
      <p:sp>
        <p:nvSpPr>
          <p:cNvPr id="12" name="Text 10"/>
          <p:cNvSpPr/>
          <p:nvPr/>
        </p:nvSpPr>
        <p:spPr>
          <a:xfrm>
            <a:off x="4846320" y="2971800"/>
            <a:ext cx="3474720" cy="731520"/>
          </a:xfrm>
          <a:prstGeom prst="rect">
            <a:avLst/>
          </a:prstGeom>
          <a:noFill/>
          <a:ln/>
        </p:spPr>
        <p:txBody>
          <a:bodyPr wrap="square" rtlCol="0" anchor="ctr"/>
          <a:lstStyle/>
          <a:p>
            <a:pPr marL="0" indent="0">
              <a:lnSpc>
                <a:spcPct val="105000"/>
              </a:lnSpc>
              <a:buNone/>
            </a:pPr>
            <a:r>
              <a:rPr lang="en-US" sz="1500" dirty="0">
                <a:solidFill>
                  <a:srgbClr val="6F7B8D"/>
                </a:solidFill>
                <a:latin typeface="Helvetica Neue" pitchFamily="34" charset="0"/>
                <a:ea typeface="Helvetica Neue" pitchFamily="34" charset="-122"/>
                <a:cs typeface="Helvetica Neue" pitchFamily="34" charset="-120"/>
              </a:rPr>
              <a:t>input, output, cache where shown</a:t>
            </a:r>
            <a:endParaRPr lang="en-US" sz="1500" dirty="0"/>
          </a:p>
        </p:txBody>
      </p:sp>
      <p:sp>
        <p:nvSpPr>
          <p:cNvPr id="13" name="b01-fade-measurement-slots"/>
          <p:cNvSpPr/>
          <p:nvPr/>
        </p:nvSpPr>
        <p:spPr>
          <a:xfrm>
            <a:off x="8503920" y="3099816"/>
            <a:ext cx="2834640" cy="475488"/>
          </a:xfrm>
          <a:prstGeom prst="roundRect">
            <a:avLst>
              <a:gd name="adj" fmla="val 19231"/>
            </a:avLst>
          </a:prstGeom>
          <a:solidFill>
            <a:srgbClr val="0A0D13"/>
          </a:solidFill>
          <a:ln w="12700">
            <a:solidFill>
              <a:srgbClr val="75EDBB"/>
            </a:solidFill>
            <a:prstDash val="dash"/>
          </a:ln>
        </p:spPr>
        <p:txBody>
          <a:bodyPr/>
          <a:lstStyle/>
          <a:p>
            <a:endParaRPr lang="en-US"/>
          </a:p>
        </p:txBody>
      </p:sp>
      <p:sp>
        <p:nvSpPr>
          <p:cNvPr id="14" name="b01-fade-measurement-slots"/>
          <p:cNvSpPr/>
          <p:nvPr/>
        </p:nvSpPr>
        <p:spPr>
          <a:xfrm>
            <a:off x="8503920" y="3099816"/>
            <a:ext cx="2834640" cy="475488"/>
          </a:xfrm>
          <a:prstGeom prst="rect">
            <a:avLst/>
          </a:prstGeom>
          <a:noFill/>
          <a:ln/>
        </p:spPr>
        <p:txBody>
          <a:bodyPr wrap="square" rtlCol="0" anchor="ctr"/>
          <a:lstStyle/>
          <a:p>
            <a:pPr marL="0" indent="0" algn="ctr">
              <a:lnSpc>
                <a:spcPct val="105000"/>
              </a:lnSpc>
              <a:buNone/>
            </a:pPr>
            <a:r>
              <a:rPr lang="en-US" sz="1500" dirty="0">
                <a:solidFill>
                  <a:srgbClr val="75EDBB"/>
                </a:solidFill>
                <a:latin typeface="Menlo" pitchFamily="34" charset="0"/>
                <a:ea typeface="Menlo" pitchFamily="34" charset="-122"/>
                <a:cs typeface="Menlo" pitchFamily="34" charset="-120"/>
              </a:rPr>
              <a:t>record live</a:t>
            </a:r>
            <a:endParaRPr lang="en-US" sz="1500" dirty="0"/>
          </a:p>
        </p:txBody>
      </p:sp>
      <p:sp>
        <p:nvSpPr>
          <p:cNvPr id="15" name="Shape 13"/>
          <p:cNvSpPr/>
          <p:nvPr/>
        </p:nvSpPr>
        <p:spPr>
          <a:xfrm>
            <a:off x="566928" y="3840480"/>
            <a:ext cx="11064240" cy="731520"/>
          </a:xfrm>
          <a:prstGeom prst="roundRect">
            <a:avLst>
              <a:gd name="adj" fmla="val 16250"/>
            </a:avLst>
          </a:prstGeom>
          <a:solidFill>
            <a:srgbClr val="0E1219"/>
          </a:solidFill>
          <a:ln w="12700">
            <a:solidFill>
              <a:srgbClr val="1A212C"/>
            </a:solidFill>
            <a:prstDash val="solid"/>
          </a:ln>
        </p:spPr>
        <p:txBody>
          <a:bodyPr/>
          <a:lstStyle/>
          <a:p>
            <a:endParaRPr lang="en-US"/>
          </a:p>
        </p:txBody>
      </p:sp>
      <p:sp>
        <p:nvSpPr>
          <p:cNvPr id="16" name="Text 14"/>
          <p:cNvSpPr/>
          <p:nvPr/>
        </p:nvSpPr>
        <p:spPr>
          <a:xfrm>
            <a:off x="841248" y="3840480"/>
            <a:ext cx="3931920" cy="731520"/>
          </a:xfrm>
          <a:prstGeom prst="rect">
            <a:avLst/>
          </a:prstGeom>
          <a:noFill/>
          <a:ln/>
        </p:spPr>
        <p:txBody>
          <a:bodyPr wrap="square" rtlCol="0" anchor="ctr"/>
          <a:lstStyle/>
          <a:p>
            <a:pPr marL="0" indent="0">
              <a:lnSpc>
                <a:spcPct val="105000"/>
              </a:lnSpc>
              <a:buNone/>
            </a:pPr>
            <a:r>
              <a:rPr lang="en-US" sz="1900" dirty="0">
                <a:solidFill>
                  <a:srgbClr val="F3F6FA"/>
                </a:solidFill>
                <a:latin typeface="Helvetica Neue" pitchFamily="34" charset="0"/>
                <a:ea typeface="Helvetica Neue" pitchFamily="34" charset="-122"/>
                <a:cs typeface="Helvetica Neue" pitchFamily="34" charset="-120"/>
              </a:rPr>
              <a:t>Tool calls and rework</a:t>
            </a:r>
            <a:endParaRPr lang="en-US" sz="1900" dirty="0"/>
          </a:p>
        </p:txBody>
      </p:sp>
      <p:sp>
        <p:nvSpPr>
          <p:cNvPr id="17" name="Text 15"/>
          <p:cNvSpPr/>
          <p:nvPr/>
        </p:nvSpPr>
        <p:spPr>
          <a:xfrm>
            <a:off x="4846320" y="3840480"/>
            <a:ext cx="3474720" cy="731520"/>
          </a:xfrm>
          <a:prstGeom prst="rect">
            <a:avLst/>
          </a:prstGeom>
          <a:noFill/>
          <a:ln/>
        </p:spPr>
        <p:txBody>
          <a:bodyPr wrap="square" rtlCol="0" anchor="ctr"/>
          <a:lstStyle/>
          <a:p>
            <a:pPr marL="0" indent="0">
              <a:lnSpc>
                <a:spcPct val="105000"/>
              </a:lnSpc>
              <a:buNone/>
            </a:pPr>
            <a:r>
              <a:rPr lang="en-US" sz="1500" dirty="0">
                <a:solidFill>
                  <a:srgbClr val="6F7B8D"/>
                </a:solidFill>
                <a:latin typeface="Helvetica Neue" pitchFamily="34" charset="0"/>
                <a:ea typeface="Helvetica Neue" pitchFamily="34" charset="-122"/>
                <a:cs typeface="Helvetica Neue" pitchFamily="34" charset="-120"/>
              </a:rPr>
              <a:t>count, retries, repeats</a:t>
            </a:r>
            <a:endParaRPr lang="en-US" sz="1500" dirty="0"/>
          </a:p>
        </p:txBody>
      </p:sp>
      <p:sp>
        <p:nvSpPr>
          <p:cNvPr id="18" name="b01-fade-measurement-slots"/>
          <p:cNvSpPr/>
          <p:nvPr/>
        </p:nvSpPr>
        <p:spPr>
          <a:xfrm>
            <a:off x="8503920" y="3968496"/>
            <a:ext cx="2834640" cy="475488"/>
          </a:xfrm>
          <a:prstGeom prst="roundRect">
            <a:avLst>
              <a:gd name="adj" fmla="val 19231"/>
            </a:avLst>
          </a:prstGeom>
          <a:solidFill>
            <a:srgbClr val="0A0D13"/>
          </a:solidFill>
          <a:ln w="12700">
            <a:solidFill>
              <a:srgbClr val="75EDBB"/>
            </a:solidFill>
            <a:prstDash val="dash"/>
          </a:ln>
        </p:spPr>
        <p:txBody>
          <a:bodyPr/>
          <a:lstStyle/>
          <a:p>
            <a:endParaRPr lang="en-US"/>
          </a:p>
        </p:txBody>
      </p:sp>
      <p:sp>
        <p:nvSpPr>
          <p:cNvPr id="19" name="b01-fade-measurement-slots"/>
          <p:cNvSpPr/>
          <p:nvPr/>
        </p:nvSpPr>
        <p:spPr>
          <a:xfrm>
            <a:off x="8503920" y="3968496"/>
            <a:ext cx="2834640" cy="475488"/>
          </a:xfrm>
          <a:prstGeom prst="rect">
            <a:avLst/>
          </a:prstGeom>
          <a:noFill/>
          <a:ln/>
        </p:spPr>
        <p:txBody>
          <a:bodyPr wrap="square" rtlCol="0" anchor="ctr"/>
          <a:lstStyle/>
          <a:p>
            <a:pPr marL="0" indent="0" algn="ctr">
              <a:lnSpc>
                <a:spcPct val="105000"/>
              </a:lnSpc>
              <a:buNone/>
            </a:pPr>
            <a:r>
              <a:rPr lang="en-US" sz="1500" dirty="0">
                <a:solidFill>
                  <a:srgbClr val="75EDBB"/>
                </a:solidFill>
                <a:latin typeface="Menlo" pitchFamily="34" charset="0"/>
                <a:ea typeface="Menlo" pitchFamily="34" charset="-122"/>
                <a:cs typeface="Menlo" pitchFamily="34" charset="-120"/>
              </a:rPr>
              <a:t>record live</a:t>
            </a:r>
            <a:endParaRPr lang="en-US" sz="1500" dirty="0"/>
          </a:p>
        </p:txBody>
      </p:sp>
      <p:sp>
        <p:nvSpPr>
          <p:cNvPr id="20" name="Shape 18"/>
          <p:cNvSpPr/>
          <p:nvPr/>
        </p:nvSpPr>
        <p:spPr>
          <a:xfrm>
            <a:off x="566928" y="4709160"/>
            <a:ext cx="11064240" cy="731520"/>
          </a:xfrm>
          <a:prstGeom prst="roundRect">
            <a:avLst>
              <a:gd name="adj" fmla="val 16250"/>
            </a:avLst>
          </a:prstGeom>
          <a:solidFill>
            <a:srgbClr val="0E1219"/>
          </a:solidFill>
          <a:ln w="12700">
            <a:solidFill>
              <a:srgbClr val="1A212C"/>
            </a:solidFill>
            <a:prstDash val="solid"/>
          </a:ln>
        </p:spPr>
        <p:txBody>
          <a:bodyPr/>
          <a:lstStyle/>
          <a:p>
            <a:endParaRPr lang="en-US"/>
          </a:p>
        </p:txBody>
      </p:sp>
      <p:sp>
        <p:nvSpPr>
          <p:cNvPr id="21" name="Text 19"/>
          <p:cNvSpPr/>
          <p:nvPr/>
        </p:nvSpPr>
        <p:spPr>
          <a:xfrm>
            <a:off x="841248" y="4709160"/>
            <a:ext cx="3931920" cy="731520"/>
          </a:xfrm>
          <a:prstGeom prst="rect">
            <a:avLst/>
          </a:prstGeom>
          <a:noFill/>
          <a:ln/>
        </p:spPr>
        <p:txBody>
          <a:bodyPr wrap="square" rtlCol="0" anchor="ctr"/>
          <a:lstStyle/>
          <a:p>
            <a:pPr marL="0" indent="0">
              <a:lnSpc>
                <a:spcPct val="105000"/>
              </a:lnSpc>
              <a:buNone/>
            </a:pPr>
            <a:r>
              <a:rPr lang="en-US" sz="1900" dirty="0">
                <a:solidFill>
                  <a:srgbClr val="F3F6FA"/>
                </a:solidFill>
                <a:latin typeface="Helvetica Neue" pitchFamily="34" charset="0"/>
                <a:ea typeface="Helvetica Neue" pitchFamily="34" charset="-122"/>
                <a:cs typeface="Helvetica Neue" pitchFamily="34" charset="-120"/>
              </a:rPr>
              <a:t>Acceptance suite</a:t>
            </a:r>
            <a:endParaRPr lang="en-US" sz="1900" dirty="0"/>
          </a:p>
        </p:txBody>
      </p:sp>
      <p:sp>
        <p:nvSpPr>
          <p:cNvPr id="22" name="Text 20"/>
          <p:cNvSpPr/>
          <p:nvPr/>
        </p:nvSpPr>
        <p:spPr>
          <a:xfrm>
            <a:off x="4846320" y="4709160"/>
            <a:ext cx="3474720" cy="731520"/>
          </a:xfrm>
          <a:prstGeom prst="rect">
            <a:avLst/>
          </a:prstGeom>
          <a:noFill/>
          <a:ln/>
        </p:spPr>
        <p:txBody>
          <a:bodyPr wrap="square" rtlCol="0" anchor="ctr"/>
          <a:lstStyle/>
          <a:p>
            <a:pPr marL="0" indent="0">
              <a:lnSpc>
                <a:spcPct val="105000"/>
              </a:lnSpc>
              <a:buNone/>
            </a:pPr>
            <a:r>
              <a:rPr lang="en-US" sz="1500" dirty="0">
                <a:solidFill>
                  <a:srgbClr val="6F7B8D"/>
                </a:solidFill>
                <a:latin typeface="Helvetica Neue" pitchFamily="34" charset="0"/>
                <a:ea typeface="Helvetica Neue" pitchFamily="34" charset="-122"/>
                <a:cs typeface="Helvetica Neue" pitchFamily="34" charset="-120"/>
              </a:rPr>
              <a:t>same tests, both runs</a:t>
            </a:r>
            <a:endParaRPr lang="en-US" sz="1500" dirty="0"/>
          </a:p>
        </p:txBody>
      </p:sp>
      <p:sp>
        <p:nvSpPr>
          <p:cNvPr id="23" name="b01-fade-measurement-slots"/>
          <p:cNvSpPr/>
          <p:nvPr/>
        </p:nvSpPr>
        <p:spPr>
          <a:xfrm>
            <a:off x="8503920" y="4837176"/>
            <a:ext cx="2834640" cy="475488"/>
          </a:xfrm>
          <a:prstGeom prst="roundRect">
            <a:avLst>
              <a:gd name="adj" fmla="val 19231"/>
            </a:avLst>
          </a:prstGeom>
          <a:solidFill>
            <a:srgbClr val="0A0D13"/>
          </a:solidFill>
          <a:ln w="12700">
            <a:solidFill>
              <a:srgbClr val="75EDBB"/>
            </a:solidFill>
            <a:prstDash val="dash"/>
          </a:ln>
        </p:spPr>
        <p:txBody>
          <a:bodyPr/>
          <a:lstStyle/>
          <a:p>
            <a:endParaRPr lang="en-US"/>
          </a:p>
        </p:txBody>
      </p:sp>
      <p:sp>
        <p:nvSpPr>
          <p:cNvPr id="24" name="b01-fade-measurement-slots"/>
          <p:cNvSpPr/>
          <p:nvPr/>
        </p:nvSpPr>
        <p:spPr>
          <a:xfrm>
            <a:off x="8503920" y="4837176"/>
            <a:ext cx="2834640" cy="475488"/>
          </a:xfrm>
          <a:prstGeom prst="rect">
            <a:avLst/>
          </a:prstGeom>
          <a:noFill/>
          <a:ln/>
        </p:spPr>
        <p:txBody>
          <a:bodyPr wrap="square" rtlCol="0" anchor="ctr"/>
          <a:lstStyle/>
          <a:p>
            <a:pPr marL="0" indent="0" algn="ctr">
              <a:lnSpc>
                <a:spcPct val="105000"/>
              </a:lnSpc>
              <a:buNone/>
            </a:pPr>
            <a:r>
              <a:rPr lang="en-US" sz="1500" dirty="0">
                <a:solidFill>
                  <a:srgbClr val="75EDBB"/>
                </a:solidFill>
                <a:latin typeface="Menlo" pitchFamily="34" charset="0"/>
                <a:ea typeface="Menlo" pitchFamily="34" charset="-122"/>
                <a:cs typeface="Menlo" pitchFamily="34" charset="-120"/>
              </a:rPr>
              <a:t>record live</a:t>
            </a:r>
            <a:endParaRPr lang="en-US" sz="1500" dirty="0"/>
          </a:p>
        </p:txBody>
      </p:sp>
      <p:sp>
        <p:nvSpPr>
          <p:cNvPr id="25" name="b02-rise-measurement-caution"/>
          <p:cNvSpPr/>
          <p:nvPr/>
        </p:nvSpPr>
        <p:spPr>
          <a:xfrm>
            <a:off x="566928" y="5623560"/>
            <a:ext cx="11064240" cy="548640"/>
          </a:xfrm>
          <a:prstGeom prst="roundRect">
            <a:avLst>
              <a:gd name="adj" fmla="val 21667"/>
            </a:avLst>
          </a:prstGeom>
          <a:solidFill>
            <a:srgbClr val="3A2E1C"/>
          </a:solidFill>
          <a:ln w="12700">
            <a:solidFill>
              <a:srgbClr val="FFCA83"/>
            </a:solidFill>
            <a:prstDash val="solid"/>
          </a:ln>
        </p:spPr>
        <p:txBody>
          <a:bodyPr/>
          <a:lstStyle/>
          <a:p>
            <a:endParaRPr lang="en-US"/>
          </a:p>
        </p:txBody>
      </p:sp>
      <p:sp>
        <p:nvSpPr>
          <p:cNvPr id="26" name="b02-rise-measurement-caution"/>
          <p:cNvSpPr/>
          <p:nvPr/>
        </p:nvSpPr>
        <p:spPr>
          <a:xfrm>
            <a:off x="841248" y="5623560"/>
            <a:ext cx="10515600" cy="548640"/>
          </a:xfrm>
          <a:prstGeom prst="rect">
            <a:avLst/>
          </a:prstGeom>
          <a:noFill/>
          <a:ln/>
        </p:spPr>
        <p:txBody>
          <a:bodyPr wrap="square" rtlCol="0" anchor="ctr"/>
          <a:lstStyle/>
          <a:p>
            <a:pPr marL="0" indent="0">
              <a:lnSpc>
                <a:spcPct val="105000"/>
              </a:lnSpc>
              <a:buNone/>
            </a:pPr>
            <a:r>
              <a:rPr lang="en-US" sz="1800" dirty="0">
                <a:solidFill>
                  <a:srgbClr val="FFCA83"/>
                </a:solidFill>
                <a:latin typeface="Helvetica Neue" pitchFamily="34" charset="0"/>
                <a:ea typeface="Helvetica Neue" pitchFamily="34" charset="-122"/>
                <a:cs typeface="Helvetica Neue" pitchFamily="34" charset="-120"/>
              </a:rPr>
              <a:t>Local time and billed tokens are different numbers. Cache state and run order move both.</a:t>
            </a:r>
            <a:endParaRPr lang="en-US" sz="1800" dirty="0"/>
          </a:p>
        </p:txBody>
      </p:sp>
      <p:sp>
        <p:nvSpPr>
          <p:cNvPr id="27" name="Text 25"/>
          <p:cNvSpPr/>
          <p:nvPr/>
        </p:nvSpPr>
        <p:spPr>
          <a:xfrm>
            <a:off x="566928" y="6391656"/>
            <a:ext cx="8961120" cy="274320"/>
          </a:xfrm>
          <a:prstGeom prst="rect">
            <a:avLst/>
          </a:prstGeom>
          <a:noFill/>
          <a:ln/>
        </p:spPr>
        <p:txBody>
          <a:bodyPr wrap="square" rtlCol="0" anchor="ctr"/>
          <a:lstStyle/>
          <a:p>
            <a:pPr marL="0" indent="0">
              <a:lnSpc>
                <a:spcPct val="105000"/>
              </a:lnSpc>
              <a:buNone/>
            </a:pPr>
            <a:r>
              <a:rPr lang="en-US" sz="1100" dirty="0">
                <a:solidFill>
                  <a:srgbClr val="6F7B8D"/>
                </a:solidFill>
                <a:latin typeface="Helvetica Neue" pitchFamily="34" charset="0"/>
                <a:ea typeface="Helvetica Neue" pitchFamily="34" charset="-122"/>
                <a:cs typeface="Helvetica Neue" pitchFamily="34" charset="-120"/>
              </a:rPr>
              <a:t>Repeat the trial and report the median before quoting any number publicly.</a:t>
            </a:r>
            <a:endParaRPr lang="en-US" sz="1100" dirty="0"/>
          </a:p>
        </p:txBody>
      </p:sp>
      <p:sp>
        <p:nvSpPr>
          <p:cNvPr id="28" name="Text 26"/>
          <p:cNvSpPr/>
          <p:nvPr/>
        </p:nvSpPr>
        <p:spPr>
          <a:xfrm>
            <a:off x="9692640" y="6391656"/>
            <a:ext cx="1929384" cy="274320"/>
          </a:xfrm>
          <a:prstGeom prst="rect">
            <a:avLst/>
          </a:prstGeom>
          <a:noFill/>
          <a:ln/>
        </p:spPr>
        <p:txBody>
          <a:bodyPr wrap="square" rtlCol="0" anchor="ctr"/>
          <a:lstStyle/>
          <a:p>
            <a:pPr marL="0" indent="0" algn="r">
              <a:lnSpc>
                <a:spcPct val="105000"/>
              </a:lnSpc>
              <a:buNone/>
            </a:pPr>
            <a:r>
              <a:rPr lang="en-US" sz="1100" dirty="0">
                <a:solidFill>
                  <a:srgbClr val="6F7B8D"/>
                </a:solidFill>
                <a:latin typeface="Helvetica Neue" pitchFamily="34" charset="0"/>
                <a:ea typeface="Helvetica Neue" pitchFamily="34" charset="-122"/>
                <a:cs typeface="Helvetica Neue" pitchFamily="34" charset="-120"/>
              </a:rPr>
              <a:t>17 / 20</a:t>
            </a:r>
            <a:endParaRPr lang="en-US" sz="1100"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2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420"/>
                                        <p:tgtEl>
                                          <p:spTgt spid="9"/>
                                        </p:tgtEl>
                                      </p:cBhvr>
                                    </p:animEffect>
                                  </p:childTnLst>
                                </p:cTn>
                              </p:par>
                              <p:par>
                                <p:cTn id="11" presetID="10"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20"/>
                                        <p:tgtEl>
                                          <p:spTgt spid="13"/>
                                        </p:tgtEl>
                                      </p:cBhvr>
                                    </p:animEffect>
                                  </p:childTnLst>
                                </p:cTn>
                              </p:par>
                              <p:par>
                                <p:cTn id="14" presetID="10" presetClass="entr" presetSubtype="0" fill="hold"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420"/>
                                        <p:tgtEl>
                                          <p:spTgt spid="14"/>
                                        </p:tgtEl>
                                      </p:cBhvr>
                                    </p:animEffect>
                                  </p:childTnLst>
                                </p:cTn>
                              </p:par>
                              <p:par>
                                <p:cTn id="17" presetID="10" presetClass="entr" presetSubtype="0" fill="hold" nodeType="with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fade">
                                      <p:cBhvr>
                                        <p:cTn id="19" dur="420"/>
                                        <p:tgtEl>
                                          <p:spTgt spid="18"/>
                                        </p:tgtEl>
                                      </p:cBhvr>
                                    </p:animEffect>
                                  </p:childTnLst>
                                </p:cTn>
                              </p:par>
                              <p:par>
                                <p:cTn id="20" presetID="10" presetClass="entr" presetSubtype="0" fill="hold" nodeType="with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420"/>
                                        <p:tgtEl>
                                          <p:spTgt spid="19"/>
                                        </p:tgtEl>
                                      </p:cBhvr>
                                    </p:animEffect>
                                  </p:childTnLst>
                                </p:cTn>
                              </p:par>
                              <p:par>
                                <p:cTn id="23" presetID="10" presetClass="entr" presetSubtype="0" fill="hold" nodeType="withEffect">
                                  <p:stCondLst>
                                    <p:cond delay="0"/>
                                  </p:stCondLst>
                                  <p:childTnLst>
                                    <p:set>
                                      <p:cBhvr>
                                        <p:cTn id="24" dur="1" fill="hold">
                                          <p:stCondLst>
                                            <p:cond delay="0"/>
                                          </p:stCondLst>
                                        </p:cTn>
                                        <p:tgtEl>
                                          <p:spTgt spid="23"/>
                                        </p:tgtEl>
                                        <p:attrNameLst>
                                          <p:attrName>style.visibility</p:attrName>
                                        </p:attrNameLst>
                                      </p:cBhvr>
                                      <p:to>
                                        <p:strVal val="visible"/>
                                      </p:to>
                                    </p:set>
                                    <p:animEffect transition="in" filter="fade">
                                      <p:cBhvr>
                                        <p:cTn id="25" dur="420"/>
                                        <p:tgtEl>
                                          <p:spTgt spid="23"/>
                                        </p:tgtEl>
                                      </p:cBhvr>
                                    </p:animEffect>
                                  </p:childTnLst>
                                </p:cTn>
                              </p:par>
                              <p:par>
                                <p:cTn id="26" presetID="10" presetClass="entr" presetSubtype="0" fill="hold" nodeType="withEffect">
                                  <p:stCondLst>
                                    <p:cond delay="0"/>
                                  </p:stCondLst>
                                  <p:childTnLst>
                                    <p:set>
                                      <p:cBhvr>
                                        <p:cTn id="27" dur="1" fill="hold">
                                          <p:stCondLst>
                                            <p:cond delay="0"/>
                                          </p:stCondLst>
                                        </p:cTn>
                                        <p:tgtEl>
                                          <p:spTgt spid="24"/>
                                        </p:tgtEl>
                                        <p:attrNameLst>
                                          <p:attrName>style.visibility</p:attrName>
                                        </p:attrNameLst>
                                      </p:cBhvr>
                                      <p:to>
                                        <p:strVal val="visible"/>
                                      </p:to>
                                    </p:set>
                                    <p:animEffect transition="in" filter="fade">
                                      <p:cBhvr>
                                        <p:cTn id="28" dur="420"/>
                                        <p:tgtEl>
                                          <p:spTgt spid="24"/>
                                        </p:tgtEl>
                                      </p:cBhvr>
                                    </p:animEffect>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25"/>
                                        </p:tgtEl>
                                        <p:attrNameLst>
                                          <p:attrName>style.visibility</p:attrName>
                                        </p:attrNameLst>
                                      </p:cBhvr>
                                      <p:to>
                                        <p:strVal val="visible"/>
                                      </p:to>
                                    </p:set>
                                    <p:anim calcmode="lin" valueType="num">
                                      <p:cBhvr additive="base">
                                        <p:cTn id="33" dur="420" decel="60000" fill="hold"/>
                                        <p:tgtEl>
                                          <p:spTgt spid="25"/>
                                        </p:tgtEl>
                                        <p:attrNameLst>
                                          <p:attrName>ppt_y</p:attrName>
                                        </p:attrNameLst>
                                      </p:cBhvr>
                                      <p:tavLst>
                                        <p:tav tm="0">
                                          <p:val>
                                            <p:strVal val="#ppt_y+.014"/>
                                          </p:val>
                                        </p:tav>
                                        <p:tav tm="100000">
                                          <p:val>
                                            <p:strVal val="#ppt_y"/>
                                          </p:val>
                                        </p:tav>
                                      </p:tavLst>
                                    </p:anim>
                                    <p:animEffect transition="in" filter="fade">
                                      <p:cBhvr>
                                        <p:cTn id="34" dur="420"/>
                                        <p:tgtEl>
                                          <p:spTgt spid="25"/>
                                        </p:tgtEl>
                                      </p:cBhvr>
                                    </p:animEffect>
                                  </p:childTnLst>
                                </p:cTn>
                              </p:par>
                              <p:par>
                                <p:cTn id="35" presetID="42" presetClass="entr" presetSubtype="0" fill="hold" nodeType="withEffect">
                                  <p:stCondLst>
                                    <p:cond delay="0"/>
                                  </p:stCondLst>
                                  <p:childTnLst>
                                    <p:set>
                                      <p:cBhvr>
                                        <p:cTn id="36" dur="1" fill="hold">
                                          <p:stCondLst>
                                            <p:cond delay="0"/>
                                          </p:stCondLst>
                                        </p:cTn>
                                        <p:tgtEl>
                                          <p:spTgt spid="26"/>
                                        </p:tgtEl>
                                        <p:attrNameLst>
                                          <p:attrName>style.visibility</p:attrName>
                                        </p:attrNameLst>
                                      </p:cBhvr>
                                      <p:to>
                                        <p:strVal val="visible"/>
                                      </p:to>
                                    </p:set>
                                    <p:anim calcmode="lin" valueType="num">
                                      <p:cBhvr additive="base">
                                        <p:cTn id="37" dur="420" decel="60000" fill="hold"/>
                                        <p:tgtEl>
                                          <p:spTgt spid="26"/>
                                        </p:tgtEl>
                                        <p:attrNameLst>
                                          <p:attrName>ppt_y</p:attrName>
                                        </p:attrNameLst>
                                      </p:cBhvr>
                                      <p:tavLst>
                                        <p:tav tm="0">
                                          <p:val>
                                            <p:strVal val="#ppt_y+.014"/>
                                          </p:val>
                                        </p:tav>
                                        <p:tav tm="100000">
                                          <p:val>
                                            <p:strVal val="#ppt_y"/>
                                          </p:val>
                                        </p:tav>
                                      </p:tavLst>
                                    </p:anim>
                                    <p:animEffect transition="in" filter="fade">
                                      <p:cBhvr>
                                        <p:cTn id="38" dur="42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7090D"/>
        </a:solidFill>
        <a:effectLst/>
      </p:bgPr>
    </p:bg>
    <p:spTree>
      <p:nvGrpSpPr>
        <p:cNvPr id="1" name=""/>
        <p:cNvGrpSpPr/>
        <p:nvPr/>
      </p:nvGrpSpPr>
      <p:grpSpPr>
        <a:xfrm>
          <a:off x="0" y="0"/>
          <a:ext cx="0" cy="0"/>
          <a:chOff x="0" y="0"/>
          <a:chExt cx="0" cy="0"/>
        </a:xfrm>
      </p:grpSpPr>
      <p:sp>
        <p:nvSpPr>
          <p:cNvPr id="2" name="Text 0"/>
          <p:cNvSpPr/>
          <p:nvPr/>
        </p:nvSpPr>
        <p:spPr>
          <a:xfrm>
            <a:off x="566928" y="274320"/>
            <a:ext cx="10607040" cy="274320"/>
          </a:xfrm>
          <a:prstGeom prst="rect">
            <a:avLst/>
          </a:prstGeom>
          <a:noFill/>
          <a:ln/>
        </p:spPr>
        <p:txBody>
          <a:bodyPr wrap="square" rtlCol="0" anchor="t"/>
          <a:lstStyle/>
          <a:p>
            <a:pPr marL="0" indent="0">
              <a:lnSpc>
                <a:spcPct val="105000"/>
              </a:lnSpc>
              <a:buNone/>
            </a:pPr>
            <a:r>
              <a:rPr lang="en-US" sz="1200" b="1" kern="0" spc="260" dirty="0">
                <a:solidFill>
                  <a:srgbClr val="75EDBB"/>
                </a:solidFill>
                <a:latin typeface="Helvetica Neue" pitchFamily="34" charset="0"/>
                <a:ea typeface="Helvetica Neue" pitchFamily="34" charset="-122"/>
                <a:cs typeface="Helvetica Neue" pitchFamily="34" charset="-120"/>
              </a:rPr>
              <a:t>LIVE DEMO</a:t>
            </a:r>
            <a:endParaRPr lang="en-US" sz="1200" dirty="0"/>
          </a:p>
        </p:txBody>
      </p:sp>
      <p:sp>
        <p:nvSpPr>
          <p:cNvPr id="3" name="Text 1"/>
          <p:cNvSpPr/>
          <p:nvPr/>
        </p:nvSpPr>
        <p:spPr>
          <a:xfrm>
            <a:off x="566928" y="585216"/>
            <a:ext cx="10789920" cy="731520"/>
          </a:xfrm>
          <a:prstGeom prst="rect">
            <a:avLst/>
          </a:prstGeom>
          <a:noFill/>
          <a:ln/>
        </p:spPr>
        <p:txBody>
          <a:bodyPr wrap="square" rtlCol="0" anchor="ctr"/>
          <a:lstStyle/>
          <a:p>
            <a:pPr marL="0" indent="0">
              <a:lnSpc>
                <a:spcPct val="95000"/>
              </a:lnSpc>
              <a:buNone/>
            </a:pPr>
            <a:r>
              <a:rPr lang="en-US" sz="3800" dirty="0">
                <a:solidFill>
                  <a:srgbClr val="F3F6FA"/>
                </a:solidFill>
                <a:latin typeface="Avenir Next" pitchFamily="34" charset="0"/>
                <a:ea typeface="Avenir Next" pitchFamily="34" charset="-122"/>
                <a:cs typeface="Avenir Next" pitchFamily="34" charset="-120"/>
              </a:rPr>
              <a:t>Add an overdue-invoices filter</a:t>
            </a:r>
            <a:endParaRPr lang="en-US" sz="3800" dirty="0"/>
          </a:p>
        </p:txBody>
      </p:sp>
      <p:sp>
        <p:nvSpPr>
          <p:cNvPr id="4" name="Shape 2"/>
          <p:cNvSpPr/>
          <p:nvPr/>
        </p:nvSpPr>
        <p:spPr>
          <a:xfrm>
            <a:off x="566928" y="1389888"/>
            <a:ext cx="11064240" cy="548640"/>
          </a:xfrm>
          <a:prstGeom prst="roundRect">
            <a:avLst>
              <a:gd name="adj" fmla="val 21667"/>
            </a:avLst>
          </a:prstGeom>
          <a:solidFill>
            <a:srgbClr val="1E3A33"/>
          </a:solidFill>
          <a:ln w="12700">
            <a:solidFill>
              <a:srgbClr val="75EDBB"/>
            </a:solidFill>
            <a:prstDash val="solid"/>
          </a:ln>
        </p:spPr>
        <p:txBody>
          <a:bodyPr/>
          <a:lstStyle/>
          <a:p>
            <a:endParaRPr lang="en-US"/>
          </a:p>
        </p:txBody>
      </p:sp>
      <p:sp>
        <p:nvSpPr>
          <p:cNvPr id="5" name="Text 3"/>
          <p:cNvSpPr/>
          <p:nvPr/>
        </p:nvSpPr>
        <p:spPr>
          <a:xfrm>
            <a:off x="841248" y="1389888"/>
            <a:ext cx="10515600" cy="548640"/>
          </a:xfrm>
          <a:prstGeom prst="rect">
            <a:avLst/>
          </a:prstGeom>
          <a:noFill/>
          <a:ln/>
        </p:spPr>
        <p:txBody>
          <a:bodyPr wrap="square" rtlCol="0" anchor="ctr"/>
          <a:lstStyle/>
          <a:p>
            <a:pPr marL="0" indent="0">
              <a:lnSpc>
                <a:spcPct val="105000"/>
              </a:lnSpc>
              <a:buNone/>
            </a:pPr>
            <a:r>
              <a:rPr lang="en-US" sz="1700" b="1" dirty="0">
                <a:solidFill>
                  <a:srgbClr val="75EDBB"/>
                </a:solidFill>
                <a:latin typeface="Helvetica Neue" pitchFamily="34" charset="0"/>
                <a:ea typeface="Helvetica Neue" pitchFamily="34" charset="-122"/>
                <a:cs typeface="Helvetica Neue" pitchFamily="34" charset="-120"/>
              </a:rPr>
              <a:t>Held constant: Copilot harness, GPT-5.6 Terra, same baseline commit, same acceptance suite</a:t>
            </a:r>
            <a:endParaRPr lang="en-US" sz="1700" dirty="0"/>
          </a:p>
        </p:txBody>
      </p:sp>
      <p:sp>
        <p:nvSpPr>
          <p:cNvPr id="6" name="Shape 4"/>
          <p:cNvSpPr/>
          <p:nvPr/>
        </p:nvSpPr>
        <p:spPr>
          <a:xfrm>
            <a:off x="566928" y="2103120"/>
            <a:ext cx="4937760" cy="2606040"/>
          </a:xfrm>
          <a:prstGeom prst="roundRect">
            <a:avLst>
              <a:gd name="adj" fmla="val 4912"/>
            </a:avLst>
          </a:prstGeom>
          <a:solidFill>
            <a:srgbClr val="0A0D13"/>
          </a:solidFill>
          <a:ln w="12700">
            <a:solidFill>
              <a:srgbClr val="232C3A"/>
            </a:solidFill>
            <a:prstDash val="solid"/>
          </a:ln>
        </p:spPr>
        <p:txBody>
          <a:bodyPr/>
          <a:lstStyle/>
          <a:p>
            <a:endParaRPr lang="en-US"/>
          </a:p>
        </p:txBody>
      </p:sp>
      <p:sp>
        <p:nvSpPr>
          <p:cNvPr id="7" name="Shape 5"/>
          <p:cNvSpPr/>
          <p:nvPr/>
        </p:nvSpPr>
        <p:spPr>
          <a:xfrm>
            <a:off x="566928" y="2103120"/>
            <a:ext cx="4937760" cy="384048"/>
          </a:xfrm>
          <a:prstGeom prst="roundRect">
            <a:avLst>
              <a:gd name="adj" fmla="val 33333"/>
            </a:avLst>
          </a:prstGeom>
          <a:solidFill>
            <a:srgbClr val="141A24"/>
          </a:solidFill>
          <a:ln w="12700">
            <a:solidFill>
              <a:srgbClr val="1A212C"/>
            </a:solidFill>
            <a:prstDash val="solid"/>
          </a:ln>
        </p:spPr>
        <p:txBody>
          <a:bodyPr/>
          <a:lstStyle/>
          <a:p>
            <a:endParaRPr lang="en-US"/>
          </a:p>
        </p:txBody>
      </p:sp>
      <p:sp>
        <p:nvSpPr>
          <p:cNvPr id="8" name="Text 6"/>
          <p:cNvSpPr/>
          <p:nvPr/>
        </p:nvSpPr>
        <p:spPr>
          <a:xfrm>
            <a:off x="777240" y="2103120"/>
            <a:ext cx="2743200" cy="384048"/>
          </a:xfrm>
          <a:prstGeom prst="rect">
            <a:avLst/>
          </a:prstGeom>
          <a:noFill/>
          <a:ln/>
        </p:spPr>
        <p:txBody>
          <a:bodyPr wrap="square" rtlCol="0" anchor="ctr"/>
          <a:lstStyle/>
          <a:p>
            <a:pPr marL="0" indent="0">
              <a:lnSpc>
                <a:spcPct val="105000"/>
              </a:lnSpc>
              <a:buNone/>
            </a:pPr>
            <a:r>
              <a:rPr lang="en-US" sz="1300" dirty="0">
                <a:solidFill>
                  <a:srgbClr val="B2BDCD"/>
                </a:solidFill>
                <a:latin typeface="Helvetica Neue" pitchFamily="34" charset="0"/>
                <a:ea typeface="Helvetica Neue" pitchFamily="34" charset="-122"/>
                <a:cs typeface="Helvetica Neue" pitchFamily="34" charset="-120"/>
              </a:rPr>
              <a:t>Invoices · admin</a:t>
            </a:r>
            <a:endParaRPr lang="en-US" sz="1300" dirty="0"/>
          </a:p>
        </p:txBody>
      </p:sp>
      <p:sp>
        <p:nvSpPr>
          <p:cNvPr id="9" name="Shape 7"/>
          <p:cNvSpPr/>
          <p:nvPr/>
        </p:nvSpPr>
        <p:spPr>
          <a:xfrm>
            <a:off x="777240" y="2615184"/>
            <a:ext cx="1051560" cy="347472"/>
          </a:xfrm>
          <a:prstGeom prst="roundRect">
            <a:avLst>
              <a:gd name="adj" fmla="val 50000"/>
            </a:avLst>
          </a:prstGeom>
          <a:solidFill>
            <a:srgbClr val="0E1219"/>
          </a:solidFill>
          <a:ln w="12700">
            <a:solidFill>
              <a:srgbClr val="232C3A"/>
            </a:solidFill>
            <a:prstDash val="solid"/>
          </a:ln>
        </p:spPr>
        <p:txBody>
          <a:bodyPr/>
          <a:lstStyle/>
          <a:p>
            <a:endParaRPr lang="en-US"/>
          </a:p>
        </p:txBody>
      </p:sp>
      <p:sp>
        <p:nvSpPr>
          <p:cNvPr id="10" name="Text 8"/>
          <p:cNvSpPr/>
          <p:nvPr/>
        </p:nvSpPr>
        <p:spPr>
          <a:xfrm>
            <a:off x="923544" y="2615184"/>
            <a:ext cx="758952" cy="347472"/>
          </a:xfrm>
          <a:prstGeom prst="rect">
            <a:avLst/>
          </a:prstGeom>
          <a:noFill/>
          <a:ln/>
        </p:spPr>
        <p:txBody>
          <a:bodyPr wrap="square" rtlCol="0" anchor="ctr"/>
          <a:lstStyle/>
          <a:p>
            <a:pPr marL="0" indent="0" algn="ctr">
              <a:lnSpc>
                <a:spcPct val="105000"/>
              </a:lnSpc>
              <a:buNone/>
            </a:pPr>
            <a:r>
              <a:rPr lang="en-US" sz="1200" dirty="0">
                <a:solidFill>
                  <a:srgbClr val="6F7B8D"/>
                </a:solidFill>
                <a:latin typeface="Helvetica Neue" pitchFamily="34" charset="0"/>
                <a:ea typeface="Helvetica Neue" pitchFamily="34" charset="-122"/>
                <a:cs typeface="Helvetica Neue" pitchFamily="34" charset="-120"/>
              </a:rPr>
              <a:t>Status</a:t>
            </a:r>
            <a:endParaRPr lang="en-US" sz="1200" dirty="0"/>
          </a:p>
        </p:txBody>
      </p:sp>
      <p:sp>
        <p:nvSpPr>
          <p:cNvPr id="11" name="Shape 9"/>
          <p:cNvSpPr/>
          <p:nvPr/>
        </p:nvSpPr>
        <p:spPr>
          <a:xfrm>
            <a:off x="1920240" y="2615184"/>
            <a:ext cx="1234440" cy="347472"/>
          </a:xfrm>
          <a:prstGeom prst="roundRect">
            <a:avLst>
              <a:gd name="adj" fmla="val 50000"/>
            </a:avLst>
          </a:prstGeom>
          <a:solidFill>
            <a:srgbClr val="0E1219"/>
          </a:solidFill>
          <a:ln w="12700">
            <a:solidFill>
              <a:srgbClr val="232C3A"/>
            </a:solidFill>
            <a:prstDash val="solid"/>
          </a:ln>
        </p:spPr>
        <p:txBody>
          <a:bodyPr/>
          <a:lstStyle/>
          <a:p>
            <a:endParaRPr lang="en-US"/>
          </a:p>
        </p:txBody>
      </p:sp>
      <p:sp>
        <p:nvSpPr>
          <p:cNvPr id="12" name="Text 10"/>
          <p:cNvSpPr/>
          <p:nvPr/>
        </p:nvSpPr>
        <p:spPr>
          <a:xfrm>
            <a:off x="2066544" y="2615184"/>
            <a:ext cx="941832" cy="347472"/>
          </a:xfrm>
          <a:prstGeom prst="rect">
            <a:avLst/>
          </a:prstGeom>
          <a:noFill/>
          <a:ln/>
        </p:spPr>
        <p:txBody>
          <a:bodyPr wrap="square" rtlCol="0" anchor="ctr"/>
          <a:lstStyle/>
          <a:p>
            <a:pPr marL="0" indent="0" algn="ctr">
              <a:lnSpc>
                <a:spcPct val="105000"/>
              </a:lnSpc>
              <a:buNone/>
            </a:pPr>
            <a:r>
              <a:rPr lang="en-US" sz="1200" dirty="0">
                <a:solidFill>
                  <a:srgbClr val="6F7B8D"/>
                </a:solidFill>
                <a:latin typeface="Helvetica Neue" pitchFamily="34" charset="0"/>
                <a:ea typeface="Helvetica Neue" pitchFamily="34" charset="-122"/>
                <a:cs typeface="Helvetica Neue" pitchFamily="34" charset="-120"/>
              </a:rPr>
              <a:t>Customer</a:t>
            </a:r>
            <a:endParaRPr lang="en-US" sz="1200" dirty="0"/>
          </a:p>
        </p:txBody>
      </p:sp>
      <p:sp>
        <p:nvSpPr>
          <p:cNvPr id="13" name="Shape 11"/>
          <p:cNvSpPr/>
          <p:nvPr/>
        </p:nvSpPr>
        <p:spPr>
          <a:xfrm>
            <a:off x="3246120" y="2615184"/>
            <a:ext cx="1600200" cy="347472"/>
          </a:xfrm>
          <a:prstGeom prst="roundRect">
            <a:avLst>
              <a:gd name="adj" fmla="val 50000"/>
            </a:avLst>
          </a:prstGeom>
          <a:solidFill>
            <a:srgbClr val="1E3A33"/>
          </a:solidFill>
          <a:ln w="12700">
            <a:solidFill>
              <a:srgbClr val="75EDBB"/>
            </a:solidFill>
            <a:prstDash val="solid"/>
          </a:ln>
        </p:spPr>
        <p:txBody>
          <a:bodyPr/>
          <a:lstStyle/>
          <a:p>
            <a:endParaRPr lang="en-US"/>
          </a:p>
        </p:txBody>
      </p:sp>
      <p:sp>
        <p:nvSpPr>
          <p:cNvPr id="14" name="Text 12"/>
          <p:cNvSpPr/>
          <p:nvPr/>
        </p:nvSpPr>
        <p:spPr>
          <a:xfrm>
            <a:off x="3392424" y="2615184"/>
            <a:ext cx="1307592" cy="347472"/>
          </a:xfrm>
          <a:prstGeom prst="rect">
            <a:avLst/>
          </a:prstGeom>
          <a:noFill/>
          <a:ln/>
        </p:spPr>
        <p:txBody>
          <a:bodyPr wrap="square" rtlCol="0" anchor="ctr"/>
          <a:lstStyle/>
          <a:p>
            <a:pPr marL="0" indent="0" algn="ctr">
              <a:lnSpc>
                <a:spcPct val="105000"/>
              </a:lnSpc>
              <a:buNone/>
            </a:pPr>
            <a:r>
              <a:rPr lang="en-US" sz="1200" dirty="0">
                <a:solidFill>
                  <a:srgbClr val="75EDBB"/>
                </a:solidFill>
                <a:latin typeface="Helvetica Neue" pitchFamily="34" charset="0"/>
                <a:ea typeface="Helvetica Neue" pitchFamily="34" charset="-122"/>
                <a:cs typeface="Helvetica Neue" pitchFamily="34" charset="-120"/>
              </a:rPr>
              <a:t>Overdue only</a:t>
            </a:r>
            <a:endParaRPr lang="en-US" sz="1200" dirty="0"/>
          </a:p>
        </p:txBody>
      </p:sp>
      <p:sp>
        <p:nvSpPr>
          <p:cNvPr id="15" name="Shape 13"/>
          <p:cNvSpPr/>
          <p:nvPr/>
        </p:nvSpPr>
        <p:spPr>
          <a:xfrm>
            <a:off x="777240" y="3419856"/>
            <a:ext cx="4526280" cy="0"/>
          </a:xfrm>
          <a:prstGeom prst="line">
            <a:avLst/>
          </a:prstGeom>
          <a:noFill/>
          <a:ln w="12700">
            <a:solidFill>
              <a:srgbClr val="1A212C"/>
            </a:solidFill>
            <a:prstDash val="solid"/>
          </a:ln>
        </p:spPr>
        <p:txBody>
          <a:bodyPr/>
          <a:lstStyle/>
          <a:p>
            <a:endParaRPr lang="en-US"/>
          </a:p>
        </p:txBody>
      </p:sp>
      <p:sp>
        <p:nvSpPr>
          <p:cNvPr id="16" name="Text 14"/>
          <p:cNvSpPr/>
          <p:nvPr/>
        </p:nvSpPr>
        <p:spPr>
          <a:xfrm>
            <a:off x="777240" y="3127248"/>
            <a:ext cx="1371600" cy="274320"/>
          </a:xfrm>
          <a:prstGeom prst="rect">
            <a:avLst/>
          </a:prstGeom>
          <a:noFill/>
          <a:ln/>
        </p:spPr>
        <p:txBody>
          <a:bodyPr wrap="square" rtlCol="0" anchor="t"/>
          <a:lstStyle/>
          <a:p>
            <a:pPr marL="0" indent="0" algn="l">
              <a:lnSpc>
                <a:spcPct val="105000"/>
              </a:lnSpc>
              <a:buNone/>
            </a:pPr>
            <a:r>
              <a:rPr lang="en-US" sz="1200" b="1" dirty="0">
                <a:solidFill>
                  <a:srgbClr val="6F7B8D"/>
                </a:solidFill>
                <a:latin typeface="Helvetica Neue" pitchFamily="34" charset="0"/>
                <a:ea typeface="Helvetica Neue" pitchFamily="34" charset="-122"/>
                <a:cs typeface="Helvetica Neue" pitchFamily="34" charset="-120"/>
              </a:rPr>
              <a:t>Invoice</a:t>
            </a:r>
            <a:endParaRPr lang="en-US" sz="1200" dirty="0"/>
          </a:p>
        </p:txBody>
      </p:sp>
      <p:sp>
        <p:nvSpPr>
          <p:cNvPr id="17" name="Text 15"/>
          <p:cNvSpPr/>
          <p:nvPr/>
        </p:nvSpPr>
        <p:spPr>
          <a:xfrm>
            <a:off x="2194560" y="3127248"/>
            <a:ext cx="1143000" cy="274320"/>
          </a:xfrm>
          <a:prstGeom prst="rect">
            <a:avLst/>
          </a:prstGeom>
          <a:noFill/>
          <a:ln/>
        </p:spPr>
        <p:txBody>
          <a:bodyPr wrap="square" rtlCol="0" anchor="t"/>
          <a:lstStyle/>
          <a:p>
            <a:pPr marL="0" indent="0" algn="l">
              <a:lnSpc>
                <a:spcPct val="105000"/>
              </a:lnSpc>
              <a:buNone/>
            </a:pPr>
            <a:r>
              <a:rPr lang="en-US" sz="1200" b="1" dirty="0">
                <a:solidFill>
                  <a:srgbClr val="6F7B8D"/>
                </a:solidFill>
                <a:latin typeface="Helvetica Neue" pitchFamily="34" charset="0"/>
                <a:ea typeface="Helvetica Neue" pitchFamily="34" charset="-122"/>
                <a:cs typeface="Helvetica Neue" pitchFamily="34" charset="-120"/>
              </a:rPr>
              <a:t>Due</a:t>
            </a:r>
            <a:endParaRPr lang="en-US" sz="1200" dirty="0"/>
          </a:p>
        </p:txBody>
      </p:sp>
      <p:sp>
        <p:nvSpPr>
          <p:cNvPr id="18" name="Text 16"/>
          <p:cNvSpPr/>
          <p:nvPr/>
        </p:nvSpPr>
        <p:spPr>
          <a:xfrm>
            <a:off x="3383280" y="3127248"/>
            <a:ext cx="960120" cy="274320"/>
          </a:xfrm>
          <a:prstGeom prst="rect">
            <a:avLst/>
          </a:prstGeom>
          <a:noFill/>
          <a:ln/>
        </p:spPr>
        <p:txBody>
          <a:bodyPr wrap="square" rtlCol="0" anchor="t"/>
          <a:lstStyle/>
          <a:p>
            <a:pPr marL="0" indent="0" algn="r">
              <a:lnSpc>
                <a:spcPct val="105000"/>
              </a:lnSpc>
              <a:buNone/>
            </a:pPr>
            <a:r>
              <a:rPr lang="en-US" sz="1200" b="1" dirty="0">
                <a:solidFill>
                  <a:srgbClr val="6F7B8D"/>
                </a:solidFill>
                <a:latin typeface="Helvetica Neue" pitchFamily="34" charset="0"/>
                <a:ea typeface="Helvetica Neue" pitchFamily="34" charset="-122"/>
                <a:cs typeface="Helvetica Neue" pitchFamily="34" charset="-120"/>
              </a:rPr>
              <a:t>Amount</a:t>
            </a:r>
            <a:endParaRPr lang="en-US" sz="1200" dirty="0"/>
          </a:p>
        </p:txBody>
      </p:sp>
      <p:sp>
        <p:nvSpPr>
          <p:cNvPr id="19" name="Text 17"/>
          <p:cNvSpPr/>
          <p:nvPr/>
        </p:nvSpPr>
        <p:spPr>
          <a:xfrm>
            <a:off x="4434840" y="3127248"/>
            <a:ext cx="914400" cy="274320"/>
          </a:xfrm>
          <a:prstGeom prst="rect">
            <a:avLst/>
          </a:prstGeom>
          <a:noFill/>
          <a:ln/>
        </p:spPr>
        <p:txBody>
          <a:bodyPr wrap="square" rtlCol="0" anchor="t"/>
          <a:lstStyle/>
          <a:p>
            <a:pPr marL="0" indent="0" algn="l">
              <a:lnSpc>
                <a:spcPct val="105000"/>
              </a:lnSpc>
              <a:buNone/>
            </a:pPr>
            <a:r>
              <a:rPr lang="en-US" sz="1200" b="1" dirty="0">
                <a:solidFill>
                  <a:srgbClr val="6F7B8D"/>
                </a:solidFill>
                <a:latin typeface="Helvetica Neue" pitchFamily="34" charset="0"/>
                <a:ea typeface="Helvetica Neue" pitchFamily="34" charset="-122"/>
                <a:cs typeface="Helvetica Neue" pitchFamily="34" charset="-120"/>
              </a:rPr>
              <a:t>Status</a:t>
            </a:r>
            <a:endParaRPr lang="en-US" sz="1200" dirty="0"/>
          </a:p>
        </p:txBody>
      </p:sp>
      <p:sp>
        <p:nvSpPr>
          <p:cNvPr id="20" name="Text 18"/>
          <p:cNvSpPr/>
          <p:nvPr/>
        </p:nvSpPr>
        <p:spPr>
          <a:xfrm>
            <a:off x="777240" y="3456432"/>
            <a:ext cx="1371600" cy="274320"/>
          </a:xfrm>
          <a:prstGeom prst="rect">
            <a:avLst/>
          </a:prstGeom>
          <a:noFill/>
          <a:ln/>
        </p:spPr>
        <p:txBody>
          <a:bodyPr wrap="square" rtlCol="0" anchor="t"/>
          <a:lstStyle/>
          <a:p>
            <a:pPr marL="0" indent="0" algn="l">
              <a:lnSpc>
                <a:spcPct val="105000"/>
              </a:lnSpc>
              <a:buNone/>
            </a:pPr>
            <a:r>
              <a:rPr lang="en-US" sz="1200" dirty="0">
                <a:solidFill>
                  <a:srgbClr val="B2BDCD"/>
                </a:solidFill>
                <a:latin typeface="Menlo" pitchFamily="34" charset="0"/>
                <a:ea typeface="Menlo" pitchFamily="34" charset="-122"/>
                <a:cs typeface="Menlo" pitchFamily="34" charset="-120"/>
              </a:rPr>
              <a:t>INV-2043</a:t>
            </a:r>
            <a:endParaRPr lang="en-US" sz="1200" dirty="0"/>
          </a:p>
        </p:txBody>
      </p:sp>
      <p:sp>
        <p:nvSpPr>
          <p:cNvPr id="21" name="Text 19"/>
          <p:cNvSpPr/>
          <p:nvPr/>
        </p:nvSpPr>
        <p:spPr>
          <a:xfrm>
            <a:off x="2194560" y="3456432"/>
            <a:ext cx="1143000" cy="274320"/>
          </a:xfrm>
          <a:prstGeom prst="rect">
            <a:avLst/>
          </a:prstGeom>
          <a:noFill/>
          <a:ln/>
        </p:spPr>
        <p:txBody>
          <a:bodyPr wrap="square" rtlCol="0" anchor="t"/>
          <a:lstStyle/>
          <a:p>
            <a:pPr marL="0" indent="0" algn="l">
              <a:lnSpc>
                <a:spcPct val="105000"/>
              </a:lnSpc>
              <a:buNone/>
            </a:pPr>
            <a:r>
              <a:rPr lang="en-US" sz="1200" dirty="0">
                <a:solidFill>
                  <a:srgbClr val="B2BDCD"/>
                </a:solidFill>
                <a:latin typeface="Menlo" pitchFamily="34" charset="0"/>
                <a:ea typeface="Menlo" pitchFamily="34" charset="-122"/>
                <a:cs typeface="Menlo" pitchFamily="34" charset="-120"/>
              </a:rPr>
              <a:t>2026-08-14</a:t>
            </a:r>
            <a:endParaRPr lang="en-US" sz="1200" dirty="0"/>
          </a:p>
        </p:txBody>
      </p:sp>
      <p:sp>
        <p:nvSpPr>
          <p:cNvPr id="22" name="Text 20"/>
          <p:cNvSpPr/>
          <p:nvPr/>
        </p:nvSpPr>
        <p:spPr>
          <a:xfrm>
            <a:off x="3383280" y="3456432"/>
            <a:ext cx="960120" cy="274320"/>
          </a:xfrm>
          <a:prstGeom prst="rect">
            <a:avLst/>
          </a:prstGeom>
          <a:noFill/>
          <a:ln/>
        </p:spPr>
        <p:txBody>
          <a:bodyPr wrap="square" rtlCol="0" anchor="t"/>
          <a:lstStyle/>
          <a:p>
            <a:pPr marL="0" indent="0" algn="r">
              <a:lnSpc>
                <a:spcPct val="105000"/>
              </a:lnSpc>
              <a:buNone/>
            </a:pPr>
            <a:r>
              <a:rPr lang="en-US" sz="1200" dirty="0">
                <a:solidFill>
                  <a:srgbClr val="B2BDCD"/>
                </a:solidFill>
                <a:latin typeface="Menlo" pitchFamily="34" charset="0"/>
                <a:ea typeface="Menlo" pitchFamily="34" charset="-122"/>
                <a:cs typeface="Menlo" pitchFamily="34" charset="-120"/>
              </a:rPr>
              <a:t>1,240.00</a:t>
            </a:r>
            <a:endParaRPr lang="en-US" sz="1200" dirty="0"/>
          </a:p>
        </p:txBody>
      </p:sp>
      <p:sp>
        <p:nvSpPr>
          <p:cNvPr id="23" name="Text 21"/>
          <p:cNvSpPr/>
          <p:nvPr/>
        </p:nvSpPr>
        <p:spPr>
          <a:xfrm>
            <a:off x="4434840" y="3456432"/>
            <a:ext cx="914400" cy="274320"/>
          </a:xfrm>
          <a:prstGeom prst="rect">
            <a:avLst/>
          </a:prstGeom>
          <a:noFill/>
          <a:ln/>
        </p:spPr>
        <p:txBody>
          <a:bodyPr wrap="square" rtlCol="0" anchor="t"/>
          <a:lstStyle/>
          <a:p>
            <a:pPr marL="0" indent="0" algn="l">
              <a:lnSpc>
                <a:spcPct val="105000"/>
              </a:lnSpc>
              <a:buNone/>
            </a:pPr>
            <a:r>
              <a:rPr lang="en-US" sz="1200" dirty="0">
                <a:solidFill>
                  <a:srgbClr val="B2BDCD"/>
                </a:solidFill>
                <a:latin typeface="Menlo" pitchFamily="34" charset="0"/>
                <a:ea typeface="Menlo" pitchFamily="34" charset="-122"/>
                <a:cs typeface="Menlo" pitchFamily="34" charset="-120"/>
              </a:rPr>
              <a:t>UNPAID</a:t>
            </a:r>
            <a:endParaRPr lang="en-US" sz="1200" dirty="0"/>
          </a:p>
        </p:txBody>
      </p:sp>
      <p:sp>
        <p:nvSpPr>
          <p:cNvPr id="24" name="Text 22"/>
          <p:cNvSpPr/>
          <p:nvPr/>
        </p:nvSpPr>
        <p:spPr>
          <a:xfrm>
            <a:off x="777240" y="3785616"/>
            <a:ext cx="1371600" cy="274320"/>
          </a:xfrm>
          <a:prstGeom prst="rect">
            <a:avLst/>
          </a:prstGeom>
          <a:noFill/>
          <a:ln/>
        </p:spPr>
        <p:txBody>
          <a:bodyPr wrap="square" rtlCol="0" anchor="t"/>
          <a:lstStyle/>
          <a:p>
            <a:pPr marL="0" indent="0" algn="l">
              <a:lnSpc>
                <a:spcPct val="105000"/>
              </a:lnSpc>
              <a:buNone/>
            </a:pPr>
            <a:r>
              <a:rPr lang="en-US" sz="1200" dirty="0">
                <a:solidFill>
                  <a:srgbClr val="B2BDCD"/>
                </a:solidFill>
                <a:latin typeface="Menlo" pitchFamily="34" charset="0"/>
                <a:ea typeface="Menlo" pitchFamily="34" charset="-122"/>
                <a:cs typeface="Menlo" pitchFamily="34" charset="-120"/>
              </a:rPr>
              <a:t>INV-2061</a:t>
            </a:r>
            <a:endParaRPr lang="en-US" sz="1200" dirty="0"/>
          </a:p>
        </p:txBody>
      </p:sp>
      <p:sp>
        <p:nvSpPr>
          <p:cNvPr id="25" name="Text 23"/>
          <p:cNvSpPr/>
          <p:nvPr/>
        </p:nvSpPr>
        <p:spPr>
          <a:xfrm>
            <a:off x="2194560" y="3785616"/>
            <a:ext cx="1143000" cy="274320"/>
          </a:xfrm>
          <a:prstGeom prst="rect">
            <a:avLst/>
          </a:prstGeom>
          <a:noFill/>
          <a:ln/>
        </p:spPr>
        <p:txBody>
          <a:bodyPr wrap="square" rtlCol="0" anchor="t"/>
          <a:lstStyle/>
          <a:p>
            <a:pPr marL="0" indent="0" algn="l">
              <a:lnSpc>
                <a:spcPct val="105000"/>
              </a:lnSpc>
              <a:buNone/>
            </a:pPr>
            <a:r>
              <a:rPr lang="en-US" sz="1200" dirty="0">
                <a:solidFill>
                  <a:srgbClr val="B2BDCD"/>
                </a:solidFill>
                <a:latin typeface="Menlo" pitchFamily="34" charset="0"/>
                <a:ea typeface="Menlo" pitchFamily="34" charset="-122"/>
                <a:cs typeface="Menlo" pitchFamily="34" charset="-120"/>
              </a:rPr>
              <a:t>2026-08-29</a:t>
            </a:r>
            <a:endParaRPr lang="en-US" sz="1200" dirty="0"/>
          </a:p>
        </p:txBody>
      </p:sp>
      <p:sp>
        <p:nvSpPr>
          <p:cNvPr id="26" name="Text 24"/>
          <p:cNvSpPr/>
          <p:nvPr/>
        </p:nvSpPr>
        <p:spPr>
          <a:xfrm>
            <a:off x="3383280" y="3785616"/>
            <a:ext cx="960120" cy="274320"/>
          </a:xfrm>
          <a:prstGeom prst="rect">
            <a:avLst/>
          </a:prstGeom>
          <a:noFill/>
          <a:ln/>
        </p:spPr>
        <p:txBody>
          <a:bodyPr wrap="square" rtlCol="0" anchor="t"/>
          <a:lstStyle/>
          <a:p>
            <a:pPr marL="0" indent="0" algn="r">
              <a:lnSpc>
                <a:spcPct val="105000"/>
              </a:lnSpc>
              <a:buNone/>
            </a:pPr>
            <a:r>
              <a:rPr lang="en-US" sz="1200" dirty="0">
                <a:solidFill>
                  <a:srgbClr val="B2BDCD"/>
                </a:solidFill>
                <a:latin typeface="Menlo" pitchFamily="34" charset="0"/>
                <a:ea typeface="Menlo" pitchFamily="34" charset="-122"/>
                <a:cs typeface="Menlo" pitchFamily="34" charset="-120"/>
              </a:rPr>
              <a:t>318.50</a:t>
            </a:r>
            <a:endParaRPr lang="en-US" sz="1200" dirty="0"/>
          </a:p>
        </p:txBody>
      </p:sp>
      <p:sp>
        <p:nvSpPr>
          <p:cNvPr id="27" name="Text 25"/>
          <p:cNvSpPr/>
          <p:nvPr/>
        </p:nvSpPr>
        <p:spPr>
          <a:xfrm>
            <a:off x="4434840" y="3785616"/>
            <a:ext cx="914400" cy="274320"/>
          </a:xfrm>
          <a:prstGeom prst="rect">
            <a:avLst/>
          </a:prstGeom>
          <a:noFill/>
          <a:ln/>
        </p:spPr>
        <p:txBody>
          <a:bodyPr wrap="square" rtlCol="0" anchor="t"/>
          <a:lstStyle/>
          <a:p>
            <a:pPr marL="0" indent="0" algn="l">
              <a:lnSpc>
                <a:spcPct val="105000"/>
              </a:lnSpc>
              <a:buNone/>
            </a:pPr>
            <a:r>
              <a:rPr lang="en-US" sz="1200" dirty="0">
                <a:solidFill>
                  <a:srgbClr val="B2BDCD"/>
                </a:solidFill>
                <a:latin typeface="Menlo" pitchFamily="34" charset="0"/>
                <a:ea typeface="Menlo" pitchFamily="34" charset="-122"/>
                <a:cs typeface="Menlo" pitchFamily="34" charset="-120"/>
              </a:rPr>
              <a:t>UNPAID</a:t>
            </a:r>
            <a:endParaRPr lang="en-US" sz="1200" dirty="0"/>
          </a:p>
        </p:txBody>
      </p:sp>
      <p:sp>
        <p:nvSpPr>
          <p:cNvPr id="28" name="Text 26"/>
          <p:cNvSpPr/>
          <p:nvPr/>
        </p:nvSpPr>
        <p:spPr>
          <a:xfrm>
            <a:off x="777240" y="4315968"/>
            <a:ext cx="4526280" cy="274320"/>
          </a:xfrm>
          <a:prstGeom prst="rect">
            <a:avLst/>
          </a:prstGeom>
          <a:noFill/>
          <a:ln/>
        </p:spPr>
        <p:txBody>
          <a:bodyPr wrap="square" rtlCol="0" anchor="t"/>
          <a:lstStyle/>
          <a:p>
            <a:pPr marL="0" indent="0">
              <a:lnSpc>
                <a:spcPct val="105000"/>
              </a:lnSpc>
              <a:buNone/>
            </a:pPr>
            <a:r>
              <a:rPr lang="en-US" sz="1100" dirty="0">
                <a:solidFill>
                  <a:srgbClr val="6F7B8D"/>
                </a:solidFill>
                <a:latin typeface="Helvetica Neue" pitchFamily="34" charset="0"/>
                <a:ea typeface="Helvetica Neue" pitchFamily="34" charset="-122"/>
                <a:cs typeface="Helvetica Neue" pitchFamily="34" charset="-120"/>
              </a:rPr>
              <a:t>25 per page</a:t>
            </a:r>
            <a:endParaRPr lang="en-US" sz="1100" dirty="0"/>
          </a:p>
        </p:txBody>
      </p:sp>
      <p:sp>
        <p:nvSpPr>
          <p:cNvPr id="29" name="b01-fade-run-a"/>
          <p:cNvSpPr/>
          <p:nvPr/>
        </p:nvSpPr>
        <p:spPr>
          <a:xfrm>
            <a:off x="5760720" y="2103120"/>
            <a:ext cx="2834640" cy="2606040"/>
          </a:xfrm>
          <a:prstGeom prst="roundRect">
            <a:avLst>
              <a:gd name="adj" fmla="val 4561"/>
            </a:avLst>
          </a:prstGeom>
          <a:solidFill>
            <a:srgbClr val="0E1219"/>
          </a:solidFill>
          <a:ln w="12700">
            <a:solidFill>
              <a:srgbClr val="B2BDCD"/>
            </a:solidFill>
            <a:prstDash val="solid"/>
          </a:ln>
        </p:spPr>
        <p:txBody>
          <a:bodyPr/>
          <a:lstStyle/>
          <a:p>
            <a:endParaRPr lang="en-US"/>
          </a:p>
        </p:txBody>
      </p:sp>
      <p:sp>
        <p:nvSpPr>
          <p:cNvPr id="30" name="b01-fade-run-a"/>
          <p:cNvSpPr/>
          <p:nvPr/>
        </p:nvSpPr>
        <p:spPr>
          <a:xfrm>
            <a:off x="5980176" y="2286000"/>
            <a:ext cx="2395728" cy="274320"/>
          </a:xfrm>
          <a:prstGeom prst="rect">
            <a:avLst/>
          </a:prstGeom>
          <a:noFill/>
          <a:ln/>
        </p:spPr>
        <p:txBody>
          <a:bodyPr wrap="square" rtlCol="0" anchor="t"/>
          <a:lstStyle/>
          <a:p>
            <a:pPr marL="0" indent="0">
              <a:lnSpc>
                <a:spcPct val="105000"/>
              </a:lnSpc>
              <a:buNone/>
            </a:pPr>
            <a:r>
              <a:rPr lang="en-US" sz="1200" b="1" kern="0" spc="160" dirty="0">
                <a:solidFill>
                  <a:srgbClr val="B2BDCD"/>
                </a:solidFill>
                <a:latin typeface="Helvetica Neue" pitchFamily="34" charset="0"/>
                <a:ea typeface="Helvetica Neue" pitchFamily="34" charset="-122"/>
                <a:cs typeface="Helvetica Neue" pitchFamily="34" charset="-120"/>
              </a:rPr>
              <a:t>RUN A · CURRENT SETUP</a:t>
            </a:r>
            <a:endParaRPr lang="en-US" sz="1200" dirty="0"/>
          </a:p>
        </p:txBody>
      </p:sp>
      <p:sp>
        <p:nvSpPr>
          <p:cNvPr id="31" name="b01-fade-run-a"/>
          <p:cNvSpPr/>
          <p:nvPr/>
        </p:nvSpPr>
        <p:spPr>
          <a:xfrm>
            <a:off x="5980176" y="2697480"/>
            <a:ext cx="2395728" cy="603504"/>
          </a:xfrm>
          <a:prstGeom prst="rect">
            <a:avLst/>
          </a:prstGeom>
          <a:noFill/>
          <a:ln/>
        </p:spPr>
        <p:txBody>
          <a:bodyPr wrap="square" rtlCol="0" anchor="t"/>
          <a:lstStyle/>
          <a:p>
            <a:pPr marL="0" indent="0">
              <a:lnSpc>
                <a:spcPct val="105000"/>
              </a:lnSpc>
              <a:buNone/>
            </a:pPr>
            <a:r>
              <a:rPr lang="en-US" sz="1600" dirty="0">
                <a:solidFill>
                  <a:srgbClr val="F3F6FA"/>
                </a:solidFill>
                <a:latin typeface="Helvetica Neue" pitchFamily="34" charset="0"/>
                <a:ea typeface="Helvetica Neue" pitchFamily="34" charset="-122"/>
                <a:cs typeface="Helvetica Neue" pitchFamily="34" charset="-120"/>
              </a:rPr>
              <a:t>default commands</a:t>
            </a:r>
            <a:endParaRPr lang="en-US" sz="1600" dirty="0"/>
          </a:p>
        </p:txBody>
      </p:sp>
      <p:sp>
        <p:nvSpPr>
          <p:cNvPr id="32" name="b01-fade-run-a"/>
          <p:cNvSpPr/>
          <p:nvPr/>
        </p:nvSpPr>
        <p:spPr>
          <a:xfrm>
            <a:off x="5980176" y="3355848"/>
            <a:ext cx="2395728" cy="603504"/>
          </a:xfrm>
          <a:prstGeom prst="rect">
            <a:avLst/>
          </a:prstGeom>
          <a:noFill/>
          <a:ln/>
        </p:spPr>
        <p:txBody>
          <a:bodyPr wrap="square" rtlCol="0" anchor="t"/>
          <a:lstStyle/>
          <a:p>
            <a:pPr marL="0" indent="0">
              <a:lnSpc>
                <a:spcPct val="105000"/>
              </a:lnSpc>
              <a:buNone/>
            </a:pPr>
            <a:r>
              <a:rPr lang="en-US" sz="1600" dirty="0">
                <a:solidFill>
                  <a:srgbClr val="F3F6FA"/>
                </a:solidFill>
                <a:latin typeface="Helvetica Neue" pitchFamily="34" charset="0"/>
                <a:ea typeface="Helvetica Neue" pitchFamily="34" charset="-122"/>
                <a:cs typeface="Helvetica Neue" pitchFamily="34" charset="-120"/>
              </a:rPr>
              <a:t>full dataset</a:t>
            </a:r>
            <a:endParaRPr lang="en-US" sz="1600" dirty="0"/>
          </a:p>
        </p:txBody>
      </p:sp>
      <p:sp>
        <p:nvSpPr>
          <p:cNvPr id="33" name="b01-fade-run-a"/>
          <p:cNvSpPr/>
          <p:nvPr/>
        </p:nvSpPr>
        <p:spPr>
          <a:xfrm>
            <a:off x="5980176" y="4014216"/>
            <a:ext cx="2395728" cy="603504"/>
          </a:xfrm>
          <a:prstGeom prst="rect">
            <a:avLst/>
          </a:prstGeom>
          <a:noFill/>
          <a:ln/>
        </p:spPr>
        <p:txBody>
          <a:bodyPr wrap="square" rtlCol="0" anchor="t"/>
          <a:lstStyle/>
          <a:p>
            <a:pPr marL="0" indent="0">
              <a:lnSpc>
                <a:spcPct val="105000"/>
              </a:lnSpc>
              <a:buNone/>
            </a:pPr>
            <a:r>
              <a:rPr lang="en-US" sz="1600" dirty="0">
                <a:solidFill>
                  <a:srgbClr val="F3F6FA"/>
                </a:solidFill>
                <a:latin typeface="Helvetica Neue" pitchFamily="34" charset="0"/>
                <a:ea typeface="Helvetica Neue" pitchFamily="34" charset="-122"/>
                <a:cs typeface="Helvetica Neue" pitchFamily="34" charset="-120"/>
              </a:rPr>
              <a:t>browser check each time</a:t>
            </a:r>
            <a:endParaRPr lang="en-US" sz="1600" dirty="0"/>
          </a:p>
        </p:txBody>
      </p:sp>
      <p:sp>
        <p:nvSpPr>
          <p:cNvPr id="34" name="b02-fade-run-b"/>
          <p:cNvSpPr/>
          <p:nvPr/>
        </p:nvSpPr>
        <p:spPr>
          <a:xfrm>
            <a:off x="8778240" y="2103120"/>
            <a:ext cx="2834640" cy="2606040"/>
          </a:xfrm>
          <a:prstGeom prst="roundRect">
            <a:avLst>
              <a:gd name="adj" fmla="val 4561"/>
            </a:avLst>
          </a:prstGeom>
          <a:solidFill>
            <a:srgbClr val="0E1219"/>
          </a:solidFill>
          <a:ln w="12700">
            <a:solidFill>
              <a:srgbClr val="75EDBB"/>
            </a:solidFill>
            <a:prstDash val="solid"/>
          </a:ln>
        </p:spPr>
        <p:txBody>
          <a:bodyPr/>
          <a:lstStyle/>
          <a:p>
            <a:endParaRPr lang="en-US"/>
          </a:p>
        </p:txBody>
      </p:sp>
      <p:sp>
        <p:nvSpPr>
          <p:cNvPr id="35" name="b02-fade-run-b"/>
          <p:cNvSpPr/>
          <p:nvPr/>
        </p:nvSpPr>
        <p:spPr>
          <a:xfrm>
            <a:off x="8997696" y="2286000"/>
            <a:ext cx="2395728" cy="274320"/>
          </a:xfrm>
          <a:prstGeom prst="rect">
            <a:avLst/>
          </a:prstGeom>
          <a:noFill/>
          <a:ln/>
        </p:spPr>
        <p:txBody>
          <a:bodyPr wrap="square" rtlCol="0" anchor="t"/>
          <a:lstStyle/>
          <a:p>
            <a:pPr marL="0" indent="0">
              <a:lnSpc>
                <a:spcPct val="105000"/>
              </a:lnSpc>
              <a:buNone/>
            </a:pPr>
            <a:r>
              <a:rPr lang="en-US" sz="1200" b="1" kern="0" spc="160" dirty="0">
                <a:solidFill>
                  <a:srgbClr val="75EDBB"/>
                </a:solidFill>
                <a:latin typeface="Helvetica Neue" pitchFamily="34" charset="0"/>
                <a:ea typeface="Helvetica Neue" pitchFamily="34" charset="-122"/>
                <a:cs typeface="Helvetica Neue" pitchFamily="34" charset="-120"/>
              </a:rPr>
              <a:t>RUN B · PREPARED</a:t>
            </a:r>
            <a:endParaRPr lang="en-US" sz="1200" dirty="0"/>
          </a:p>
        </p:txBody>
      </p:sp>
      <p:sp>
        <p:nvSpPr>
          <p:cNvPr id="36" name="b02-fade-run-b"/>
          <p:cNvSpPr/>
          <p:nvPr/>
        </p:nvSpPr>
        <p:spPr>
          <a:xfrm>
            <a:off x="8997696" y="2697480"/>
            <a:ext cx="2395728" cy="603504"/>
          </a:xfrm>
          <a:prstGeom prst="rect">
            <a:avLst/>
          </a:prstGeom>
          <a:noFill/>
          <a:ln/>
        </p:spPr>
        <p:txBody>
          <a:bodyPr wrap="square" rtlCol="0" anchor="t"/>
          <a:lstStyle/>
          <a:p>
            <a:pPr marL="0" indent="0">
              <a:lnSpc>
                <a:spcPct val="105000"/>
              </a:lnSpc>
              <a:buNone/>
            </a:pPr>
            <a:r>
              <a:rPr lang="en-US" sz="1600" dirty="0">
                <a:solidFill>
                  <a:srgbClr val="F3F6FA"/>
                </a:solidFill>
                <a:latin typeface="Helvetica Neue" pitchFamily="34" charset="0"/>
                <a:ea typeface="Helvetica Neue" pitchFamily="34" charset="-122"/>
                <a:cs typeface="Helvetica Neue" pitchFamily="34" charset="-120"/>
              </a:rPr>
              <a:t>short task brief</a:t>
            </a:r>
            <a:endParaRPr lang="en-US" sz="1600" dirty="0"/>
          </a:p>
        </p:txBody>
      </p:sp>
      <p:sp>
        <p:nvSpPr>
          <p:cNvPr id="37" name="b02-fade-run-b"/>
          <p:cNvSpPr/>
          <p:nvPr/>
        </p:nvSpPr>
        <p:spPr>
          <a:xfrm>
            <a:off x="8997696" y="3355848"/>
            <a:ext cx="2395728" cy="603504"/>
          </a:xfrm>
          <a:prstGeom prst="rect">
            <a:avLst/>
          </a:prstGeom>
          <a:noFill/>
          <a:ln/>
        </p:spPr>
        <p:txBody>
          <a:bodyPr wrap="square" rtlCol="0" anchor="t"/>
          <a:lstStyle/>
          <a:p>
            <a:pPr marL="0" indent="0">
              <a:lnSpc>
                <a:spcPct val="105000"/>
              </a:lnSpc>
              <a:buNone/>
            </a:pPr>
            <a:r>
              <a:rPr lang="en-US" sz="1600" dirty="0">
                <a:solidFill>
                  <a:srgbClr val="F3F6FA"/>
                </a:solidFill>
                <a:latin typeface="Helvetica Neue" pitchFamily="34" charset="0"/>
                <a:ea typeface="Helvetica Neue" pitchFamily="34" charset="-122"/>
                <a:cs typeface="Helvetica Neue" pitchFamily="34" charset="-120"/>
              </a:rPr>
              <a:t>100-row edge-case fixture</a:t>
            </a:r>
            <a:endParaRPr lang="en-US" sz="1600" dirty="0"/>
          </a:p>
        </p:txBody>
      </p:sp>
      <p:sp>
        <p:nvSpPr>
          <p:cNvPr id="38" name="b02-fade-run-b"/>
          <p:cNvSpPr/>
          <p:nvPr/>
        </p:nvSpPr>
        <p:spPr>
          <a:xfrm>
            <a:off x="8997696" y="4014216"/>
            <a:ext cx="2395728" cy="603504"/>
          </a:xfrm>
          <a:prstGeom prst="rect">
            <a:avLst/>
          </a:prstGeom>
          <a:noFill/>
          <a:ln/>
        </p:spPr>
        <p:txBody>
          <a:bodyPr wrap="square" rtlCol="0" anchor="t"/>
          <a:lstStyle/>
          <a:p>
            <a:pPr marL="0" indent="0">
              <a:lnSpc>
                <a:spcPct val="105000"/>
              </a:lnSpc>
              <a:buNone/>
            </a:pPr>
            <a:r>
              <a:rPr lang="en-US" sz="1600" dirty="0">
                <a:solidFill>
                  <a:srgbClr val="F3F6FA"/>
                </a:solidFill>
                <a:latin typeface="Helvetica Neue" pitchFamily="34" charset="0"/>
                <a:ea typeface="Helvetica Neue" pitchFamily="34" charset="-122"/>
                <a:cs typeface="Helvetica Neue" pitchFamily="34" charset="-120"/>
              </a:rPr>
              <a:t>route and HTML tests</a:t>
            </a:r>
            <a:endParaRPr lang="en-US" sz="1600" dirty="0"/>
          </a:p>
        </p:txBody>
      </p:sp>
      <p:sp>
        <p:nvSpPr>
          <p:cNvPr id="39" name="b03-rise-common-gate"/>
          <p:cNvSpPr/>
          <p:nvPr/>
        </p:nvSpPr>
        <p:spPr>
          <a:xfrm>
            <a:off x="5760720" y="4892040"/>
            <a:ext cx="5852160" cy="731520"/>
          </a:xfrm>
          <a:prstGeom prst="roundRect">
            <a:avLst>
              <a:gd name="adj" fmla="val 16250"/>
            </a:avLst>
          </a:prstGeom>
          <a:solidFill>
            <a:srgbClr val="0A0D13"/>
          </a:solidFill>
          <a:ln w="12700">
            <a:solidFill>
              <a:srgbClr val="75EDBB"/>
            </a:solidFill>
            <a:prstDash val="solid"/>
          </a:ln>
        </p:spPr>
        <p:txBody>
          <a:bodyPr/>
          <a:lstStyle/>
          <a:p>
            <a:endParaRPr lang="en-US"/>
          </a:p>
        </p:txBody>
      </p:sp>
      <p:sp>
        <p:nvSpPr>
          <p:cNvPr id="40" name="b03-rise-common-gate"/>
          <p:cNvSpPr/>
          <p:nvPr/>
        </p:nvSpPr>
        <p:spPr>
          <a:xfrm>
            <a:off x="5980176" y="4892040"/>
            <a:ext cx="5413248" cy="731520"/>
          </a:xfrm>
          <a:prstGeom prst="rect">
            <a:avLst/>
          </a:prstGeom>
          <a:noFill/>
          <a:ln/>
        </p:spPr>
        <p:txBody>
          <a:bodyPr wrap="square" rtlCol="0" anchor="ctr"/>
          <a:lstStyle/>
          <a:p>
            <a:pPr marL="0" indent="0">
              <a:lnSpc>
                <a:spcPct val="105000"/>
              </a:lnSpc>
              <a:buNone/>
            </a:pPr>
            <a:r>
              <a:rPr lang="en-US" sz="1600" dirty="0">
                <a:solidFill>
                  <a:srgbClr val="75EDBB"/>
                </a:solidFill>
                <a:latin typeface="Helvetica Neue" pitchFamily="34" charset="0"/>
                <a:ea typeface="Helvetica Neue" pitchFamily="34" charset="-122"/>
                <a:cs typeface="Helvetica Neue" pitchFamily="34" charset="-120"/>
              </a:rPr>
              <a:t>Same final gate: real auth, one browser check, full-scale run.</a:t>
            </a:r>
            <a:endParaRPr lang="en-US" sz="1600" dirty="0"/>
          </a:p>
        </p:txBody>
      </p:sp>
      <p:sp>
        <p:nvSpPr>
          <p:cNvPr id="41" name="b03-fade-demo-question"/>
          <p:cNvSpPr/>
          <p:nvPr/>
        </p:nvSpPr>
        <p:spPr>
          <a:xfrm>
            <a:off x="566928" y="4937760"/>
            <a:ext cx="4937760" cy="685800"/>
          </a:xfrm>
          <a:prstGeom prst="rect">
            <a:avLst/>
          </a:prstGeom>
          <a:noFill/>
          <a:ln/>
        </p:spPr>
        <p:txBody>
          <a:bodyPr wrap="square" rtlCol="0" anchor="ctr"/>
          <a:lstStyle/>
          <a:p>
            <a:pPr marL="0" indent="0">
              <a:lnSpc>
                <a:spcPct val="105000"/>
              </a:lnSpc>
              <a:buNone/>
            </a:pPr>
            <a:r>
              <a:rPr lang="en-US" sz="2100" dirty="0">
                <a:solidFill>
                  <a:srgbClr val="F3F6FA"/>
                </a:solidFill>
                <a:latin typeface="Avenir Next" pitchFamily="34" charset="0"/>
                <a:ea typeface="Avenir Next" pitchFamily="34" charset="-122"/>
                <a:cs typeface="Avenir Next" pitchFamily="34" charset="-120"/>
              </a:rPr>
              <a:t>Which run reaches the same gate sooner?</a:t>
            </a:r>
            <a:endParaRPr lang="en-US" sz="2100" dirty="0"/>
          </a:p>
        </p:txBody>
      </p:sp>
      <p:sp>
        <p:nvSpPr>
          <p:cNvPr id="42" name="Text 40"/>
          <p:cNvSpPr/>
          <p:nvPr/>
        </p:nvSpPr>
        <p:spPr>
          <a:xfrm>
            <a:off x="566928" y="6391656"/>
            <a:ext cx="8961120" cy="274320"/>
          </a:xfrm>
          <a:prstGeom prst="rect">
            <a:avLst/>
          </a:prstGeom>
          <a:noFill/>
          <a:ln/>
        </p:spPr>
        <p:txBody>
          <a:bodyPr wrap="square" rtlCol="0" anchor="ctr"/>
          <a:lstStyle/>
          <a:p>
            <a:pPr marL="0" indent="0">
              <a:lnSpc>
                <a:spcPct val="105000"/>
              </a:lnSpc>
              <a:buNone/>
            </a:pPr>
            <a:r>
              <a:rPr lang="en-US" sz="1100" dirty="0">
                <a:solidFill>
                  <a:srgbClr val="6F7B8D"/>
                </a:solidFill>
                <a:latin typeface="Helvetica Neue" pitchFamily="34" charset="0"/>
                <a:ea typeface="Helvetica Neue" pitchFamily="34" charset="-122"/>
                <a:cs typeface="Helvetica Neue" pitchFamily="34" charset="-120"/>
              </a:rPr>
              <a:t>Synthetic data only. Built and run once; see demo/ in the repository and the recorded trial on the next slide.</a:t>
            </a:r>
            <a:endParaRPr lang="en-US" sz="1100" dirty="0"/>
          </a:p>
        </p:txBody>
      </p:sp>
      <p:sp>
        <p:nvSpPr>
          <p:cNvPr id="43" name="Text 41"/>
          <p:cNvSpPr/>
          <p:nvPr/>
        </p:nvSpPr>
        <p:spPr>
          <a:xfrm>
            <a:off x="9692640" y="6391656"/>
            <a:ext cx="1929384" cy="274320"/>
          </a:xfrm>
          <a:prstGeom prst="rect">
            <a:avLst/>
          </a:prstGeom>
          <a:noFill/>
          <a:ln/>
        </p:spPr>
        <p:txBody>
          <a:bodyPr wrap="square" rtlCol="0" anchor="ctr"/>
          <a:lstStyle/>
          <a:p>
            <a:pPr marL="0" indent="0" algn="r">
              <a:lnSpc>
                <a:spcPct val="105000"/>
              </a:lnSpc>
              <a:buNone/>
            </a:pPr>
            <a:r>
              <a:rPr lang="en-US" sz="1100" dirty="0">
                <a:solidFill>
                  <a:srgbClr val="6F7B8D"/>
                </a:solidFill>
                <a:latin typeface="Helvetica Neue" pitchFamily="34" charset="0"/>
                <a:ea typeface="Helvetica Neue" pitchFamily="34" charset="-122"/>
                <a:cs typeface="Helvetica Neue" pitchFamily="34" charset="-120"/>
              </a:rPr>
              <a:t>18 / 20</a:t>
            </a:r>
            <a:endParaRPr lang="en-US" sz="1100"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420"/>
                                        <p:tgtEl>
                                          <p:spTgt spid="29"/>
                                        </p:tgtEl>
                                      </p:cBhvr>
                                    </p:animEffect>
                                  </p:childTnLst>
                                </p:cTn>
                              </p:par>
                              <p:par>
                                <p:cTn id="8" presetID="10" presetClass="entr" presetSubtype="0" fill="hold" nodeType="withEffect">
                                  <p:stCondLst>
                                    <p:cond delay="0"/>
                                  </p:stCondLst>
                                  <p:childTnLst>
                                    <p:set>
                                      <p:cBhvr>
                                        <p:cTn id="9" dur="1" fill="hold">
                                          <p:stCondLst>
                                            <p:cond delay="0"/>
                                          </p:stCondLst>
                                        </p:cTn>
                                        <p:tgtEl>
                                          <p:spTgt spid="30"/>
                                        </p:tgtEl>
                                        <p:attrNameLst>
                                          <p:attrName>style.visibility</p:attrName>
                                        </p:attrNameLst>
                                      </p:cBhvr>
                                      <p:to>
                                        <p:strVal val="visible"/>
                                      </p:to>
                                    </p:set>
                                    <p:animEffect transition="in" filter="fade">
                                      <p:cBhvr>
                                        <p:cTn id="10" dur="420"/>
                                        <p:tgtEl>
                                          <p:spTgt spid="30"/>
                                        </p:tgtEl>
                                      </p:cBhvr>
                                    </p:animEffect>
                                  </p:childTnLst>
                                </p:cTn>
                              </p:par>
                              <p:par>
                                <p:cTn id="11" presetID="10" presetClass="entr" presetSubtype="0" fill="hold" nodeType="withEffect">
                                  <p:stCondLst>
                                    <p:cond delay="0"/>
                                  </p:stCondLst>
                                  <p:childTnLst>
                                    <p:set>
                                      <p:cBhvr>
                                        <p:cTn id="12" dur="1" fill="hold">
                                          <p:stCondLst>
                                            <p:cond delay="0"/>
                                          </p:stCondLst>
                                        </p:cTn>
                                        <p:tgtEl>
                                          <p:spTgt spid="31"/>
                                        </p:tgtEl>
                                        <p:attrNameLst>
                                          <p:attrName>style.visibility</p:attrName>
                                        </p:attrNameLst>
                                      </p:cBhvr>
                                      <p:to>
                                        <p:strVal val="visible"/>
                                      </p:to>
                                    </p:set>
                                    <p:animEffect transition="in" filter="fade">
                                      <p:cBhvr>
                                        <p:cTn id="13" dur="420"/>
                                        <p:tgtEl>
                                          <p:spTgt spid="31"/>
                                        </p:tgtEl>
                                      </p:cBhvr>
                                    </p:animEffect>
                                  </p:childTnLst>
                                </p:cTn>
                              </p:par>
                              <p:par>
                                <p:cTn id="14" presetID="10" presetClass="entr" presetSubtype="0" fill="hold" nodeType="withEffect">
                                  <p:stCondLst>
                                    <p:cond delay="0"/>
                                  </p:stCondLst>
                                  <p:childTnLst>
                                    <p:set>
                                      <p:cBhvr>
                                        <p:cTn id="15" dur="1" fill="hold">
                                          <p:stCondLst>
                                            <p:cond delay="0"/>
                                          </p:stCondLst>
                                        </p:cTn>
                                        <p:tgtEl>
                                          <p:spTgt spid="32"/>
                                        </p:tgtEl>
                                        <p:attrNameLst>
                                          <p:attrName>style.visibility</p:attrName>
                                        </p:attrNameLst>
                                      </p:cBhvr>
                                      <p:to>
                                        <p:strVal val="visible"/>
                                      </p:to>
                                    </p:set>
                                    <p:animEffect transition="in" filter="fade">
                                      <p:cBhvr>
                                        <p:cTn id="16" dur="420"/>
                                        <p:tgtEl>
                                          <p:spTgt spid="32"/>
                                        </p:tgtEl>
                                      </p:cBhvr>
                                    </p:animEffect>
                                  </p:childTnLst>
                                </p:cTn>
                              </p:par>
                              <p:par>
                                <p:cTn id="17" presetID="10" presetClass="entr" presetSubtype="0" fill="hold" nodeType="withEffect">
                                  <p:stCondLst>
                                    <p:cond delay="0"/>
                                  </p:stCondLst>
                                  <p:childTnLst>
                                    <p:set>
                                      <p:cBhvr>
                                        <p:cTn id="18" dur="1" fill="hold">
                                          <p:stCondLst>
                                            <p:cond delay="0"/>
                                          </p:stCondLst>
                                        </p:cTn>
                                        <p:tgtEl>
                                          <p:spTgt spid="33"/>
                                        </p:tgtEl>
                                        <p:attrNameLst>
                                          <p:attrName>style.visibility</p:attrName>
                                        </p:attrNameLst>
                                      </p:cBhvr>
                                      <p:to>
                                        <p:strVal val="visible"/>
                                      </p:to>
                                    </p:set>
                                    <p:animEffect transition="in" filter="fade">
                                      <p:cBhvr>
                                        <p:cTn id="19" dur="420"/>
                                        <p:tgtEl>
                                          <p:spTgt spid="33"/>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34"/>
                                        </p:tgtEl>
                                        <p:attrNameLst>
                                          <p:attrName>style.visibility</p:attrName>
                                        </p:attrNameLst>
                                      </p:cBhvr>
                                      <p:to>
                                        <p:strVal val="visible"/>
                                      </p:to>
                                    </p:set>
                                    <p:animEffect transition="in" filter="fade">
                                      <p:cBhvr>
                                        <p:cTn id="24" dur="420"/>
                                        <p:tgtEl>
                                          <p:spTgt spid="34"/>
                                        </p:tgtEl>
                                      </p:cBhvr>
                                    </p:animEffect>
                                  </p:childTnLst>
                                </p:cTn>
                              </p:par>
                              <p:par>
                                <p:cTn id="25" presetID="10" presetClass="entr" presetSubtype="0" fill="hold" nodeType="withEffect">
                                  <p:stCondLst>
                                    <p:cond delay="0"/>
                                  </p:stCondLst>
                                  <p:childTnLst>
                                    <p:set>
                                      <p:cBhvr>
                                        <p:cTn id="26" dur="1" fill="hold">
                                          <p:stCondLst>
                                            <p:cond delay="0"/>
                                          </p:stCondLst>
                                        </p:cTn>
                                        <p:tgtEl>
                                          <p:spTgt spid="35"/>
                                        </p:tgtEl>
                                        <p:attrNameLst>
                                          <p:attrName>style.visibility</p:attrName>
                                        </p:attrNameLst>
                                      </p:cBhvr>
                                      <p:to>
                                        <p:strVal val="visible"/>
                                      </p:to>
                                    </p:set>
                                    <p:animEffect transition="in" filter="fade">
                                      <p:cBhvr>
                                        <p:cTn id="27" dur="420"/>
                                        <p:tgtEl>
                                          <p:spTgt spid="35"/>
                                        </p:tgtEl>
                                      </p:cBhvr>
                                    </p:animEffect>
                                  </p:childTnLst>
                                </p:cTn>
                              </p:par>
                              <p:par>
                                <p:cTn id="28" presetID="10" presetClass="entr" presetSubtype="0" fill="hold" nodeType="withEffect">
                                  <p:stCondLst>
                                    <p:cond delay="0"/>
                                  </p:stCondLst>
                                  <p:childTnLst>
                                    <p:set>
                                      <p:cBhvr>
                                        <p:cTn id="29" dur="1" fill="hold">
                                          <p:stCondLst>
                                            <p:cond delay="0"/>
                                          </p:stCondLst>
                                        </p:cTn>
                                        <p:tgtEl>
                                          <p:spTgt spid="36"/>
                                        </p:tgtEl>
                                        <p:attrNameLst>
                                          <p:attrName>style.visibility</p:attrName>
                                        </p:attrNameLst>
                                      </p:cBhvr>
                                      <p:to>
                                        <p:strVal val="visible"/>
                                      </p:to>
                                    </p:set>
                                    <p:animEffect transition="in" filter="fade">
                                      <p:cBhvr>
                                        <p:cTn id="30" dur="420"/>
                                        <p:tgtEl>
                                          <p:spTgt spid="36"/>
                                        </p:tgtEl>
                                      </p:cBhvr>
                                    </p:animEffect>
                                  </p:childTnLst>
                                </p:cTn>
                              </p:par>
                              <p:par>
                                <p:cTn id="31" presetID="10" presetClass="entr" presetSubtype="0" fill="hold" nodeType="withEffect">
                                  <p:stCondLst>
                                    <p:cond delay="0"/>
                                  </p:stCondLst>
                                  <p:childTnLst>
                                    <p:set>
                                      <p:cBhvr>
                                        <p:cTn id="32" dur="1" fill="hold">
                                          <p:stCondLst>
                                            <p:cond delay="0"/>
                                          </p:stCondLst>
                                        </p:cTn>
                                        <p:tgtEl>
                                          <p:spTgt spid="37"/>
                                        </p:tgtEl>
                                        <p:attrNameLst>
                                          <p:attrName>style.visibility</p:attrName>
                                        </p:attrNameLst>
                                      </p:cBhvr>
                                      <p:to>
                                        <p:strVal val="visible"/>
                                      </p:to>
                                    </p:set>
                                    <p:animEffect transition="in" filter="fade">
                                      <p:cBhvr>
                                        <p:cTn id="33" dur="420"/>
                                        <p:tgtEl>
                                          <p:spTgt spid="37"/>
                                        </p:tgtEl>
                                      </p:cBhvr>
                                    </p:animEffect>
                                  </p:childTnLst>
                                </p:cTn>
                              </p:par>
                              <p:par>
                                <p:cTn id="34" presetID="10" presetClass="entr" presetSubtype="0" fill="hold" nodeType="withEffect">
                                  <p:stCondLst>
                                    <p:cond delay="0"/>
                                  </p:stCondLst>
                                  <p:childTnLst>
                                    <p:set>
                                      <p:cBhvr>
                                        <p:cTn id="35" dur="1" fill="hold">
                                          <p:stCondLst>
                                            <p:cond delay="0"/>
                                          </p:stCondLst>
                                        </p:cTn>
                                        <p:tgtEl>
                                          <p:spTgt spid="38"/>
                                        </p:tgtEl>
                                        <p:attrNameLst>
                                          <p:attrName>style.visibility</p:attrName>
                                        </p:attrNameLst>
                                      </p:cBhvr>
                                      <p:to>
                                        <p:strVal val="visible"/>
                                      </p:to>
                                    </p:set>
                                    <p:animEffect transition="in" filter="fade">
                                      <p:cBhvr>
                                        <p:cTn id="36" dur="420"/>
                                        <p:tgtEl>
                                          <p:spTgt spid="38"/>
                                        </p:tgtEl>
                                      </p:cBhvr>
                                    </p:animEffect>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nodeType="clickEffect">
                                  <p:stCondLst>
                                    <p:cond delay="0"/>
                                  </p:stCondLst>
                                  <p:childTnLst>
                                    <p:set>
                                      <p:cBhvr>
                                        <p:cTn id="40" dur="1" fill="hold">
                                          <p:stCondLst>
                                            <p:cond delay="0"/>
                                          </p:stCondLst>
                                        </p:cTn>
                                        <p:tgtEl>
                                          <p:spTgt spid="39"/>
                                        </p:tgtEl>
                                        <p:attrNameLst>
                                          <p:attrName>style.visibility</p:attrName>
                                        </p:attrNameLst>
                                      </p:cBhvr>
                                      <p:to>
                                        <p:strVal val="visible"/>
                                      </p:to>
                                    </p:set>
                                    <p:anim calcmode="lin" valueType="num">
                                      <p:cBhvr additive="base">
                                        <p:cTn id="41" dur="420" decel="60000" fill="hold"/>
                                        <p:tgtEl>
                                          <p:spTgt spid="39"/>
                                        </p:tgtEl>
                                        <p:attrNameLst>
                                          <p:attrName>ppt_y</p:attrName>
                                        </p:attrNameLst>
                                      </p:cBhvr>
                                      <p:tavLst>
                                        <p:tav tm="0">
                                          <p:val>
                                            <p:strVal val="#ppt_y+.014"/>
                                          </p:val>
                                        </p:tav>
                                        <p:tav tm="100000">
                                          <p:val>
                                            <p:strVal val="#ppt_y"/>
                                          </p:val>
                                        </p:tav>
                                      </p:tavLst>
                                    </p:anim>
                                    <p:animEffect transition="in" filter="fade">
                                      <p:cBhvr>
                                        <p:cTn id="42" dur="420"/>
                                        <p:tgtEl>
                                          <p:spTgt spid="39"/>
                                        </p:tgtEl>
                                      </p:cBhvr>
                                    </p:animEffect>
                                  </p:childTnLst>
                                </p:cTn>
                              </p:par>
                              <p:par>
                                <p:cTn id="43" presetID="42" presetClass="entr" presetSubtype="0" fill="hold" nodeType="withEffect">
                                  <p:stCondLst>
                                    <p:cond delay="0"/>
                                  </p:stCondLst>
                                  <p:childTnLst>
                                    <p:set>
                                      <p:cBhvr>
                                        <p:cTn id="44" dur="1" fill="hold">
                                          <p:stCondLst>
                                            <p:cond delay="0"/>
                                          </p:stCondLst>
                                        </p:cTn>
                                        <p:tgtEl>
                                          <p:spTgt spid="40"/>
                                        </p:tgtEl>
                                        <p:attrNameLst>
                                          <p:attrName>style.visibility</p:attrName>
                                        </p:attrNameLst>
                                      </p:cBhvr>
                                      <p:to>
                                        <p:strVal val="visible"/>
                                      </p:to>
                                    </p:set>
                                    <p:anim calcmode="lin" valueType="num">
                                      <p:cBhvr additive="base">
                                        <p:cTn id="45" dur="420" decel="60000" fill="hold"/>
                                        <p:tgtEl>
                                          <p:spTgt spid="40"/>
                                        </p:tgtEl>
                                        <p:attrNameLst>
                                          <p:attrName>ppt_y</p:attrName>
                                        </p:attrNameLst>
                                      </p:cBhvr>
                                      <p:tavLst>
                                        <p:tav tm="0">
                                          <p:val>
                                            <p:strVal val="#ppt_y+.014"/>
                                          </p:val>
                                        </p:tav>
                                        <p:tav tm="100000">
                                          <p:val>
                                            <p:strVal val="#ppt_y"/>
                                          </p:val>
                                        </p:tav>
                                      </p:tavLst>
                                    </p:anim>
                                    <p:animEffect transition="in" filter="fade">
                                      <p:cBhvr>
                                        <p:cTn id="46" dur="420"/>
                                        <p:tgtEl>
                                          <p:spTgt spid="40"/>
                                        </p:tgtEl>
                                      </p:cBhvr>
                                    </p:animEffect>
                                  </p:childTnLst>
                                </p:cTn>
                              </p:par>
                              <p:par>
                                <p:cTn id="47" presetID="10" presetClass="entr" presetSubtype="0" fill="hold" nodeType="withEffect">
                                  <p:stCondLst>
                                    <p:cond delay="0"/>
                                  </p:stCondLst>
                                  <p:childTnLst>
                                    <p:set>
                                      <p:cBhvr>
                                        <p:cTn id="48" dur="1" fill="hold">
                                          <p:stCondLst>
                                            <p:cond delay="0"/>
                                          </p:stCondLst>
                                        </p:cTn>
                                        <p:tgtEl>
                                          <p:spTgt spid="41"/>
                                        </p:tgtEl>
                                        <p:attrNameLst>
                                          <p:attrName>style.visibility</p:attrName>
                                        </p:attrNameLst>
                                      </p:cBhvr>
                                      <p:to>
                                        <p:strVal val="visible"/>
                                      </p:to>
                                    </p:set>
                                    <p:animEffect transition="in" filter="fade">
                                      <p:cBhvr>
                                        <p:cTn id="49" dur="42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7090D"/>
        </a:solidFill>
        <a:effectLst/>
      </p:bgPr>
    </p:bg>
    <p:spTree>
      <p:nvGrpSpPr>
        <p:cNvPr id="1" name=""/>
        <p:cNvGrpSpPr/>
        <p:nvPr/>
      </p:nvGrpSpPr>
      <p:grpSpPr>
        <a:xfrm>
          <a:off x="0" y="0"/>
          <a:ext cx="0" cy="0"/>
          <a:chOff x="0" y="0"/>
          <a:chExt cx="0" cy="0"/>
        </a:xfrm>
      </p:grpSpPr>
      <p:sp>
        <p:nvSpPr>
          <p:cNvPr id="2" name="Text 0"/>
          <p:cNvSpPr/>
          <p:nvPr/>
        </p:nvSpPr>
        <p:spPr>
          <a:xfrm>
            <a:off x="566928" y="274320"/>
            <a:ext cx="10607040" cy="274320"/>
          </a:xfrm>
          <a:prstGeom prst="rect">
            <a:avLst/>
          </a:prstGeom>
          <a:noFill/>
          <a:ln/>
        </p:spPr>
        <p:txBody>
          <a:bodyPr wrap="square" rtlCol="0" anchor="t"/>
          <a:lstStyle/>
          <a:p>
            <a:pPr marL="0" indent="0">
              <a:lnSpc>
                <a:spcPct val="105000"/>
              </a:lnSpc>
              <a:buNone/>
            </a:pPr>
            <a:r>
              <a:rPr lang="en-US" sz="1200" b="1" kern="0" spc="260" dirty="0">
                <a:solidFill>
                  <a:srgbClr val="75EDBB"/>
                </a:solidFill>
                <a:latin typeface="Helvetica Neue" pitchFamily="34" charset="0"/>
                <a:ea typeface="Helvetica Neue" pitchFamily="34" charset="-122"/>
                <a:cs typeface="Helvetica Neue" pitchFamily="34" charset="-120"/>
              </a:rPr>
              <a:t>LIVE DEMO</a:t>
            </a:r>
            <a:endParaRPr lang="en-US" sz="1200" dirty="0"/>
          </a:p>
        </p:txBody>
      </p:sp>
      <p:sp>
        <p:nvSpPr>
          <p:cNvPr id="3" name="Text 1"/>
          <p:cNvSpPr/>
          <p:nvPr/>
        </p:nvSpPr>
        <p:spPr>
          <a:xfrm>
            <a:off x="566928" y="585216"/>
            <a:ext cx="10789920" cy="731520"/>
          </a:xfrm>
          <a:prstGeom prst="rect">
            <a:avLst/>
          </a:prstGeom>
          <a:noFill/>
          <a:ln/>
        </p:spPr>
        <p:txBody>
          <a:bodyPr wrap="square" rtlCol="0" anchor="ctr"/>
          <a:lstStyle/>
          <a:p>
            <a:pPr marL="0" indent="0">
              <a:lnSpc>
                <a:spcPct val="95000"/>
              </a:lnSpc>
              <a:buNone/>
            </a:pPr>
            <a:r>
              <a:rPr lang="en-US" sz="3800" dirty="0">
                <a:solidFill>
                  <a:srgbClr val="F3F6FA"/>
                </a:solidFill>
                <a:latin typeface="Avenir Next" pitchFamily="34" charset="0"/>
                <a:ea typeface="Avenir Next" pitchFamily="34" charset="-122"/>
                <a:cs typeface="Avenir Next" pitchFamily="34" charset="-120"/>
              </a:rPr>
              <a:t>Demo</a:t>
            </a:r>
            <a:endParaRPr lang="en-US" sz="3800" dirty="0"/>
          </a:p>
        </p:txBody>
      </p:sp>
      <p:sp>
        <p:nvSpPr>
          <p:cNvPr id="4" name="Text 2"/>
          <p:cNvSpPr/>
          <p:nvPr/>
        </p:nvSpPr>
        <p:spPr>
          <a:xfrm>
            <a:off x="566928" y="1335024"/>
            <a:ext cx="9692640" cy="384048"/>
          </a:xfrm>
          <a:prstGeom prst="rect">
            <a:avLst/>
          </a:prstGeom>
          <a:noFill/>
          <a:ln/>
        </p:spPr>
        <p:txBody>
          <a:bodyPr wrap="square" rtlCol="0" anchor="t"/>
          <a:lstStyle/>
          <a:p>
            <a:pPr marL="0" indent="0">
              <a:lnSpc>
                <a:spcPct val="105000"/>
              </a:lnSpc>
              <a:buNone/>
            </a:pPr>
            <a:r>
              <a:rPr lang="en-US" sz="1900" dirty="0">
                <a:solidFill>
                  <a:srgbClr val="B2BDCD"/>
                </a:solidFill>
                <a:latin typeface="Helvetica Neue" pitchFamily="34" charset="0"/>
                <a:ea typeface="Helvetica Neue" pitchFamily="34" charset="-122"/>
                <a:cs typeface="Helvetica Neue" pitchFamily="34" charset="-120"/>
              </a:rPr>
              <a:t>Same feature, same model, same harness. Only the setup around it changes.</a:t>
            </a:r>
            <a:endParaRPr lang="en-US" sz="1900" dirty="0"/>
          </a:p>
        </p:txBody>
      </p:sp>
      <p:sp>
        <p:nvSpPr>
          <p:cNvPr id="5" name="b01-fade-run-a"/>
          <p:cNvSpPr/>
          <p:nvPr/>
        </p:nvSpPr>
        <p:spPr>
          <a:xfrm>
            <a:off x="566928" y="1874520"/>
            <a:ext cx="5413248" cy="1371600"/>
          </a:xfrm>
          <a:prstGeom prst="roundRect">
            <a:avLst>
              <a:gd name="adj" fmla="val 8667"/>
            </a:avLst>
          </a:prstGeom>
          <a:solidFill>
            <a:srgbClr val="0E1219"/>
          </a:solidFill>
          <a:ln w="12700">
            <a:solidFill>
              <a:srgbClr val="1A212C"/>
            </a:solidFill>
            <a:prstDash val="solid"/>
          </a:ln>
        </p:spPr>
        <p:txBody>
          <a:bodyPr/>
          <a:lstStyle/>
          <a:p>
            <a:endParaRPr lang="en-US"/>
          </a:p>
        </p:txBody>
      </p:sp>
      <p:sp>
        <p:nvSpPr>
          <p:cNvPr id="6" name="b01-fade-run-a"/>
          <p:cNvSpPr/>
          <p:nvPr/>
        </p:nvSpPr>
        <p:spPr>
          <a:xfrm>
            <a:off x="804672" y="2057400"/>
            <a:ext cx="4937760" cy="237744"/>
          </a:xfrm>
          <a:prstGeom prst="rect">
            <a:avLst/>
          </a:prstGeom>
          <a:noFill/>
          <a:ln/>
        </p:spPr>
        <p:txBody>
          <a:bodyPr wrap="square" rtlCol="0" anchor="t"/>
          <a:lstStyle/>
          <a:p>
            <a:pPr marL="0" indent="0">
              <a:lnSpc>
                <a:spcPct val="105000"/>
              </a:lnSpc>
              <a:buNone/>
            </a:pPr>
            <a:r>
              <a:rPr lang="en-US" sz="1100" b="1" kern="0" spc="200" dirty="0">
                <a:solidFill>
                  <a:srgbClr val="FFCA83"/>
                </a:solidFill>
                <a:latin typeface="Helvetica Neue" pitchFamily="34" charset="0"/>
                <a:ea typeface="Helvetica Neue" pitchFamily="34" charset="-122"/>
                <a:cs typeface="Helvetica Neue" pitchFamily="34" charset="-120"/>
              </a:rPr>
              <a:t>RUN A · HARNESS AS-IS</a:t>
            </a:r>
            <a:endParaRPr lang="en-US" sz="1100" dirty="0"/>
          </a:p>
        </p:txBody>
      </p:sp>
      <p:sp>
        <p:nvSpPr>
          <p:cNvPr id="7" name="b01-fade-run-a"/>
          <p:cNvSpPr/>
          <p:nvPr/>
        </p:nvSpPr>
        <p:spPr>
          <a:xfrm>
            <a:off x="804672" y="2368296"/>
            <a:ext cx="4937760" cy="274320"/>
          </a:xfrm>
          <a:prstGeom prst="rect">
            <a:avLst/>
          </a:prstGeom>
          <a:noFill/>
          <a:ln/>
        </p:spPr>
        <p:txBody>
          <a:bodyPr wrap="square" rtlCol="0" anchor="t"/>
          <a:lstStyle/>
          <a:p>
            <a:pPr marL="0" indent="0">
              <a:lnSpc>
                <a:spcPct val="105000"/>
              </a:lnSpc>
              <a:buNone/>
            </a:pPr>
            <a:r>
              <a:rPr lang="en-US" sz="1900" b="1" dirty="0">
                <a:solidFill>
                  <a:srgbClr val="F3F6FA"/>
                </a:solidFill>
                <a:latin typeface="Helvetica Neue" pitchFamily="34" charset="0"/>
                <a:ea typeface="Helvetica Neue" pitchFamily="34" charset="-122"/>
                <a:cs typeface="Helvetica Neue" pitchFamily="34" charset="-120"/>
              </a:rPr>
              <a:t>Ask for the feature and go</a:t>
            </a:r>
            <a:endParaRPr lang="en-US" sz="1900" dirty="0"/>
          </a:p>
        </p:txBody>
      </p:sp>
      <p:sp>
        <p:nvSpPr>
          <p:cNvPr id="8" name="b01-fade-run-a"/>
          <p:cNvSpPr/>
          <p:nvPr/>
        </p:nvSpPr>
        <p:spPr>
          <a:xfrm>
            <a:off x="804672" y="2697480"/>
            <a:ext cx="4937760" cy="402336"/>
          </a:xfrm>
          <a:prstGeom prst="rect">
            <a:avLst/>
          </a:prstGeom>
          <a:noFill/>
          <a:ln/>
        </p:spPr>
        <p:txBody>
          <a:bodyPr wrap="square" rtlCol="0" anchor="t"/>
          <a:lstStyle/>
          <a:p>
            <a:pPr marL="0" indent="0">
              <a:lnSpc>
                <a:spcPct val="105000"/>
              </a:lnSpc>
              <a:buNone/>
            </a:pPr>
            <a:r>
              <a:rPr lang="en-US" sz="1500" dirty="0">
                <a:solidFill>
                  <a:srgbClr val="B2BDCD"/>
                </a:solidFill>
                <a:latin typeface="Helvetica Neue" pitchFamily="34" charset="0"/>
                <a:ea typeface="Helvetica Neue" pitchFamily="34" charset="-122"/>
                <a:cs typeface="Helvetica Neue" pitchFamily="34" charset="-120"/>
              </a:rPr>
              <a:t>Default commands, the full 400,000-row dataset.</a:t>
            </a:r>
            <a:endParaRPr lang="en-US" sz="1500" dirty="0"/>
          </a:p>
        </p:txBody>
      </p:sp>
      <p:sp>
        <p:nvSpPr>
          <p:cNvPr id="9" name="b01-fade-run-b"/>
          <p:cNvSpPr/>
          <p:nvPr/>
        </p:nvSpPr>
        <p:spPr>
          <a:xfrm>
            <a:off x="6217920" y="1874520"/>
            <a:ext cx="5413248" cy="1371600"/>
          </a:xfrm>
          <a:prstGeom prst="roundRect">
            <a:avLst>
              <a:gd name="adj" fmla="val 8667"/>
            </a:avLst>
          </a:prstGeom>
          <a:solidFill>
            <a:srgbClr val="0E1219"/>
          </a:solidFill>
          <a:ln w="12700">
            <a:solidFill>
              <a:srgbClr val="75EDBB"/>
            </a:solidFill>
            <a:prstDash val="solid"/>
          </a:ln>
        </p:spPr>
        <p:txBody>
          <a:bodyPr/>
          <a:lstStyle/>
          <a:p>
            <a:endParaRPr lang="en-US"/>
          </a:p>
        </p:txBody>
      </p:sp>
      <p:sp>
        <p:nvSpPr>
          <p:cNvPr id="10" name="b01-fade-run-b"/>
          <p:cNvSpPr/>
          <p:nvPr/>
        </p:nvSpPr>
        <p:spPr>
          <a:xfrm>
            <a:off x="6455664" y="2057400"/>
            <a:ext cx="4937760" cy="237744"/>
          </a:xfrm>
          <a:prstGeom prst="rect">
            <a:avLst/>
          </a:prstGeom>
          <a:noFill/>
          <a:ln/>
        </p:spPr>
        <p:txBody>
          <a:bodyPr wrap="square" rtlCol="0" anchor="t"/>
          <a:lstStyle/>
          <a:p>
            <a:pPr marL="0" indent="0">
              <a:lnSpc>
                <a:spcPct val="105000"/>
              </a:lnSpc>
              <a:buNone/>
            </a:pPr>
            <a:r>
              <a:rPr lang="en-US" sz="1100" b="1" kern="0" spc="200" dirty="0">
                <a:solidFill>
                  <a:srgbClr val="75EDBB"/>
                </a:solidFill>
                <a:latin typeface="Helvetica Neue" pitchFamily="34" charset="0"/>
                <a:ea typeface="Helvetica Neue" pitchFamily="34" charset="-122"/>
                <a:cs typeface="Helvetica Neue" pitchFamily="34" charset="-120"/>
              </a:rPr>
              <a:t>RUN B · OPTIMIZED VIA TWTTY</a:t>
            </a:r>
            <a:endParaRPr lang="en-US" sz="1100" dirty="0"/>
          </a:p>
        </p:txBody>
      </p:sp>
      <p:sp>
        <p:nvSpPr>
          <p:cNvPr id="11" name="b01-fade-run-b"/>
          <p:cNvSpPr/>
          <p:nvPr/>
        </p:nvSpPr>
        <p:spPr>
          <a:xfrm>
            <a:off x="6455664" y="2368296"/>
            <a:ext cx="4937760" cy="274320"/>
          </a:xfrm>
          <a:prstGeom prst="rect">
            <a:avLst/>
          </a:prstGeom>
          <a:noFill/>
          <a:ln/>
        </p:spPr>
        <p:txBody>
          <a:bodyPr wrap="square" rtlCol="0" anchor="t"/>
          <a:lstStyle/>
          <a:p>
            <a:pPr marL="0" indent="0">
              <a:lnSpc>
                <a:spcPct val="105000"/>
              </a:lnSpc>
              <a:buNone/>
            </a:pPr>
            <a:r>
              <a:rPr lang="en-US" sz="1900" b="1" dirty="0">
                <a:solidFill>
                  <a:srgbClr val="F3F6FA"/>
                </a:solidFill>
                <a:latin typeface="Helvetica Neue" pitchFamily="34" charset="0"/>
                <a:ea typeface="Helvetica Neue" pitchFamily="34" charset="-122"/>
                <a:cs typeface="Helvetica Neue" pitchFamily="34" charset="-120"/>
              </a:rPr>
              <a:t>Brief, fixture, direct test</a:t>
            </a:r>
            <a:endParaRPr lang="en-US" sz="1900" dirty="0"/>
          </a:p>
        </p:txBody>
      </p:sp>
      <p:sp>
        <p:nvSpPr>
          <p:cNvPr id="12" name="b01-fade-run-b"/>
          <p:cNvSpPr/>
          <p:nvPr/>
        </p:nvSpPr>
        <p:spPr>
          <a:xfrm>
            <a:off x="6455664" y="2697480"/>
            <a:ext cx="4937760" cy="402336"/>
          </a:xfrm>
          <a:prstGeom prst="rect">
            <a:avLst/>
          </a:prstGeom>
          <a:noFill/>
          <a:ln/>
        </p:spPr>
        <p:txBody>
          <a:bodyPr wrap="square" rtlCol="0" anchor="t"/>
          <a:lstStyle/>
          <a:p>
            <a:pPr marL="0" indent="0">
              <a:lnSpc>
                <a:spcPct val="105000"/>
              </a:lnSpc>
              <a:buNone/>
            </a:pPr>
            <a:r>
              <a:rPr lang="en-US" sz="1500" dirty="0">
                <a:solidFill>
                  <a:srgbClr val="B2BDCD"/>
                </a:solidFill>
                <a:latin typeface="Helvetica Neue" pitchFamily="34" charset="0"/>
                <a:ea typeface="Helvetica Neue" pitchFamily="34" charset="-122"/>
                <a:cs typeface="Helvetica Neue" pitchFamily="34" charset="-120"/>
              </a:rPr>
              <a:t>AGENTS.md rule, 100-case fixture, fast targeted test.</a:t>
            </a:r>
            <a:endParaRPr lang="en-US" sz="1500" dirty="0"/>
          </a:p>
        </p:txBody>
      </p:sp>
      <p:sp>
        <p:nvSpPr>
          <p:cNvPr id="13" name="b02-rise-scoreboard"/>
          <p:cNvSpPr/>
          <p:nvPr/>
        </p:nvSpPr>
        <p:spPr>
          <a:xfrm>
            <a:off x="566928" y="3456432"/>
            <a:ext cx="3931920" cy="402336"/>
          </a:xfrm>
          <a:prstGeom prst="rect">
            <a:avLst/>
          </a:prstGeom>
          <a:noFill/>
          <a:ln/>
        </p:spPr>
        <p:txBody>
          <a:bodyPr wrap="square" rtlCol="0" anchor="ctr"/>
          <a:lstStyle/>
          <a:p>
            <a:pPr marL="0" indent="0">
              <a:lnSpc>
                <a:spcPct val="105000"/>
              </a:lnSpc>
              <a:buNone/>
            </a:pPr>
            <a:r>
              <a:rPr lang="en-US" sz="1600" dirty="0">
                <a:solidFill>
                  <a:srgbClr val="B2BDCD"/>
                </a:solidFill>
                <a:latin typeface="Helvetica Neue" pitchFamily="34" charset="0"/>
                <a:ea typeface="Helvetica Neue" pitchFamily="34" charset="-122"/>
                <a:cs typeface="Helvetica Neue" pitchFamily="34" charset="-120"/>
              </a:rPr>
              <a:t>Turns to a green gate</a:t>
            </a:r>
            <a:endParaRPr lang="en-US" sz="1600" dirty="0"/>
          </a:p>
        </p:txBody>
      </p:sp>
      <p:sp>
        <p:nvSpPr>
          <p:cNvPr id="14" name="b02-rise-scoreboard"/>
          <p:cNvSpPr/>
          <p:nvPr/>
        </p:nvSpPr>
        <p:spPr>
          <a:xfrm>
            <a:off x="4617720" y="3456432"/>
            <a:ext cx="3429000" cy="402336"/>
          </a:xfrm>
          <a:prstGeom prst="roundRect">
            <a:avLst>
              <a:gd name="adj" fmla="val 18182"/>
            </a:avLst>
          </a:prstGeom>
          <a:solidFill>
            <a:srgbClr val="0A0D13"/>
          </a:solidFill>
          <a:ln w="15875">
            <a:solidFill>
              <a:srgbClr val="F3F6FA"/>
            </a:solidFill>
            <a:prstDash val="solid"/>
          </a:ln>
        </p:spPr>
        <p:txBody>
          <a:bodyPr/>
          <a:lstStyle/>
          <a:p>
            <a:endParaRPr lang="en-US"/>
          </a:p>
        </p:txBody>
      </p:sp>
      <p:sp>
        <p:nvSpPr>
          <p:cNvPr id="15" name="b02-rise-scoreboard"/>
          <p:cNvSpPr/>
          <p:nvPr/>
        </p:nvSpPr>
        <p:spPr>
          <a:xfrm>
            <a:off x="4617720" y="3456432"/>
            <a:ext cx="3429000" cy="402336"/>
          </a:xfrm>
          <a:prstGeom prst="rect">
            <a:avLst/>
          </a:prstGeom>
          <a:noFill/>
          <a:ln/>
        </p:spPr>
        <p:txBody>
          <a:bodyPr wrap="square" rtlCol="0" anchor="ctr"/>
          <a:lstStyle/>
          <a:p>
            <a:pPr marL="0" indent="0" algn="ctr">
              <a:lnSpc>
                <a:spcPct val="105000"/>
              </a:lnSpc>
              <a:buNone/>
            </a:pPr>
            <a:r>
              <a:rPr lang="en-US" sz="1500" b="1" dirty="0">
                <a:solidFill>
                  <a:srgbClr val="F3F6FA"/>
                </a:solidFill>
                <a:latin typeface="Helvetica Neue" pitchFamily="34" charset="0"/>
                <a:ea typeface="Helvetica Neue" pitchFamily="34" charset="-122"/>
                <a:cs typeface="Helvetica Neue" pitchFamily="34" charset="-120"/>
              </a:rPr>
              <a:t>2</a:t>
            </a:r>
            <a:endParaRPr lang="en-US" sz="1500" dirty="0"/>
          </a:p>
        </p:txBody>
      </p:sp>
      <p:sp>
        <p:nvSpPr>
          <p:cNvPr id="16" name="b02-rise-scoreboard"/>
          <p:cNvSpPr/>
          <p:nvPr/>
        </p:nvSpPr>
        <p:spPr>
          <a:xfrm>
            <a:off x="8183880" y="3456432"/>
            <a:ext cx="3429000" cy="402336"/>
          </a:xfrm>
          <a:prstGeom prst="roundRect">
            <a:avLst>
              <a:gd name="adj" fmla="val 18182"/>
            </a:avLst>
          </a:prstGeom>
          <a:solidFill>
            <a:srgbClr val="0A0D13"/>
          </a:solidFill>
          <a:ln w="15875">
            <a:solidFill>
              <a:srgbClr val="75EDBB"/>
            </a:solidFill>
            <a:prstDash val="solid"/>
          </a:ln>
        </p:spPr>
        <p:txBody>
          <a:bodyPr/>
          <a:lstStyle/>
          <a:p>
            <a:endParaRPr lang="en-US"/>
          </a:p>
        </p:txBody>
      </p:sp>
      <p:sp>
        <p:nvSpPr>
          <p:cNvPr id="17" name="b02-rise-scoreboard"/>
          <p:cNvSpPr/>
          <p:nvPr/>
        </p:nvSpPr>
        <p:spPr>
          <a:xfrm>
            <a:off x="8183880" y="3456432"/>
            <a:ext cx="3429000" cy="402336"/>
          </a:xfrm>
          <a:prstGeom prst="rect">
            <a:avLst/>
          </a:prstGeom>
          <a:noFill/>
          <a:ln/>
        </p:spPr>
        <p:txBody>
          <a:bodyPr wrap="square" rtlCol="0" anchor="ctr"/>
          <a:lstStyle/>
          <a:p>
            <a:pPr marL="0" indent="0" algn="ctr">
              <a:lnSpc>
                <a:spcPct val="105000"/>
              </a:lnSpc>
              <a:buNone/>
            </a:pPr>
            <a:r>
              <a:rPr lang="en-US" sz="1500" b="1" dirty="0">
                <a:solidFill>
                  <a:srgbClr val="75EDBB"/>
                </a:solidFill>
                <a:latin typeface="Helvetica Neue" pitchFamily="34" charset="0"/>
                <a:ea typeface="Helvetica Neue" pitchFamily="34" charset="-122"/>
                <a:cs typeface="Helvetica Neue" pitchFamily="34" charset="-120"/>
              </a:rPr>
              <a:t>1</a:t>
            </a:r>
            <a:endParaRPr lang="en-US" sz="1500" dirty="0"/>
          </a:p>
        </p:txBody>
      </p:sp>
      <p:sp>
        <p:nvSpPr>
          <p:cNvPr id="18" name="b02-rise-scoreboard"/>
          <p:cNvSpPr/>
          <p:nvPr/>
        </p:nvSpPr>
        <p:spPr>
          <a:xfrm>
            <a:off x="566928" y="4005072"/>
            <a:ext cx="3931920" cy="402336"/>
          </a:xfrm>
          <a:prstGeom prst="rect">
            <a:avLst/>
          </a:prstGeom>
          <a:noFill/>
          <a:ln/>
        </p:spPr>
        <p:txBody>
          <a:bodyPr wrap="square" rtlCol="0" anchor="ctr"/>
          <a:lstStyle/>
          <a:p>
            <a:pPr marL="0" indent="0">
              <a:lnSpc>
                <a:spcPct val="105000"/>
              </a:lnSpc>
              <a:buNone/>
            </a:pPr>
            <a:r>
              <a:rPr lang="en-US" sz="1600" dirty="0">
                <a:solidFill>
                  <a:srgbClr val="B2BDCD"/>
                </a:solidFill>
                <a:latin typeface="Helvetica Neue" pitchFamily="34" charset="0"/>
                <a:ea typeface="Helvetica Neue" pitchFamily="34" charset="-122"/>
                <a:cs typeface="Helvetica Neue" pitchFamily="34" charset="-120"/>
              </a:rPr>
              <a:t>Wall clock to green</a:t>
            </a:r>
            <a:endParaRPr lang="en-US" sz="1600" dirty="0"/>
          </a:p>
        </p:txBody>
      </p:sp>
      <p:sp>
        <p:nvSpPr>
          <p:cNvPr id="19" name="b02-rise-scoreboard"/>
          <p:cNvSpPr/>
          <p:nvPr/>
        </p:nvSpPr>
        <p:spPr>
          <a:xfrm>
            <a:off x="4617720" y="4005072"/>
            <a:ext cx="3429000" cy="402336"/>
          </a:xfrm>
          <a:prstGeom prst="roundRect">
            <a:avLst>
              <a:gd name="adj" fmla="val 18182"/>
            </a:avLst>
          </a:prstGeom>
          <a:solidFill>
            <a:srgbClr val="0A0D13"/>
          </a:solidFill>
          <a:ln w="15875">
            <a:solidFill>
              <a:srgbClr val="F3F6FA"/>
            </a:solidFill>
            <a:prstDash val="solid"/>
          </a:ln>
        </p:spPr>
        <p:txBody>
          <a:bodyPr/>
          <a:lstStyle/>
          <a:p>
            <a:endParaRPr lang="en-US"/>
          </a:p>
        </p:txBody>
      </p:sp>
      <p:sp>
        <p:nvSpPr>
          <p:cNvPr id="20" name="b02-rise-scoreboard"/>
          <p:cNvSpPr/>
          <p:nvPr/>
        </p:nvSpPr>
        <p:spPr>
          <a:xfrm>
            <a:off x="4617720" y="4005072"/>
            <a:ext cx="3429000" cy="402336"/>
          </a:xfrm>
          <a:prstGeom prst="rect">
            <a:avLst/>
          </a:prstGeom>
          <a:noFill/>
          <a:ln/>
        </p:spPr>
        <p:txBody>
          <a:bodyPr wrap="square" rtlCol="0" anchor="ctr"/>
          <a:lstStyle/>
          <a:p>
            <a:pPr marL="0" indent="0" algn="ctr">
              <a:lnSpc>
                <a:spcPct val="105000"/>
              </a:lnSpc>
              <a:buNone/>
            </a:pPr>
            <a:r>
              <a:rPr lang="en-US" sz="1500" b="1" dirty="0">
                <a:solidFill>
                  <a:srgbClr val="F3F6FA"/>
                </a:solidFill>
                <a:latin typeface="Helvetica Neue" pitchFamily="34" charset="0"/>
                <a:ea typeface="Helvetica Neue" pitchFamily="34" charset="-122"/>
                <a:cs typeface="Helvetica Neue" pitchFamily="34" charset="-120"/>
              </a:rPr>
              <a:t>131 s</a:t>
            </a:r>
            <a:endParaRPr lang="en-US" sz="1500" dirty="0"/>
          </a:p>
        </p:txBody>
      </p:sp>
      <p:sp>
        <p:nvSpPr>
          <p:cNvPr id="21" name="b02-rise-scoreboard"/>
          <p:cNvSpPr/>
          <p:nvPr/>
        </p:nvSpPr>
        <p:spPr>
          <a:xfrm>
            <a:off x="8183880" y="4005072"/>
            <a:ext cx="3429000" cy="402336"/>
          </a:xfrm>
          <a:prstGeom prst="roundRect">
            <a:avLst>
              <a:gd name="adj" fmla="val 18182"/>
            </a:avLst>
          </a:prstGeom>
          <a:solidFill>
            <a:srgbClr val="0A0D13"/>
          </a:solidFill>
          <a:ln w="15875">
            <a:solidFill>
              <a:srgbClr val="75EDBB"/>
            </a:solidFill>
            <a:prstDash val="solid"/>
          </a:ln>
        </p:spPr>
        <p:txBody>
          <a:bodyPr/>
          <a:lstStyle/>
          <a:p>
            <a:endParaRPr lang="en-US"/>
          </a:p>
        </p:txBody>
      </p:sp>
      <p:sp>
        <p:nvSpPr>
          <p:cNvPr id="22" name="b02-rise-scoreboard"/>
          <p:cNvSpPr/>
          <p:nvPr/>
        </p:nvSpPr>
        <p:spPr>
          <a:xfrm>
            <a:off x="8183880" y="4005072"/>
            <a:ext cx="3429000" cy="402336"/>
          </a:xfrm>
          <a:prstGeom prst="rect">
            <a:avLst/>
          </a:prstGeom>
          <a:noFill/>
          <a:ln/>
        </p:spPr>
        <p:txBody>
          <a:bodyPr wrap="square" rtlCol="0" anchor="ctr"/>
          <a:lstStyle/>
          <a:p>
            <a:pPr marL="0" indent="0" algn="ctr">
              <a:lnSpc>
                <a:spcPct val="105000"/>
              </a:lnSpc>
              <a:buNone/>
            </a:pPr>
            <a:r>
              <a:rPr lang="en-US" sz="1500" b="1" dirty="0">
                <a:solidFill>
                  <a:srgbClr val="75EDBB"/>
                </a:solidFill>
                <a:latin typeface="Helvetica Neue" pitchFamily="34" charset="0"/>
                <a:ea typeface="Helvetica Neue" pitchFamily="34" charset="-122"/>
                <a:cs typeface="Helvetica Neue" pitchFamily="34" charset="-120"/>
              </a:rPr>
              <a:t>72 s</a:t>
            </a:r>
            <a:endParaRPr lang="en-US" sz="1500" dirty="0"/>
          </a:p>
        </p:txBody>
      </p:sp>
      <p:sp>
        <p:nvSpPr>
          <p:cNvPr id="23" name="b02-rise-scoreboard"/>
          <p:cNvSpPr/>
          <p:nvPr/>
        </p:nvSpPr>
        <p:spPr>
          <a:xfrm>
            <a:off x="566928" y="4553712"/>
            <a:ext cx="3931920" cy="402336"/>
          </a:xfrm>
          <a:prstGeom prst="rect">
            <a:avLst/>
          </a:prstGeom>
          <a:noFill/>
          <a:ln/>
        </p:spPr>
        <p:txBody>
          <a:bodyPr wrap="square" rtlCol="0" anchor="ctr"/>
          <a:lstStyle/>
          <a:p>
            <a:pPr marL="0" indent="0">
              <a:lnSpc>
                <a:spcPct val="105000"/>
              </a:lnSpc>
              <a:buNone/>
            </a:pPr>
            <a:r>
              <a:rPr lang="en-US" sz="1600" dirty="0">
                <a:solidFill>
                  <a:srgbClr val="B2BDCD"/>
                </a:solidFill>
                <a:latin typeface="Helvetica Neue" pitchFamily="34" charset="0"/>
                <a:ea typeface="Helvetica Neue" pitchFamily="34" charset="-122"/>
                <a:cs typeface="Helvetica Neue" pitchFamily="34" charset="-120"/>
              </a:rPr>
              <a:t>AI usage</a:t>
            </a:r>
            <a:endParaRPr lang="en-US" sz="1600" dirty="0"/>
          </a:p>
        </p:txBody>
      </p:sp>
      <p:sp>
        <p:nvSpPr>
          <p:cNvPr id="24" name="b02-rise-scoreboard"/>
          <p:cNvSpPr/>
          <p:nvPr/>
        </p:nvSpPr>
        <p:spPr>
          <a:xfrm>
            <a:off x="4617720" y="4553712"/>
            <a:ext cx="3429000" cy="402336"/>
          </a:xfrm>
          <a:prstGeom prst="roundRect">
            <a:avLst>
              <a:gd name="adj" fmla="val 18182"/>
            </a:avLst>
          </a:prstGeom>
          <a:solidFill>
            <a:srgbClr val="0A0D13"/>
          </a:solidFill>
          <a:ln w="15875">
            <a:solidFill>
              <a:srgbClr val="F3F6FA"/>
            </a:solidFill>
            <a:prstDash val="solid"/>
          </a:ln>
        </p:spPr>
        <p:txBody>
          <a:bodyPr/>
          <a:lstStyle/>
          <a:p>
            <a:endParaRPr lang="en-US"/>
          </a:p>
        </p:txBody>
      </p:sp>
      <p:sp>
        <p:nvSpPr>
          <p:cNvPr id="25" name="b02-rise-scoreboard"/>
          <p:cNvSpPr/>
          <p:nvPr/>
        </p:nvSpPr>
        <p:spPr>
          <a:xfrm>
            <a:off x="4617720" y="4553712"/>
            <a:ext cx="3429000" cy="402336"/>
          </a:xfrm>
          <a:prstGeom prst="rect">
            <a:avLst/>
          </a:prstGeom>
          <a:noFill/>
          <a:ln/>
        </p:spPr>
        <p:txBody>
          <a:bodyPr wrap="square" rtlCol="0" anchor="ctr"/>
          <a:lstStyle/>
          <a:p>
            <a:pPr marL="0" indent="0" algn="ctr">
              <a:lnSpc>
                <a:spcPct val="105000"/>
              </a:lnSpc>
              <a:buNone/>
            </a:pPr>
            <a:r>
              <a:rPr lang="en-US" sz="1500" b="1" dirty="0">
                <a:solidFill>
                  <a:srgbClr val="F3F6FA"/>
                </a:solidFill>
                <a:latin typeface="Helvetica Neue" pitchFamily="34" charset="0"/>
                <a:ea typeface="Helvetica Neue" pitchFamily="34" charset="-122"/>
                <a:cs typeface="Helvetica Neue" pitchFamily="34" charset="-120"/>
              </a:rPr>
              <a:t>22.1 AIU · 15 calls</a:t>
            </a:r>
            <a:endParaRPr lang="en-US" sz="1500" dirty="0"/>
          </a:p>
        </p:txBody>
      </p:sp>
      <p:sp>
        <p:nvSpPr>
          <p:cNvPr id="26" name="b02-rise-scoreboard"/>
          <p:cNvSpPr/>
          <p:nvPr/>
        </p:nvSpPr>
        <p:spPr>
          <a:xfrm>
            <a:off x="8183880" y="4553712"/>
            <a:ext cx="3429000" cy="402336"/>
          </a:xfrm>
          <a:prstGeom prst="roundRect">
            <a:avLst>
              <a:gd name="adj" fmla="val 18182"/>
            </a:avLst>
          </a:prstGeom>
          <a:solidFill>
            <a:srgbClr val="0A0D13"/>
          </a:solidFill>
          <a:ln w="15875">
            <a:solidFill>
              <a:srgbClr val="75EDBB"/>
            </a:solidFill>
            <a:prstDash val="solid"/>
          </a:ln>
        </p:spPr>
        <p:txBody>
          <a:bodyPr/>
          <a:lstStyle/>
          <a:p>
            <a:endParaRPr lang="en-US"/>
          </a:p>
        </p:txBody>
      </p:sp>
      <p:sp>
        <p:nvSpPr>
          <p:cNvPr id="27" name="b02-rise-scoreboard"/>
          <p:cNvSpPr/>
          <p:nvPr/>
        </p:nvSpPr>
        <p:spPr>
          <a:xfrm>
            <a:off x="8183880" y="4553712"/>
            <a:ext cx="3429000" cy="402336"/>
          </a:xfrm>
          <a:prstGeom prst="rect">
            <a:avLst/>
          </a:prstGeom>
          <a:noFill/>
          <a:ln/>
        </p:spPr>
        <p:txBody>
          <a:bodyPr wrap="square" rtlCol="0" anchor="ctr"/>
          <a:lstStyle/>
          <a:p>
            <a:pPr marL="0" indent="0" algn="ctr">
              <a:lnSpc>
                <a:spcPct val="105000"/>
              </a:lnSpc>
              <a:buNone/>
            </a:pPr>
            <a:r>
              <a:rPr lang="en-US" sz="1500" b="1" dirty="0">
                <a:solidFill>
                  <a:srgbClr val="75EDBB"/>
                </a:solidFill>
                <a:latin typeface="Helvetica Neue" pitchFamily="34" charset="0"/>
                <a:ea typeface="Helvetica Neue" pitchFamily="34" charset="-122"/>
                <a:cs typeface="Helvetica Neue" pitchFamily="34" charset="-120"/>
              </a:rPr>
              <a:t>13.6 AIU · 8 calls</a:t>
            </a:r>
            <a:endParaRPr lang="en-US" sz="1500" dirty="0"/>
          </a:p>
        </p:txBody>
      </p:sp>
      <p:sp>
        <p:nvSpPr>
          <p:cNvPr id="28" name="b02-rise-scoreboard"/>
          <p:cNvSpPr/>
          <p:nvPr/>
        </p:nvSpPr>
        <p:spPr>
          <a:xfrm>
            <a:off x="566928" y="5102352"/>
            <a:ext cx="3931920" cy="402336"/>
          </a:xfrm>
          <a:prstGeom prst="rect">
            <a:avLst/>
          </a:prstGeom>
          <a:noFill/>
          <a:ln/>
        </p:spPr>
        <p:txBody>
          <a:bodyPr wrap="square" rtlCol="0" anchor="ctr"/>
          <a:lstStyle/>
          <a:p>
            <a:pPr marL="0" indent="0">
              <a:lnSpc>
                <a:spcPct val="105000"/>
              </a:lnSpc>
              <a:buNone/>
            </a:pPr>
            <a:r>
              <a:rPr lang="en-US" sz="1600" dirty="0">
                <a:solidFill>
                  <a:srgbClr val="B2BDCD"/>
                </a:solidFill>
                <a:latin typeface="Helvetica Neue" pitchFamily="34" charset="0"/>
                <a:ea typeface="Helvetica Neue" pitchFamily="34" charset="-122"/>
                <a:cs typeface="Helvetica Neue" pitchFamily="34" charset="-120"/>
              </a:rPr>
              <a:t>Gate on first attempt</a:t>
            </a:r>
            <a:endParaRPr lang="en-US" sz="1600" dirty="0"/>
          </a:p>
        </p:txBody>
      </p:sp>
      <p:sp>
        <p:nvSpPr>
          <p:cNvPr id="29" name="b02-rise-scoreboard"/>
          <p:cNvSpPr/>
          <p:nvPr/>
        </p:nvSpPr>
        <p:spPr>
          <a:xfrm>
            <a:off x="4617720" y="5102352"/>
            <a:ext cx="3429000" cy="402336"/>
          </a:xfrm>
          <a:prstGeom prst="roundRect">
            <a:avLst>
              <a:gd name="adj" fmla="val 18182"/>
            </a:avLst>
          </a:prstGeom>
          <a:solidFill>
            <a:srgbClr val="0A0D13"/>
          </a:solidFill>
          <a:ln w="15875">
            <a:solidFill>
              <a:srgbClr val="FFCA83"/>
            </a:solidFill>
            <a:prstDash val="solid"/>
          </a:ln>
        </p:spPr>
        <p:txBody>
          <a:bodyPr/>
          <a:lstStyle/>
          <a:p>
            <a:endParaRPr lang="en-US"/>
          </a:p>
        </p:txBody>
      </p:sp>
      <p:sp>
        <p:nvSpPr>
          <p:cNvPr id="30" name="b02-rise-scoreboard"/>
          <p:cNvSpPr/>
          <p:nvPr/>
        </p:nvSpPr>
        <p:spPr>
          <a:xfrm>
            <a:off x="4617720" y="5102352"/>
            <a:ext cx="3429000" cy="402336"/>
          </a:xfrm>
          <a:prstGeom prst="rect">
            <a:avLst/>
          </a:prstGeom>
          <a:noFill/>
          <a:ln/>
        </p:spPr>
        <p:txBody>
          <a:bodyPr wrap="square" rtlCol="0" anchor="ctr"/>
          <a:lstStyle/>
          <a:p>
            <a:pPr marL="0" indent="0" algn="ctr">
              <a:lnSpc>
                <a:spcPct val="105000"/>
              </a:lnSpc>
              <a:buNone/>
            </a:pPr>
            <a:r>
              <a:rPr lang="en-US" sz="1500" b="1" dirty="0">
                <a:solidFill>
                  <a:srgbClr val="FFCA83"/>
                </a:solidFill>
                <a:latin typeface="Helvetica Neue" pitchFamily="34" charset="0"/>
                <a:ea typeface="Helvetica Neue" pitchFamily="34" charset="-122"/>
                <a:cs typeface="Helvetica Neue" pitchFamily="34" charset="-120"/>
              </a:rPr>
              <a:t>FAILED · 3 of 11</a:t>
            </a:r>
            <a:endParaRPr lang="en-US" sz="1500" dirty="0"/>
          </a:p>
        </p:txBody>
      </p:sp>
      <p:sp>
        <p:nvSpPr>
          <p:cNvPr id="31" name="b02-rise-scoreboard"/>
          <p:cNvSpPr/>
          <p:nvPr/>
        </p:nvSpPr>
        <p:spPr>
          <a:xfrm>
            <a:off x="8183880" y="5102352"/>
            <a:ext cx="3429000" cy="402336"/>
          </a:xfrm>
          <a:prstGeom prst="roundRect">
            <a:avLst>
              <a:gd name="adj" fmla="val 18182"/>
            </a:avLst>
          </a:prstGeom>
          <a:solidFill>
            <a:srgbClr val="0A0D13"/>
          </a:solidFill>
          <a:ln w="15875">
            <a:solidFill>
              <a:srgbClr val="75EDBB"/>
            </a:solidFill>
            <a:prstDash val="solid"/>
          </a:ln>
        </p:spPr>
        <p:txBody>
          <a:bodyPr/>
          <a:lstStyle/>
          <a:p>
            <a:endParaRPr lang="en-US"/>
          </a:p>
        </p:txBody>
      </p:sp>
      <p:sp>
        <p:nvSpPr>
          <p:cNvPr id="32" name="b02-rise-scoreboard"/>
          <p:cNvSpPr/>
          <p:nvPr/>
        </p:nvSpPr>
        <p:spPr>
          <a:xfrm>
            <a:off x="8183880" y="5102352"/>
            <a:ext cx="3429000" cy="402336"/>
          </a:xfrm>
          <a:prstGeom prst="rect">
            <a:avLst/>
          </a:prstGeom>
          <a:noFill/>
          <a:ln/>
        </p:spPr>
        <p:txBody>
          <a:bodyPr wrap="square" rtlCol="0" anchor="ctr"/>
          <a:lstStyle/>
          <a:p>
            <a:pPr marL="0" indent="0" algn="ctr">
              <a:lnSpc>
                <a:spcPct val="105000"/>
              </a:lnSpc>
              <a:buNone/>
            </a:pPr>
            <a:r>
              <a:rPr lang="en-US" sz="1500" b="1" dirty="0">
                <a:solidFill>
                  <a:srgbClr val="75EDBB"/>
                </a:solidFill>
                <a:latin typeface="Helvetica Neue" pitchFamily="34" charset="0"/>
                <a:ea typeface="Helvetica Neue" pitchFamily="34" charset="-122"/>
                <a:cs typeface="Helvetica Neue" pitchFamily="34" charset="-120"/>
              </a:rPr>
              <a:t>PASSED · 11 of 11</a:t>
            </a:r>
            <a:endParaRPr lang="en-US" sz="1500" dirty="0"/>
          </a:p>
        </p:txBody>
      </p:sp>
      <p:sp>
        <p:nvSpPr>
          <p:cNvPr id="33" name="b03-rise-demo-gate"/>
          <p:cNvSpPr/>
          <p:nvPr/>
        </p:nvSpPr>
        <p:spPr>
          <a:xfrm>
            <a:off x="566928" y="5669280"/>
            <a:ext cx="11064240" cy="411480"/>
          </a:xfrm>
          <a:prstGeom prst="roundRect">
            <a:avLst>
              <a:gd name="adj" fmla="val 28889"/>
            </a:avLst>
          </a:prstGeom>
          <a:solidFill>
            <a:srgbClr val="2A2547"/>
          </a:solidFill>
          <a:ln w="12700">
            <a:solidFill>
              <a:srgbClr val="A99AFF"/>
            </a:solidFill>
            <a:prstDash val="solid"/>
          </a:ln>
        </p:spPr>
        <p:txBody>
          <a:bodyPr/>
          <a:lstStyle/>
          <a:p>
            <a:endParaRPr lang="en-US"/>
          </a:p>
        </p:txBody>
      </p:sp>
      <p:sp>
        <p:nvSpPr>
          <p:cNvPr id="34" name="b03-rise-demo-gate"/>
          <p:cNvSpPr/>
          <p:nvPr/>
        </p:nvSpPr>
        <p:spPr>
          <a:xfrm>
            <a:off x="841248" y="5669280"/>
            <a:ext cx="10515600" cy="411480"/>
          </a:xfrm>
          <a:prstGeom prst="rect">
            <a:avLst/>
          </a:prstGeom>
          <a:noFill/>
          <a:ln/>
        </p:spPr>
        <p:txBody>
          <a:bodyPr wrap="square" rtlCol="0" anchor="ctr"/>
          <a:lstStyle/>
          <a:p>
            <a:pPr marL="0" indent="0">
              <a:lnSpc>
                <a:spcPct val="105000"/>
              </a:lnSpc>
              <a:buNone/>
            </a:pPr>
            <a:r>
              <a:rPr lang="en-US" sz="1500" dirty="0">
                <a:solidFill>
                  <a:srgbClr val="F3F6FA"/>
                </a:solidFill>
                <a:latin typeface="Helvetica Neue" pitchFamily="34" charset="0"/>
                <a:ea typeface="Helvetica Neue" pitchFamily="34" charset="-122"/>
                <a:cs typeface="Helvetica Neue" pitchFamily="34" charset="-120"/>
              </a:rPr>
              <a:t>Both driven to the same gate. A guessed overdue meant SENT only, and needed a second turn to find out.</a:t>
            </a:r>
            <a:endParaRPr lang="en-US" sz="1500" dirty="0"/>
          </a:p>
        </p:txBody>
      </p:sp>
      <p:sp>
        <p:nvSpPr>
          <p:cNvPr id="35" name="Text 33"/>
          <p:cNvSpPr/>
          <p:nvPr/>
        </p:nvSpPr>
        <p:spPr>
          <a:xfrm>
            <a:off x="566928" y="6391656"/>
            <a:ext cx="8961120" cy="274320"/>
          </a:xfrm>
          <a:prstGeom prst="rect">
            <a:avLst/>
          </a:prstGeom>
          <a:noFill/>
          <a:ln/>
        </p:spPr>
        <p:txBody>
          <a:bodyPr wrap="square" rtlCol="0" anchor="ctr"/>
          <a:lstStyle/>
          <a:p>
            <a:pPr marL="0" indent="0">
              <a:lnSpc>
                <a:spcPct val="105000"/>
              </a:lnSpc>
              <a:buNone/>
            </a:pPr>
            <a:r>
              <a:rPr lang="en-US" sz="1100" dirty="0">
                <a:solidFill>
                  <a:srgbClr val="6F7B8D"/>
                </a:solidFill>
                <a:latin typeface="Helvetica Neue" pitchFamily="34" charset="0"/>
                <a:ea typeface="Helvetica Neue" pitchFamily="34" charset="-122"/>
                <a:cs typeface="Helvetica Neue" pitchFamily="34" charset="-120"/>
              </a:rPr>
              <a:t>Recorded trial, 18 Sep 2026, n=1. Same model and harness. AIU from assistant_usage_events. Raw: demo/results/scoreboard.json</a:t>
            </a:r>
            <a:endParaRPr lang="en-US" sz="1100" dirty="0"/>
          </a:p>
        </p:txBody>
      </p:sp>
      <p:sp>
        <p:nvSpPr>
          <p:cNvPr id="36" name="Text 34"/>
          <p:cNvSpPr/>
          <p:nvPr/>
        </p:nvSpPr>
        <p:spPr>
          <a:xfrm>
            <a:off x="9692640" y="6391656"/>
            <a:ext cx="1929384" cy="274320"/>
          </a:xfrm>
          <a:prstGeom prst="rect">
            <a:avLst/>
          </a:prstGeom>
          <a:noFill/>
          <a:ln/>
        </p:spPr>
        <p:txBody>
          <a:bodyPr wrap="square" rtlCol="0" anchor="ctr"/>
          <a:lstStyle/>
          <a:p>
            <a:pPr marL="0" indent="0" algn="r">
              <a:lnSpc>
                <a:spcPct val="105000"/>
              </a:lnSpc>
              <a:buNone/>
            </a:pPr>
            <a:r>
              <a:rPr lang="en-US" sz="1100" dirty="0">
                <a:solidFill>
                  <a:srgbClr val="6F7B8D"/>
                </a:solidFill>
                <a:latin typeface="Helvetica Neue" pitchFamily="34" charset="0"/>
                <a:ea typeface="Helvetica Neue" pitchFamily="34" charset="-122"/>
                <a:cs typeface="Helvetica Neue" pitchFamily="34" charset="-120"/>
              </a:rPr>
              <a:t>19 / 20</a:t>
            </a:r>
            <a:endParaRPr lang="en-US" sz="1100" dirty="0"/>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20"/>
                                        <p:tgtEl>
                                          <p:spTgt spid="5"/>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20"/>
                                        <p:tgtEl>
                                          <p:spTgt spid="6"/>
                                        </p:tgtEl>
                                      </p:cBhvr>
                                    </p:animEffect>
                                  </p:childTnLst>
                                </p:cTn>
                              </p:par>
                              <p:par>
                                <p:cTn id="11" presetID="10"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20"/>
                                        <p:tgtEl>
                                          <p:spTgt spid="7"/>
                                        </p:tgtEl>
                                      </p:cBhvr>
                                    </p:animEffect>
                                  </p:childTnLst>
                                </p:cTn>
                              </p:par>
                              <p:par>
                                <p:cTn id="14" presetID="10" presetClass="entr" presetSubtype="0" fill="hold"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20"/>
                                        <p:tgtEl>
                                          <p:spTgt spid="8"/>
                                        </p:tgtEl>
                                      </p:cBhvr>
                                    </p:animEffect>
                                  </p:childTnLst>
                                </p:cTn>
                              </p:par>
                              <p:par>
                                <p:cTn id="17" presetID="10"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20"/>
                                        <p:tgtEl>
                                          <p:spTgt spid="9"/>
                                        </p:tgtEl>
                                      </p:cBhvr>
                                    </p:animEffect>
                                  </p:childTnLst>
                                </p:cTn>
                              </p:par>
                              <p:par>
                                <p:cTn id="20" presetID="10" presetClass="entr" presetSubtype="0" fill="hold"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420"/>
                                        <p:tgtEl>
                                          <p:spTgt spid="10"/>
                                        </p:tgtEl>
                                      </p:cBhvr>
                                    </p:animEffect>
                                  </p:childTnLst>
                                </p:cTn>
                              </p:par>
                              <p:par>
                                <p:cTn id="23" presetID="10" presetClass="entr" presetSubtype="0" fill="hold"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420"/>
                                        <p:tgtEl>
                                          <p:spTgt spid="11"/>
                                        </p:tgtEl>
                                      </p:cBhvr>
                                    </p:animEffect>
                                  </p:childTnLst>
                                </p:cTn>
                              </p:par>
                              <p:par>
                                <p:cTn id="26" presetID="10" presetClass="entr" presetSubtype="0" fill="hold"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420"/>
                                        <p:tgtEl>
                                          <p:spTgt spid="12"/>
                                        </p:tgtEl>
                                      </p:cBhvr>
                                    </p:animEffect>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13"/>
                                        </p:tgtEl>
                                        <p:attrNameLst>
                                          <p:attrName>style.visibility</p:attrName>
                                        </p:attrNameLst>
                                      </p:cBhvr>
                                      <p:to>
                                        <p:strVal val="visible"/>
                                      </p:to>
                                    </p:set>
                                    <p:anim calcmode="lin" valueType="num">
                                      <p:cBhvr additive="base">
                                        <p:cTn id="33" dur="420" decel="60000" fill="hold"/>
                                        <p:tgtEl>
                                          <p:spTgt spid="13"/>
                                        </p:tgtEl>
                                        <p:attrNameLst>
                                          <p:attrName>ppt_y</p:attrName>
                                        </p:attrNameLst>
                                      </p:cBhvr>
                                      <p:tavLst>
                                        <p:tav tm="0">
                                          <p:val>
                                            <p:strVal val="#ppt_y+.014"/>
                                          </p:val>
                                        </p:tav>
                                        <p:tav tm="100000">
                                          <p:val>
                                            <p:strVal val="#ppt_y"/>
                                          </p:val>
                                        </p:tav>
                                      </p:tavLst>
                                    </p:anim>
                                    <p:animEffect transition="in" filter="fade">
                                      <p:cBhvr>
                                        <p:cTn id="34" dur="420"/>
                                        <p:tgtEl>
                                          <p:spTgt spid="13"/>
                                        </p:tgtEl>
                                      </p:cBhvr>
                                    </p:animEffect>
                                  </p:childTnLst>
                                </p:cTn>
                              </p:par>
                              <p:par>
                                <p:cTn id="35" presetID="42" presetClass="entr" presetSubtype="0" fill="hold" nodeType="withEffect">
                                  <p:stCondLst>
                                    <p:cond delay="0"/>
                                  </p:stCondLst>
                                  <p:childTnLst>
                                    <p:set>
                                      <p:cBhvr>
                                        <p:cTn id="36" dur="1" fill="hold">
                                          <p:stCondLst>
                                            <p:cond delay="0"/>
                                          </p:stCondLst>
                                        </p:cTn>
                                        <p:tgtEl>
                                          <p:spTgt spid="14"/>
                                        </p:tgtEl>
                                        <p:attrNameLst>
                                          <p:attrName>style.visibility</p:attrName>
                                        </p:attrNameLst>
                                      </p:cBhvr>
                                      <p:to>
                                        <p:strVal val="visible"/>
                                      </p:to>
                                    </p:set>
                                    <p:anim calcmode="lin" valueType="num">
                                      <p:cBhvr additive="base">
                                        <p:cTn id="37" dur="420" decel="60000" fill="hold"/>
                                        <p:tgtEl>
                                          <p:spTgt spid="14"/>
                                        </p:tgtEl>
                                        <p:attrNameLst>
                                          <p:attrName>ppt_y</p:attrName>
                                        </p:attrNameLst>
                                      </p:cBhvr>
                                      <p:tavLst>
                                        <p:tav tm="0">
                                          <p:val>
                                            <p:strVal val="#ppt_y+.014"/>
                                          </p:val>
                                        </p:tav>
                                        <p:tav tm="100000">
                                          <p:val>
                                            <p:strVal val="#ppt_y"/>
                                          </p:val>
                                        </p:tav>
                                      </p:tavLst>
                                    </p:anim>
                                    <p:animEffect transition="in" filter="fade">
                                      <p:cBhvr>
                                        <p:cTn id="38" dur="420"/>
                                        <p:tgtEl>
                                          <p:spTgt spid="14"/>
                                        </p:tgtEl>
                                      </p:cBhvr>
                                    </p:animEffect>
                                  </p:childTnLst>
                                </p:cTn>
                              </p:par>
                              <p:par>
                                <p:cTn id="39" presetID="42" presetClass="entr" presetSubtype="0" fill="hold" nodeType="withEffect">
                                  <p:stCondLst>
                                    <p:cond delay="0"/>
                                  </p:stCondLst>
                                  <p:childTnLst>
                                    <p:set>
                                      <p:cBhvr>
                                        <p:cTn id="40" dur="1" fill="hold">
                                          <p:stCondLst>
                                            <p:cond delay="0"/>
                                          </p:stCondLst>
                                        </p:cTn>
                                        <p:tgtEl>
                                          <p:spTgt spid="15"/>
                                        </p:tgtEl>
                                        <p:attrNameLst>
                                          <p:attrName>style.visibility</p:attrName>
                                        </p:attrNameLst>
                                      </p:cBhvr>
                                      <p:to>
                                        <p:strVal val="visible"/>
                                      </p:to>
                                    </p:set>
                                    <p:anim calcmode="lin" valueType="num">
                                      <p:cBhvr additive="base">
                                        <p:cTn id="41" dur="420" decel="60000" fill="hold"/>
                                        <p:tgtEl>
                                          <p:spTgt spid="15"/>
                                        </p:tgtEl>
                                        <p:attrNameLst>
                                          <p:attrName>ppt_y</p:attrName>
                                        </p:attrNameLst>
                                      </p:cBhvr>
                                      <p:tavLst>
                                        <p:tav tm="0">
                                          <p:val>
                                            <p:strVal val="#ppt_y+.014"/>
                                          </p:val>
                                        </p:tav>
                                        <p:tav tm="100000">
                                          <p:val>
                                            <p:strVal val="#ppt_y"/>
                                          </p:val>
                                        </p:tav>
                                      </p:tavLst>
                                    </p:anim>
                                    <p:animEffect transition="in" filter="fade">
                                      <p:cBhvr>
                                        <p:cTn id="42" dur="420"/>
                                        <p:tgtEl>
                                          <p:spTgt spid="15"/>
                                        </p:tgtEl>
                                      </p:cBhvr>
                                    </p:animEffect>
                                  </p:childTnLst>
                                </p:cTn>
                              </p:par>
                              <p:par>
                                <p:cTn id="43" presetID="42" presetClass="entr" presetSubtype="0" fill="hold" nodeType="withEffect">
                                  <p:stCondLst>
                                    <p:cond delay="0"/>
                                  </p:stCondLst>
                                  <p:childTnLst>
                                    <p:set>
                                      <p:cBhvr>
                                        <p:cTn id="44" dur="1" fill="hold">
                                          <p:stCondLst>
                                            <p:cond delay="0"/>
                                          </p:stCondLst>
                                        </p:cTn>
                                        <p:tgtEl>
                                          <p:spTgt spid="16"/>
                                        </p:tgtEl>
                                        <p:attrNameLst>
                                          <p:attrName>style.visibility</p:attrName>
                                        </p:attrNameLst>
                                      </p:cBhvr>
                                      <p:to>
                                        <p:strVal val="visible"/>
                                      </p:to>
                                    </p:set>
                                    <p:anim calcmode="lin" valueType="num">
                                      <p:cBhvr additive="base">
                                        <p:cTn id="45" dur="420" decel="60000" fill="hold"/>
                                        <p:tgtEl>
                                          <p:spTgt spid="16"/>
                                        </p:tgtEl>
                                        <p:attrNameLst>
                                          <p:attrName>ppt_y</p:attrName>
                                        </p:attrNameLst>
                                      </p:cBhvr>
                                      <p:tavLst>
                                        <p:tav tm="0">
                                          <p:val>
                                            <p:strVal val="#ppt_y+.014"/>
                                          </p:val>
                                        </p:tav>
                                        <p:tav tm="100000">
                                          <p:val>
                                            <p:strVal val="#ppt_y"/>
                                          </p:val>
                                        </p:tav>
                                      </p:tavLst>
                                    </p:anim>
                                    <p:animEffect transition="in" filter="fade">
                                      <p:cBhvr>
                                        <p:cTn id="46" dur="420"/>
                                        <p:tgtEl>
                                          <p:spTgt spid="16"/>
                                        </p:tgtEl>
                                      </p:cBhvr>
                                    </p:animEffect>
                                  </p:childTnLst>
                                </p:cTn>
                              </p:par>
                              <p:par>
                                <p:cTn id="47" presetID="42" presetClass="entr" presetSubtype="0" fill="hold" nodeType="withEffect">
                                  <p:stCondLst>
                                    <p:cond delay="0"/>
                                  </p:stCondLst>
                                  <p:childTnLst>
                                    <p:set>
                                      <p:cBhvr>
                                        <p:cTn id="48" dur="1" fill="hold">
                                          <p:stCondLst>
                                            <p:cond delay="0"/>
                                          </p:stCondLst>
                                        </p:cTn>
                                        <p:tgtEl>
                                          <p:spTgt spid="17"/>
                                        </p:tgtEl>
                                        <p:attrNameLst>
                                          <p:attrName>style.visibility</p:attrName>
                                        </p:attrNameLst>
                                      </p:cBhvr>
                                      <p:to>
                                        <p:strVal val="visible"/>
                                      </p:to>
                                    </p:set>
                                    <p:anim calcmode="lin" valueType="num">
                                      <p:cBhvr additive="base">
                                        <p:cTn id="49" dur="420" decel="60000" fill="hold"/>
                                        <p:tgtEl>
                                          <p:spTgt spid="17"/>
                                        </p:tgtEl>
                                        <p:attrNameLst>
                                          <p:attrName>ppt_y</p:attrName>
                                        </p:attrNameLst>
                                      </p:cBhvr>
                                      <p:tavLst>
                                        <p:tav tm="0">
                                          <p:val>
                                            <p:strVal val="#ppt_y+.014"/>
                                          </p:val>
                                        </p:tav>
                                        <p:tav tm="100000">
                                          <p:val>
                                            <p:strVal val="#ppt_y"/>
                                          </p:val>
                                        </p:tav>
                                      </p:tavLst>
                                    </p:anim>
                                    <p:animEffect transition="in" filter="fade">
                                      <p:cBhvr>
                                        <p:cTn id="50" dur="420"/>
                                        <p:tgtEl>
                                          <p:spTgt spid="17"/>
                                        </p:tgtEl>
                                      </p:cBhvr>
                                    </p:animEffect>
                                  </p:childTnLst>
                                </p:cTn>
                              </p:par>
                              <p:par>
                                <p:cTn id="51" presetID="42" presetClass="entr" presetSubtype="0" fill="hold" nodeType="withEffect">
                                  <p:stCondLst>
                                    <p:cond delay="0"/>
                                  </p:stCondLst>
                                  <p:childTnLst>
                                    <p:set>
                                      <p:cBhvr>
                                        <p:cTn id="52" dur="1" fill="hold">
                                          <p:stCondLst>
                                            <p:cond delay="0"/>
                                          </p:stCondLst>
                                        </p:cTn>
                                        <p:tgtEl>
                                          <p:spTgt spid="18"/>
                                        </p:tgtEl>
                                        <p:attrNameLst>
                                          <p:attrName>style.visibility</p:attrName>
                                        </p:attrNameLst>
                                      </p:cBhvr>
                                      <p:to>
                                        <p:strVal val="visible"/>
                                      </p:to>
                                    </p:set>
                                    <p:anim calcmode="lin" valueType="num">
                                      <p:cBhvr additive="base">
                                        <p:cTn id="53" dur="420" decel="60000" fill="hold"/>
                                        <p:tgtEl>
                                          <p:spTgt spid="18"/>
                                        </p:tgtEl>
                                        <p:attrNameLst>
                                          <p:attrName>ppt_y</p:attrName>
                                        </p:attrNameLst>
                                      </p:cBhvr>
                                      <p:tavLst>
                                        <p:tav tm="0">
                                          <p:val>
                                            <p:strVal val="#ppt_y+.014"/>
                                          </p:val>
                                        </p:tav>
                                        <p:tav tm="100000">
                                          <p:val>
                                            <p:strVal val="#ppt_y"/>
                                          </p:val>
                                        </p:tav>
                                      </p:tavLst>
                                    </p:anim>
                                    <p:animEffect transition="in" filter="fade">
                                      <p:cBhvr>
                                        <p:cTn id="54" dur="420"/>
                                        <p:tgtEl>
                                          <p:spTgt spid="18"/>
                                        </p:tgtEl>
                                      </p:cBhvr>
                                    </p:animEffect>
                                  </p:childTnLst>
                                </p:cTn>
                              </p:par>
                              <p:par>
                                <p:cTn id="55" presetID="42" presetClass="entr" presetSubtype="0" fill="hold" nodeType="withEffect">
                                  <p:stCondLst>
                                    <p:cond delay="0"/>
                                  </p:stCondLst>
                                  <p:childTnLst>
                                    <p:set>
                                      <p:cBhvr>
                                        <p:cTn id="56" dur="1" fill="hold">
                                          <p:stCondLst>
                                            <p:cond delay="0"/>
                                          </p:stCondLst>
                                        </p:cTn>
                                        <p:tgtEl>
                                          <p:spTgt spid="19"/>
                                        </p:tgtEl>
                                        <p:attrNameLst>
                                          <p:attrName>style.visibility</p:attrName>
                                        </p:attrNameLst>
                                      </p:cBhvr>
                                      <p:to>
                                        <p:strVal val="visible"/>
                                      </p:to>
                                    </p:set>
                                    <p:anim calcmode="lin" valueType="num">
                                      <p:cBhvr additive="base">
                                        <p:cTn id="57" dur="420" decel="60000" fill="hold"/>
                                        <p:tgtEl>
                                          <p:spTgt spid="19"/>
                                        </p:tgtEl>
                                        <p:attrNameLst>
                                          <p:attrName>ppt_y</p:attrName>
                                        </p:attrNameLst>
                                      </p:cBhvr>
                                      <p:tavLst>
                                        <p:tav tm="0">
                                          <p:val>
                                            <p:strVal val="#ppt_y+.014"/>
                                          </p:val>
                                        </p:tav>
                                        <p:tav tm="100000">
                                          <p:val>
                                            <p:strVal val="#ppt_y"/>
                                          </p:val>
                                        </p:tav>
                                      </p:tavLst>
                                    </p:anim>
                                    <p:animEffect transition="in" filter="fade">
                                      <p:cBhvr>
                                        <p:cTn id="58" dur="420"/>
                                        <p:tgtEl>
                                          <p:spTgt spid="19"/>
                                        </p:tgtEl>
                                      </p:cBhvr>
                                    </p:animEffect>
                                  </p:childTnLst>
                                </p:cTn>
                              </p:par>
                              <p:par>
                                <p:cTn id="59" presetID="42" presetClass="entr" presetSubtype="0" fill="hold" nodeType="withEffect">
                                  <p:stCondLst>
                                    <p:cond delay="0"/>
                                  </p:stCondLst>
                                  <p:childTnLst>
                                    <p:set>
                                      <p:cBhvr>
                                        <p:cTn id="60" dur="1" fill="hold">
                                          <p:stCondLst>
                                            <p:cond delay="0"/>
                                          </p:stCondLst>
                                        </p:cTn>
                                        <p:tgtEl>
                                          <p:spTgt spid="20"/>
                                        </p:tgtEl>
                                        <p:attrNameLst>
                                          <p:attrName>style.visibility</p:attrName>
                                        </p:attrNameLst>
                                      </p:cBhvr>
                                      <p:to>
                                        <p:strVal val="visible"/>
                                      </p:to>
                                    </p:set>
                                    <p:anim calcmode="lin" valueType="num">
                                      <p:cBhvr additive="base">
                                        <p:cTn id="61" dur="420" decel="60000" fill="hold"/>
                                        <p:tgtEl>
                                          <p:spTgt spid="20"/>
                                        </p:tgtEl>
                                        <p:attrNameLst>
                                          <p:attrName>ppt_y</p:attrName>
                                        </p:attrNameLst>
                                      </p:cBhvr>
                                      <p:tavLst>
                                        <p:tav tm="0">
                                          <p:val>
                                            <p:strVal val="#ppt_y+.014"/>
                                          </p:val>
                                        </p:tav>
                                        <p:tav tm="100000">
                                          <p:val>
                                            <p:strVal val="#ppt_y"/>
                                          </p:val>
                                        </p:tav>
                                      </p:tavLst>
                                    </p:anim>
                                    <p:animEffect transition="in" filter="fade">
                                      <p:cBhvr>
                                        <p:cTn id="62" dur="420"/>
                                        <p:tgtEl>
                                          <p:spTgt spid="20"/>
                                        </p:tgtEl>
                                      </p:cBhvr>
                                    </p:animEffect>
                                  </p:childTnLst>
                                </p:cTn>
                              </p:par>
                              <p:par>
                                <p:cTn id="63" presetID="42" presetClass="entr" presetSubtype="0" fill="hold" nodeType="withEffect">
                                  <p:stCondLst>
                                    <p:cond delay="0"/>
                                  </p:stCondLst>
                                  <p:childTnLst>
                                    <p:set>
                                      <p:cBhvr>
                                        <p:cTn id="64" dur="1" fill="hold">
                                          <p:stCondLst>
                                            <p:cond delay="0"/>
                                          </p:stCondLst>
                                        </p:cTn>
                                        <p:tgtEl>
                                          <p:spTgt spid="21"/>
                                        </p:tgtEl>
                                        <p:attrNameLst>
                                          <p:attrName>style.visibility</p:attrName>
                                        </p:attrNameLst>
                                      </p:cBhvr>
                                      <p:to>
                                        <p:strVal val="visible"/>
                                      </p:to>
                                    </p:set>
                                    <p:anim calcmode="lin" valueType="num">
                                      <p:cBhvr additive="base">
                                        <p:cTn id="65" dur="420" decel="60000" fill="hold"/>
                                        <p:tgtEl>
                                          <p:spTgt spid="21"/>
                                        </p:tgtEl>
                                        <p:attrNameLst>
                                          <p:attrName>ppt_y</p:attrName>
                                        </p:attrNameLst>
                                      </p:cBhvr>
                                      <p:tavLst>
                                        <p:tav tm="0">
                                          <p:val>
                                            <p:strVal val="#ppt_y+.014"/>
                                          </p:val>
                                        </p:tav>
                                        <p:tav tm="100000">
                                          <p:val>
                                            <p:strVal val="#ppt_y"/>
                                          </p:val>
                                        </p:tav>
                                      </p:tavLst>
                                    </p:anim>
                                    <p:animEffect transition="in" filter="fade">
                                      <p:cBhvr>
                                        <p:cTn id="66" dur="420"/>
                                        <p:tgtEl>
                                          <p:spTgt spid="21"/>
                                        </p:tgtEl>
                                      </p:cBhvr>
                                    </p:animEffect>
                                  </p:childTnLst>
                                </p:cTn>
                              </p:par>
                              <p:par>
                                <p:cTn id="67" presetID="42" presetClass="entr" presetSubtype="0" fill="hold" nodeType="withEffect">
                                  <p:stCondLst>
                                    <p:cond delay="0"/>
                                  </p:stCondLst>
                                  <p:childTnLst>
                                    <p:set>
                                      <p:cBhvr>
                                        <p:cTn id="68" dur="1" fill="hold">
                                          <p:stCondLst>
                                            <p:cond delay="0"/>
                                          </p:stCondLst>
                                        </p:cTn>
                                        <p:tgtEl>
                                          <p:spTgt spid="22"/>
                                        </p:tgtEl>
                                        <p:attrNameLst>
                                          <p:attrName>style.visibility</p:attrName>
                                        </p:attrNameLst>
                                      </p:cBhvr>
                                      <p:to>
                                        <p:strVal val="visible"/>
                                      </p:to>
                                    </p:set>
                                    <p:anim calcmode="lin" valueType="num">
                                      <p:cBhvr additive="base">
                                        <p:cTn id="69" dur="420" decel="60000" fill="hold"/>
                                        <p:tgtEl>
                                          <p:spTgt spid="22"/>
                                        </p:tgtEl>
                                        <p:attrNameLst>
                                          <p:attrName>ppt_y</p:attrName>
                                        </p:attrNameLst>
                                      </p:cBhvr>
                                      <p:tavLst>
                                        <p:tav tm="0">
                                          <p:val>
                                            <p:strVal val="#ppt_y+.014"/>
                                          </p:val>
                                        </p:tav>
                                        <p:tav tm="100000">
                                          <p:val>
                                            <p:strVal val="#ppt_y"/>
                                          </p:val>
                                        </p:tav>
                                      </p:tavLst>
                                    </p:anim>
                                    <p:animEffect transition="in" filter="fade">
                                      <p:cBhvr>
                                        <p:cTn id="70" dur="420"/>
                                        <p:tgtEl>
                                          <p:spTgt spid="22"/>
                                        </p:tgtEl>
                                      </p:cBhvr>
                                    </p:animEffect>
                                  </p:childTnLst>
                                </p:cTn>
                              </p:par>
                              <p:par>
                                <p:cTn id="71" presetID="42" presetClass="entr" presetSubtype="0" fill="hold" nodeType="withEffect">
                                  <p:stCondLst>
                                    <p:cond delay="0"/>
                                  </p:stCondLst>
                                  <p:childTnLst>
                                    <p:set>
                                      <p:cBhvr>
                                        <p:cTn id="72" dur="1" fill="hold">
                                          <p:stCondLst>
                                            <p:cond delay="0"/>
                                          </p:stCondLst>
                                        </p:cTn>
                                        <p:tgtEl>
                                          <p:spTgt spid="23"/>
                                        </p:tgtEl>
                                        <p:attrNameLst>
                                          <p:attrName>style.visibility</p:attrName>
                                        </p:attrNameLst>
                                      </p:cBhvr>
                                      <p:to>
                                        <p:strVal val="visible"/>
                                      </p:to>
                                    </p:set>
                                    <p:anim calcmode="lin" valueType="num">
                                      <p:cBhvr additive="base">
                                        <p:cTn id="73" dur="420" decel="60000" fill="hold"/>
                                        <p:tgtEl>
                                          <p:spTgt spid="23"/>
                                        </p:tgtEl>
                                        <p:attrNameLst>
                                          <p:attrName>ppt_y</p:attrName>
                                        </p:attrNameLst>
                                      </p:cBhvr>
                                      <p:tavLst>
                                        <p:tav tm="0">
                                          <p:val>
                                            <p:strVal val="#ppt_y+.014"/>
                                          </p:val>
                                        </p:tav>
                                        <p:tav tm="100000">
                                          <p:val>
                                            <p:strVal val="#ppt_y"/>
                                          </p:val>
                                        </p:tav>
                                      </p:tavLst>
                                    </p:anim>
                                    <p:animEffect transition="in" filter="fade">
                                      <p:cBhvr>
                                        <p:cTn id="74" dur="420"/>
                                        <p:tgtEl>
                                          <p:spTgt spid="23"/>
                                        </p:tgtEl>
                                      </p:cBhvr>
                                    </p:animEffect>
                                  </p:childTnLst>
                                </p:cTn>
                              </p:par>
                              <p:par>
                                <p:cTn id="75" presetID="42" presetClass="entr" presetSubtype="0" fill="hold" nodeType="withEffect">
                                  <p:stCondLst>
                                    <p:cond delay="0"/>
                                  </p:stCondLst>
                                  <p:childTnLst>
                                    <p:set>
                                      <p:cBhvr>
                                        <p:cTn id="76" dur="1" fill="hold">
                                          <p:stCondLst>
                                            <p:cond delay="0"/>
                                          </p:stCondLst>
                                        </p:cTn>
                                        <p:tgtEl>
                                          <p:spTgt spid="24"/>
                                        </p:tgtEl>
                                        <p:attrNameLst>
                                          <p:attrName>style.visibility</p:attrName>
                                        </p:attrNameLst>
                                      </p:cBhvr>
                                      <p:to>
                                        <p:strVal val="visible"/>
                                      </p:to>
                                    </p:set>
                                    <p:anim calcmode="lin" valueType="num">
                                      <p:cBhvr additive="base">
                                        <p:cTn id="77" dur="420" decel="60000" fill="hold"/>
                                        <p:tgtEl>
                                          <p:spTgt spid="24"/>
                                        </p:tgtEl>
                                        <p:attrNameLst>
                                          <p:attrName>ppt_y</p:attrName>
                                        </p:attrNameLst>
                                      </p:cBhvr>
                                      <p:tavLst>
                                        <p:tav tm="0">
                                          <p:val>
                                            <p:strVal val="#ppt_y+.014"/>
                                          </p:val>
                                        </p:tav>
                                        <p:tav tm="100000">
                                          <p:val>
                                            <p:strVal val="#ppt_y"/>
                                          </p:val>
                                        </p:tav>
                                      </p:tavLst>
                                    </p:anim>
                                    <p:animEffect transition="in" filter="fade">
                                      <p:cBhvr>
                                        <p:cTn id="78" dur="420"/>
                                        <p:tgtEl>
                                          <p:spTgt spid="24"/>
                                        </p:tgtEl>
                                      </p:cBhvr>
                                    </p:animEffect>
                                  </p:childTnLst>
                                </p:cTn>
                              </p:par>
                              <p:par>
                                <p:cTn id="79" presetID="42" presetClass="entr" presetSubtype="0" fill="hold" nodeType="withEffect">
                                  <p:stCondLst>
                                    <p:cond delay="0"/>
                                  </p:stCondLst>
                                  <p:childTnLst>
                                    <p:set>
                                      <p:cBhvr>
                                        <p:cTn id="80" dur="1" fill="hold">
                                          <p:stCondLst>
                                            <p:cond delay="0"/>
                                          </p:stCondLst>
                                        </p:cTn>
                                        <p:tgtEl>
                                          <p:spTgt spid="25"/>
                                        </p:tgtEl>
                                        <p:attrNameLst>
                                          <p:attrName>style.visibility</p:attrName>
                                        </p:attrNameLst>
                                      </p:cBhvr>
                                      <p:to>
                                        <p:strVal val="visible"/>
                                      </p:to>
                                    </p:set>
                                    <p:anim calcmode="lin" valueType="num">
                                      <p:cBhvr additive="base">
                                        <p:cTn id="81" dur="420" decel="60000" fill="hold"/>
                                        <p:tgtEl>
                                          <p:spTgt spid="25"/>
                                        </p:tgtEl>
                                        <p:attrNameLst>
                                          <p:attrName>ppt_y</p:attrName>
                                        </p:attrNameLst>
                                      </p:cBhvr>
                                      <p:tavLst>
                                        <p:tav tm="0">
                                          <p:val>
                                            <p:strVal val="#ppt_y+.014"/>
                                          </p:val>
                                        </p:tav>
                                        <p:tav tm="100000">
                                          <p:val>
                                            <p:strVal val="#ppt_y"/>
                                          </p:val>
                                        </p:tav>
                                      </p:tavLst>
                                    </p:anim>
                                    <p:animEffect transition="in" filter="fade">
                                      <p:cBhvr>
                                        <p:cTn id="82" dur="420"/>
                                        <p:tgtEl>
                                          <p:spTgt spid="25"/>
                                        </p:tgtEl>
                                      </p:cBhvr>
                                    </p:animEffect>
                                  </p:childTnLst>
                                </p:cTn>
                              </p:par>
                              <p:par>
                                <p:cTn id="83" presetID="42" presetClass="entr" presetSubtype="0" fill="hold" nodeType="withEffect">
                                  <p:stCondLst>
                                    <p:cond delay="0"/>
                                  </p:stCondLst>
                                  <p:childTnLst>
                                    <p:set>
                                      <p:cBhvr>
                                        <p:cTn id="84" dur="1" fill="hold">
                                          <p:stCondLst>
                                            <p:cond delay="0"/>
                                          </p:stCondLst>
                                        </p:cTn>
                                        <p:tgtEl>
                                          <p:spTgt spid="26"/>
                                        </p:tgtEl>
                                        <p:attrNameLst>
                                          <p:attrName>style.visibility</p:attrName>
                                        </p:attrNameLst>
                                      </p:cBhvr>
                                      <p:to>
                                        <p:strVal val="visible"/>
                                      </p:to>
                                    </p:set>
                                    <p:anim calcmode="lin" valueType="num">
                                      <p:cBhvr additive="base">
                                        <p:cTn id="85" dur="420" decel="60000" fill="hold"/>
                                        <p:tgtEl>
                                          <p:spTgt spid="26"/>
                                        </p:tgtEl>
                                        <p:attrNameLst>
                                          <p:attrName>ppt_y</p:attrName>
                                        </p:attrNameLst>
                                      </p:cBhvr>
                                      <p:tavLst>
                                        <p:tav tm="0">
                                          <p:val>
                                            <p:strVal val="#ppt_y+.014"/>
                                          </p:val>
                                        </p:tav>
                                        <p:tav tm="100000">
                                          <p:val>
                                            <p:strVal val="#ppt_y"/>
                                          </p:val>
                                        </p:tav>
                                      </p:tavLst>
                                    </p:anim>
                                    <p:animEffect transition="in" filter="fade">
                                      <p:cBhvr>
                                        <p:cTn id="86" dur="420"/>
                                        <p:tgtEl>
                                          <p:spTgt spid="26"/>
                                        </p:tgtEl>
                                      </p:cBhvr>
                                    </p:animEffect>
                                  </p:childTnLst>
                                </p:cTn>
                              </p:par>
                              <p:par>
                                <p:cTn id="87" presetID="42" presetClass="entr" presetSubtype="0" fill="hold" nodeType="withEffect">
                                  <p:stCondLst>
                                    <p:cond delay="0"/>
                                  </p:stCondLst>
                                  <p:childTnLst>
                                    <p:set>
                                      <p:cBhvr>
                                        <p:cTn id="88" dur="1" fill="hold">
                                          <p:stCondLst>
                                            <p:cond delay="0"/>
                                          </p:stCondLst>
                                        </p:cTn>
                                        <p:tgtEl>
                                          <p:spTgt spid="27"/>
                                        </p:tgtEl>
                                        <p:attrNameLst>
                                          <p:attrName>style.visibility</p:attrName>
                                        </p:attrNameLst>
                                      </p:cBhvr>
                                      <p:to>
                                        <p:strVal val="visible"/>
                                      </p:to>
                                    </p:set>
                                    <p:anim calcmode="lin" valueType="num">
                                      <p:cBhvr additive="base">
                                        <p:cTn id="89" dur="420" decel="60000" fill="hold"/>
                                        <p:tgtEl>
                                          <p:spTgt spid="27"/>
                                        </p:tgtEl>
                                        <p:attrNameLst>
                                          <p:attrName>ppt_y</p:attrName>
                                        </p:attrNameLst>
                                      </p:cBhvr>
                                      <p:tavLst>
                                        <p:tav tm="0">
                                          <p:val>
                                            <p:strVal val="#ppt_y+.014"/>
                                          </p:val>
                                        </p:tav>
                                        <p:tav tm="100000">
                                          <p:val>
                                            <p:strVal val="#ppt_y"/>
                                          </p:val>
                                        </p:tav>
                                      </p:tavLst>
                                    </p:anim>
                                    <p:animEffect transition="in" filter="fade">
                                      <p:cBhvr>
                                        <p:cTn id="90" dur="420"/>
                                        <p:tgtEl>
                                          <p:spTgt spid="27"/>
                                        </p:tgtEl>
                                      </p:cBhvr>
                                    </p:animEffect>
                                  </p:childTnLst>
                                </p:cTn>
                              </p:par>
                              <p:par>
                                <p:cTn id="91" presetID="42" presetClass="entr" presetSubtype="0" fill="hold" nodeType="withEffect">
                                  <p:stCondLst>
                                    <p:cond delay="0"/>
                                  </p:stCondLst>
                                  <p:childTnLst>
                                    <p:set>
                                      <p:cBhvr>
                                        <p:cTn id="92" dur="1" fill="hold">
                                          <p:stCondLst>
                                            <p:cond delay="0"/>
                                          </p:stCondLst>
                                        </p:cTn>
                                        <p:tgtEl>
                                          <p:spTgt spid="28"/>
                                        </p:tgtEl>
                                        <p:attrNameLst>
                                          <p:attrName>style.visibility</p:attrName>
                                        </p:attrNameLst>
                                      </p:cBhvr>
                                      <p:to>
                                        <p:strVal val="visible"/>
                                      </p:to>
                                    </p:set>
                                    <p:anim calcmode="lin" valueType="num">
                                      <p:cBhvr additive="base">
                                        <p:cTn id="93" dur="420" decel="60000" fill="hold"/>
                                        <p:tgtEl>
                                          <p:spTgt spid="28"/>
                                        </p:tgtEl>
                                        <p:attrNameLst>
                                          <p:attrName>ppt_y</p:attrName>
                                        </p:attrNameLst>
                                      </p:cBhvr>
                                      <p:tavLst>
                                        <p:tav tm="0">
                                          <p:val>
                                            <p:strVal val="#ppt_y+.014"/>
                                          </p:val>
                                        </p:tav>
                                        <p:tav tm="100000">
                                          <p:val>
                                            <p:strVal val="#ppt_y"/>
                                          </p:val>
                                        </p:tav>
                                      </p:tavLst>
                                    </p:anim>
                                    <p:animEffect transition="in" filter="fade">
                                      <p:cBhvr>
                                        <p:cTn id="94" dur="420"/>
                                        <p:tgtEl>
                                          <p:spTgt spid="28"/>
                                        </p:tgtEl>
                                      </p:cBhvr>
                                    </p:animEffect>
                                  </p:childTnLst>
                                </p:cTn>
                              </p:par>
                              <p:par>
                                <p:cTn id="95" presetID="42" presetClass="entr" presetSubtype="0" fill="hold" nodeType="withEffect">
                                  <p:stCondLst>
                                    <p:cond delay="0"/>
                                  </p:stCondLst>
                                  <p:childTnLst>
                                    <p:set>
                                      <p:cBhvr>
                                        <p:cTn id="96" dur="1" fill="hold">
                                          <p:stCondLst>
                                            <p:cond delay="0"/>
                                          </p:stCondLst>
                                        </p:cTn>
                                        <p:tgtEl>
                                          <p:spTgt spid="29"/>
                                        </p:tgtEl>
                                        <p:attrNameLst>
                                          <p:attrName>style.visibility</p:attrName>
                                        </p:attrNameLst>
                                      </p:cBhvr>
                                      <p:to>
                                        <p:strVal val="visible"/>
                                      </p:to>
                                    </p:set>
                                    <p:anim calcmode="lin" valueType="num">
                                      <p:cBhvr additive="base">
                                        <p:cTn id="97" dur="420" decel="60000" fill="hold"/>
                                        <p:tgtEl>
                                          <p:spTgt spid="29"/>
                                        </p:tgtEl>
                                        <p:attrNameLst>
                                          <p:attrName>ppt_y</p:attrName>
                                        </p:attrNameLst>
                                      </p:cBhvr>
                                      <p:tavLst>
                                        <p:tav tm="0">
                                          <p:val>
                                            <p:strVal val="#ppt_y+.014"/>
                                          </p:val>
                                        </p:tav>
                                        <p:tav tm="100000">
                                          <p:val>
                                            <p:strVal val="#ppt_y"/>
                                          </p:val>
                                        </p:tav>
                                      </p:tavLst>
                                    </p:anim>
                                    <p:animEffect transition="in" filter="fade">
                                      <p:cBhvr>
                                        <p:cTn id="98" dur="420"/>
                                        <p:tgtEl>
                                          <p:spTgt spid="29"/>
                                        </p:tgtEl>
                                      </p:cBhvr>
                                    </p:animEffect>
                                  </p:childTnLst>
                                </p:cTn>
                              </p:par>
                              <p:par>
                                <p:cTn id="99" presetID="42" presetClass="entr" presetSubtype="0" fill="hold" nodeType="withEffect">
                                  <p:stCondLst>
                                    <p:cond delay="0"/>
                                  </p:stCondLst>
                                  <p:childTnLst>
                                    <p:set>
                                      <p:cBhvr>
                                        <p:cTn id="100" dur="1" fill="hold">
                                          <p:stCondLst>
                                            <p:cond delay="0"/>
                                          </p:stCondLst>
                                        </p:cTn>
                                        <p:tgtEl>
                                          <p:spTgt spid="30"/>
                                        </p:tgtEl>
                                        <p:attrNameLst>
                                          <p:attrName>style.visibility</p:attrName>
                                        </p:attrNameLst>
                                      </p:cBhvr>
                                      <p:to>
                                        <p:strVal val="visible"/>
                                      </p:to>
                                    </p:set>
                                    <p:anim calcmode="lin" valueType="num">
                                      <p:cBhvr additive="base">
                                        <p:cTn id="101" dur="420" decel="60000" fill="hold"/>
                                        <p:tgtEl>
                                          <p:spTgt spid="30"/>
                                        </p:tgtEl>
                                        <p:attrNameLst>
                                          <p:attrName>ppt_y</p:attrName>
                                        </p:attrNameLst>
                                      </p:cBhvr>
                                      <p:tavLst>
                                        <p:tav tm="0">
                                          <p:val>
                                            <p:strVal val="#ppt_y+.014"/>
                                          </p:val>
                                        </p:tav>
                                        <p:tav tm="100000">
                                          <p:val>
                                            <p:strVal val="#ppt_y"/>
                                          </p:val>
                                        </p:tav>
                                      </p:tavLst>
                                    </p:anim>
                                    <p:animEffect transition="in" filter="fade">
                                      <p:cBhvr>
                                        <p:cTn id="102" dur="420"/>
                                        <p:tgtEl>
                                          <p:spTgt spid="30"/>
                                        </p:tgtEl>
                                      </p:cBhvr>
                                    </p:animEffect>
                                  </p:childTnLst>
                                </p:cTn>
                              </p:par>
                              <p:par>
                                <p:cTn id="103" presetID="42" presetClass="entr" presetSubtype="0" fill="hold" nodeType="withEffect">
                                  <p:stCondLst>
                                    <p:cond delay="0"/>
                                  </p:stCondLst>
                                  <p:childTnLst>
                                    <p:set>
                                      <p:cBhvr>
                                        <p:cTn id="104" dur="1" fill="hold">
                                          <p:stCondLst>
                                            <p:cond delay="0"/>
                                          </p:stCondLst>
                                        </p:cTn>
                                        <p:tgtEl>
                                          <p:spTgt spid="31"/>
                                        </p:tgtEl>
                                        <p:attrNameLst>
                                          <p:attrName>style.visibility</p:attrName>
                                        </p:attrNameLst>
                                      </p:cBhvr>
                                      <p:to>
                                        <p:strVal val="visible"/>
                                      </p:to>
                                    </p:set>
                                    <p:anim calcmode="lin" valueType="num">
                                      <p:cBhvr additive="base">
                                        <p:cTn id="105" dur="420" decel="60000" fill="hold"/>
                                        <p:tgtEl>
                                          <p:spTgt spid="31"/>
                                        </p:tgtEl>
                                        <p:attrNameLst>
                                          <p:attrName>ppt_y</p:attrName>
                                        </p:attrNameLst>
                                      </p:cBhvr>
                                      <p:tavLst>
                                        <p:tav tm="0">
                                          <p:val>
                                            <p:strVal val="#ppt_y+.014"/>
                                          </p:val>
                                        </p:tav>
                                        <p:tav tm="100000">
                                          <p:val>
                                            <p:strVal val="#ppt_y"/>
                                          </p:val>
                                        </p:tav>
                                      </p:tavLst>
                                    </p:anim>
                                    <p:animEffect transition="in" filter="fade">
                                      <p:cBhvr>
                                        <p:cTn id="106" dur="420"/>
                                        <p:tgtEl>
                                          <p:spTgt spid="31"/>
                                        </p:tgtEl>
                                      </p:cBhvr>
                                    </p:animEffect>
                                  </p:childTnLst>
                                </p:cTn>
                              </p:par>
                              <p:par>
                                <p:cTn id="107" presetID="42" presetClass="entr" presetSubtype="0" fill="hold" nodeType="withEffect">
                                  <p:stCondLst>
                                    <p:cond delay="0"/>
                                  </p:stCondLst>
                                  <p:childTnLst>
                                    <p:set>
                                      <p:cBhvr>
                                        <p:cTn id="108" dur="1" fill="hold">
                                          <p:stCondLst>
                                            <p:cond delay="0"/>
                                          </p:stCondLst>
                                        </p:cTn>
                                        <p:tgtEl>
                                          <p:spTgt spid="32"/>
                                        </p:tgtEl>
                                        <p:attrNameLst>
                                          <p:attrName>style.visibility</p:attrName>
                                        </p:attrNameLst>
                                      </p:cBhvr>
                                      <p:to>
                                        <p:strVal val="visible"/>
                                      </p:to>
                                    </p:set>
                                    <p:anim calcmode="lin" valueType="num">
                                      <p:cBhvr additive="base">
                                        <p:cTn id="109" dur="420" decel="60000" fill="hold"/>
                                        <p:tgtEl>
                                          <p:spTgt spid="32"/>
                                        </p:tgtEl>
                                        <p:attrNameLst>
                                          <p:attrName>ppt_y</p:attrName>
                                        </p:attrNameLst>
                                      </p:cBhvr>
                                      <p:tavLst>
                                        <p:tav tm="0">
                                          <p:val>
                                            <p:strVal val="#ppt_y+.014"/>
                                          </p:val>
                                        </p:tav>
                                        <p:tav tm="100000">
                                          <p:val>
                                            <p:strVal val="#ppt_y"/>
                                          </p:val>
                                        </p:tav>
                                      </p:tavLst>
                                    </p:anim>
                                    <p:animEffect transition="in" filter="fade">
                                      <p:cBhvr>
                                        <p:cTn id="110" dur="420"/>
                                        <p:tgtEl>
                                          <p:spTgt spid="32"/>
                                        </p:tgtEl>
                                      </p:cBhvr>
                                    </p:animEffect>
                                  </p:childTnLst>
                                </p:cTn>
                              </p:par>
                            </p:childTnLst>
                          </p:cTn>
                        </p:par>
                      </p:childTnLst>
                    </p:cTn>
                  </p:par>
                  <p:par>
                    <p:cTn id="111" fill="hold">
                      <p:stCondLst>
                        <p:cond delay="indefinite"/>
                      </p:stCondLst>
                      <p:childTnLst>
                        <p:par>
                          <p:cTn id="112" fill="hold">
                            <p:stCondLst>
                              <p:cond delay="0"/>
                            </p:stCondLst>
                            <p:childTnLst>
                              <p:par>
                                <p:cTn id="113" presetID="42" presetClass="entr" presetSubtype="0" fill="hold" nodeType="clickEffect">
                                  <p:stCondLst>
                                    <p:cond delay="0"/>
                                  </p:stCondLst>
                                  <p:childTnLst>
                                    <p:set>
                                      <p:cBhvr>
                                        <p:cTn id="114" dur="1" fill="hold">
                                          <p:stCondLst>
                                            <p:cond delay="0"/>
                                          </p:stCondLst>
                                        </p:cTn>
                                        <p:tgtEl>
                                          <p:spTgt spid="33"/>
                                        </p:tgtEl>
                                        <p:attrNameLst>
                                          <p:attrName>style.visibility</p:attrName>
                                        </p:attrNameLst>
                                      </p:cBhvr>
                                      <p:to>
                                        <p:strVal val="visible"/>
                                      </p:to>
                                    </p:set>
                                    <p:anim calcmode="lin" valueType="num">
                                      <p:cBhvr additive="base">
                                        <p:cTn id="115" dur="420" decel="60000" fill="hold"/>
                                        <p:tgtEl>
                                          <p:spTgt spid="33"/>
                                        </p:tgtEl>
                                        <p:attrNameLst>
                                          <p:attrName>ppt_y</p:attrName>
                                        </p:attrNameLst>
                                      </p:cBhvr>
                                      <p:tavLst>
                                        <p:tav tm="0">
                                          <p:val>
                                            <p:strVal val="#ppt_y+.014"/>
                                          </p:val>
                                        </p:tav>
                                        <p:tav tm="100000">
                                          <p:val>
                                            <p:strVal val="#ppt_y"/>
                                          </p:val>
                                        </p:tav>
                                      </p:tavLst>
                                    </p:anim>
                                    <p:animEffect transition="in" filter="fade">
                                      <p:cBhvr>
                                        <p:cTn id="116" dur="420"/>
                                        <p:tgtEl>
                                          <p:spTgt spid="33"/>
                                        </p:tgtEl>
                                      </p:cBhvr>
                                    </p:animEffect>
                                  </p:childTnLst>
                                </p:cTn>
                              </p:par>
                              <p:par>
                                <p:cTn id="117" presetID="42" presetClass="entr" presetSubtype="0" fill="hold" nodeType="withEffect">
                                  <p:stCondLst>
                                    <p:cond delay="0"/>
                                  </p:stCondLst>
                                  <p:childTnLst>
                                    <p:set>
                                      <p:cBhvr>
                                        <p:cTn id="118" dur="1" fill="hold">
                                          <p:stCondLst>
                                            <p:cond delay="0"/>
                                          </p:stCondLst>
                                        </p:cTn>
                                        <p:tgtEl>
                                          <p:spTgt spid="34"/>
                                        </p:tgtEl>
                                        <p:attrNameLst>
                                          <p:attrName>style.visibility</p:attrName>
                                        </p:attrNameLst>
                                      </p:cBhvr>
                                      <p:to>
                                        <p:strVal val="visible"/>
                                      </p:to>
                                    </p:set>
                                    <p:anim calcmode="lin" valueType="num">
                                      <p:cBhvr additive="base">
                                        <p:cTn id="119" dur="420" decel="60000" fill="hold"/>
                                        <p:tgtEl>
                                          <p:spTgt spid="34"/>
                                        </p:tgtEl>
                                        <p:attrNameLst>
                                          <p:attrName>ppt_y</p:attrName>
                                        </p:attrNameLst>
                                      </p:cBhvr>
                                      <p:tavLst>
                                        <p:tav tm="0">
                                          <p:val>
                                            <p:strVal val="#ppt_y+.014"/>
                                          </p:val>
                                        </p:tav>
                                        <p:tav tm="100000">
                                          <p:val>
                                            <p:strVal val="#ppt_y"/>
                                          </p:val>
                                        </p:tav>
                                      </p:tavLst>
                                    </p:anim>
                                    <p:animEffect transition="in" filter="fade">
                                      <p:cBhvr>
                                        <p:cTn id="120" dur="42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7090D"/>
        </a:solidFill>
        <a:effectLst/>
      </p:bgPr>
    </p:bg>
    <p:spTree>
      <p:nvGrpSpPr>
        <p:cNvPr id="1" name=""/>
        <p:cNvGrpSpPr/>
        <p:nvPr/>
      </p:nvGrpSpPr>
      <p:grpSpPr>
        <a:xfrm>
          <a:off x="0" y="0"/>
          <a:ext cx="0" cy="0"/>
          <a:chOff x="0" y="0"/>
          <a:chExt cx="0" cy="0"/>
        </a:xfrm>
      </p:grpSpPr>
      <p:sp>
        <p:nvSpPr>
          <p:cNvPr id="2" name="Text 0"/>
          <p:cNvSpPr/>
          <p:nvPr/>
        </p:nvSpPr>
        <p:spPr>
          <a:xfrm>
            <a:off x="566928" y="274320"/>
            <a:ext cx="10607040" cy="274320"/>
          </a:xfrm>
          <a:prstGeom prst="rect">
            <a:avLst/>
          </a:prstGeom>
          <a:noFill/>
          <a:ln/>
        </p:spPr>
        <p:txBody>
          <a:bodyPr wrap="square" rtlCol="0" anchor="t"/>
          <a:lstStyle/>
          <a:p>
            <a:pPr marL="0" indent="0">
              <a:lnSpc>
                <a:spcPct val="105000"/>
              </a:lnSpc>
              <a:buNone/>
            </a:pPr>
            <a:r>
              <a:rPr lang="en-US" sz="1200" b="1" kern="0" spc="260" dirty="0">
                <a:solidFill>
                  <a:srgbClr val="75EDBB"/>
                </a:solidFill>
                <a:latin typeface="Helvetica Neue" pitchFamily="34" charset="0"/>
                <a:ea typeface="Helvetica Neue" pitchFamily="34" charset="-122"/>
                <a:cs typeface="Helvetica Neue" pitchFamily="34" charset="-120"/>
              </a:rPr>
              <a:t>CLOSE</a:t>
            </a:r>
            <a:endParaRPr lang="en-US" sz="1200" dirty="0"/>
          </a:p>
        </p:txBody>
      </p:sp>
      <p:sp>
        <p:nvSpPr>
          <p:cNvPr id="3" name="Text 1"/>
          <p:cNvSpPr/>
          <p:nvPr/>
        </p:nvSpPr>
        <p:spPr>
          <a:xfrm>
            <a:off x="566928" y="585216"/>
            <a:ext cx="10789920" cy="731520"/>
          </a:xfrm>
          <a:prstGeom prst="rect">
            <a:avLst/>
          </a:prstGeom>
          <a:noFill/>
          <a:ln/>
        </p:spPr>
        <p:txBody>
          <a:bodyPr wrap="square" rtlCol="0" anchor="ctr"/>
          <a:lstStyle/>
          <a:p>
            <a:pPr marL="0" indent="0">
              <a:lnSpc>
                <a:spcPct val="95000"/>
              </a:lnSpc>
              <a:buNone/>
            </a:pPr>
            <a:r>
              <a:rPr lang="en-US" sz="3800" dirty="0">
                <a:solidFill>
                  <a:srgbClr val="F3F6FA"/>
                </a:solidFill>
                <a:latin typeface="Avenir Next" pitchFamily="34" charset="0"/>
                <a:ea typeface="Avenir Next" pitchFamily="34" charset="-122"/>
                <a:cs typeface="Avenir Next" pitchFamily="34" charset="-120"/>
              </a:rPr>
              <a:t>Feedback and results</a:t>
            </a:r>
            <a:endParaRPr lang="en-US" sz="3800" dirty="0"/>
          </a:p>
        </p:txBody>
      </p:sp>
      <p:sp>
        <p:nvSpPr>
          <p:cNvPr id="4" name="Text 2"/>
          <p:cNvSpPr/>
          <p:nvPr/>
        </p:nvSpPr>
        <p:spPr>
          <a:xfrm>
            <a:off x="566928" y="1335024"/>
            <a:ext cx="9692640" cy="384048"/>
          </a:xfrm>
          <a:prstGeom prst="rect">
            <a:avLst/>
          </a:prstGeom>
          <a:noFill/>
          <a:ln/>
        </p:spPr>
        <p:txBody>
          <a:bodyPr wrap="square" rtlCol="0" anchor="t"/>
          <a:lstStyle/>
          <a:p>
            <a:pPr marL="0" indent="0">
              <a:lnSpc>
                <a:spcPct val="105000"/>
              </a:lnSpc>
              <a:buNone/>
            </a:pPr>
            <a:r>
              <a:rPr lang="en-US" sz="1900" dirty="0">
                <a:solidFill>
                  <a:srgbClr val="B2BDCD"/>
                </a:solidFill>
                <a:latin typeface="Helvetica Neue" pitchFamily="34" charset="0"/>
                <a:ea typeface="Helvetica Neue" pitchFamily="34" charset="-122"/>
                <a:cs typeface="Helvetica Neue" pitchFamily="34" charset="-120"/>
              </a:rPr>
              <a:t>What the demo showed, what to take back, and what you would change.</a:t>
            </a:r>
            <a:endParaRPr lang="en-US" sz="1900" dirty="0"/>
          </a:p>
        </p:txBody>
      </p:sp>
      <p:sp>
        <p:nvSpPr>
          <p:cNvPr id="5" name="Shape 3"/>
          <p:cNvSpPr/>
          <p:nvPr/>
        </p:nvSpPr>
        <p:spPr>
          <a:xfrm>
            <a:off x="566928" y="1874520"/>
            <a:ext cx="4572000" cy="3520440"/>
          </a:xfrm>
          <a:prstGeom prst="roundRect">
            <a:avLst>
              <a:gd name="adj" fmla="val 3377"/>
            </a:avLst>
          </a:prstGeom>
          <a:solidFill>
            <a:srgbClr val="0E1219"/>
          </a:solidFill>
          <a:ln w="12700">
            <a:solidFill>
              <a:srgbClr val="1A212C"/>
            </a:solidFill>
            <a:prstDash val="solid"/>
          </a:ln>
        </p:spPr>
        <p:txBody>
          <a:bodyPr/>
          <a:lstStyle/>
          <a:p>
            <a:endParaRPr lang="en-US"/>
          </a:p>
        </p:txBody>
      </p:sp>
      <p:sp>
        <p:nvSpPr>
          <p:cNvPr id="6" name="Text 4"/>
          <p:cNvSpPr/>
          <p:nvPr/>
        </p:nvSpPr>
        <p:spPr>
          <a:xfrm>
            <a:off x="841248" y="2057400"/>
            <a:ext cx="4023360" cy="256032"/>
          </a:xfrm>
          <a:prstGeom prst="rect">
            <a:avLst/>
          </a:prstGeom>
          <a:noFill/>
          <a:ln/>
        </p:spPr>
        <p:txBody>
          <a:bodyPr wrap="square" rtlCol="0" anchor="t"/>
          <a:lstStyle/>
          <a:p>
            <a:pPr marL="0" indent="0">
              <a:lnSpc>
                <a:spcPct val="105000"/>
              </a:lnSpc>
              <a:buNone/>
            </a:pPr>
            <a:r>
              <a:rPr lang="en-US" sz="1100" b="1" kern="0" spc="200" dirty="0">
                <a:solidFill>
                  <a:srgbClr val="FFCA83"/>
                </a:solidFill>
                <a:latin typeface="Helvetica Neue" pitchFamily="34" charset="0"/>
                <a:ea typeface="Helvetica Neue" pitchFamily="34" charset="-122"/>
                <a:cs typeface="Helvetica Neue" pitchFamily="34" charset="-120"/>
              </a:rPr>
              <a:t>FROM THE DEMO</a:t>
            </a:r>
            <a:endParaRPr lang="en-US" sz="1100" dirty="0"/>
          </a:p>
        </p:txBody>
      </p:sp>
      <p:sp>
        <p:nvSpPr>
          <p:cNvPr id="7" name="b01-rise-demo-outcome"/>
          <p:cNvSpPr/>
          <p:nvPr/>
        </p:nvSpPr>
        <p:spPr>
          <a:xfrm>
            <a:off x="841248" y="2487168"/>
            <a:ext cx="4023360" cy="274320"/>
          </a:xfrm>
          <a:prstGeom prst="rect">
            <a:avLst/>
          </a:prstGeom>
          <a:noFill/>
          <a:ln/>
        </p:spPr>
        <p:txBody>
          <a:bodyPr wrap="square" rtlCol="0" anchor="t"/>
          <a:lstStyle/>
          <a:p>
            <a:pPr marL="0" indent="0">
              <a:lnSpc>
                <a:spcPct val="105000"/>
              </a:lnSpc>
              <a:buNone/>
            </a:pPr>
            <a:r>
              <a:rPr lang="en-US" sz="1500" dirty="0">
                <a:solidFill>
                  <a:srgbClr val="B2BDCD"/>
                </a:solidFill>
                <a:latin typeface="Helvetica Neue" pitchFamily="34" charset="0"/>
                <a:ea typeface="Helvetica Neue" pitchFamily="34" charset="-122"/>
                <a:cs typeface="Helvetica Neue" pitchFamily="34" charset="-120"/>
              </a:rPr>
              <a:t>Turns to the same green gate</a:t>
            </a:r>
            <a:endParaRPr lang="en-US" sz="1500" dirty="0"/>
          </a:p>
        </p:txBody>
      </p:sp>
      <p:sp>
        <p:nvSpPr>
          <p:cNvPr id="8" name="b01-rise-demo-outcome"/>
          <p:cNvSpPr/>
          <p:nvPr/>
        </p:nvSpPr>
        <p:spPr>
          <a:xfrm>
            <a:off x="841248" y="2798064"/>
            <a:ext cx="4023360" cy="384048"/>
          </a:xfrm>
          <a:prstGeom prst="roundRect">
            <a:avLst>
              <a:gd name="adj" fmla="val 19048"/>
            </a:avLst>
          </a:prstGeom>
          <a:solidFill>
            <a:srgbClr val="0A0D13"/>
          </a:solidFill>
          <a:ln w="12700">
            <a:solidFill>
              <a:srgbClr val="FFCA83"/>
            </a:solidFill>
            <a:prstDash val="solid"/>
          </a:ln>
        </p:spPr>
        <p:txBody>
          <a:bodyPr/>
          <a:lstStyle/>
          <a:p>
            <a:endParaRPr lang="en-US"/>
          </a:p>
        </p:txBody>
      </p:sp>
      <p:sp>
        <p:nvSpPr>
          <p:cNvPr id="9" name="b01-rise-demo-outcome"/>
          <p:cNvSpPr/>
          <p:nvPr/>
        </p:nvSpPr>
        <p:spPr>
          <a:xfrm>
            <a:off x="841248" y="2798064"/>
            <a:ext cx="4023360" cy="384048"/>
          </a:xfrm>
          <a:prstGeom prst="rect">
            <a:avLst/>
          </a:prstGeom>
          <a:noFill/>
          <a:ln/>
        </p:spPr>
        <p:txBody>
          <a:bodyPr wrap="square" rtlCol="0" anchor="ctr"/>
          <a:lstStyle/>
          <a:p>
            <a:pPr marL="0" indent="0" algn="ctr">
              <a:lnSpc>
                <a:spcPct val="105000"/>
              </a:lnSpc>
              <a:buNone/>
            </a:pPr>
            <a:r>
              <a:rPr lang="en-US" sz="1300" dirty="0">
                <a:solidFill>
                  <a:srgbClr val="FFCA83"/>
                </a:solidFill>
                <a:latin typeface="Helvetica Neue" pitchFamily="34" charset="0"/>
                <a:ea typeface="Helvetica Neue" pitchFamily="34" charset="-122"/>
                <a:cs typeface="Helvetica Neue" pitchFamily="34" charset="-120"/>
              </a:rPr>
              <a:t>B 1 turn · A 2 turns</a:t>
            </a:r>
            <a:endParaRPr lang="en-US" sz="1300" dirty="0"/>
          </a:p>
        </p:txBody>
      </p:sp>
      <p:sp>
        <p:nvSpPr>
          <p:cNvPr id="10" name="b01-rise-demo-outcome"/>
          <p:cNvSpPr/>
          <p:nvPr/>
        </p:nvSpPr>
        <p:spPr>
          <a:xfrm>
            <a:off x="841248" y="3419856"/>
            <a:ext cx="4023360" cy="274320"/>
          </a:xfrm>
          <a:prstGeom prst="rect">
            <a:avLst/>
          </a:prstGeom>
          <a:noFill/>
          <a:ln/>
        </p:spPr>
        <p:txBody>
          <a:bodyPr wrap="square" rtlCol="0" anchor="t"/>
          <a:lstStyle/>
          <a:p>
            <a:pPr marL="0" indent="0">
              <a:lnSpc>
                <a:spcPct val="105000"/>
              </a:lnSpc>
              <a:buNone/>
            </a:pPr>
            <a:r>
              <a:rPr lang="en-US" sz="1500" dirty="0">
                <a:solidFill>
                  <a:srgbClr val="B2BDCD"/>
                </a:solidFill>
                <a:latin typeface="Helvetica Neue" pitchFamily="34" charset="0"/>
                <a:ea typeface="Helvetica Neue" pitchFamily="34" charset="-122"/>
                <a:cs typeface="Helvetica Neue" pitchFamily="34" charset="-120"/>
              </a:rPr>
              <a:t>Time and AI usage to get there</a:t>
            </a:r>
            <a:endParaRPr lang="en-US" sz="1500" dirty="0"/>
          </a:p>
        </p:txBody>
      </p:sp>
      <p:sp>
        <p:nvSpPr>
          <p:cNvPr id="11" name="b01-rise-demo-outcome"/>
          <p:cNvSpPr/>
          <p:nvPr/>
        </p:nvSpPr>
        <p:spPr>
          <a:xfrm>
            <a:off x="841248" y="3730752"/>
            <a:ext cx="4023360" cy="384048"/>
          </a:xfrm>
          <a:prstGeom prst="roundRect">
            <a:avLst>
              <a:gd name="adj" fmla="val 19048"/>
            </a:avLst>
          </a:prstGeom>
          <a:solidFill>
            <a:srgbClr val="0A0D13"/>
          </a:solidFill>
          <a:ln w="12700">
            <a:solidFill>
              <a:srgbClr val="1A212C"/>
            </a:solidFill>
            <a:prstDash val="solid"/>
          </a:ln>
        </p:spPr>
        <p:txBody>
          <a:bodyPr/>
          <a:lstStyle/>
          <a:p>
            <a:endParaRPr lang="en-US"/>
          </a:p>
        </p:txBody>
      </p:sp>
      <p:sp>
        <p:nvSpPr>
          <p:cNvPr id="12" name="b01-rise-demo-outcome"/>
          <p:cNvSpPr/>
          <p:nvPr/>
        </p:nvSpPr>
        <p:spPr>
          <a:xfrm>
            <a:off x="841248" y="3730752"/>
            <a:ext cx="4023360" cy="384048"/>
          </a:xfrm>
          <a:prstGeom prst="rect">
            <a:avLst/>
          </a:prstGeom>
          <a:noFill/>
          <a:ln/>
        </p:spPr>
        <p:txBody>
          <a:bodyPr wrap="square" rtlCol="0" anchor="ctr"/>
          <a:lstStyle/>
          <a:p>
            <a:pPr marL="0" indent="0" algn="ctr">
              <a:lnSpc>
                <a:spcPct val="105000"/>
              </a:lnSpc>
              <a:buNone/>
            </a:pPr>
            <a:r>
              <a:rPr lang="en-US" sz="1300" dirty="0">
                <a:solidFill>
                  <a:srgbClr val="B2BDCD"/>
                </a:solidFill>
                <a:latin typeface="Helvetica Neue" pitchFamily="34" charset="0"/>
                <a:ea typeface="Helvetica Neue" pitchFamily="34" charset="-122"/>
                <a:cs typeface="Helvetica Neue" pitchFamily="34" charset="-120"/>
              </a:rPr>
              <a:t>A 131 s / 22.1 AIU · B 72 s / 13.6 AIU</a:t>
            </a:r>
            <a:endParaRPr lang="en-US" sz="1300" dirty="0"/>
          </a:p>
        </p:txBody>
      </p:sp>
      <p:sp>
        <p:nvSpPr>
          <p:cNvPr id="13" name="b01-rise-demo-outcome"/>
          <p:cNvSpPr/>
          <p:nvPr/>
        </p:nvSpPr>
        <p:spPr>
          <a:xfrm>
            <a:off x="841248" y="4352544"/>
            <a:ext cx="4023360" cy="274320"/>
          </a:xfrm>
          <a:prstGeom prst="rect">
            <a:avLst/>
          </a:prstGeom>
          <a:noFill/>
          <a:ln/>
        </p:spPr>
        <p:txBody>
          <a:bodyPr wrap="square" rtlCol="0" anchor="t"/>
          <a:lstStyle/>
          <a:p>
            <a:pPr marL="0" indent="0">
              <a:lnSpc>
                <a:spcPct val="105000"/>
              </a:lnSpc>
              <a:buNone/>
            </a:pPr>
            <a:r>
              <a:rPr lang="en-US" sz="1500" dirty="0">
                <a:solidFill>
                  <a:srgbClr val="B2BDCD"/>
                </a:solidFill>
                <a:latin typeface="Helvetica Neue" pitchFamily="34" charset="0"/>
                <a:ea typeface="Helvetica Neue" pitchFamily="34" charset="-122"/>
                <a:cs typeface="Helvetica Neue" pitchFamily="34" charset="-120"/>
              </a:rPr>
              <a:t>The ambiguity the brief removed</a:t>
            </a:r>
            <a:endParaRPr lang="en-US" sz="1500" dirty="0"/>
          </a:p>
        </p:txBody>
      </p:sp>
      <p:sp>
        <p:nvSpPr>
          <p:cNvPr id="14" name="b01-rise-demo-outcome"/>
          <p:cNvSpPr/>
          <p:nvPr/>
        </p:nvSpPr>
        <p:spPr>
          <a:xfrm>
            <a:off x="841248" y="4663440"/>
            <a:ext cx="4023360" cy="384048"/>
          </a:xfrm>
          <a:prstGeom prst="roundRect">
            <a:avLst>
              <a:gd name="adj" fmla="val 19048"/>
            </a:avLst>
          </a:prstGeom>
          <a:solidFill>
            <a:srgbClr val="0A0D13"/>
          </a:solidFill>
          <a:ln w="12700">
            <a:solidFill>
              <a:srgbClr val="1A212C"/>
            </a:solidFill>
            <a:prstDash val="solid"/>
          </a:ln>
        </p:spPr>
        <p:txBody>
          <a:bodyPr/>
          <a:lstStyle/>
          <a:p>
            <a:endParaRPr lang="en-US"/>
          </a:p>
        </p:txBody>
      </p:sp>
      <p:sp>
        <p:nvSpPr>
          <p:cNvPr id="15" name="b01-rise-demo-outcome"/>
          <p:cNvSpPr/>
          <p:nvPr/>
        </p:nvSpPr>
        <p:spPr>
          <a:xfrm>
            <a:off x="841248" y="4663440"/>
            <a:ext cx="4023360" cy="384048"/>
          </a:xfrm>
          <a:prstGeom prst="rect">
            <a:avLst/>
          </a:prstGeom>
          <a:noFill/>
          <a:ln/>
        </p:spPr>
        <p:txBody>
          <a:bodyPr wrap="square" rtlCol="0" anchor="ctr"/>
          <a:lstStyle/>
          <a:p>
            <a:pPr marL="0" indent="0" algn="ctr">
              <a:lnSpc>
                <a:spcPct val="105000"/>
              </a:lnSpc>
              <a:buNone/>
            </a:pPr>
            <a:r>
              <a:rPr lang="en-US" sz="1300" dirty="0">
                <a:solidFill>
                  <a:srgbClr val="B2BDCD"/>
                </a:solidFill>
                <a:latin typeface="Helvetica Neue" pitchFamily="34" charset="0"/>
                <a:ea typeface="Helvetica Neue" pitchFamily="34" charset="-122"/>
                <a:cs typeface="Helvetica Neue" pitchFamily="34" charset="-120"/>
              </a:rPr>
              <a:t>Overdue meant SENT only in A</a:t>
            </a:r>
            <a:endParaRPr lang="en-US" sz="1300" dirty="0"/>
          </a:p>
        </p:txBody>
      </p:sp>
      <p:sp>
        <p:nvSpPr>
          <p:cNvPr id="16" name="Text 14"/>
          <p:cNvSpPr/>
          <p:nvPr/>
        </p:nvSpPr>
        <p:spPr>
          <a:xfrm>
            <a:off x="5468112" y="2057400"/>
            <a:ext cx="6163056" cy="256032"/>
          </a:xfrm>
          <a:prstGeom prst="rect">
            <a:avLst/>
          </a:prstGeom>
          <a:noFill/>
          <a:ln/>
        </p:spPr>
        <p:txBody>
          <a:bodyPr wrap="square" rtlCol="0" anchor="t"/>
          <a:lstStyle/>
          <a:p>
            <a:pPr marL="0" indent="0">
              <a:lnSpc>
                <a:spcPct val="105000"/>
              </a:lnSpc>
              <a:buNone/>
            </a:pPr>
            <a:r>
              <a:rPr lang="en-US" sz="1100" b="1" kern="0" spc="200" dirty="0">
                <a:solidFill>
                  <a:srgbClr val="75EDBB"/>
                </a:solidFill>
                <a:latin typeface="Helvetica Neue" pitchFamily="34" charset="0"/>
                <a:ea typeface="Helvetica Neue" pitchFamily="34" charset="-122"/>
                <a:cs typeface="Helvetica Neue" pitchFamily="34" charset="-120"/>
              </a:rPr>
              <a:t>FROM THE SESSION</a:t>
            </a:r>
            <a:endParaRPr lang="en-US" sz="1100" dirty="0"/>
          </a:p>
        </p:txBody>
      </p:sp>
      <p:sp>
        <p:nvSpPr>
          <p:cNvPr id="17" name="b02-fade-session-takeaways"/>
          <p:cNvSpPr/>
          <p:nvPr/>
        </p:nvSpPr>
        <p:spPr>
          <a:xfrm>
            <a:off x="5468112" y="2569464"/>
            <a:ext cx="146304" cy="146304"/>
          </a:xfrm>
          <a:prstGeom prst="ellipse">
            <a:avLst/>
          </a:prstGeom>
          <a:solidFill>
            <a:srgbClr val="75EDBB"/>
          </a:solidFill>
          <a:ln w="12700">
            <a:solidFill>
              <a:srgbClr val="75EDBB"/>
            </a:solidFill>
            <a:prstDash val="solid"/>
          </a:ln>
        </p:spPr>
        <p:txBody>
          <a:bodyPr/>
          <a:lstStyle/>
          <a:p>
            <a:endParaRPr lang="en-US"/>
          </a:p>
        </p:txBody>
      </p:sp>
    </p:spTree>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venir Nex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Helvetica Neue"/>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034AB759-B06F-F748-9510-DED162A6DE6A}">
  <we:reference id="WA200010001" version="1.0.0.1" store="Omex" storeType="OMEX"/>
  <we:alternateReferences>
    <we:reference id="WA200010001" version="1.0.0.1" store="WA200010001" storeType="OMEX"/>
  </we:alternateReferences>
  <we:properties>
    <we:property name="claude.fileId" value="&quot;e82e5230-3082-4a2e-93f5-deb1b424baff&quot;"/>
  </we:properties>
  <we:bindings/>
  <we:snapshot xmlns:r="http://schemas.openxmlformats.org/officeDocument/2006/relationships"/>
</we:webextension>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18</TotalTime>
  <Words>8675</Words>
  <Application>Microsoft Macintosh PowerPoint</Application>
  <PresentationFormat>Widescreen</PresentationFormat>
  <Paragraphs>381</Paragraphs>
  <Slides>20</Slides>
  <Notes>20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Avenir Next</vt:lpstr>
      <vt:lpstr>Helvetica Neue</vt:lpstr>
      <vt:lpstr>Menlo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Art and Science of Vibe Coding</dc:title>
  <dc:subject>Token economy, spec-driven development and an efficient SDLC</dc:subject>
  <dc:creator>Sepehr Pakbaz</dc:creator>
  <cp:lastModifiedBy>Sepehr Pakbaz</cp:lastModifiedBy>
  <cp:revision>5</cp:revision>
  <dcterms:created xsi:type="dcterms:W3CDTF">2026-09-18T21:24:12Z</dcterms:created>
  <dcterms:modified xsi:type="dcterms:W3CDTF">2026-09-18T22:50:27Z</dcterms:modified>
</cp:coreProperties>
</file>