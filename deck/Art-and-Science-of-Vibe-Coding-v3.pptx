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71" r:id="rId9"/>
    <p:sldId id="263" r:id="rId10"/>
    <p:sldId id="264" r:id="rId11"/>
    <p:sldId id="272" r:id="rId12"/>
    <p:sldId id="265" r:id="rId13"/>
    <p:sldId id="266" r:id="rId14"/>
    <p:sldId id="267" r:id="rId15"/>
    <p:sldId id="268" r:id="rId16"/>
    <p:sldId id="273" r:id="rId17"/>
    <p:sldId id="269" r:id="rId18"/>
    <p:sldId id="270"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69571"/>
  </p:normalViewPr>
  <p:slideViewPr>
    <p:cSldViewPr snapToGrid="0" snapToObjects="1">
      <p:cViewPr varScale="1">
        <p:scale>
          <a:sx n="85" d="100"/>
          <a:sy n="85" d="100"/>
        </p:scale>
        <p:origin x="928" y="17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861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Open with the system on the right. The model is the brain at the center. The harness is the body around it: tools, context handling and execution. Your setup is the wider operating environment: instructions, tests, fixtures, workflows and acceptance criteria.</a:t>
            </a:r>
          </a:p>
          <a:p>
            <a:endParaRPr dirty="0"/>
          </a:p>
          <a:p>
            <a:r>
              <a:rPr dirty="0"/>
              <a:t>The talk is not a model ranking or a product pitch. A strong model helps, but the result comes from how the brain, body and setup work together. The techniques transfer across capable models and harnesses.</a:t>
            </a:r>
          </a:p>
          <a:p>
            <a:endParaRPr dirty="0"/>
          </a:p>
          <a:p>
            <a:r>
              <a:rPr dirty="0"/>
              <a:t>PRESENTER CUES</a:t>
            </a:r>
          </a:p>
          <a:p>
            <a:r>
              <a:rPr dirty="0"/>
              <a:t>1. Name the model as the brain.</a:t>
            </a:r>
          </a:p>
          <a:p>
            <a:r>
              <a:rPr dirty="0"/>
              <a:t>2. Trace the green harness layer wrapping the model and call it the body.</a:t>
            </a:r>
          </a:p>
          <a:p>
            <a:r>
              <a:rPr dirty="0"/>
              <a:t>3. Trace the purple setup layer wrapping both and say this is where teams usually leave leverage unused.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session here. Vaswani and colleagues published "Attention Is All You Need" in 2017, and the transformer is still the architecture under the models we use today. Reference: https://arxiv.org/abs/1706.03762
Two accuracy points I want to get right. The paper did not invent attention; it removed recurrence and built the whole architecture out of attention. Earlier work, including Bahdanau and colleagues in 2014, already used attention on top of recurrent models. And when a model generates text it only attends to tokens that came before the one it is producing. Future tokens are masked out, which is why the example on this slide looks backwards along the sentence.
The diagram is illustrative. The weights are the kind of pattern a trained model learns, not numbers pulled from a specific run, and a high weight means a strong learned association, not a verdict that something is correct.
Correction to the version of this talk I gave before: the first public ChatGPT in late 2022 had a context window of a few thousand tokens, not a hundred thousand or two hundred thousand. Those larger windows arrived later. That is exactly why prompting felt like the only lever at the time, and why people got good at it.
Prompting still matters. It matters differently now, which is where the next slide goes.
PRESENTER CUES
1. Opens with the session title, the sentence and the highlighted query token 'it'. Read the sentence out loud and ask the room what 'it' points to.
2. Click 1: the three weighted links wipe back to invoice, overdue and agent. Say the model only looks at tokens that came before 'it'.
3. Click 2: the takeaway rises. Say the weights are learned associations, not a check on what is true.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 I want people to feel: a prompt used to be one shot in and one shot out, and you were the only thing checking the answer. Now the same model sits inside a loop that can run a command, read what came back and try again.
Be careful about what self-correction means. The agent corrects itself against evidence it can actually see, which is usually a failing test, a compiler error or a diff. Model reasoning is not independent verification. If nothing in the loop produces evidence, more reasoning just produces a more confident wrong answer.
The stopping condition matters as much as the loop. Stop when the acceptance check passes, or when repeated attempts stop producing new evidence. Without that second clause an agent will keep editing.
On context windows: the usable window depends on the model and on the client around it. Advertised capacity is not the same as useful context, since the harness spends part of it on system instructions, tool definitions, history and file content. Filling the window is not a goal.
PRESENTER CUES
1. Opens with the title and the one-shot lane on the left. Say this is what most people still picture when they hear 'prompting'.
2. Click 1: the four loop stages and the arrows between them appear. Walk the ring once, out loud, in order.
3. Click 2: the stopping rule rises in the middle. Emphasise the second half: stop when attempts stop adding evidence.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for the rest of the session. The model reasons, drafts and proposes which tool to call. The harness is everything around it: it assembles the context for each call, runs the loop, executes the tools, keeps state when the context compacts, and applies permissions.
Do not oversell the harness. It makes the loop repeatable, it does not make the result correct. Correctness comes from the checks we define and run.
The line I want to land: a stronger model cannot call a tool the harness does not expose, and it cannot reason about evidence nobody collected. When people are disappointed with an agent, the missing piece is usually in the outer rings, not the model.
This also frames the two decisions coming up. Which model, which harness, and then the part neither of them can do for you.
PRESENTER CUES
1. Opens with the harness boundary and the model at its centre. Say the model is the part everyone argues about and the smaller part of the picture.
2. Click 1: context, tools and state appear around the model. Name each one as a job the harness does per call.
3. Click 2: the limit line rises. Say it slowly, because slides 4 and 5 both depend on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brain-and-body framing. The model is the brain: it provides reasoning, language understanding and code intelligence. The harness is the body: it gives the model tools, context, execution and a workflow.</a:t>
            </a:r>
          </a:p>
          <a:p>
            <a:endParaRPr/>
          </a:p>
          <a:p>
            <a:r>
              <a:t>Codex and Claude Code are popular harnesses. GitHub Copilot is a versatile harness because it offers broad model choice across providers such as OpenAI, Anthropic, xAI and Google Gemini, plus local or custom BYOM options where configured. Availability and billing vary by plan and environment.</a:t>
            </a:r>
          </a:p>
          <a:p>
            <a:endParaRPr/>
          </a:p>
          <a:p>
            <a:r>
              <a:t>The selection still does not end at the harness. It is another piece of the puzzle, not the whole solution. The model, harness and your setup must work as one system.</a:t>
            </a:r>
          </a:p>
          <a:p>
            <a:endParaRPr/>
          </a:p>
          <a:p>
            <a:r>
              <a:t>PRESENTER CUES</a:t>
            </a:r>
          </a:p>
          <a:p>
            <a:r>
              <a:t>1. Point to Brain and Body first.</a:t>
            </a:r>
          </a:p>
          <a:p>
            <a:r>
              <a:t>2. Mention Codex and Claude Code as popular harness choices.</a:t>
            </a:r>
          </a:p>
          <a:p>
            <a:r>
              <a:t>3. Use Copilot and BYOM to explain versatility and model choice.</a:t>
            </a:r>
          </a:p>
          <a:p>
            <a:r>
              <a:t>4. Close on the system message: a capable brain needs an efficient body and a good setup.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centre of the talk.
A good harness does real work for you: it selects what goes into the window, runs the loop, executes tools, holds state when context compacts and applies permissions. That is worth choosing carefully.
What it cannot supply is the goal. It cannot know which part of the system you are actually trying to change, that the suite takes eleven minutes because it seeds the full dataset, or that the package registry needs the VPN, unless somebody writes that down.
Model capability, harness quality and the setup around them all contribute to the outcome. I am not going to put a formula on that, and I am not going to rank them. What I will say is that most teams tune only the model and then wonder why the result is uneven.
The capsule at the bottom is the whole slide: pick one outcome that a test can decide. If nobody can write the check, the task is not defined yet, and no amount of model capability fixes that.
PRESENTER CUES
1. Opens with the two columns side by side. Read the harness column quickly, then slow down on the right column.
2. Click 1: both arrows wipe toward the seam. Say both sides are feeding the same thing.
3. Click 2: the testable outcome rises. Ask the room whether their current task has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real tension in this slide and I want to name it rather than smooth it over. Discovery should be broad, because everything downstream inherits the quality of what you found, and this is the cheapest moment to be thorough. Execution should be narrow, because a window full of loosely related material makes the agent's job harder, not easier.
So the funnel is not about throwing work away. It is about writing down what you learned in a form the task can use: the goal, the acceptance criteria, the files that matter and the constraints that apply. Keep the raw material in the repo or the issue, not in every prompt.
Greenfield and brownfield differ mostly in where the constraints come from. On a new project you are writing the constraints, so discovery is about deciding them. On a maintained system the constraints already exist in code, data and operational habits, so discovery is about finding them before you contradict one.
A practical tell: if you cannot say why a file is in the context, take it out and see whether the checks still pass.
PRESENTER CUES
1. Opens with the four discovery sources on the left. Say you want people uncomfortable with how long they spend here.
2. Click 1: the four sources converge into the task brief. Read the brief's four parts.
3. Click 2: the brief becomes what the agent actually sees.
4. Click 3: the selection rule appears. This is the line people quote back to 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context window is temporary working memory. The session record is the thing the work stands on. Those are two different stores, and only one of them survives a reset.</a:t>
            </a:r>
          </a:p>
          <a:p>
            <a:endParaRPr lang="en-US"/>
          </a:p>
          <a:p>
            <a:r>
              <a:rPr lang="en-US"/>
              <a:t>Left side: what the model can see right now is recent turns plus the files it was handed. It is always a selection, and when it fills up the harness compacts or drops part of it. That is normal and expected.</a:t>
            </a:r>
          </a:p>
          <a:p>
            <a:endParaRPr lang="en-US"/>
          </a:p>
          <a:p>
            <a:r>
              <a:rPr lang="en-US"/>
              <a:t>Right side: the durable record is what you can come back to. Goal, decisions, evidence, next step, checkpoint. If those five live outside the window, a compaction is an inconvenience. If they only live inside the window, a compaction is a loss.</a:t>
            </a:r>
          </a:p>
          <a:p>
            <a:endParaRPr lang="en-US"/>
          </a:p>
          <a:p>
            <a:r>
              <a:rPr lang="en-US"/>
              <a:t>The rule that matters: compaction may drop detail, but it must never drop approvals or provenance. If you cannot tell later who approved an action, or which command produced a result, the record is incomplete.</a:t>
            </a:r>
          </a:p>
          <a:p>
            <a:endParaRPr lang="en-US"/>
          </a:p>
          <a:p>
            <a:r>
              <a:rPr lang="en-US"/>
              <a:t>Practically: write the goal and the acceptance criteria down, keep decisions and their reasons in the repo or the task, keep command output where it can be re-read, and leave a resume point. This is the same discipline as the task brief on the previous slide, just applied to the middle of a long run instead of the start.</a:t>
            </a:r>
          </a:p>
          <a:p>
            <a:endParaRPr lang="en-US"/>
          </a:p>
          <a:p>
            <a:r>
              <a:rPr lang="en-US"/>
              <a:t>PRESENTER CUES</a:t>
            </a:r>
          </a:p>
          <a:p>
            <a:r>
              <a:rPr lang="en-US"/>
              <a:t>1. Click 1: the working-context chips. Say the window is selected and lossy by design.</a:t>
            </a:r>
          </a:p>
          <a:p>
            <a:r>
              <a:rPr lang="en-US"/>
              <a:t>2. Click 2: the durable record rows. Read them as a checklist, not as a paragraph.</a:t>
            </a:r>
          </a:p>
          <a:p>
            <a:r>
              <a:rPr lang="en-US"/>
              <a:t>3. Click 3: the rule. Land on approvals and provenance.</a:t>
            </a:r>
          </a:p>
          <a:p>
            <a:endParaRPr lang="en-US"/>
          </a:p>
          <a:p>
            <a:r>
              <a:rPr lang="en-US"/>
              <a:t>TRANSITION</a:t>
            </a:r>
          </a:p>
          <a:p>
            <a:r>
              <a:rPr lang="en-US"/>
              <a:t>With the record in place, each change becomes an evidence loop, which is the next slide.</a:t>
            </a:r>
          </a:p>
          <a:p>
            <a:endParaRPr lang="en-US"/>
          </a:p>
          <a:p>
            <a:r>
              <a:rPr lang="en-US"/>
              <a:t>SOURCES</a:t>
            </a:r>
          </a:p>
          <a:p>
            <a:r>
              <a:rPr lang="en-US"/>
              <a:t>- Adapted from the reference deck (Modern Agent Harness Engineering) slides 8 and 9.</a:t>
            </a:r>
          </a:p>
          <a:p>
            <a:r>
              <a:rPr lang="en-US"/>
              <a:t>- Anthropic, "Managed agents," vendor engineering article, https://www.anthropic.com/engineering/managed-agents - supports the separation of a durable session log from the model context window. The reference deck cites it as accessed 2026-08-17.</a:t>
            </a:r>
          </a:p>
          <a:p>
            <a:r>
              <a:rPr lang="en-US"/>
              <a:t>- "ClawVM," arXiv:2604.10352, https://arxiv.org/html/2604.10352 - emerging 2026 research behind the fidelity/checkpoint framing. Treat as emerging research, not a production standard. No benchmark number is used here.</a:t>
            </a:r>
          </a:p>
          <a:p>
            <a:r>
              <a:rPr lang="en-US"/>
              <a:t>- Deliberately not used: the reference deck's brain/hands/session split, which would collide with this deck's model = brain, harness = body framing on slide 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discovery, hypothesis, plan, implementation, gate. Plan mode in most harnesses gives you a slice of this, mostly planning and some discovery. Useful, and not the whole method. Spec Kit helps when you want the criteria and the task breakdown written down as artifacts rather than held in a chat.
The gate is the part people skip. One acceptance condition, one command, the same result every run. If the proof is a screenshot or a human reading output, it will not survive the fifth iteration.
On failure, go back to the stage that was actually wrong. A failing test usually means the implementation is wrong, but sometimes it means the hypothesis was wrong or discovery missed a constraint. Rerunning implementation against a wrong hypothesis is how agents burn an afternoon.
Stop and escalate when repeated attempts stop adding evidence. Three tries that fail the same way are one piece of information, not three.
The acceptance line on this slide is the demo feature, so it pays off on the last slide.
PRESENTER CUES
1. Opens with the five stages in a row. Walk them left to right in about twenty seconds.
2. Click 1: the gate and the pass path appear. Say the gate is the only thing that decides done.
3. Click 2: the fail path returns to the stage that was wrong, not always to implementation.
4. Click 3: the acceptance line and its proof appear. Point out it is the demo feature from the last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and skills get used as synonyms and they are not. A tool, including anything you reach through an MCP server, gives the agent access to something it could not otherwise do: a database, a browser, a deployment API. A skill is a written procedure the agent can follow again, built from things it can already do.
Select capability per task, not per workspace. Everything mounted into a session costs context in the tool list, and overlapping tools cause the agent to pick the wrong one.
I want to avoid the easy version of this advice. Fewer tools is not automatically better. If the task genuinely needs browser access, removing the browser does not make the agent faster, it makes it guess. Necessary coverage stays; standing extras can wait until a task needs them.
Permissions follow the same rule. Give the access the task requires, scoped to the work, and prefer an isolated test identity over anything with production reach.
PRESENTER CUES
1. Opens with the two definitions and the shelf of available capability on the left. Ask people how many tools their default session mounts.
2. Click 1: two tools and one skill get pulled into this task's boundary. The rest stay outside, still available.
3. Click 2: the rule appears. Say the part about necessary coverage staying, so nobody leaves and strips their setup.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Controls belong in front of the action, not in a paragraph the model is asked to respect.</a:t>
            </a:r>
          </a:p>
          <a:p>
            <a:endParaRPr lang="en-US"/>
          </a:p>
          <a:p>
            <a:r>
              <a:rPr lang="en-US"/>
              <a:t>The shape is simple. The model proposes an action and its arguments. The runtime checks it against scope, the trust of the content involved, and the permissions the task was actually granted. Then one of three things happens: allow, ask for approval, or deny.</a:t>
            </a:r>
          </a:p>
          <a:p>
            <a:endParaRPr lang="en-US"/>
          </a:p>
          <a:p>
            <a:r>
              <a:rPr lang="en-US"/>
              <a:t>Two examples worth naming. First, sensitive data heading for an external destination: customer records in, a third-party endpoint out. The runtime should ask or refuse before the send; that decision should not depend on the model's judgment in the moment. Second, irreversible steps - publishing, deploying, deleting - stay gated even when the proposed plan looks correct, because "looks correct" is not evidence.</a:t>
            </a:r>
          </a:p>
          <a:p>
            <a:endParaRPr lang="en-US"/>
          </a:p>
          <a:p>
            <a:r>
              <a:rPr lang="en-US"/>
              <a:t>Then the failure case, which is the part teams get wrong. If the check itself fails - the policy service is down, a rule is unparseable, an argument cannot be evaluated - the answer is stop, not proceed. A control that fails open is not a control.</a:t>
            </a:r>
          </a:p>
          <a:p>
            <a:endParaRPr lang="en-US"/>
          </a:p>
          <a:p>
            <a:r>
              <a:rPr lang="en-US"/>
              <a:t>Last, the distinction on the rule line. AGENTS.md is guidance: it shapes what the model tries. Permissions, credentials and approval prompts are enforcement: they decide what can actually happen. Write both, but do not confuse them, and do not claim that either one prevents every prompt-injection attempt. It does not.</a:t>
            </a:r>
          </a:p>
          <a:p>
            <a:endParaRPr lang="en-US"/>
          </a:p>
          <a:p>
            <a:r>
              <a:rPr lang="en-US"/>
              <a:t>PRESENTER CUES</a:t>
            </a:r>
          </a:p>
          <a:p>
            <a:r>
              <a:rPr lang="en-US"/>
              <a:t>1. Click 1: the three verdicts. Read allow / ask / deny as one sentence.</a:t>
            </a:r>
          </a:p>
          <a:p>
            <a:r>
              <a:rPr lang="en-US"/>
              <a:t>2. Click 2: the two examples. Keep them concrete and short.</a:t>
            </a:r>
          </a:p>
          <a:p>
            <a:r>
              <a:rPr lang="en-US"/>
              <a:t>3. Click 3: the rule. Say the sentence about guidance versus enforcement out loud.</a:t>
            </a:r>
          </a:p>
          <a:p>
            <a:endParaRPr lang="en-US"/>
          </a:p>
          <a:p>
            <a:r>
              <a:rPr lang="en-US"/>
              <a:t>TRANSITION</a:t>
            </a:r>
          </a:p>
          <a:p>
            <a:r>
              <a:rPr lang="en-US"/>
              <a:t>Controls settle what may run. Pace settles when the checks arrive - that is the next slide.</a:t>
            </a:r>
          </a:p>
          <a:p>
            <a:endParaRPr lang="en-US"/>
          </a:p>
          <a:p>
            <a:r>
              <a:rPr lang="en-US"/>
              <a:t>SOURCES</a:t>
            </a:r>
          </a:p>
          <a:p>
            <a:r>
              <a:rPr lang="en-US"/>
              <a:t>- Adapted from the reference deck slides 10 and 11.</a:t>
            </a:r>
          </a:p>
          <a:p>
            <a:r>
              <a:rPr lang="en-US"/>
              <a:t>- "AGENT-HOOKS-0.1," framework-neutral specification, https://github.com/responsibleai/agent-hooks/blob/main/spec/AGENT-HOOKS-0.1.md - supports lifecycle interception points and allow/deny/transform-style verdicts. Fail-closed is a recommended posture, not a vendor claim.</a:t>
            </a:r>
          </a:p>
          <a:p>
            <a:r>
              <a:rPr lang="en-US"/>
              <a:t>- "FIDES," arXiv:2505.23643, https://arxiv.org/abs/2505.23643 - supports labels travelling with content and deterministic enforcement before a sensitive action.</a:t>
            </a:r>
          </a:p>
          <a:p>
            <a:r>
              <a:rPr lang="en-US"/>
              <a:t>- Intentionally framework-neutral: no product API, no sandbox or injection-immunity claim.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sounds like work before any code gets written, and it is. The claim is about where the work lands, not that it disappears.
Without the setup, checks arrive late, so rework arrives late too, and each iteration re-establishes context that nobody wrote down. With the setup, the first block costs more and every block after it is smaller and verified before the next one starts.
Be explicit that this slide has no measurements on it. The blocks are shapes, not timings. I am not going to show a chart with invented numbers, and if somebody asks for the real ratio, the honest answer is that it depends on the codebase and we should measure it on theirs.
Proportionality matters. On a maintained system, discovery, standards and architecture work scale with risk. A one-file change with an existing test does not need a program around it, and treating every change that way is its own waste.
The maintainability argument is the one that lands with engineering managers: the setup is reusable across every later change, while unstructured iteration has to be redone by whoever comes next.
PRESENTER CUES
1. Opens with both lane labels and the title. Say the slide is conceptual before anyone reads it as data.
2. Click 1: the first lane fills in with uneven blocks and late rework. Describe what late feedback costs.
3. Click 2: the second lane fills in, setup first, then small verified steps.
4. Click 3: the proportionality line rises, so nobody leaves and puts a program around a one-line fix.</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needs its own loop because agents make mistakes, the same way engineers do. The difference is that a good engineer knows how to check their work, and an agent can only check its work if we hand it a way to.
So build the rig first. A deterministic fixture, so two runs of the same code give the same answer. One command, so there is no debate about what 'run the tests' means. A report that names the failing case, because 'tests failed' sends the agent looking in the wrong place.
Stub external services for the inner loop: payment gateways, mail, anything with a rate limit or a shared sandbox. The point is to stop the loop from failing for reasons that have nothing to do with the change.
Two things I want to be careful about. Local is faster for most inner-loop operations, and it is not universal; anything that depends on real network behaviour, real identity or real data volume has to run somewhere else. And nothing here is permission to bypass production authentication. Use a test identity that is excluded from production systems by configuration, and keep the real auth path in the final gate.
PRESENTER CUES
1. Opens with the empty container on the left. Ask how many people can run their suite with one command today.
2. Click 1: the three rig pieces rise. The report line is the one people skip.
3. Click 2: the stubs appear. Say what they are for, and what they are not for.
4. Click 3: the final gate panel rises. Real auth and integration stay, with an isolated identity.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of the field case behind the demo. Every iteration rebuilt roughly four hundred thousand synthetic records, then handed control to browser automation to confirm that one table row was right. Correct, and slow enough that nobody wanted to iterate.
Two substitutions, both cheap. First, run the functional inner loop against about a hundred curated records instead of the full set. The hundred are chosen, not the first hundred rows: paid, cancelled, due today, boundary dates, odd formatting, combined filters. Second, when you are verifying static output, assert against the HTML the application generated instead of driving a browser to look at it.
Be precise about what this buys. It buys a faster inner loop. It does not prove anything about scale, and a smaller sample is not by itself a token saving, since token cost depends on what actually enters the context. If I am going to claim a speed-up, I record it live rather than quoting a number from a slide.
The final gate still runs full-scale data, real auth and one browser smoke check. Direct HTML assertions say nothing about JavaScript behaviour, layout or accessibility.
PRESENTER CUES
1. Opens with the full dataset on the left and the title. Describe the field case in two sentences.
2. Click 1: the hundred-record sample zooms in. Stress that these are chosen cases, not the first hundred rows.
3. Click 2: the browser substitution wipes in. Same evidence, fewer moving parts.
4. Click 3: the final gate strip rises, so nobody hears this as 'skip the real tests'.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I want people to steal. Instead of redesigning the loop myself, I ask the agent what would make the loop cheaper, then I verify the answer.
Fuller version of the prompt, copyable: "Here are the timings we just recorded for each step of this loop. Name the step that costs the most and explain what makes it expensive. Propose the smallest safe change that still satisfies every acceptance criterion we agreed on, list anything the change would stop covering, and tell me exactly how we measure whether it helped. Do not change the acceptance criteria."
Where it came from: a customer engineer was modernising a legacy application. Every iteration rebuilt roughly four hundred thousand records and then drove a browser to check a single table row. I asked the agent how the loop could be cheaper. It proposed cutting the functional sample to about a hundred curated records, asserting against the generated HTML instead of driving a browser, containerising the run, and using a local test identity so the loop was not signing in every time.
The caution matters. What comes back is a hypothesis about its own loop, and it can be wrong, especially about where time actually goes. Take the proposal, keep the acceptance criteria fixed, make one change and measure it. The last clause of the prompt is what turns a suggestion into evidence.
PRESENTER CUES
1. Opens with the title and the empty prompt frame. Tell the origin story first, it takes about thirty seconds.
2. Click 1: the prompt appears. Read it out loud, especially the last clause about measuring.
3. Click 2: the diagnose, change, verify loop wipes in on the right.
4. Click 3: the caution rises. The diagnosis is a hypothesis until a measurement agrees.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loop that stops the same failure happening twice.</a:t>
            </a:r>
          </a:p>
          <a:p>
            <a:endParaRPr lang="en-US"/>
          </a:p>
          <a:p>
            <a:r>
              <a:rPr lang="en-US"/>
              <a:t>Start with the trace, not with the prompt. A trace tells you what was asked, what came back, which tool ran with which arguments, what the error was, and what the agent could see at the time. Those five together usually locate the failure precisely enough to act.</a:t>
            </a:r>
          </a:p>
          <a:p>
            <a:endParaRPr lang="en-US"/>
          </a:p>
          <a:p>
            <a:r>
              <a:rPr lang="en-US"/>
              <a:t>Then name the cause. "Improve the prompt" is not a cause; it is a shrug. "The past-due filter counted DRAFT rows, and no check covered that case" is a cause, because it points at one change and one missing check.</a:t>
            </a:r>
          </a:p>
          <a:p>
            <a:endParaRPr lang="en-US"/>
          </a:p>
          <a:p>
            <a:r>
              <a:rPr lang="en-US"/>
              <a:t>Make one reviewed change - a rule, a tool description, a fixture, an acceptance check - and replay the exact case that failed. Then promote it into the gate so it runs every time from now on. One failure becomes one regression test.</a:t>
            </a:r>
          </a:p>
          <a:p>
            <a:endParaRPr lang="en-US"/>
          </a:p>
          <a:p>
            <a:r>
              <a:rPr lang="en-US"/>
              <a:t>Be clear about what this is not. The agent is not repairing itself; a person reviews the change. And there is no measured improvement claimed here: this is a working pattern, not a study.</a:t>
            </a:r>
          </a:p>
          <a:p>
            <a:endParaRPr lang="en-US"/>
          </a:p>
          <a:p>
            <a:r>
              <a:rPr lang="en-US"/>
              <a:t>TWTTY from the previous slide is the diagnosis half of this. It produces a hypothesis. The replayable case is what turns that hypothesis into evidence.</a:t>
            </a:r>
          </a:p>
          <a:p>
            <a:endParaRPr lang="en-US"/>
          </a:p>
          <a:p>
            <a:r>
              <a:rPr lang="en-US"/>
              <a:t>PRESENTER CUES</a:t>
            </a:r>
          </a:p>
          <a:p>
            <a:r>
              <a:rPr lang="en-US"/>
              <a:t>1. Base: walk the five-stage chain once, left to right, in about ten seconds.</a:t>
            </a:r>
          </a:p>
          <a:p>
            <a:r>
              <a:rPr lang="en-US"/>
              <a:t>2. Click 1: the trace evidence. Point at "context" - it is the one people forget.</a:t>
            </a:r>
          </a:p>
          <a:p>
            <a:r>
              <a:rPr lang="en-US"/>
              <a:t>3. Click 2: vague versus named failure. Read both aloud; the contrast does the work.</a:t>
            </a:r>
          </a:p>
          <a:p>
            <a:r>
              <a:rPr lang="en-US"/>
              <a:t>4. Click 3: the rule. TWTTY diagnoses, the replay confirms.</a:t>
            </a:r>
          </a:p>
          <a:p>
            <a:endParaRPr lang="en-US"/>
          </a:p>
          <a:p>
            <a:r>
              <a:rPr lang="en-US"/>
              <a:t>TRANSITION</a:t>
            </a:r>
          </a:p>
          <a:p>
            <a:r>
              <a:rPr lang="en-US"/>
              <a:t>Some fixes belong in a test. The rest belong in repo memory, which is the next slide.</a:t>
            </a:r>
          </a:p>
          <a:p>
            <a:endParaRPr lang="en-US"/>
          </a:p>
          <a:p>
            <a:r>
              <a:rPr lang="en-US"/>
              <a:t>SOURCES</a:t>
            </a:r>
          </a:p>
          <a:p>
            <a:r>
              <a:rPr lang="en-US"/>
              <a:t>- Adapted from the reference deck slides 14 and 20.</a:t>
            </a:r>
          </a:p>
          <a:p>
            <a:r>
              <a:rPr lang="en-US"/>
              <a:t>- "HarnessFix," arXiv:2606.06324, https://arxiv.org/html/2606.06324 - emerging 2026 research on trace-guided diagnosis, scoped repair and replay. The paper proposes automated repair; the posture recommended here is a scoped, reviewed change with deterministic replay. No benchmark number from the paper is used.</a:t>
            </a:r>
          </a:p>
          <a:p>
            <a:r>
              <a:rPr lang="en-US"/>
              <a:t>- The named-failure example matches this repository's demo rules in demo/FEATURE-REQUEST.md: DRAFT invoices are never overdue.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failures are never the agent's fault. It cannot read your firewall rules out of your source code, and it cannot know that a particular subscription must not be touched during a test run. Write those things down once, in the repo, next to the code.
The file on this slide is illustrative. The command, the paths and the VPN line are examples of the shape, not a configuration to copy. What matters is the categories: scope, the exact verification command, environment and network facts, mocking policy and source-control rules.
Filenames and loading behaviour depend on the harness. AGENTS.md is widely supported, and there are also .github/copilot-instructions.md, CLAUDE.md and per-directory variants. Check what your harness reads and when it reads it, rather than assuming one file is always loaded everywhere.
Two failure modes to avoid. Never put credentials or tokens in these files; they are committed and shared. And do not paste a large stale document in, because instructions that contradict the repo are worse than no instructions. If a line stops being true, delete it.
PRESENTER CUES
1. Opens with the file itself. Give the room fifteen seconds to read it before you say anything.
2. Click 1: the three rules for writing this file appear on the right.
3. Click 2: the verify line pulses and the caution rises. A command that no longer works costs more than a missing line.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several agents at once is genuinely useful, and it is also exactly like onboarding four engineers on the same morning. Four people with the same vague brief and the same branch do not produce four times the output; they produce a merge conflict and an argument.
So keep one owner and one objective. Split the feature into tasks that do not touch the same files, give each task its own worktree, and bring them back through one integration and review gate before starting the next feature.
The failure mode I see most is five independent features started at once by one person. Parallelism only pays when the work is genuinely independent. Overlapping edits cost reconciliation time, and every extra agent re-establishes the same context, which costs tokens and attention.
Same gates as a human contributor. Agent-written code is not exempt from review, and the owner settles design disagreements so two agents do not politely disagree for an hour.
PRESENTER CUES
1. Opens with the owner and the objective at the top. Say the onboarding analogy before the diagram.
2. Click 1: three bounded tasks appear, each in its own worktree, split so they do not share files.
3. Click 2: they converge on the shared gate. Same review standard as a human contributor.
4. Click 3: the independence rule rises. This is the one that stops five-features-at-once.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harness encodes assumptions about a specific model's failure modes. Change the model and some of those assumptions quietly expire.</a:t>
            </a:r>
          </a:p>
          <a:p>
            <a:endParaRPr lang="en-US"/>
          </a:p>
          <a:p>
            <a:r>
              <a:rPr lang="en-US"/>
              <a:t>So treat the deployable thing as a set, not a single choice. It is the model version and the reasoning effort, the instructions, tools and skills you give it, the budgets and permissions it runs under, and the tests that decide when work is done. Ship those together, version them together.</a:t>
            </a:r>
          </a:p>
          <a:p>
            <a:endParaRPr lang="en-US"/>
          </a:p>
          <a:p>
            <a:r>
              <a:rPr lang="en-US"/>
              <a:t>The flow on the right is the whole practice. Something changes - a new model version, an updated extension. You replay the same acceptance checks that defined done before the change. Then you decide, per workaround, whether it still earns its place. Retry rules, context resets, extra prompt scaffolding and verifier thresholds are all candidates for removal once the evidence stops supporting them.</a:t>
            </a:r>
          </a:p>
          <a:p>
            <a:endParaRPr lang="en-US"/>
          </a:p>
          <a:p>
            <a:r>
              <a:rPr lang="en-US"/>
              <a:t>Anthropic reports one concrete case of this: a context-reset workaround added for premature wrap-up behaviour in one model was no longer needed when the same harness ran a newer model. That is a vendor-reported example, not a benchmark, and it is the only vendor claim on this slide.</a:t>
            </a:r>
          </a:p>
          <a:p>
            <a:endParaRPr lang="en-US"/>
          </a:p>
          <a:p>
            <a:r>
              <a:rPr lang="en-US"/>
              <a:t>The trap is accretion. Scaffolding accumulates because removing it feels risky, and nobody re-runs the check that justified it. If you have the acceptance checks, removal is cheap to test.</a:t>
            </a:r>
          </a:p>
          <a:p>
            <a:endParaRPr lang="en-US"/>
          </a:p>
          <a:p>
            <a:r>
              <a:rPr lang="en-US"/>
              <a:t>PRESENTER CUES</a:t>
            </a:r>
          </a:p>
          <a:p>
            <a:r>
              <a:rPr lang="en-US"/>
              <a:t>1. Click 1: the four parts of the deployable setup. Say "this is one unit" once.</a:t>
            </a:r>
          </a:p>
          <a:p>
            <a:r>
              <a:rPr lang="en-US"/>
              <a:t>2. Click 2: change, replay, decide. Walk it downward.</a:t>
            </a:r>
          </a:p>
          <a:p>
            <a:r>
              <a:rPr lang="en-US"/>
              <a:t>3. Click 3: the rule about a workaround earning its place.</a:t>
            </a:r>
          </a:p>
          <a:p>
            <a:endParaRPr lang="en-US"/>
          </a:p>
          <a:p>
            <a:r>
              <a:rPr lang="en-US"/>
              <a:t>TRANSITION</a:t>
            </a:r>
          </a:p>
          <a:p>
            <a:r>
              <a:rPr lang="en-US"/>
              <a:t>That is the last idea. Now run it: one feature, two ways to work.</a:t>
            </a:r>
          </a:p>
          <a:p>
            <a:endParaRPr lang="en-US"/>
          </a:p>
          <a:p>
            <a:r>
              <a:rPr lang="en-US"/>
              <a:t>SOURCES</a:t>
            </a:r>
          </a:p>
          <a:p>
            <a:r>
              <a:rPr lang="en-US"/>
              <a:t>- Adapted from the reference deck slide 15.</a:t>
            </a:r>
          </a:p>
          <a:p>
            <a:r>
              <a:rPr lang="en-US"/>
              <a:t>- Anthropic, "Managed agents," https://www.anthropic.com/engineering/managed-agents - supports the stale-workaround example described above; reference deck cites it as accessed 2026-08-17. Vendor-reported, model-specific, not a universal result.</a:t>
            </a:r>
          </a:p>
          <a:p>
            <a:r>
              <a:rPr lang="en-US"/>
              <a:t>- The reference slide's FIT/TUNE/STALE matrix was dropped on purpose: those cells are illustrative, and a table that looks measured would misrepresent them.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replaces the old demo, model-choice, measurement and closing slides. Everything operational lives here in the notes.</a:t>
            </a:r>
          </a:p>
          <a:p>
            <a:endParaRPr lang="en-US"/>
          </a:p>
          <a:p>
            <a:r>
              <a:rPr lang="en-US"/>
              <a:t>WHAT THE AUDIENCE NEEDS TO HEAR</a:t>
            </a:r>
          </a:p>
          <a:p>
            <a:r>
              <a:rPr lang="en-US"/>
              <a:t>Same feature request, run twice. Run A is vibe coding: a short prompt, run it, read the errors, keep going until it passes. Run B is the prepared setup: the same prompt plus AGENTS.md and a fast test command, with TWTTY used only if the loop genuinely stalls. Both runs finish at the same line - the full test suite, the feature checks, and an HTTP check against the running app.</a:t>
            </a:r>
          </a:p>
          <a:p>
            <a:endParaRPr lang="en-US"/>
          </a:p>
          <a:p>
            <a:r>
              <a:rPr lang="en-US"/>
              <a:t>Say plainly what is controlled: the same selected model and reasoning effort, the same harness, the same app commit, the same complete written requirements. The two runs work in independent app-only Git worktrees, and they run sequentially, A first. Nothing is hidden from A: the full requirements are available to both runs.</a:t>
            </a:r>
          </a:p>
          <a:p>
            <a:endParaRPr lang="en-US"/>
          </a:p>
          <a:p>
            <a:r>
              <a:rPr lang="en-US"/>
              <a:t>Say plainly what is being measured: total wall time to the finish line, the actual session cost reported by Insights including every correction and TWTTY turn, and the number of correction rounds. Setup is counted separately, not folded into B's number. If a cost is not reported, it is unknown, not zero.</a:t>
            </a:r>
          </a:p>
          <a:p>
            <a:endParaRPr lang="en-US"/>
          </a:p>
          <a:p>
            <a:r>
              <a:rPr lang="en-US"/>
              <a:t>Say plainly what is not claimed: that B wins. A can win. Do not steer A into errors, and do not perform the outcome - the honest version is more convincing than the rehearsed one.</a:t>
            </a:r>
          </a:p>
          <a:p>
            <a:endParaRPr lang="en-US"/>
          </a:p>
          <a:p>
            <a:r>
              <a:rPr lang="en-US"/>
              <a:t>BEFORE YOU START</a:t>
            </a:r>
          </a:p>
          <a:p>
            <a:r>
              <a:rPr lang="en-US"/>
              <a:t>- Both child sessions are already idle and ready. Run A session: 740463f1-c897-43a4-9dcf-ef8b2ef4e833. Run B session: 2c4cd043-0fde-42a5-9672-c83fac8b2fa5.</a:t>
            </a:r>
          </a:p>
          <a:p>
            <a:r>
              <a:rPr lang="en-US"/>
              <a:t>- Confirm the same model and the same reasoning effort are selected in both sessions before starting. Check this on screen; it is the control the whole comparison rests on.</a:t>
            </a:r>
          </a:p>
          <a:p>
            <a:r>
              <a:rPr lang="en-US"/>
              <a:t>- Trial already prepared as: live-demo-20260918.</a:t>
            </a:r>
          </a:p>
          <a:p>
            <a:endParaRPr lang="en-US"/>
          </a:p>
          <a:p>
            <a:r>
              <a:rPr lang="en-US"/>
              <a:t>RUNNER COMMANDS (from the repository root)</a:t>
            </a:r>
          </a:p>
          <a:p>
            <a:r>
              <a:rPr lang="en-US"/>
              <a:t>The runner records timing and prints prompts; it does not send messages to the child sessions. After start A, immediately paste its returned prompt into the Run A child session. Wait for the agent to finish, then run check A. If the check fails, paste feedback A's actual output into the same child session, let it work, and check again. Repeat the same procedure for B only after A has finished. If you use twtty B, paste its output into B as a new turn and check again after the response. Presenter pauses count in wall time.</a:t>
            </a:r>
          </a:p>
          <a:p>
            <a:endParaRPr lang="en-US"/>
          </a:p>
          <a:p>
            <a:r>
              <a:rPr lang="en-US"/>
              <a:t>- node demo/run.js start A --trial live-demo-20260918</a:t>
            </a:r>
          </a:p>
          <a:p>
            <a:r>
              <a:rPr lang="en-US"/>
              <a:t>- node demo/run.js check A --trial live-demo-20260918</a:t>
            </a:r>
          </a:p>
          <a:p>
            <a:r>
              <a:rPr lang="en-US"/>
              <a:t>- node demo/run.js feedback A --trial live-demo-20260918   (paste the full flagged output back to run A)</a:t>
            </a:r>
          </a:p>
          <a:p>
            <a:r>
              <a:rPr lang="en-US"/>
              <a:t>- repeat check/feedback for A until the checks pass</a:t>
            </a:r>
          </a:p>
          <a:p>
            <a:r>
              <a:rPr lang="en-US"/>
              <a:t>- then the same sequence for B: start B, check B, feedback B</a:t>
            </a:r>
          </a:p>
          <a:p>
            <a:r>
              <a:rPr lang="en-US"/>
              <a:t>- node demo/run.js twtty B --trial live-demo-20260918   (only if B's loop stalls)</a:t>
            </a:r>
          </a:p>
          <a:p>
            <a:r>
              <a:rPr lang="en-US"/>
              <a:t>- node demo/run.js insights A --provenance ... --reference ... --trial live-demo-20260918, and the same for B. Insights values are typed in manually from what you observed; the runner does not invent them.</a:t>
            </a:r>
          </a:p>
          <a:p>
            <a:r>
              <a:rPr lang="en-US"/>
              <a:t>- node demo/run.js compare --trial live-demo-20260918</a:t>
            </a:r>
          </a:p>
          <a:p>
            <a:endParaRPr lang="en-US"/>
          </a:p>
          <a:p>
            <a:r>
              <a:rPr lang="en-US"/>
              <a:t>INSIGHTS ENTRY TEMPLATE</a:t>
            </a:r>
          </a:p>
          <a:p>
            <a:r>
              <a:rPr lang="en-US"/>
              <a:t>The abbreviated insights commands above need the values you actually observed. For currency cost, append --cost-value OBSERVED_AMOUNT --cost-unit DISPLAYED_CURRENCY. If Insights reports credits instead, append --ai-credit-value OBSERVED_AMOUNT --ai-credit-unit DISPLAYED_UNIT. Replace the uppercase placeholders; do not copy example numbers. Add --model "SELECTED_MODEL", use --provenance "child session Insights", and set --reference to that lane's session ID. Omit unavailable metrics rather than estimating them. Currency and credits are separate units.</a:t>
            </a:r>
          </a:p>
          <a:p>
            <a:endParaRPr lang="en-US"/>
          </a:p>
          <a:p>
            <a:r>
              <a:rPr lang="en-US"/>
              <a:t>WHAT THE FEATURE ACTUALLY REQUIRES (both runs get this in writing)</a:t>
            </a:r>
          </a:p>
          <a:p>
            <a:r>
              <a:rPr lang="en-US"/>
              <a:t>- An "Overdue only" checkbox on GET /invoices, submitting overdue=1 when checked.</a:t>
            </a:r>
          </a:p>
          <a:p>
            <a:r>
              <a:rPr lang="en-US"/>
              <a:t>- Overdue means status is exactly SENT and the due date is strictly before the as-of date. Due today is not overdue. DRAFT, PAID and CANCELLED are never overdue. There is no hidden gotcha; the rules are stated for both runs.</a:t>
            </a:r>
          </a:p>
          <a:p>
            <a:r>
              <a:rPr lang="en-US"/>
              <a:t>- The filter composes with the existing q, status and customer filters, and all active filters survive the links.</a:t>
            </a:r>
          </a:p>
          <a:p>
            <a:r>
              <a:rPr lang="en-US"/>
              <a:t>- The 25-row page size stays. The summary shows the matching count and total outstanding for the whole filtered set, before pagination.</a:t>
            </a:r>
          </a:p>
          <a:p>
            <a:endParaRPr lang="en-US"/>
          </a:p>
          <a:p>
            <a:r>
              <a:rPr lang="en-US"/>
              <a:t>CAVEATS TO KEEP HONEST</a:t>
            </a:r>
          </a:p>
          <a:p>
            <a:r>
              <a:rPr lang="en-US"/>
              <a:t>- The app is a dependency-free, server-rendered synthetic invoice app with no authentication. The HTTP check reads the HTML the app returned; it is not a browser test. Make no browser, auth or performance claims.</a:t>
            </a:r>
          </a:p>
          <a:p>
            <a:r>
              <a:rPr lang="en-US"/>
              <a:t>- The setup shown on screen is not the time it took to author or provision that setup. If the all-in preparation cost was not measured, say it is unknown.</a:t>
            </a:r>
          </a:p>
          <a:p>
            <a:r>
              <a:rPr lang="en-US"/>
              <a:t>- One run is an illustration, not a result. Repeating it is what would make it a finding.</a:t>
            </a:r>
          </a:p>
          <a:p>
            <a:endParaRPr lang="en-US"/>
          </a:p>
          <a:p>
            <a:r>
              <a:rPr lang="en-US"/>
              <a:t>CLOSING BEAT (no extra slide)</a:t>
            </a:r>
          </a:p>
          <a:p>
            <a:r>
              <a:rPr lang="en-US"/>
              <a:t>Ask the room three questions off this slide: did both runs reach the same finish line; what were the two totals, with setup shown separately; and what actually reduced the rework. Answer from the recorded numbers on screen, not from the expected winner. Then take questions.</a:t>
            </a:r>
          </a:p>
          <a:p>
            <a:endParaRPr lang="en-US"/>
          </a:p>
          <a:p>
            <a:r>
              <a:rPr lang="en-US"/>
              <a:t>PRESENTER CUES</a:t>
            </a:r>
          </a:p>
          <a:p>
            <a:r>
              <a:rPr lang="en-US"/>
              <a:t>1. Base: read the shared prompt aloud, then name the two cards.</a:t>
            </a:r>
          </a:p>
          <a:p>
            <a:r>
              <a:rPr lang="en-US"/>
              <a:t>2. Click 1: Run A's loop.</a:t>
            </a:r>
          </a:p>
          <a:p>
            <a:r>
              <a:rPr lang="en-US"/>
              <a:t>3. Click 2: Run B's loop.</a:t>
            </a:r>
          </a:p>
          <a:p>
            <a:r>
              <a:rPr lang="en-US"/>
              <a:t>4. Click 3: the shared finish line and the three metric labels. Leave them empty until the runs are done, then fill them in live.</a:t>
            </a:r>
          </a:p>
          <a:p>
            <a:endParaRPr lang="en-US"/>
          </a:p>
          <a:p>
            <a:r>
              <a:rPr lang="en-US"/>
              <a:t>SOURCES</a:t>
            </a:r>
          </a:p>
          <a:p>
            <a:r>
              <a:rPr lang="en-US"/>
              <a:t>- Consolidates the previous slides 16 through 20 of this deck.</a:t>
            </a:r>
          </a:p>
          <a:p>
            <a:r>
              <a:rPr lang="en-US"/>
              <a:t>- Repository-local: demo/README.md, demo/FEATURE-REQUEST.md, demo/prep/AGENTS.md, demo/run.js. No external URL, and no archived trial numbers apply to this run.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1371600"/>
            <a:ext cx="640080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APPS &amp; AI</a:t>
            </a:r>
            <a:endParaRPr lang="en-US" sz="1200" dirty="0"/>
          </a:p>
        </p:txBody>
      </p:sp>
      <p:sp>
        <p:nvSpPr>
          <p:cNvPr id="3" name="Text 1"/>
          <p:cNvSpPr/>
          <p:nvPr/>
        </p:nvSpPr>
        <p:spPr>
          <a:xfrm>
            <a:off x="566928" y="1810512"/>
            <a:ext cx="6583680" cy="1600200"/>
          </a:xfrm>
          <a:prstGeom prst="rect">
            <a:avLst/>
          </a:prstGeom>
          <a:noFill/>
          <a:ln/>
        </p:spPr>
        <p:txBody>
          <a:bodyPr wrap="square" rtlCol="0" anchor="t"/>
          <a:lstStyle/>
          <a:p>
            <a:pPr marL="0" indent="0">
              <a:lnSpc>
                <a:spcPct val="98000"/>
              </a:lnSpc>
              <a:buNone/>
            </a:pPr>
            <a:r>
              <a:rPr lang="en-US" sz="5200" dirty="0">
                <a:solidFill>
                  <a:srgbClr val="F3F6FA"/>
                </a:solidFill>
                <a:latin typeface="Avenir Next" pitchFamily="34" charset="0"/>
                <a:ea typeface="Avenir Next" pitchFamily="34" charset="-122"/>
                <a:cs typeface="Avenir Next" pitchFamily="34" charset="-120"/>
              </a:rPr>
              <a:t>The Art and Science</a:t>
            </a:r>
            <a:endParaRPr lang="en-US" sz="5200" dirty="0"/>
          </a:p>
          <a:p>
            <a:pPr marL="0" indent="0">
              <a:lnSpc>
                <a:spcPct val="98000"/>
              </a:lnSpc>
              <a:buNone/>
            </a:pPr>
            <a:r>
              <a:rPr lang="en-US" sz="5200" dirty="0">
                <a:solidFill>
                  <a:srgbClr val="F3F6FA"/>
                </a:solidFill>
                <a:latin typeface="Avenir Next" pitchFamily="34" charset="0"/>
                <a:ea typeface="Avenir Next" pitchFamily="34" charset="-122"/>
                <a:cs typeface="Avenir Next" pitchFamily="34" charset="-120"/>
              </a:rPr>
              <a:t>of Vibe Coding</a:t>
            </a:r>
            <a:endParaRPr lang="en-US" sz="5200" dirty="0"/>
          </a:p>
        </p:txBody>
      </p:sp>
      <p:sp>
        <p:nvSpPr>
          <p:cNvPr id="4" name="Text 2"/>
          <p:cNvSpPr/>
          <p:nvPr/>
        </p:nvSpPr>
        <p:spPr>
          <a:xfrm>
            <a:off x="566928" y="3584448"/>
            <a:ext cx="6492240" cy="329184"/>
          </a:xfrm>
          <a:prstGeom prst="rect">
            <a:avLst/>
          </a:prstGeom>
          <a:noFill/>
          <a:ln/>
        </p:spPr>
        <p:txBody>
          <a:bodyPr wrap="square" rtlCol="0" anchor="t"/>
          <a:lstStyle/>
          <a:p>
            <a:pPr marL="0" indent="0">
              <a:lnSpc>
                <a:spcPct val="105000"/>
              </a:lnSpc>
              <a:buNone/>
            </a:pPr>
            <a:r>
              <a:rPr lang="en-US" sz="1700" dirty="0">
                <a:solidFill>
                  <a:srgbClr val="75EDBB"/>
                </a:solidFill>
                <a:latin typeface="Helvetica Neue" pitchFamily="34" charset="0"/>
                <a:ea typeface="Helvetica Neue" pitchFamily="34" charset="-122"/>
                <a:cs typeface="Helvetica Neue" pitchFamily="34" charset="-120"/>
              </a:rPr>
              <a:t>Token economy, spec-driven development and an efficient SDLC</a:t>
            </a:r>
            <a:endParaRPr lang="en-US" sz="1700" dirty="0"/>
          </a:p>
        </p:txBody>
      </p:sp>
      <p:sp>
        <p:nvSpPr>
          <p:cNvPr id="5" name="Text 3"/>
          <p:cNvSpPr/>
          <p:nvPr/>
        </p:nvSpPr>
        <p:spPr>
          <a:xfrm>
            <a:off x="566928" y="4005072"/>
            <a:ext cx="6309360" cy="292608"/>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Works with any harness. Works with any capable model.</a:t>
            </a:r>
            <a:endParaRPr lang="en-US" sz="1500" dirty="0"/>
          </a:p>
        </p:txBody>
      </p:sp>
      <p:sp>
        <p:nvSpPr>
          <p:cNvPr id="6" name="Shape 4"/>
          <p:cNvSpPr/>
          <p:nvPr/>
        </p:nvSpPr>
        <p:spPr>
          <a:xfrm>
            <a:off x="566928" y="4864608"/>
            <a:ext cx="2834640" cy="0"/>
          </a:xfrm>
          <a:prstGeom prst="line">
            <a:avLst/>
          </a:prstGeom>
          <a:noFill/>
          <a:ln w="12700">
            <a:solidFill>
              <a:srgbClr val="232C3A"/>
            </a:solidFill>
            <a:prstDash val="solid"/>
          </a:ln>
        </p:spPr>
        <p:txBody>
          <a:bodyPr/>
          <a:lstStyle/>
          <a:p>
            <a:endParaRPr lang="en-US"/>
          </a:p>
        </p:txBody>
      </p:sp>
      <p:sp>
        <p:nvSpPr>
          <p:cNvPr id="7" name="Text 5"/>
          <p:cNvSpPr/>
          <p:nvPr/>
        </p:nvSpPr>
        <p:spPr>
          <a:xfrm>
            <a:off x="566928" y="5047488"/>
            <a:ext cx="5486400" cy="310896"/>
          </a:xfrm>
          <a:prstGeom prst="rect">
            <a:avLst/>
          </a:prstGeom>
          <a:noFill/>
          <a:ln/>
        </p:spPr>
        <p:txBody>
          <a:bodyPr wrap="square" rtlCol="0" anchor="t"/>
          <a:lstStyle/>
          <a:p>
            <a:pPr marL="0" indent="0">
              <a:lnSpc>
                <a:spcPct val="105000"/>
              </a:lnSpc>
              <a:buNone/>
            </a:pPr>
            <a:r>
              <a:rPr lang="en-US" sz="1700" b="1" dirty="0">
                <a:solidFill>
                  <a:srgbClr val="F3F6FA"/>
                </a:solidFill>
                <a:latin typeface="Helvetica Neue" pitchFamily="34" charset="0"/>
                <a:ea typeface="Helvetica Neue" pitchFamily="34" charset="-122"/>
                <a:cs typeface="Helvetica Neue" pitchFamily="34" charset="-120"/>
              </a:rPr>
              <a:t>Sepehr Pakbaz</a:t>
            </a:r>
            <a:endParaRPr lang="en-US" sz="1700" dirty="0"/>
          </a:p>
        </p:txBody>
      </p:sp>
      <p:sp>
        <p:nvSpPr>
          <p:cNvPr id="8" name="Text 6"/>
          <p:cNvSpPr/>
          <p:nvPr/>
        </p:nvSpPr>
        <p:spPr>
          <a:xfrm>
            <a:off x="566928" y="5394960"/>
            <a:ext cx="5486400" cy="274320"/>
          </a:xfrm>
          <a:prstGeom prst="rect">
            <a:avLst/>
          </a:prstGeom>
          <a:noFill/>
          <a:ln/>
        </p:spPr>
        <p:txBody>
          <a:bodyPr wrap="square" rtlCol="0" anchor="t"/>
          <a:lstStyle/>
          <a:p>
            <a:pPr marL="0" indent="0">
              <a:lnSpc>
                <a:spcPct val="105000"/>
              </a:lnSpc>
              <a:buNone/>
            </a:pPr>
            <a:r>
              <a:rPr lang="en-US" sz="1300" dirty="0">
                <a:solidFill>
                  <a:srgbClr val="6F7B8D"/>
                </a:solidFill>
                <a:latin typeface="Helvetica Neue" pitchFamily="34" charset="0"/>
                <a:ea typeface="Helvetica Neue" pitchFamily="34" charset="-122"/>
                <a:cs typeface="Helvetica Neue" pitchFamily="34" charset="-120"/>
              </a:rPr>
              <a:t>AI Solution Architect, Microsoft/GitHub</a:t>
            </a:r>
            <a:endParaRPr lang="en-US" sz="1300" dirty="0"/>
          </a:p>
        </p:txBody>
      </p:sp>
      <p:sp>
        <p:nvSpPr>
          <p:cNvPr id="9" name="b03-zoom-setup-ring"/>
          <p:cNvSpPr/>
          <p:nvPr/>
        </p:nvSpPr>
        <p:spPr>
          <a:xfrm>
            <a:off x="7215499" y="1183461"/>
            <a:ext cx="4561540" cy="4491077"/>
          </a:xfrm>
          <a:prstGeom prst="ellipse">
            <a:avLst/>
          </a:prstGeom>
          <a:solidFill>
            <a:srgbClr val="0E1219"/>
          </a:solidFill>
          <a:ln w="25400">
            <a:solidFill>
              <a:srgbClr val="A99AFF"/>
            </a:solidFill>
            <a:prstDash val="solid"/>
          </a:ln>
        </p:spPr>
        <p:txBody>
          <a:bodyPr/>
          <a:lstStyle/>
          <a:p>
            <a:endParaRPr lang="en-US"/>
          </a:p>
        </p:txBody>
      </p:sp>
      <p:sp>
        <p:nvSpPr>
          <p:cNvPr id="10" name="Oval 9"/>
          <p:cNvSpPr/>
          <p:nvPr/>
        </p:nvSpPr>
        <p:spPr>
          <a:xfrm>
            <a:off x="8224022" y="2100761"/>
            <a:ext cx="2544493" cy="2656478"/>
          </a:xfrm>
          <a:prstGeom prst="ellipse">
            <a:avLst/>
          </a:prstGeom>
          <a:noFill/>
          <a:ln w="22225">
            <a:solidFill>
              <a:srgbClr val="75E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947629" y="2880360"/>
            <a:ext cx="1097280" cy="1097280"/>
          </a:xfrm>
          <a:prstGeom prst="ellipse">
            <a:avLst/>
          </a:prstGeom>
          <a:solidFill>
            <a:srgbClr val="171E29"/>
          </a:solidFill>
          <a:ln w="28575">
            <a:solidFill>
              <a:srgbClr val="75EDBB"/>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3F6FA"/>
                </a:solidFill>
                <a:latin typeface="Avenir Next"/>
              </a:rPr>
              <a:t>MODEL</a:t>
            </a:r>
          </a:p>
        </p:txBody>
      </p:sp>
      <p:sp>
        <p:nvSpPr>
          <p:cNvPr id="12" name="Rounded Rectangle 11"/>
          <p:cNvSpPr/>
          <p:nvPr/>
        </p:nvSpPr>
        <p:spPr>
          <a:xfrm>
            <a:off x="8563581" y="2295144"/>
            <a:ext cx="1865376" cy="585216"/>
          </a:xfrm>
          <a:prstGeom prst="roundRect">
            <a:avLst/>
          </a:prstGeom>
          <a:noFill/>
          <a:ln w="19050">
            <a:noFill/>
          </a:ln>
        </p:spPr>
        <p:style>
          <a:lnRef idx="1">
            <a:schemeClr val="accent1"/>
          </a:lnRef>
          <a:fillRef idx="3">
            <a:schemeClr val="accent1"/>
          </a:fillRef>
          <a:effectRef idx="2">
            <a:schemeClr val="accent1"/>
          </a:effectRef>
          <a:fontRef idx="minor">
            <a:schemeClr val="lt1"/>
          </a:fontRef>
        </p:style>
        <p:txBody>
          <a:bodyPr lIns="54864" tIns="27432" rIns="54864" bIns="27432" rtlCol="0" anchor="ctr"/>
          <a:lstStyle/>
          <a:p>
            <a:pPr algn="ctr"/>
            <a:r>
              <a:rPr sz="1600" b="1" dirty="0">
                <a:solidFill>
                  <a:srgbClr val="75EDBB"/>
                </a:solidFill>
                <a:latin typeface="Helvetica Neue"/>
              </a:rPr>
              <a:t>HARNESS</a:t>
            </a:r>
          </a:p>
          <a:p>
            <a:pPr algn="ctr"/>
            <a:r>
              <a:rPr lang="en-US" sz="1000" b="1" dirty="0">
                <a:solidFill>
                  <a:srgbClr val="B2BDCD"/>
                </a:solidFill>
                <a:latin typeface="Helvetica Neue"/>
              </a:rPr>
              <a:t>The Loop</a:t>
            </a:r>
            <a:endParaRPr sz="800" b="1" dirty="0">
              <a:solidFill>
                <a:srgbClr val="B2BDCD"/>
              </a:solidFill>
              <a:latin typeface="Helvetica Neue"/>
            </a:endParaRPr>
          </a:p>
        </p:txBody>
      </p:sp>
      <p:sp>
        <p:nvSpPr>
          <p:cNvPr id="13" name="Rounded Rectangle 12"/>
          <p:cNvSpPr/>
          <p:nvPr/>
        </p:nvSpPr>
        <p:spPr>
          <a:xfrm>
            <a:off x="7777197" y="4856214"/>
            <a:ext cx="3438144" cy="548640"/>
          </a:xfrm>
          <a:prstGeom prst="roundRect">
            <a:avLst/>
          </a:prstGeom>
          <a:noFill/>
          <a:ln w="19050">
            <a:noFill/>
          </a:ln>
        </p:spPr>
        <p:style>
          <a:lnRef idx="1">
            <a:schemeClr val="accent1"/>
          </a:lnRef>
          <a:fillRef idx="3">
            <a:schemeClr val="accent1"/>
          </a:fillRef>
          <a:effectRef idx="2">
            <a:schemeClr val="accent1"/>
          </a:effectRef>
          <a:fontRef idx="minor">
            <a:schemeClr val="lt1"/>
          </a:fontRef>
        </p:style>
        <p:txBody>
          <a:bodyPr lIns="54864" tIns="27432" rIns="54864" bIns="27432" rtlCol="0" anchor="ctr"/>
          <a:lstStyle/>
          <a:p>
            <a:pPr algn="ctr"/>
            <a:r>
              <a:rPr sz="1600" b="1" dirty="0">
                <a:solidFill>
                  <a:srgbClr val="A99AFF"/>
                </a:solidFill>
                <a:latin typeface="Helvetica Neue"/>
              </a:rPr>
              <a:t>YOUR SETUP</a:t>
            </a:r>
          </a:p>
          <a:p>
            <a:pPr algn="ctr"/>
            <a:r>
              <a:rPr sz="1000" b="1" dirty="0">
                <a:solidFill>
                  <a:srgbClr val="B2BDCD"/>
                </a:solidFill>
                <a:latin typeface="Helvetica Neue"/>
              </a:rPr>
              <a:t>CONTEXT</a:t>
            </a:r>
            <a:r>
              <a:rPr lang="en-US" sz="1000" b="1" dirty="0">
                <a:solidFill>
                  <a:srgbClr val="B2BDCD"/>
                </a:solidFill>
              </a:rPr>
              <a:t> + Instruction + Plugins</a:t>
            </a:r>
            <a:endParaRPr sz="600" b="1" dirty="0">
              <a:solidFill>
                <a:srgbClr val="B2BDCD"/>
              </a:solidFill>
              <a:latin typeface="Helvetica Neue"/>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ART AND SCIENCE OF VIBE CODING</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4400" dirty="0">
                <a:solidFill>
                  <a:srgbClr val="F3F6FA"/>
                </a:solidFill>
                <a:latin typeface="Avenir Next" pitchFamily="34" charset="0"/>
                <a:ea typeface="Avenir Next" pitchFamily="34" charset="-122"/>
                <a:cs typeface="Avenir Next" pitchFamily="34" charset="-120"/>
              </a:rPr>
              <a:t>Attention Is All You Need</a:t>
            </a:r>
            <a:endParaRPr lang="en-US" sz="44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2000" dirty="0">
                <a:solidFill>
                  <a:srgbClr val="B2BDCD"/>
                </a:solidFill>
                <a:latin typeface="Helvetica Neue" pitchFamily="34" charset="0"/>
                <a:ea typeface="Helvetica Neue" pitchFamily="34" charset="-122"/>
                <a:cs typeface="Helvetica Neue" pitchFamily="34" charset="-120"/>
              </a:rPr>
              <a:t>Token economy, spec-driven work and a faster loop.</a:t>
            </a:r>
            <a:endParaRPr lang="en-US" sz="2000" dirty="0"/>
          </a:p>
        </p:txBody>
      </p:sp>
      <p:sp>
        <p:nvSpPr>
          <p:cNvPr id="5" name="Shape 3"/>
          <p:cNvSpPr/>
          <p:nvPr/>
        </p:nvSpPr>
        <p:spPr>
          <a:xfrm>
            <a:off x="691286"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6" name="Text 4"/>
          <p:cNvSpPr/>
          <p:nvPr/>
        </p:nvSpPr>
        <p:spPr>
          <a:xfrm>
            <a:off x="691286"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The</a:t>
            </a:r>
            <a:endParaRPr lang="en-US" sz="1500" dirty="0"/>
          </a:p>
        </p:txBody>
      </p:sp>
      <p:sp>
        <p:nvSpPr>
          <p:cNvPr id="7" name="Shape 5"/>
          <p:cNvSpPr/>
          <p:nvPr/>
        </p:nvSpPr>
        <p:spPr>
          <a:xfrm>
            <a:off x="1678838"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8" name="Text 6"/>
          <p:cNvSpPr/>
          <p:nvPr/>
        </p:nvSpPr>
        <p:spPr>
          <a:xfrm>
            <a:off x="1678838"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invoice</a:t>
            </a:r>
            <a:endParaRPr lang="en-US" sz="1500" dirty="0"/>
          </a:p>
        </p:txBody>
      </p:sp>
      <p:sp>
        <p:nvSpPr>
          <p:cNvPr id="9" name="Shape 7"/>
          <p:cNvSpPr/>
          <p:nvPr/>
        </p:nvSpPr>
        <p:spPr>
          <a:xfrm>
            <a:off x="2666390"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0" name="Text 8"/>
          <p:cNvSpPr/>
          <p:nvPr/>
        </p:nvSpPr>
        <p:spPr>
          <a:xfrm>
            <a:off x="2666390"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was</a:t>
            </a:r>
            <a:endParaRPr lang="en-US" sz="1500" dirty="0"/>
          </a:p>
        </p:txBody>
      </p:sp>
      <p:sp>
        <p:nvSpPr>
          <p:cNvPr id="11" name="Shape 9"/>
          <p:cNvSpPr/>
          <p:nvPr/>
        </p:nvSpPr>
        <p:spPr>
          <a:xfrm>
            <a:off x="3653942"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2" name="Text 10"/>
          <p:cNvSpPr/>
          <p:nvPr/>
        </p:nvSpPr>
        <p:spPr>
          <a:xfrm>
            <a:off x="3653942"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marked</a:t>
            </a:r>
            <a:endParaRPr lang="en-US" sz="1500" dirty="0"/>
          </a:p>
        </p:txBody>
      </p:sp>
      <p:sp>
        <p:nvSpPr>
          <p:cNvPr id="13" name="Shape 11"/>
          <p:cNvSpPr/>
          <p:nvPr/>
        </p:nvSpPr>
        <p:spPr>
          <a:xfrm>
            <a:off x="4641494"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4" name="Text 12"/>
          <p:cNvSpPr/>
          <p:nvPr/>
        </p:nvSpPr>
        <p:spPr>
          <a:xfrm>
            <a:off x="4641494"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overdue</a:t>
            </a:r>
            <a:endParaRPr lang="en-US" sz="1500" dirty="0"/>
          </a:p>
        </p:txBody>
      </p:sp>
      <p:sp>
        <p:nvSpPr>
          <p:cNvPr id="15" name="Shape 13"/>
          <p:cNvSpPr/>
          <p:nvPr/>
        </p:nvSpPr>
        <p:spPr>
          <a:xfrm>
            <a:off x="5629046"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6" name="Text 14"/>
          <p:cNvSpPr/>
          <p:nvPr/>
        </p:nvSpPr>
        <p:spPr>
          <a:xfrm>
            <a:off x="5629046"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t>
            </a:r>
            <a:endParaRPr lang="en-US" sz="1500" dirty="0"/>
          </a:p>
        </p:txBody>
      </p:sp>
      <p:sp>
        <p:nvSpPr>
          <p:cNvPr id="17" name="Shape 15"/>
          <p:cNvSpPr/>
          <p:nvPr/>
        </p:nvSpPr>
        <p:spPr>
          <a:xfrm>
            <a:off x="6616598"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8" name="Text 16"/>
          <p:cNvSpPr/>
          <p:nvPr/>
        </p:nvSpPr>
        <p:spPr>
          <a:xfrm>
            <a:off x="6616598"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so</a:t>
            </a:r>
            <a:endParaRPr lang="en-US" sz="1500" dirty="0"/>
          </a:p>
        </p:txBody>
      </p:sp>
      <p:sp>
        <p:nvSpPr>
          <p:cNvPr id="19" name="Shape 17"/>
          <p:cNvSpPr/>
          <p:nvPr/>
        </p:nvSpPr>
        <p:spPr>
          <a:xfrm>
            <a:off x="7604150"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20" name="Text 18"/>
          <p:cNvSpPr/>
          <p:nvPr/>
        </p:nvSpPr>
        <p:spPr>
          <a:xfrm>
            <a:off x="7604150"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the</a:t>
            </a:r>
            <a:endParaRPr lang="en-US" sz="1500" dirty="0"/>
          </a:p>
        </p:txBody>
      </p:sp>
      <p:sp>
        <p:nvSpPr>
          <p:cNvPr id="21" name="Shape 19"/>
          <p:cNvSpPr/>
          <p:nvPr/>
        </p:nvSpPr>
        <p:spPr>
          <a:xfrm>
            <a:off x="8591702"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22" name="Text 20"/>
          <p:cNvSpPr/>
          <p:nvPr/>
        </p:nvSpPr>
        <p:spPr>
          <a:xfrm>
            <a:off x="8591702"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agent</a:t>
            </a:r>
            <a:endParaRPr lang="en-US" sz="1500" dirty="0"/>
          </a:p>
        </p:txBody>
      </p:sp>
      <p:sp>
        <p:nvSpPr>
          <p:cNvPr id="23" name="Shape 21"/>
          <p:cNvSpPr/>
          <p:nvPr/>
        </p:nvSpPr>
        <p:spPr>
          <a:xfrm>
            <a:off x="9579254"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24" name="Text 22"/>
          <p:cNvSpPr/>
          <p:nvPr/>
        </p:nvSpPr>
        <p:spPr>
          <a:xfrm>
            <a:off x="9579254"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flagged</a:t>
            </a:r>
            <a:endParaRPr lang="en-US" sz="1500" dirty="0"/>
          </a:p>
        </p:txBody>
      </p:sp>
      <p:sp>
        <p:nvSpPr>
          <p:cNvPr id="25" name="Shape 23"/>
          <p:cNvSpPr/>
          <p:nvPr/>
        </p:nvSpPr>
        <p:spPr>
          <a:xfrm>
            <a:off x="10566806" y="4160520"/>
            <a:ext cx="932688" cy="475488"/>
          </a:xfrm>
          <a:prstGeom prst="roundRect">
            <a:avLst>
              <a:gd name="adj" fmla="val 15385"/>
            </a:avLst>
          </a:prstGeom>
          <a:solidFill>
            <a:srgbClr val="1E3A33"/>
          </a:solidFill>
          <a:ln w="19050">
            <a:solidFill>
              <a:srgbClr val="75EDBB"/>
            </a:solidFill>
            <a:prstDash val="solid"/>
          </a:ln>
        </p:spPr>
        <p:txBody>
          <a:bodyPr/>
          <a:lstStyle/>
          <a:p>
            <a:endParaRPr lang="en-US"/>
          </a:p>
        </p:txBody>
      </p:sp>
      <p:sp>
        <p:nvSpPr>
          <p:cNvPr id="26" name="Text 24"/>
          <p:cNvSpPr/>
          <p:nvPr/>
        </p:nvSpPr>
        <p:spPr>
          <a:xfrm>
            <a:off x="10566806" y="4160520"/>
            <a:ext cx="932688" cy="475488"/>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it</a:t>
            </a:r>
            <a:endParaRPr lang="en-US" sz="1500" dirty="0"/>
          </a:p>
        </p:txBody>
      </p:sp>
      <p:sp>
        <p:nvSpPr>
          <p:cNvPr id="27" name="b01-wipe-attention-links"/>
          <p:cNvSpPr/>
          <p:nvPr/>
        </p:nvSpPr>
        <p:spPr>
          <a:xfrm>
            <a:off x="11033150" y="3017520"/>
            <a:ext cx="0" cy="1143000"/>
          </a:xfrm>
          <a:prstGeom prst="line">
            <a:avLst/>
          </a:prstGeom>
          <a:noFill/>
          <a:ln w="19050">
            <a:solidFill>
              <a:srgbClr val="75EDBB"/>
            </a:solidFill>
            <a:prstDash val="solid"/>
          </a:ln>
        </p:spPr>
        <p:txBody>
          <a:bodyPr/>
          <a:lstStyle/>
          <a:p>
            <a:endParaRPr lang="en-US"/>
          </a:p>
        </p:txBody>
      </p:sp>
      <p:sp>
        <p:nvSpPr>
          <p:cNvPr id="28" name="b01-wipe-attention-links"/>
          <p:cNvSpPr/>
          <p:nvPr/>
        </p:nvSpPr>
        <p:spPr>
          <a:xfrm>
            <a:off x="2145182" y="3017520"/>
            <a:ext cx="8887968" cy="0"/>
          </a:xfrm>
          <a:prstGeom prst="line">
            <a:avLst/>
          </a:prstGeom>
          <a:noFill/>
          <a:ln w="44450">
            <a:solidFill>
              <a:srgbClr val="75EDBB"/>
            </a:solidFill>
            <a:prstDash val="solid"/>
          </a:ln>
        </p:spPr>
        <p:txBody>
          <a:bodyPr/>
          <a:lstStyle/>
          <a:p>
            <a:endParaRPr lang="en-US"/>
          </a:p>
        </p:txBody>
      </p:sp>
      <p:sp>
        <p:nvSpPr>
          <p:cNvPr id="29" name="b01-wipe-attention-links"/>
          <p:cNvSpPr/>
          <p:nvPr/>
        </p:nvSpPr>
        <p:spPr>
          <a:xfrm>
            <a:off x="2145182" y="3017520"/>
            <a:ext cx="0" cy="1143000"/>
          </a:xfrm>
          <a:prstGeom prst="line">
            <a:avLst/>
          </a:prstGeom>
          <a:noFill/>
          <a:ln w="44450">
            <a:solidFill>
              <a:srgbClr val="75EDBB"/>
            </a:solidFill>
            <a:prstDash val="solid"/>
            <a:tailEnd type="triangle"/>
          </a:ln>
        </p:spPr>
        <p:txBody>
          <a:bodyPr/>
          <a:lstStyle/>
          <a:p>
            <a:endParaRPr lang="en-US"/>
          </a:p>
        </p:txBody>
      </p:sp>
      <p:sp>
        <p:nvSpPr>
          <p:cNvPr id="30" name="b01-wipe-attention-links"/>
          <p:cNvSpPr/>
          <p:nvPr/>
        </p:nvSpPr>
        <p:spPr>
          <a:xfrm>
            <a:off x="2254910" y="2724912"/>
            <a:ext cx="822960" cy="256032"/>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0.52</a:t>
            </a:r>
            <a:endParaRPr lang="en-US" sz="1500" dirty="0"/>
          </a:p>
        </p:txBody>
      </p:sp>
      <p:sp>
        <p:nvSpPr>
          <p:cNvPr id="31" name="b01-wipe-attention-links"/>
          <p:cNvSpPr/>
          <p:nvPr/>
        </p:nvSpPr>
        <p:spPr>
          <a:xfrm>
            <a:off x="5107838" y="3401568"/>
            <a:ext cx="5925312" cy="0"/>
          </a:xfrm>
          <a:prstGeom prst="line">
            <a:avLst/>
          </a:prstGeom>
          <a:noFill/>
          <a:ln w="25400">
            <a:solidFill>
              <a:srgbClr val="75EDBB"/>
            </a:solidFill>
            <a:prstDash val="solid"/>
          </a:ln>
        </p:spPr>
        <p:txBody>
          <a:bodyPr/>
          <a:lstStyle/>
          <a:p>
            <a:endParaRPr lang="en-US"/>
          </a:p>
        </p:txBody>
      </p:sp>
      <p:sp>
        <p:nvSpPr>
          <p:cNvPr id="32" name="b01-wipe-attention-links"/>
          <p:cNvSpPr/>
          <p:nvPr/>
        </p:nvSpPr>
        <p:spPr>
          <a:xfrm>
            <a:off x="5107838" y="3401568"/>
            <a:ext cx="0" cy="758952"/>
          </a:xfrm>
          <a:prstGeom prst="line">
            <a:avLst/>
          </a:prstGeom>
          <a:noFill/>
          <a:ln w="25400">
            <a:solidFill>
              <a:srgbClr val="75EDBB"/>
            </a:solidFill>
            <a:prstDash val="solid"/>
            <a:tailEnd type="triangle"/>
          </a:ln>
        </p:spPr>
        <p:txBody>
          <a:bodyPr/>
          <a:lstStyle/>
          <a:p>
            <a:endParaRPr lang="en-US"/>
          </a:p>
        </p:txBody>
      </p:sp>
      <p:sp>
        <p:nvSpPr>
          <p:cNvPr id="33" name="b01-wipe-attention-links"/>
          <p:cNvSpPr/>
          <p:nvPr/>
        </p:nvSpPr>
        <p:spPr>
          <a:xfrm>
            <a:off x="5217566" y="3108960"/>
            <a:ext cx="822960" cy="256032"/>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0.21</a:t>
            </a:r>
            <a:endParaRPr lang="en-US" sz="1500" dirty="0"/>
          </a:p>
        </p:txBody>
      </p:sp>
      <p:sp>
        <p:nvSpPr>
          <p:cNvPr id="34" name="b01-wipe-attention-links"/>
          <p:cNvSpPr/>
          <p:nvPr/>
        </p:nvSpPr>
        <p:spPr>
          <a:xfrm>
            <a:off x="9058046" y="3785616"/>
            <a:ext cx="1975104" cy="0"/>
          </a:xfrm>
          <a:prstGeom prst="line">
            <a:avLst/>
          </a:prstGeom>
          <a:noFill/>
          <a:ln w="15875">
            <a:solidFill>
              <a:srgbClr val="75EDBB"/>
            </a:solidFill>
            <a:prstDash val="solid"/>
          </a:ln>
        </p:spPr>
        <p:txBody>
          <a:bodyPr/>
          <a:lstStyle/>
          <a:p>
            <a:endParaRPr lang="en-US"/>
          </a:p>
        </p:txBody>
      </p:sp>
      <p:sp>
        <p:nvSpPr>
          <p:cNvPr id="35" name="b01-wipe-attention-links"/>
          <p:cNvSpPr/>
          <p:nvPr/>
        </p:nvSpPr>
        <p:spPr>
          <a:xfrm>
            <a:off x="9058046" y="3785616"/>
            <a:ext cx="0" cy="374904"/>
          </a:xfrm>
          <a:prstGeom prst="line">
            <a:avLst/>
          </a:prstGeom>
          <a:noFill/>
          <a:ln w="15875">
            <a:solidFill>
              <a:srgbClr val="75EDBB"/>
            </a:solidFill>
            <a:prstDash val="solid"/>
            <a:tailEnd type="triangle"/>
          </a:ln>
        </p:spPr>
        <p:txBody>
          <a:bodyPr/>
          <a:lstStyle/>
          <a:p>
            <a:endParaRPr lang="en-US"/>
          </a:p>
        </p:txBody>
      </p:sp>
      <p:sp>
        <p:nvSpPr>
          <p:cNvPr id="36" name="b01-wipe-attention-links"/>
          <p:cNvSpPr/>
          <p:nvPr/>
        </p:nvSpPr>
        <p:spPr>
          <a:xfrm>
            <a:off x="9167774" y="3493008"/>
            <a:ext cx="822960" cy="256032"/>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0.12</a:t>
            </a:r>
            <a:endParaRPr lang="en-US" sz="1500" dirty="0"/>
          </a:p>
        </p:txBody>
      </p:sp>
      <p:sp>
        <p:nvSpPr>
          <p:cNvPr id="37" name="Text 35"/>
          <p:cNvSpPr/>
          <p:nvPr/>
        </p:nvSpPr>
        <p:spPr>
          <a:xfrm>
            <a:off x="10341864" y="4690872"/>
            <a:ext cx="1280160" cy="256032"/>
          </a:xfrm>
          <a:prstGeom prst="rect">
            <a:avLst/>
          </a:prstGeom>
          <a:noFill/>
          <a:ln/>
        </p:spPr>
        <p:txBody>
          <a:bodyPr wrap="square" rtlCol="0" anchor="t"/>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query token</a:t>
            </a:r>
            <a:endParaRPr lang="en-US" sz="1500" dirty="0"/>
          </a:p>
        </p:txBody>
      </p:sp>
      <p:sp>
        <p:nvSpPr>
          <p:cNvPr id="38" name="Text 36"/>
          <p:cNvSpPr/>
          <p:nvPr/>
        </p:nvSpPr>
        <p:spPr>
          <a:xfrm>
            <a:off x="566928" y="2487168"/>
            <a:ext cx="4206240" cy="274320"/>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attention weights, illustrative</a:t>
            </a:r>
            <a:endParaRPr lang="en-US" sz="1500" dirty="0"/>
          </a:p>
        </p:txBody>
      </p:sp>
      <p:sp>
        <p:nvSpPr>
          <p:cNvPr id="39" name="b02-rise-attention-takeaway"/>
          <p:cNvSpPr/>
          <p:nvPr/>
        </p:nvSpPr>
        <p:spPr>
          <a:xfrm>
            <a:off x="566928" y="5230368"/>
            <a:ext cx="11064240" cy="749808"/>
          </a:xfrm>
          <a:prstGeom prst="roundRect">
            <a:avLst>
              <a:gd name="adj" fmla="val 15854"/>
            </a:avLst>
          </a:prstGeom>
          <a:solidFill>
            <a:srgbClr val="0E1219"/>
          </a:solidFill>
          <a:ln w="12700">
            <a:solidFill>
              <a:srgbClr val="232C3A"/>
            </a:solidFill>
            <a:prstDash val="solid"/>
          </a:ln>
        </p:spPr>
        <p:txBody>
          <a:bodyPr/>
          <a:lstStyle/>
          <a:p>
            <a:endParaRPr lang="en-US"/>
          </a:p>
        </p:txBody>
      </p:sp>
      <p:sp>
        <p:nvSpPr>
          <p:cNvPr id="40" name="b02-rise-attention-takeaway"/>
          <p:cNvSpPr/>
          <p:nvPr/>
        </p:nvSpPr>
        <p:spPr>
          <a:xfrm>
            <a:off x="841248" y="5230368"/>
            <a:ext cx="10515600" cy="749808"/>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The model weighs earlier tokens when it picks the next one. Those weights are learned associations, not a check on what is true.</a:t>
            </a:r>
            <a:endParaRPr lang="en-US" sz="1900" dirty="0"/>
          </a:p>
        </p:txBody>
      </p:sp>
      <p:sp>
        <p:nvSpPr>
          <p:cNvPr id="41" name="Text 39"/>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Vaswani et al., 2017 · arxiv.org/abs/1706.03762</a:t>
            </a:r>
            <a:endParaRPr lang="en-US" sz="1100" dirty="0"/>
          </a:p>
        </p:txBody>
      </p:sp>
      <p:sp>
        <p:nvSpPr>
          <p:cNvPr id="42" name="Text 40"/>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02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420"/>
                                        <p:tgtEl>
                                          <p:spTgt spid="27"/>
                                        </p:tgtEl>
                                      </p:cBhvr>
                                    </p:animEffect>
                                  </p:childTnLst>
                                </p:cTn>
                              </p:par>
                              <p:par>
                                <p:cTn id="8" presetID="22" presetClass="entr" presetSubtype="1"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right)">
                                      <p:cBhvr>
                                        <p:cTn id="10" dur="420"/>
                                        <p:tgtEl>
                                          <p:spTgt spid="28"/>
                                        </p:tgtEl>
                                      </p:cBhvr>
                                    </p:animEffect>
                                  </p:childTnLst>
                                </p:cTn>
                              </p:par>
                              <p:par>
                                <p:cTn id="11" presetID="22" presetClass="entr" presetSubtype="1"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right)">
                                      <p:cBhvr>
                                        <p:cTn id="13" dur="420"/>
                                        <p:tgtEl>
                                          <p:spTgt spid="29"/>
                                        </p:tgtEl>
                                      </p:cBhvr>
                                    </p:animEffect>
                                  </p:childTnLst>
                                </p:cTn>
                              </p:par>
                              <p:par>
                                <p:cTn id="14" presetID="22" presetClass="entr" presetSubtype="1"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right)">
                                      <p:cBhvr>
                                        <p:cTn id="16" dur="420"/>
                                        <p:tgtEl>
                                          <p:spTgt spid="30"/>
                                        </p:tgtEl>
                                      </p:cBhvr>
                                    </p:animEffect>
                                  </p:childTnLst>
                                </p:cTn>
                              </p:par>
                              <p:par>
                                <p:cTn id="17" presetID="22" presetClass="entr" presetSubtype="1"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right)">
                                      <p:cBhvr>
                                        <p:cTn id="19" dur="420"/>
                                        <p:tgtEl>
                                          <p:spTgt spid="31"/>
                                        </p:tgtEl>
                                      </p:cBhvr>
                                    </p:animEffect>
                                  </p:childTnLst>
                                </p:cTn>
                              </p:par>
                              <p:par>
                                <p:cTn id="20" presetID="22" presetClass="entr" presetSubtype="1"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right)">
                                      <p:cBhvr>
                                        <p:cTn id="22" dur="420"/>
                                        <p:tgtEl>
                                          <p:spTgt spid="32"/>
                                        </p:tgtEl>
                                      </p:cBhvr>
                                    </p:animEffect>
                                  </p:childTnLst>
                                </p:cTn>
                              </p:par>
                              <p:par>
                                <p:cTn id="23" presetID="22" presetClass="entr" presetSubtype="1"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right)">
                                      <p:cBhvr>
                                        <p:cTn id="25" dur="420"/>
                                        <p:tgtEl>
                                          <p:spTgt spid="33"/>
                                        </p:tgtEl>
                                      </p:cBhvr>
                                    </p:animEffect>
                                  </p:childTnLst>
                                </p:cTn>
                              </p:par>
                              <p:par>
                                <p:cTn id="26" presetID="22" presetClass="entr" presetSubtype="1" fill="hold"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wipe(right)">
                                      <p:cBhvr>
                                        <p:cTn id="28" dur="420"/>
                                        <p:tgtEl>
                                          <p:spTgt spid="34"/>
                                        </p:tgtEl>
                                      </p:cBhvr>
                                    </p:animEffect>
                                  </p:childTnLst>
                                </p:cTn>
                              </p:par>
                              <p:par>
                                <p:cTn id="29" presetID="22" presetClass="entr" presetSubtype="1"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right)">
                                      <p:cBhvr>
                                        <p:cTn id="31" dur="420"/>
                                        <p:tgtEl>
                                          <p:spTgt spid="35"/>
                                        </p:tgtEl>
                                      </p:cBhvr>
                                    </p:animEffect>
                                  </p:childTnLst>
                                </p:cTn>
                              </p:par>
                              <p:par>
                                <p:cTn id="32" presetID="22" presetClass="entr" presetSubtype="1" fill="hold"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wipe(right)">
                                      <p:cBhvr>
                                        <p:cTn id="34" dur="420"/>
                                        <p:tgtEl>
                                          <p:spTgt spid="36"/>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420" decel="60000" fill="hold"/>
                                        <p:tgtEl>
                                          <p:spTgt spid="39"/>
                                        </p:tgtEl>
                                        <p:attrNameLst>
                                          <p:attrName>ppt_y</p:attrName>
                                        </p:attrNameLst>
                                      </p:cBhvr>
                                      <p:tavLst>
                                        <p:tav tm="0">
                                          <p:val>
                                            <p:strVal val="#ppt_y+.014"/>
                                          </p:val>
                                        </p:tav>
                                        <p:tav tm="100000">
                                          <p:val>
                                            <p:strVal val="#ppt_y"/>
                                          </p:val>
                                        </p:tav>
                                      </p:tavLst>
                                    </p:anim>
                                    <p:animEffect transition="in" filter="fade">
                                      <p:cBhvr>
                                        <p:cTn id="40" dur="420"/>
                                        <p:tgtEl>
                                          <p:spTgt spid="39"/>
                                        </p:tgtEl>
                                      </p:cBhvr>
                                    </p:animEffect>
                                  </p:childTnLst>
                                </p:cTn>
                              </p:par>
                              <p:par>
                                <p:cTn id="41" presetID="42" presetClass="entr" presetSubtype="0"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anim calcmode="lin" valueType="num">
                                      <p:cBhvr additive="base">
                                        <p:cTn id="43" dur="420" decel="60000" fill="hold"/>
                                        <p:tgtEl>
                                          <p:spTgt spid="40"/>
                                        </p:tgtEl>
                                        <p:attrNameLst>
                                          <p:attrName>ppt_y</p:attrName>
                                        </p:attrNameLst>
                                      </p:cBhvr>
                                      <p:tavLst>
                                        <p:tav tm="0">
                                          <p:val>
                                            <p:strVal val="#ppt_y+.014"/>
                                          </p:val>
                                        </p:tav>
                                        <p:tav tm="100000">
                                          <p:val>
                                            <p:strVal val="#ppt_y"/>
                                          </p:val>
                                        </p:tav>
                                      </p:tavLst>
                                    </p:anim>
                                    <p:animEffect transition="in" filter="fade">
                                      <p:cBhvr>
                                        <p:cTn id="44" dur="42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WHAT CHANGED</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From a prompt to a working loop</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One-shot answers still exist. Most real work now runs as a loop.</a:t>
            </a:r>
            <a:endParaRPr lang="en-US" sz="1900" dirty="0"/>
          </a:p>
        </p:txBody>
      </p:sp>
      <p:sp>
        <p:nvSpPr>
          <p:cNvPr id="5" name="Shape 3"/>
          <p:cNvSpPr/>
          <p:nvPr/>
        </p:nvSpPr>
        <p:spPr>
          <a:xfrm>
            <a:off x="4224528" y="2011680"/>
            <a:ext cx="0" cy="3657600"/>
          </a:xfrm>
          <a:prstGeom prst="line">
            <a:avLst/>
          </a:prstGeom>
          <a:noFill/>
          <a:ln w="12700">
            <a:solidFill>
              <a:srgbClr val="1A212C"/>
            </a:solidFill>
            <a:prstDash val="solid"/>
          </a:ln>
        </p:spPr>
        <p:txBody>
          <a:bodyPr/>
          <a:lstStyle/>
          <a:p>
            <a:endParaRPr lang="en-US"/>
          </a:p>
        </p:txBody>
      </p:sp>
      <p:sp>
        <p:nvSpPr>
          <p:cNvPr id="6" name="Text 4"/>
          <p:cNvSpPr/>
          <p:nvPr/>
        </p:nvSpPr>
        <p:spPr>
          <a:xfrm>
            <a:off x="566928" y="2011680"/>
            <a:ext cx="3108960" cy="256032"/>
          </a:xfrm>
          <a:prstGeom prst="rect">
            <a:avLst/>
          </a:prstGeom>
          <a:noFill/>
          <a:ln/>
        </p:spPr>
        <p:txBody>
          <a:bodyPr wrap="square" rtlCol="0" anchor="t"/>
          <a:lstStyle/>
          <a:p>
            <a:pPr marL="0" indent="0">
              <a:lnSpc>
                <a:spcPct val="105000"/>
              </a:lnSpc>
              <a:buNone/>
            </a:pPr>
            <a:r>
              <a:rPr lang="en-US" sz="1100" b="1" kern="0" spc="200" dirty="0">
                <a:solidFill>
                  <a:srgbClr val="6F7B8D"/>
                </a:solidFill>
                <a:latin typeface="Helvetica Neue" pitchFamily="34" charset="0"/>
                <a:ea typeface="Helvetica Neue" pitchFamily="34" charset="-122"/>
                <a:cs typeface="Helvetica Neue" pitchFamily="34" charset="-120"/>
              </a:rPr>
              <a:t>ONE SHOT</a:t>
            </a:r>
            <a:endParaRPr lang="en-US" sz="1100" dirty="0"/>
          </a:p>
        </p:txBody>
      </p:sp>
      <p:sp>
        <p:nvSpPr>
          <p:cNvPr id="7" name="Shape 5"/>
          <p:cNvSpPr/>
          <p:nvPr/>
        </p:nvSpPr>
        <p:spPr>
          <a:xfrm>
            <a:off x="566928" y="2377440"/>
            <a:ext cx="3108960" cy="777240"/>
          </a:xfrm>
          <a:prstGeom prst="roundRect">
            <a:avLst>
              <a:gd name="adj" fmla="val 11765"/>
            </a:avLst>
          </a:prstGeom>
          <a:solidFill>
            <a:srgbClr val="141A24"/>
          </a:solidFill>
          <a:ln w="12700">
            <a:solidFill>
              <a:srgbClr val="232C3A"/>
            </a:solidFill>
            <a:prstDash val="solid"/>
          </a:ln>
        </p:spPr>
        <p:txBody>
          <a:bodyPr/>
          <a:lstStyle/>
          <a:p>
            <a:endParaRPr lang="en-US"/>
          </a:p>
        </p:txBody>
      </p:sp>
      <p:sp>
        <p:nvSpPr>
          <p:cNvPr id="8" name="Text 6"/>
          <p:cNvSpPr/>
          <p:nvPr/>
        </p:nvSpPr>
        <p:spPr>
          <a:xfrm>
            <a:off x="713232" y="2377440"/>
            <a:ext cx="2816352" cy="777240"/>
          </a:xfrm>
          <a:prstGeom prst="rect">
            <a:avLst/>
          </a:prstGeom>
          <a:noFill/>
          <a:ln/>
        </p:spPr>
        <p:txBody>
          <a:bodyPr wrap="square" rtlCol="0" anchor="ctr"/>
          <a:lstStyle/>
          <a:p>
            <a:pPr marL="0" indent="0" algn="ctr">
              <a:lnSpc>
                <a:spcPct val="105000"/>
              </a:lnSpc>
              <a:buNone/>
            </a:pPr>
            <a:r>
              <a:rPr lang="en-US" sz="1800" dirty="0">
                <a:solidFill>
                  <a:srgbClr val="B2BDCD"/>
                </a:solidFill>
                <a:latin typeface="Helvetica Neue" pitchFamily="34" charset="0"/>
                <a:ea typeface="Helvetica Neue" pitchFamily="34" charset="-122"/>
                <a:cs typeface="Helvetica Neue" pitchFamily="34" charset="-120"/>
              </a:rPr>
              <a:t>Prompt</a:t>
            </a:r>
            <a:endParaRPr lang="en-US" sz="1800" dirty="0"/>
          </a:p>
        </p:txBody>
      </p:sp>
      <p:sp>
        <p:nvSpPr>
          <p:cNvPr id="9" name="Shape 7"/>
          <p:cNvSpPr/>
          <p:nvPr/>
        </p:nvSpPr>
        <p:spPr>
          <a:xfrm>
            <a:off x="2121408" y="3154680"/>
            <a:ext cx="0" cy="640080"/>
          </a:xfrm>
          <a:prstGeom prst="line">
            <a:avLst/>
          </a:prstGeom>
          <a:noFill/>
          <a:ln w="19050">
            <a:solidFill>
              <a:srgbClr val="232C3A"/>
            </a:solidFill>
            <a:prstDash val="solid"/>
            <a:tailEnd type="triangle"/>
          </a:ln>
        </p:spPr>
        <p:txBody>
          <a:bodyPr/>
          <a:lstStyle/>
          <a:p>
            <a:endParaRPr lang="en-US"/>
          </a:p>
        </p:txBody>
      </p:sp>
      <p:sp>
        <p:nvSpPr>
          <p:cNvPr id="10" name="Shape 8"/>
          <p:cNvSpPr/>
          <p:nvPr/>
        </p:nvSpPr>
        <p:spPr>
          <a:xfrm>
            <a:off x="566928" y="3794760"/>
            <a:ext cx="3108960" cy="777240"/>
          </a:xfrm>
          <a:prstGeom prst="roundRect">
            <a:avLst>
              <a:gd name="adj" fmla="val 11765"/>
            </a:avLst>
          </a:prstGeom>
          <a:solidFill>
            <a:srgbClr val="141A24"/>
          </a:solidFill>
          <a:ln w="12700">
            <a:solidFill>
              <a:srgbClr val="232C3A"/>
            </a:solidFill>
            <a:prstDash val="solid"/>
          </a:ln>
        </p:spPr>
        <p:txBody>
          <a:bodyPr/>
          <a:lstStyle/>
          <a:p>
            <a:endParaRPr lang="en-US"/>
          </a:p>
        </p:txBody>
      </p:sp>
      <p:sp>
        <p:nvSpPr>
          <p:cNvPr id="11" name="Text 9"/>
          <p:cNvSpPr/>
          <p:nvPr/>
        </p:nvSpPr>
        <p:spPr>
          <a:xfrm>
            <a:off x="713232" y="3794760"/>
            <a:ext cx="2816352" cy="777240"/>
          </a:xfrm>
          <a:prstGeom prst="rect">
            <a:avLst/>
          </a:prstGeom>
          <a:noFill/>
          <a:ln/>
        </p:spPr>
        <p:txBody>
          <a:bodyPr wrap="square" rtlCol="0" anchor="ctr"/>
          <a:lstStyle/>
          <a:p>
            <a:pPr marL="0" indent="0" algn="ctr">
              <a:lnSpc>
                <a:spcPct val="105000"/>
              </a:lnSpc>
              <a:buNone/>
            </a:pPr>
            <a:r>
              <a:rPr lang="en-US" sz="1800" dirty="0">
                <a:solidFill>
                  <a:srgbClr val="B2BDCD"/>
                </a:solidFill>
                <a:latin typeface="Helvetica Neue" pitchFamily="34" charset="0"/>
                <a:ea typeface="Helvetica Neue" pitchFamily="34" charset="-122"/>
                <a:cs typeface="Helvetica Neue" pitchFamily="34" charset="-120"/>
              </a:rPr>
              <a:t>Answer</a:t>
            </a:r>
            <a:endParaRPr lang="en-US" sz="1800" dirty="0"/>
          </a:p>
        </p:txBody>
      </p:sp>
      <p:sp>
        <p:nvSpPr>
          <p:cNvPr id="12" name="Text 10"/>
          <p:cNvSpPr/>
          <p:nvPr/>
        </p:nvSpPr>
        <p:spPr>
          <a:xfrm>
            <a:off x="566928" y="4754880"/>
            <a:ext cx="3108960" cy="365760"/>
          </a:xfrm>
          <a:prstGeom prst="rect">
            <a:avLst/>
          </a:prstGeom>
          <a:noFill/>
          <a:ln/>
        </p:spPr>
        <p:txBody>
          <a:bodyPr wrap="square" rtlCol="0" anchor="t"/>
          <a:lstStyle/>
          <a:p>
            <a:pPr marL="0" indent="0" algn="ctr">
              <a:lnSpc>
                <a:spcPct val="105000"/>
              </a:lnSpc>
              <a:buNone/>
            </a:pPr>
            <a:r>
              <a:rPr lang="en-US" sz="1600" dirty="0">
                <a:solidFill>
                  <a:srgbClr val="6F7B8D"/>
                </a:solidFill>
                <a:latin typeface="Helvetica Neue" pitchFamily="34" charset="0"/>
                <a:ea typeface="Helvetica Neue" pitchFamily="34" charset="-122"/>
                <a:cs typeface="Helvetica Neue" pitchFamily="34" charset="-120"/>
              </a:rPr>
              <a:t>You are the only check.</a:t>
            </a:r>
            <a:endParaRPr lang="en-US" sz="1600" dirty="0"/>
          </a:p>
        </p:txBody>
      </p:sp>
      <p:sp>
        <p:nvSpPr>
          <p:cNvPr id="13" name="Text 11"/>
          <p:cNvSpPr/>
          <p:nvPr/>
        </p:nvSpPr>
        <p:spPr>
          <a:xfrm>
            <a:off x="4709160" y="2011680"/>
            <a:ext cx="3108960" cy="256032"/>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AGENT LOOP</a:t>
            </a:r>
            <a:endParaRPr lang="en-US" sz="1100" dirty="0"/>
          </a:p>
        </p:txBody>
      </p:sp>
      <p:sp>
        <p:nvSpPr>
          <p:cNvPr id="14" name="b01-fade-loop-stages"/>
          <p:cNvSpPr/>
          <p:nvPr/>
        </p:nvSpPr>
        <p:spPr>
          <a:xfrm>
            <a:off x="4709160" y="2377440"/>
            <a:ext cx="2103120" cy="1143000"/>
          </a:xfrm>
          <a:prstGeom prst="roundRect">
            <a:avLst>
              <a:gd name="adj" fmla="val 10400"/>
            </a:avLst>
          </a:prstGeom>
          <a:solidFill>
            <a:srgbClr val="0E1219"/>
          </a:solidFill>
          <a:ln w="12700">
            <a:solidFill>
              <a:srgbClr val="232C3A"/>
            </a:solidFill>
            <a:prstDash val="solid"/>
          </a:ln>
        </p:spPr>
        <p:txBody>
          <a:bodyPr/>
          <a:lstStyle/>
          <a:p>
            <a:endParaRPr lang="en-US"/>
          </a:p>
        </p:txBody>
      </p:sp>
      <p:sp>
        <p:nvSpPr>
          <p:cNvPr id="15" name="b01-fade-loop-stages"/>
          <p:cNvSpPr/>
          <p:nvPr/>
        </p:nvSpPr>
        <p:spPr>
          <a:xfrm>
            <a:off x="4892040" y="2523744"/>
            <a:ext cx="1737360"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Act</a:t>
            </a:r>
            <a:endParaRPr lang="en-US" sz="1800" dirty="0"/>
          </a:p>
        </p:txBody>
      </p:sp>
      <p:sp>
        <p:nvSpPr>
          <p:cNvPr id="16" name="b01-fade-loop-stages"/>
          <p:cNvSpPr/>
          <p:nvPr/>
        </p:nvSpPr>
        <p:spPr>
          <a:xfrm>
            <a:off x="4892040" y="2889504"/>
            <a:ext cx="1737360" cy="484632"/>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make one change</a:t>
            </a:r>
            <a:endParaRPr lang="en-US" sz="1500" dirty="0"/>
          </a:p>
        </p:txBody>
      </p:sp>
      <p:sp>
        <p:nvSpPr>
          <p:cNvPr id="17" name="b01-fade-loop-stages"/>
          <p:cNvSpPr/>
          <p:nvPr/>
        </p:nvSpPr>
        <p:spPr>
          <a:xfrm>
            <a:off x="9372600" y="2377440"/>
            <a:ext cx="2103120" cy="1143000"/>
          </a:xfrm>
          <a:prstGeom prst="roundRect">
            <a:avLst>
              <a:gd name="adj" fmla="val 10400"/>
            </a:avLst>
          </a:prstGeom>
          <a:solidFill>
            <a:srgbClr val="0E1219"/>
          </a:solidFill>
          <a:ln w="12700">
            <a:solidFill>
              <a:srgbClr val="232C3A"/>
            </a:solidFill>
            <a:prstDash val="solid"/>
          </a:ln>
        </p:spPr>
        <p:txBody>
          <a:bodyPr/>
          <a:lstStyle/>
          <a:p>
            <a:endParaRPr lang="en-US"/>
          </a:p>
        </p:txBody>
      </p:sp>
      <p:sp>
        <p:nvSpPr>
          <p:cNvPr id="18" name="b01-fade-loop-stages"/>
          <p:cNvSpPr/>
          <p:nvPr/>
        </p:nvSpPr>
        <p:spPr>
          <a:xfrm>
            <a:off x="9555480" y="2523744"/>
            <a:ext cx="1737360"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Observe</a:t>
            </a:r>
            <a:endParaRPr lang="en-US" sz="1800" dirty="0"/>
          </a:p>
        </p:txBody>
      </p:sp>
      <p:sp>
        <p:nvSpPr>
          <p:cNvPr id="19" name="b01-fade-loop-stages"/>
          <p:cNvSpPr/>
          <p:nvPr/>
        </p:nvSpPr>
        <p:spPr>
          <a:xfrm>
            <a:off x="9555480" y="2889504"/>
            <a:ext cx="1737360" cy="484632"/>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run the check, read the failure</a:t>
            </a:r>
            <a:endParaRPr lang="en-US" sz="1500" dirty="0"/>
          </a:p>
        </p:txBody>
      </p:sp>
      <p:sp>
        <p:nvSpPr>
          <p:cNvPr id="20" name="b01-fade-loop-stages"/>
          <p:cNvSpPr/>
          <p:nvPr/>
        </p:nvSpPr>
        <p:spPr>
          <a:xfrm>
            <a:off x="9372600" y="4343400"/>
            <a:ext cx="2103120" cy="1143000"/>
          </a:xfrm>
          <a:prstGeom prst="roundRect">
            <a:avLst>
              <a:gd name="adj" fmla="val 10400"/>
            </a:avLst>
          </a:prstGeom>
          <a:solidFill>
            <a:srgbClr val="0E1219"/>
          </a:solidFill>
          <a:ln w="12700">
            <a:solidFill>
              <a:srgbClr val="232C3A"/>
            </a:solidFill>
            <a:prstDash val="solid"/>
          </a:ln>
        </p:spPr>
        <p:txBody>
          <a:bodyPr/>
          <a:lstStyle/>
          <a:p>
            <a:endParaRPr lang="en-US"/>
          </a:p>
        </p:txBody>
      </p:sp>
      <p:sp>
        <p:nvSpPr>
          <p:cNvPr id="21" name="b01-fade-loop-stages"/>
          <p:cNvSpPr/>
          <p:nvPr/>
        </p:nvSpPr>
        <p:spPr>
          <a:xfrm>
            <a:off x="9555480" y="4489704"/>
            <a:ext cx="1737360"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Revise</a:t>
            </a:r>
            <a:endParaRPr lang="en-US" sz="1800" dirty="0"/>
          </a:p>
        </p:txBody>
      </p:sp>
      <p:sp>
        <p:nvSpPr>
          <p:cNvPr id="22" name="b01-fade-loop-stages"/>
          <p:cNvSpPr/>
          <p:nvPr/>
        </p:nvSpPr>
        <p:spPr>
          <a:xfrm>
            <a:off x="9555480" y="4855464"/>
            <a:ext cx="1737360" cy="484632"/>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fix what the failure showed</a:t>
            </a:r>
            <a:endParaRPr lang="en-US" sz="1500" dirty="0"/>
          </a:p>
        </p:txBody>
      </p:sp>
      <p:sp>
        <p:nvSpPr>
          <p:cNvPr id="23" name="b01-fade-loop-stages"/>
          <p:cNvSpPr/>
          <p:nvPr/>
        </p:nvSpPr>
        <p:spPr>
          <a:xfrm>
            <a:off x="4709160" y="4343400"/>
            <a:ext cx="2103120" cy="1143000"/>
          </a:xfrm>
          <a:prstGeom prst="roundRect">
            <a:avLst>
              <a:gd name="adj" fmla="val 10400"/>
            </a:avLst>
          </a:prstGeom>
          <a:solidFill>
            <a:srgbClr val="0E1219"/>
          </a:solidFill>
          <a:ln w="12700">
            <a:solidFill>
              <a:srgbClr val="232C3A"/>
            </a:solidFill>
            <a:prstDash val="solid"/>
          </a:ln>
        </p:spPr>
        <p:txBody>
          <a:bodyPr/>
          <a:lstStyle/>
          <a:p>
            <a:endParaRPr lang="en-US"/>
          </a:p>
        </p:txBody>
      </p:sp>
      <p:sp>
        <p:nvSpPr>
          <p:cNvPr id="24" name="b01-fade-loop-stages"/>
          <p:cNvSpPr/>
          <p:nvPr/>
        </p:nvSpPr>
        <p:spPr>
          <a:xfrm>
            <a:off x="4892040" y="4489704"/>
            <a:ext cx="1737360"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Verify</a:t>
            </a:r>
            <a:endParaRPr lang="en-US" sz="1800" dirty="0"/>
          </a:p>
        </p:txBody>
      </p:sp>
      <p:sp>
        <p:nvSpPr>
          <p:cNvPr id="25" name="b01-fade-loop-stages"/>
          <p:cNvSpPr/>
          <p:nvPr/>
        </p:nvSpPr>
        <p:spPr>
          <a:xfrm>
            <a:off x="4892040" y="4855464"/>
            <a:ext cx="1737360" cy="484632"/>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run the same check again</a:t>
            </a:r>
            <a:endParaRPr lang="en-US" sz="1500" dirty="0"/>
          </a:p>
        </p:txBody>
      </p:sp>
      <p:sp>
        <p:nvSpPr>
          <p:cNvPr id="26" name="b01-wipe-loop-arrows"/>
          <p:cNvSpPr/>
          <p:nvPr/>
        </p:nvSpPr>
        <p:spPr>
          <a:xfrm>
            <a:off x="6812280" y="2944368"/>
            <a:ext cx="2560320" cy="0"/>
          </a:xfrm>
          <a:prstGeom prst="line">
            <a:avLst/>
          </a:prstGeom>
          <a:noFill/>
          <a:ln w="19050">
            <a:solidFill>
              <a:srgbClr val="75EDBB"/>
            </a:solidFill>
            <a:prstDash val="solid"/>
            <a:tailEnd type="triangle"/>
          </a:ln>
        </p:spPr>
        <p:txBody>
          <a:bodyPr/>
          <a:lstStyle/>
          <a:p>
            <a:endParaRPr lang="en-US"/>
          </a:p>
        </p:txBody>
      </p:sp>
      <p:sp>
        <p:nvSpPr>
          <p:cNvPr id="27" name="b01-wipe-loop-arrows"/>
          <p:cNvSpPr/>
          <p:nvPr/>
        </p:nvSpPr>
        <p:spPr>
          <a:xfrm>
            <a:off x="10424160" y="3520440"/>
            <a:ext cx="0" cy="822960"/>
          </a:xfrm>
          <a:prstGeom prst="line">
            <a:avLst/>
          </a:prstGeom>
          <a:noFill/>
          <a:ln w="19050">
            <a:solidFill>
              <a:srgbClr val="75EDBB"/>
            </a:solidFill>
            <a:prstDash val="solid"/>
            <a:tailEnd type="triangle"/>
          </a:ln>
        </p:spPr>
        <p:txBody>
          <a:bodyPr/>
          <a:lstStyle/>
          <a:p>
            <a:endParaRPr lang="en-US"/>
          </a:p>
        </p:txBody>
      </p:sp>
      <p:sp>
        <p:nvSpPr>
          <p:cNvPr id="28" name="b01-wipe-loop-arrows"/>
          <p:cNvSpPr/>
          <p:nvPr/>
        </p:nvSpPr>
        <p:spPr>
          <a:xfrm flipH="1">
            <a:off x="6812280" y="4919472"/>
            <a:ext cx="2560320" cy="0"/>
          </a:xfrm>
          <a:prstGeom prst="line">
            <a:avLst/>
          </a:prstGeom>
          <a:noFill/>
          <a:ln w="19050">
            <a:solidFill>
              <a:srgbClr val="75EDBB"/>
            </a:solidFill>
            <a:prstDash val="solid"/>
            <a:tailEnd type="triangle"/>
          </a:ln>
        </p:spPr>
        <p:txBody>
          <a:bodyPr/>
          <a:lstStyle/>
          <a:p>
            <a:endParaRPr lang="en-US"/>
          </a:p>
        </p:txBody>
      </p:sp>
      <p:sp>
        <p:nvSpPr>
          <p:cNvPr id="29" name="b01-wipe-loop-arrows"/>
          <p:cNvSpPr/>
          <p:nvPr/>
        </p:nvSpPr>
        <p:spPr>
          <a:xfrm flipV="1">
            <a:off x="5760720" y="3520440"/>
            <a:ext cx="0" cy="822960"/>
          </a:xfrm>
          <a:prstGeom prst="line">
            <a:avLst/>
          </a:prstGeom>
          <a:noFill/>
          <a:ln w="19050">
            <a:solidFill>
              <a:srgbClr val="75EDBB"/>
            </a:solidFill>
            <a:prstDash val="solid"/>
            <a:tailEnd type="triangle"/>
          </a:ln>
        </p:spPr>
        <p:txBody>
          <a:bodyPr/>
          <a:lstStyle/>
          <a:p>
            <a:endParaRPr lang="en-US"/>
          </a:p>
        </p:txBody>
      </p:sp>
      <p:sp>
        <p:nvSpPr>
          <p:cNvPr id="30" name="b02-rise-stopping-rule"/>
          <p:cNvSpPr/>
          <p:nvPr/>
        </p:nvSpPr>
        <p:spPr>
          <a:xfrm>
            <a:off x="7086600" y="3154680"/>
            <a:ext cx="2011680" cy="1463040"/>
          </a:xfrm>
          <a:prstGeom prst="roundRect">
            <a:avLst>
              <a:gd name="adj" fmla="val 8125"/>
            </a:avLst>
          </a:prstGeom>
          <a:solidFill>
            <a:srgbClr val="0A0D13"/>
          </a:solidFill>
          <a:ln w="12700">
            <a:solidFill>
              <a:srgbClr val="75EDBB"/>
            </a:solidFill>
            <a:prstDash val="dash"/>
          </a:ln>
        </p:spPr>
        <p:txBody>
          <a:bodyPr/>
          <a:lstStyle/>
          <a:p>
            <a:endParaRPr lang="en-US"/>
          </a:p>
        </p:txBody>
      </p:sp>
      <p:sp>
        <p:nvSpPr>
          <p:cNvPr id="31" name="b02-rise-stopping-rule"/>
          <p:cNvSpPr/>
          <p:nvPr/>
        </p:nvSpPr>
        <p:spPr>
          <a:xfrm>
            <a:off x="7214616" y="3154680"/>
            <a:ext cx="1755648" cy="146304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Stop when the check passes, or when attempts stop adding evidence.</a:t>
            </a:r>
            <a:endParaRPr lang="en-US" sz="1500" dirty="0"/>
          </a:p>
        </p:txBody>
      </p:sp>
      <p:sp>
        <p:nvSpPr>
          <p:cNvPr id="32" name="Text 30"/>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The loop only self-corrects on evidence it can see.</a:t>
            </a:r>
            <a:endParaRPr lang="en-US" sz="1100" dirty="0"/>
          </a:p>
        </p:txBody>
      </p:sp>
      <p:sp>
        <p:nvSpPr>
          <p:cNvPr id="33" name="Text 31"/>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03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2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2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2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2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420"/>
                                        <p:tgtEl>
                                          <p:spTgt spid="18"/>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20"/>
                                        <p:tgtEl>
                                          <p:spTgt spid="19"/>
                                        </p:tgtEl>
                                      </p:cBhvr>
                                    </p:animEffect>
                                  </p:childTnLst>
                                </p:cTn>
                              </p:par>
                              <p:par>
                                <p:cTn id="23" presetID="10"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420"/>
                                        <p:tgtEl>
                                          <p:spTgt spid="20"/>
                                        </p:tgtEl>
                                      </p:cBhvr>
                                    </p:animEffect>
                                  </p:childTnLst>
                                </p:cTn>
                              </p:par>
                              <p:par>
                                <p:cTn id="26" presetID="10" presetClass="entr" presetSubtype="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420"/>
                                        <p:tgtEl>
                                          <p:spTgt spid="21"/>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2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2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20"/>
                                        <p:tgtEl>
                                          <p:spTgt spid="24"/>
                                        </p:tgtEl>
                                      </p:cBhvr>
                                    </p:animEffect>
                                  </p:childTnLst>
                                </p:cTn>
                              </p:par>
                              <p:par>
                                <p:cTn id="38" presetID="10" presetClass="entr" presetSubtype="0" fill="hold"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20"/>
                                        <p:tgtEl>
                                          <p:spTgt spid="25"/>
                                        </p:tgtEl>
                                      </p:cBhvr>
                                    </p:animEffect>
                                  </p:childTnLst>
                                </p:cTn>
                              </p:par>
                              <p:par>
                                <p:cTn id="41" presetID="22" presetClass="entr" presetSubtype="1"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right)">
                                      <p:cBhvr>
                                        <p:cTn id="43" dur="420"/>
                                        <p:tgtEl>
                                          <p:spTgt spid="26"/>
                                        </p:tgtEl>
                                      </p:cBhvr>
                                    </p:animEffect>
                                  </p:childTnLst>
                                </p:cTn>
                              </p:par>
                              <p:par>
                                <p:cTn id="44" presetID="22" presetClass="entr" presetSubtype="1" fill="hold"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right)">
                                      <p:cBhvr>
                                        <p:cTn id="46" dur="420"/>
                                        <p:tgtEl>
                                          <p:spTgt spid="27"/>
                                        </p:tgtEl>
                                      </p:cBhvr>
                                    </p:animEffect>
                                  </p:childTnLst>
                                </p:cTn>
                              </p:par>
                              <p:par>
                                <p:cTn id="47" presetID="22" presetClass="entr" presetSubtype="1"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right)">
                                      <p:cBhvr>
                                        <p:cTn id="49" dur="420"/>
                                        <p:tgtEl>
                                          <p:spTgt spid="28"/>
                                        </p:tgtEl>
                                      </p:cBhvr>
                                    </p:animEffect>
                                  </p:childTnLst>
                                </p:cTn>
                              </p:par>
                              <p:par>
                                <p:cTn id="50" presetID="22" presetClass="entr" presetSubtype="1" fill="hold"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right)">
                                      <p:cBhvr>
                                        <p:cTn id="52" dur="420"/>
                                        <p:tgtEl>
                                          <p:spTgt spid="29"/>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 calcmode="lin" valueType="num">
                                      <p:cBhvr additive="base">
                                        <p:cTn id="57" dur="420" decel="60000" fill="hold"/>
                                        <p:tgtEl>
                                          <p:spTgt spid="30"/>
                                        </p:tgtEl>
                                        <p:attrNameLst>
                                          <p:attrName>ppt_y</p:attrName>
                                        </p:attrNameLst>
                                      </p:cBhvr>
                                      <p:tavLst>
                                        <p:tav tm="0">
                                          <p:val>
                                            <p:strVal val="#ppt_y+.014"/>
                                          </p:val>
                                        </p:tav>
                                        <p:tav tm="100000">
                                          <p:val>
                                            <p:strVal val="#ppt_y"/>
                                          </p:val>
                                        </p:tav>
                                      </p:tavLst>
                                    </p:anim>
                                    <p:animEffect transition="in" filter="fade">
                                      <p:cBhvr>
                                        <p:cTn id="58" dur="420"/>
                                        <p:tgtEl>
                                          <p:spTgt spid="30"/>
                                        </p:tgtEl>
                                      </p:cBhvr>
                                    </p:animEffect>
                                  </p:childTnLst>
                                </p:cTn>
                              </p:par>
                              <p:par>
                                <p:cTn id="59" presetID="42"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anim calcmode="lin" valueType="num">
                                      <p:cBhvr additive="base">
                                        <p:cTn id="61" dur="420" decel="60000" fill="hold"/>
                                        <p:tgtEl>
                                          <p:spTgt spid="31"/>
                                        </p:tgtEl>
                                        <p:attrNameLst>
                                          <p:attrName>ppt_y</p:attrName>
                                        </p:attrNameLst>
                                      </p:cBhvr>
                                      <p:tavLst>
                                        <p:tav tm="0">
                                          <p:val>
                                            <p:strVal val="#ppt_y+.014"/>
                                          </p:val>
                                        </p:tav>
                                        <p:tav tm="100000">
                                          <p:val>
                                            <p:strVal val="#ppt_y"/>
                                          </p:val>
                                        </p:tav>
                                      </p:tavLst>
                                    </p:anim>
                                    <p:animEffect transition="in" filter="fade">
                                      <p:cBhvr>
                                        <p:cTn id="62" dur="42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MENTAL MODEL</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Choose the model. Equip the agent.</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The model reasons. The harness gives it somewhere to work.</a:t>
            </a:r>
            <a:endParaRPr lang="en-US" sz="1900" dirty="0"/>
          </a:p>
        </p:txBody>
      </p:sp>
      <p:sp>
        <p:nvSpPr>
          <p:cNvPr id="5" name="Shape 3"/>
          <p:cNvSpPr/>
          <p:nvPr/>
        </p:nvSpPr>
        <p:spPr>
          <a:xfrm>
            <a:off x="1737360" y="1965960"/>
            <a:ext cx="8778240" cy="3429000"/>
          </a:xfrm>
          <a:prstGeom prst="roundRect">
            <a:avLst>
              <a:gd name="adj" fmla="val 5867"/>
            </a:avLst>
          </a:prstGeom>
          <a:solidFill>
            <a:srgbClr val="0A0D13"/>
          </a:solidFill>
          <a:ln w="15875">
            <a:solidFill>
              <a:srgbClr val="A99AFF"/>
            </a:solidFill>
            <a:prstDash val="solid"/>
          </a:ln>
        </p:spPr>
        <p:txBody>
          <a:bodyPr/>
          <a:lstStyle/>
          <a:p>
            <a:endParaRPr lang="en-US"/>
          </a:p>
        </p:txBody>
      </p:sp>
      <p:sp>
        <p:nvSpPr>
          <p:cNvPr id="6" name="Text 4"/>
          <p:cNvSpPr/>
          <p:nvPr/>
        </p:nvSpPr>
        <p:spPr>
          <a:xfrm>
            <a:off x="2011680" y="2103120"/>
            <a:ext cx="8229600" cy="274320"/>
          </a:xfrm>
          <a:prstGeom prst="rect">
            <a:avLst/>
          </a:prstGeom>
          <a:noFill/>
          <a:ln/>
        </p:spPr>
        <p:txBody>
          <a:bodyPr wrap="square" rtlCol="0" anchor="t"/>
          <a:lstStyle/>
          <a:p>
            <a:pPr marL="0" indent="0">
              <a:lnSpc>
                <a:spcPct val="105000"/>
              </a:lnSpc>
              <a:buNone/>
            </a:pPr>
            <a:r>
              <a:rPr lang="en-US" sz="1200" b="1" kern="0" spc="160" dirty="0">
                <a:solidFill>
                  <a:srgbClr val="A99AFF"/>
                </a:solidFill>
                <a:latin typeface="Helvetica Neue" pitchFamily="34" charset="0"/>
                <a:ea typeface="Helvetica Neue" pitchFamily="34" charset="-122"/>
                <a:cs typeface="Helvetica Neue" pitchFamily="34" charset="-120"/>
              </a:rPr>
              <a:t>HARNESS · builds context, runs the loop, executes tools, holds state</a:t>
            </a:r>
            <a:endParaRPr lang="en-US" sz="1200" dirty="0"/>
          </a:p>
        </p:txBody>
      </p:sp>
      <p:sp>
        <p:nvSpPr>
          <p:cNvPr id="7" name="Shape 5"/>
          <p:cNvSpPr/>
          <p:nvPr/>
        </p:nvSpPr>
        <p:spPr>
          <a:xfrm>
            <a:off x="5212080" y="2697480"/>
            <a:ext cx="1828800" cy="1828800"/>
          </a:xfrm>
          <a:prstGeom prst="ellipse">
            <a:avLst/>
          </a:prstGeom>
          <a:solidFill>
            <a:srgbClr val="1E3A33"/>
          </a:solidFill>
          <a:ln w="22225">
            <a:solidFill>
              <a:srgbClr val="75EDBB"/>
            </a:solidFill>
            <a:prstDash val="solid"/>
          </a:ln>
        </p:spPr>
        <p:txBody>
          <a:bodyPr/>
          <a:lstStyle/>
          <a:p>
            <a:endParaRPr lang="en-US"/>
          </a:p>
        </p:txBody>
      </p:sp>
      <p:sp>
        <p:nvSpPr>
          <p:cNvPr id="8" name="Text 6"/>
          <p:cNvSpPr/>
          <p:nvPr/>
        </p:nvSpPr>
        <p:spPr>
          <a:xfrm>
            <a:off x="5321808" y="2697480"/>
            <a:ext cx="1609344" cy="1828800"/>
          </a:xfrm>
          <a:prstGeom prst="rect">
            <a:avLst/>
          </a:prstGeom>
          <a:noFill/>
          <a:ln/>
        </p:spPr>
        <p:txBody>
          <a:bodyPr wrap="square" rtlCol="0" anchor="ctr"/>
          <a:lstStyle/>
          <a:p>
            <a:pPr marL="0" indent="0" algn="ctr">
              <a:lnSpc>
                <a:spcPct val="105000"/>
              </a:lnSpc>
              <a:buNone/>
            </a:pPr>
            <a:r>
              <a:rPr lang="en-US" sz="1600" dirty="0">
                <a:solidFill>
                  <a:srgbClr val="75EDBB"/>
                </a:solidFill>
                <a:latin typeface="Helvetica Neue" pitchFamily="34" charset="0"/>
                <a:ea typeface="Helvetica Neue" pitchFamily="34" charset="-122"/>
                <a:cs typeface="Helvetica Neue" pitchFamily="34" charset="-120"/>
              </a:rPr>
              <a:t>Model</a:t>
            </a:r>
            <a:endParaRPr lang="en-US" sz="1600" dirty="0"/>
          </a:p>
          <a:p>
            <a:pPr marL="0" indent="0" algn="ctr">
              <a:lnSpc>
                <a:spcPct val="105000"/>
              </a:lnSpc>
              <a:buNone/>
            </a:pPr>
            <a:r>
              <a:rPr lang="en-US" sz="1600" dirty="0">
                <a:solidFill>
                  <a:srgbClr val="75EDBB"/>
                </a:solidFill>
                <a:latin typeface="Helvetica Neue" pitchFamily="34" charset="0"/>
                <a:ea typeface="Helvetica Neue" pitchFamily="34" charset="-122"/>
                <a:cs typeface="Helvetica Neue" pitchFamily="34" charset="-120"/>
              </a:rPr>
              <a:t>reasons and proposes</a:t>
            </a:r>
            <a:endParaRPr lang="en-US" sz="1600" dirty="0"/>
          </a:p>
        </p:txBody>
      </p:sp>
      <p:sp>
        <p:nvSpPr>
          <p:cNvPr id="9" name="b01-fade-harness-parts"/>
          <p:cNvSpPr/>
          <p:nvPr/>
        </p:nvSpPr>
        <p:spPr>
          <a:xfrm>
            <a:off x="2057400" y="3200400"/>
            <a:ext cx="2560320" cy="822960"/>
          </a:xfrm>
          <a:prstGeom prst="roundRect">
            <a:avLst>
              <a:gd name="adj" fmla="val 11111"/>
            </a:avLst>
          </a:prstGeom>
          <a:solidFill>
            <a:srgbClr val="141A24"/>
          </a:solidFill>
          <a:ln w="12700">
            <a:solidFill>
              <a:srgbClr val="232C3A"/>
            </a:solidFill>
            <a:prstDash val="solid"/>
          </a:ln>
        </p:spPr>
        <p:txBody>
          <a:bodyPr/>
          <a:lstStyle/>
          <a:p>
            <a:endParaRPr lang="en-US"/>
          </a:p>
        </p:txBody>
      </p:sp>
      <p:sp>
        <p:nvSpPr>
          <p:cNvPr id="10" name="b01-fade-harness-parts"/>
          <p:cNvSpPr/>
          <p:nvPr/>
        </p:nvSpPr>
        <p:spPr>
          <a:xfrm>
            <a:off x="2203704" y="3200400"/>
            <a:ext cx="2267712" cy="822960"/>
          </a:xfrm>
          <a:prstGeom prst="rect">
            <a:avLst/>
          </a:prstGeom>
          <a:noFill/>
          <a:ln/>
        </p:spPr>
        <p:txBody>
          <a:bodyPr wrap="square" rtlCol="0" anchor="ctr"/>
          <a:lstStyle/>
          <a:p>
            <a:pPr marL="0" indent="0" algn="ctr">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Context it can see</a:t>
            </a:r>
            <a:endParaRPr lang="en-US" sz="1600" dirty="0"/>
          </a:p>
        </p:txBody>
      </p:sp>
      <p:sp>
        <p:nvSpPr>
          <p:cNvPr id="11" name="b01-fade-harness-parts"/>
          <p:cNvSpPr/>
          <p:nvPr/>
        </p:nvSpPr>
        <p:spPr>
          <a:xfrm>
            <a:off x="7635240" y="3200400"/>
            <a:ext cx="2560320" cy="822960"/>
          </a:xfrm>
          <a:prstGeom prst="roundRect">
            <a:avLst>
              <a:gd name="adj" fmla="val 11111"/>
            </a:avLst>
          </a:prstGeom>
          <a:solidFill>
            <a:srgbClr val="141A24"/>
          </a:solidFill>
          <a:ln w="12700">
            <a:solidFill>
              <a:srgbClr val="232C3A"/>
            </a:solidFill>
            <a:prstDash val="solid"/>
          </a:ln>
        </p:spPr>
        <p:txBody>
          <a:bodyPr/>
          <a:lstStyle/>
          <a:p>
            <a:endParaRPr lang="en-US"/>
          </a:p>
        </p:txBody>
      </p:sp>
      <p:sp>
        <p:nvSpPr>
          <p:cNvPr id="12" name="b01-fade-harness-parts"/>
          <p:cNvSpPr/>
          <p:nvPr/>
        </p:nvSpPr>
        <p:spPr>
          <a:xfrm>
            <a:off x="7781544" y="3200400"/>
            <a:ext cx="2267712" cy="822960"/>
          </a:xfrm>
          <a:prstGeom prst="rect">
            <a:avLst/>
          </a:prstGeom>
          <a:noFill/>
          <a:ln/>
        </p:spPr>
        <p:txBody>
          <a:bodyPr wrap="square" rtlCol="0" anchor="ctr"/>
          <a:lstStyle/>
          <a:p>
            <a:pPr marL="0" indent="0" algn="ctr">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Tools it can run</a:t>
            </a:r>
            <a:endParaRPr lang="en-US" sz="1600" dirty="0"/>
          </a:p>
        </p:txBody>
      </p:sp>
      <p:sp>
        <p:nvSpPr>
          <p:cNvPr id="13" name="b01-fade-harness-parts"/>
          <p:cNvSpPr/>
          <p:nvPr/>
        </p:nvSpPr>
        <p:spPr>
          <a:xfrm>
            <a:off x="4892040" y="4681728"/>
            <a:ext cx="2468880" cy="566928"/>
          </a:xfrm>
          <a:prstGeom prst="roundRect">
            <a:avLst>
              <a:gd name="adj" fmla="val 16129"/>
            </a:avLst>
          </a:prstGeom>
          <a:solidFill>
            <a:srgbClr val="141A24"/>
          </a:solidFill>
          <a:ln w="12700">
            <a:solidFill>
              <a:srgbClr val="232C3A"/>
            </a:solidFill>
            <a:prstDash val="solid"/>
          </a:ln>
        </p:spPr>
        <p:txBody>
          <a:bodyPr/>
          <a:lstStyle/>
          <a:p>
            <a:endParaRPr lang="en-US"/>
          </a:p>
        </p:txBody>
      </p:sp>
      <p:sp>
        <p:nvSpPr>
          <p:cNvPr id="14" name="b01-fade-harness-parts"/>
          <p:cNvSpPr/>
          <p:nvPr/>
        </p:nvSpPr>
        <p:spPr>
          <a:xfrm>
            <a:off x="5038344" y="4681728"/>
            <a:ext cx="2176272" cy="566928"/>
          </a:xfrm>
          <a:prstGeom prst="rect">
            <a:avLst/>
          </a:prstGeom>
          <a:noFill/>
          <a:ln/>
        </p:spPr>
        <p:txBody>
          <a:bodyPr wrap="square" rtlCol="0" anchor="ctr"/>
          <a:lstStyle/>
          <a:p>
            <a:pPr marL="0" indent="0" algn="ctr">
              <a:lnSpc>
                <a:spcPct val="105000"/>
              </a:lnSpc>
              <a:buNone/>
            </a:pPr>
            <a:r>
              <a:rPr lang="en-US" sz="1500" dirty="0">
                <a:solidFill>
                  <a:srgbClr val="F3F6FA"/>
                </a:solidFill>
                <a:latin typeface="Helvetica Neue" pitchFamily="34" charset="0"/>
                <a:ea typeface="Helvetica Neue" pitchFamily="34" charset="-122"/>
                <a:cs typeface="Helvetica Neue" pitchFamily="34" charset="-120"/>
              </a:rPr>
              <a:t>State it keeps between steps</a:t>
            </a:r>
            <a:endParaRPr lang="en-US" sz="1500" dirty="0"/>
          </a:p>
        </p:txBody>
      </p:sp>
      <p:sp>
        <p:nvSpPr>
          <p:cNvPr id="15" name="b01-fade-harness-parts"/>
          <p:cNvSpPr/>
          <p:nvPr/>
        </p:nvSpPr>
        <p:spPr>
          <a:xfrm>
            <a:off x="4617720" y="3611880"/>
            <a:ext cx="594360" cy="0"/>
          </a:xfrm>
          <a:prstGeom prst="line">
            <a:avLst/>
          </a:prstGeom>
          <a:noFill/>
          <a:ln w="19050">
            <a:solidFill>
              <a:srgbClr val="232C3A"/>
            </a:solidFill>
            <a:prstDash val="solid"/>
          </a:ln>
        </p:spPr>
        <p:txBody>
          <a:bodyPr/>
          <a:lstStyle/>
          <a:p>
            <a:endParaRPr lang="en-US"/>
          </a:p>
        </p:txBody>
      </p:sp>
      <p:sp>
        <p:nvSpPr>
          <p:cNvPr id="16" name="b01-fade-harness-parts"/>
          <p:cNvSpPr/>
          <p:nvPr/>
        </p:nvSpPr>
        <p:spPr>
          <a:xfrm>
            <a:off x="7040880" y="3611880"/>
            <a:ext cx="594360" cy="0"/>
          </a:xfrm>
          <a:prstGeom prst="line">
            <a:avLst/>
          </a:prstGeom>
          <a:noFill/>
          <a:ln w="19050">
            <a:solidFill>
              <a:srgbClr val="232C3A"/>
            </a:solidFill>
            <a:prstDash val="solid"/>
          </a:ln>
        </p:spPr>
        <p:txBody>
          <a:bodyPr/>
          <a:lstStyle/>
          <a:p>
            <a:endParaRPr lang="en-US"/>
          </a:p>
        </p:txBody>
      </p:sp>
      <p:sp>
        <p:nvSpPr>
          <p:cNvPr id="17" name="b01-fade-harness-parts"/>
          <p:cNvSpPr/>
          <p:nvPr/>
        </p:nvSpPr>
        <p:spPr>
          <a:xfrm>
            <a:off x="6126480" y="4526280"/>
            <a:ext cx="0" cy="155448"/>
          </a:xfrm>
          <a:prstGeom prst="line">
            <a:avLst/>
          </a:prstGeom>
          <a:noFill/>
          <a:ln w="19050">
            <a:solidFill>
              <a:srgbClr val="232C3A"/>
            </a:solidFill>
            <a:prstDash val="solid"/>
          </a:ln>
        </p:spPr>
        <p:txBody>
          <a:bodyPr/>
          <a:lstStyle/>
          <a:p>
            <a:endParaRPr lang="en-US"/>
          </a:p>
        </p:txBody>
      </p:sp>
      <p:sp>
        <p:nvSpPr>
          <p:cNvPr id="18" name="b02-rise-model-limit"/>
          <p:cNvSpPr/>
          <p:nvPr/>
        </p:nvSpPr>
        <p:spPr>
          <a:xfrm>
            <a:off x="1737360" y="5532120"/>
            <a:ext cx="8778240" cy="621792"/>
          </a:xfrm>
          <a:prstGeom prst="roundRect">
            <a:avLst>
              <a:gd name="adj" fmla="val 19118"/>
            </a:avLst>
          </a:prstGeom>
          <a:solidFill>
            <a:srgbClr val="0E1219"/>
          </a:solidFill>
          <a:ln w="12700">
            <a:solidFill>
              <a:srgbClr val="232C3A"/>
            </a:solidFill>
            <a:prstDash val="solid"/>
          </a:ln>
        </p:spPr>
        <p:txBody>
          <a:bodyPr/>
          <a:lstStyle/>
          <a:p>
            <a:endParaRPr lang="en-US"/>
          </a:p>
        </p:txBody>
      </p:sp>
      <p:sp>
        <p:nvSpPr>
          <p:cNvPr id="19" name="b02-rise-model-limit"/>
          <p:cNvSpPr/>
          <p:nvPr/>
        </p:nvSpPr>
        <p:spPr>
          <a:xfrm>
            <a:off x="1965960" y="5532120"/>
            <a:ext cx="8321040" cy="621792"/>
          </a:xfrm>
          <a:prstGeom prst="rect">
            <a:avLst/>
          </a:prstGeom>
          <a:noFill/>
          <a:ln/>
        </p:spPr>
        <p:txBody>
          <a:bodyPr wrap="square" rtlCol="0" anchor="ctr"/>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A stronger model cannot call a tool the harness does not have, or weigh evidence nobody collected.</a:t>
            </a:r>
            <a:endParaRPr lang="en-US" sz="1700" dirty="0"/>
          </a:p>
        </p:txBody>
      </p:sp>
      <p:sp>
        <p:nvSpPr>
          <p:cNvPr id="20" name="Text 18"/>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A repeatable loop is not the same thing as a correct result.</a:t>
            </a:r>
            <a:endParaRPr lang="en-US" sz="1100" dirty="0"/>
          </a:p>
        </p:txBody>
      </p:sp>
      <p:sp>
        <p:nvSpPr>
          <p:cNvPr id="21" name="Text 19"/>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04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2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2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2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2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2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20"/>
                                        <p:tgtEl>
                                          <p:spTgt spid="15"/>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20"/>
                                        <p:tgtEl>
                                          <p:spTgt spid="16"/>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2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420" decel="60000" fill="hold"/>
                                        <p:tgtEl>
                                          <p:spTgt spid="18"/>
                                        </p:tgtEl>
                                        <p:attrNameLst>
                                          <p:attrName>ppt_y</p:attrName>
                                        </p:attrNameLst>
                                      </p:cBhvr>
                                      <p:tavLst>
                                        <p:tav tm="0">
                                          <p:val>
                                            <p:strVal val="#ppt_y+.014"/>
                                          </p:val>
                                        </p:tav>
                                        <p:tav tm="100000">
                                          <p:val>
                                            <p:strVal val="#ppt_y"/>
                                          </p:val>
                                        </p:tav>
                                      </p:tavLst>
                                    </p:anim>
                                    <p:animEffect transition="in" filter="fade">
                                      <p:cBhvr>
                                        <p:cTn id="37" dur="420"/>
                                        <p:tgtEl>
                                          <p:spTgt spid="18"/>
                                        </p:tgtEl>
                                      </p:cBhvr>
                                    </p:animEffect>
                                  </p:childTnLst>
                                </p:cTn>
                              </p:par>
                              <p:par>
                                <p:cTn id="38" presetID="42"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additive="base">
                                        <p:cTn id="40" dur="420" decel="60000" fill="hold"/>
                                        <p:tgtEl>
                                          <p:spTgt spid="19"/>
                                        </p:tgtEl>
                                        <p:attrNameLst>
                                          <p:attrName>ppt_y</p:attrName>
                                        </p:attrNameLst>
                                      </p:cBhvr>
                                      <p:tavLst>
                                        <p:tav tm="0">
                                          <p:val>
                                            <p:strVal val="#ppt_y+.014"/>
                                          </p:val>
                                        </p:tav>
                                        <p:tav tm="100000">
                                          <p:val>
                                            <p:strVal val="#ppt_y"/>
                                          </p:val>
                                        </p:tav>
                                      </p:tavLst>
                                    </p:anim>
                                    <p:animEffect transition="in" filter="fade">
                                      <p:cBhvr>
                                        <p:cTn id="41" dur="42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MODEL + HARNESS</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The model is the brain. The harness is the body.</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Choose both deliberately. The harness matters, but it is one piece of the system.</a:t>
            </a:r>
            <a:endParaRPr lang="en-US" sz="1900" dirty="0"/>
          </a:p>
        </p:txBody>
      </p:sp>
      <p:sp>
        <p:nvSpPr>
          <p:cNvPr id="5" name="Shape 3"/>
          <p:cNvSpPr/>
          <p:nvPr/>
        </p:nvSpPr>
        <p:spPr>
          <a:xfrm>
            <a:off x="566928" y="1773936"/>
            <a:ext cx="3218688" cy="2862072"/>
          </a:xfrm>
          <a:prstGeom prst="roundRect">
            <a:avLst>
              <a:gd name="adj" fmla="val 5112"/>
            </a:avLst>
          </a:prstGeom>
          <a:solidFill>
            <a:srgbClr val="0A0D13"/>
          </a:solidFill>
          <a:ln w="12700">
            <a:solidFill>
              <a:srgbClr val="232C3A"/>
            </a:solidFill>
            <a:prstDash val="solid"/>
          </a:ln>
        </p:spPr>
        <p:txBody>
          <a:bodyPr/>
          <a:lstStyle/>
          <a:p>
            <a:endParaRPr lang="en-US"/>
          </a:p>
        </p:txBody>
      </p:sp>
      <p:pic>
        <p:nvPicPr>
          <p:cNvPr id="6" name="Image 0" descr="/Users/pakbaz/code/art-and-science-of-vibe-coding/assets/harness-picker.png"/>
          <p:cNvPicPr>
            <a:picLocks noChangeAspect="1"/>
          </p:cNvPicPr>
          <p:nvPr/>
        </p:nvPicPr>
        <p:blipFill>
          <a:blip r:embed="rId3"/>
          <a:stretch>
            <a:fillRect/>
          </a:stretch>
        </p:blipFill>
        <p:spPr>
          <a:xfrm>
            <a:off x="713232" y="1920240"/>
            <a:ext cx="2926080" cy="2569464"/>
          </a:xfrm>
          <a:prstGeom prst="rect">
            <a:avLst/>
          </a:prstGeom>
        </p:spPr>
      </p:pic>
      <p:sp>
        <p:nvSpPr>
          <p:cNvPr id="7" name="Text 4"/>
          <p:cNvSpPr/>
          <p:nvPr/>
        </p:nvSpPr>
        <p:spPr>
          <a:xfrm>
            <a:off x="566928" y="4764024"/>
            <a:ext cx="3218688" cy="548640"/>
          </a:xfrm>
          <a:prstGeom prst="rect">
            <a:avLst/>
          </a:prstGeom>
          <a:noFill/>
          <a:ln/>
        </p:spPr>
        <p:txBody>
          <a:bodyPr wrap="square" rtlCol="0" anchor="t"/>
          <a:lstStyle/>
          <a:p>
            <a:pPr marL="0" indent="0" algn="ctr">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Model and harness choices in GitHub Copilot for VS Code</a:t>
            </a:r>
            <a:endParaRPr lang="en-US" sz="1500" dirty="0"/>
          </a:p>
        </p:txBody>
      </p:sp>
      <p:sp>
        <p:nvSpPr>
          <p:cNvPr id="8" name="b01-fade-harness-rows"/>
          <p:cNvSpPr/>
          <p:nvPr/>
        </p:nvSpPr>
        <p:spPr>
          <a:xfrm>
            <a:off x="4434840" y="1874520"/>
            <a:ext cx="7178040" cy="621792"/>
          </a:xfrm>
          <a:prstGeom prst="roundRect">
            <a:avLst>
              <a:gd name="adj" fmla="val 14706"/>
            </a:avLst>
          </a:prstGeom>
          <a:solidFill>
            <a:srgbClr val="0E1219"/>
          </a:solidFill>
          <a:ln w="12700">
            <a:solidFill>
              <a:srgbClr val="1A212C"/>
            </a:solidFill>
            <a:prstDash val="solid"/>
          </a:ln>
        </p:spPr>
        <p:txBody>
          <a:bodyPr/>
          <a:lstStyle/>
          <a:p>
            <a:endParaRPr lang="en-US"/>
          </a:p>
        </p:txBody>
      </p:sp>
      <p:sp>
        <p:nvSpPr>
          <p:cNvPr id="9" name="b01-fade-harness-rows"/>
          <p:cNvSpPr/>
          <p:nvPr/>
        </p:nvSpPr>
        <p:spPr>
          <a:xfrm>
            <a:off x="4663440" y="1874520"/>
            <a:ext cx="1371600" cy="621792"/>
          </a:xfrm>
          <a:prstGeom prst="rect">
            <a:avLst/>
          </a:prstGeom>
          <a:noFill/>
          <a:ln/>
        </p:spPr>
        <p:txBody>
          <a:bodyPr wrap="square" rtlCol="0" anchor="ctr"/>
          <a:lstStyle/>
          <a:p>
            <a:pPr marL="0" indent="0">
              <a:lnSpc>
                <a:spcPct val="105000"/>
              </a:lnSpc>
              <a:buNone/>
            </a:pPr>
            <a:r>
              <a:rPr lang="en-US" sz="1800" b="1" dirty="0">
                <a:solidFill>
                  <a:srgbClr val="A99AFF"/>
                </a:solidFill>
                <a:latin typeface="Helvetica Neue" pitchFamily="34" charset="0"/>
                <a:ea typeface="Helvetica Neue" pitchFamily="34" charset="-122"/>
                <a:cs typeface="Helvetica Neue" pitchFamily="34" charset="-120"/>
              </a:rPr>
              <a:t>Brain</a:t>
            </a:r>
            <a:endParaRPr lang="en-US" sz="1800" dirty="0"/>
          </a:p>
        </p:txBody>
      </p:sp>
      <p:sp>
        <p:nvSpPr>
          <p:cNvPr id="10" name="b01-fade-harness-rows"/>
          <p:cNvSpPr/>
          <p:nvPr/>
        </p:nvSpPr>
        <p:spPr>
          <a:xfrm>
            <a:off x="6035040" y="1874520"/>
            <a:ext cx="5394960" cy="621792"/>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The model supplies reasoning, language and code intelligence.</a:t>
            </a:r>
            <a:endParaRPr lang="en-US" sz="1600" dirty="0"/>
          </a:p>
        </p:txBody>
      </p:sp>
      <p:sp>
        <p:nvSpPr>
          <p:cNvPr id="11" name="b02-pulse-cloud-row"/>
          <p:cNvSpPr/>
          <p:nvPr/>
        </p:nvSpPr>
        <p:spPr>
          <a:xfrm>
            <a:off x="4434840" y="2615184"/>
            <a:ext cx="7178040" cy="621792"/>
          </a:xfrm>
          <a:prstGeom prst="roundRect">
            <a:avLst>
              <a:gd name="adj" fmla="val 14706"/>
            </a:avLst>
          </a:prstGeom>
          <a:solidFill>
            <a:srgbClr val="0E1219"/>
          </a:solidFill>
          <a:ln w="12700">
            <a:solidFill>
              <a:srgbClr val="FFCA83"/>
            </a:solidFill>
            <a:prstDash val="solid"/>
          </a:ln>
        </p:spPr>
        <p:txBody>
          <a:bodyPr/>
          <a:lstStyle/>
          <a:p>
            <a:endParaRPr lang="en-US"/>
          </a:p>
        </p:txBody>
      </p:sp>
      <p:sp>
        <p:nvSpPr>
          <p:cNvPr id="12" name="b02-pulse-cloud-row"/>
          <p:cNvSpPr/>
          <p:nvPr/>
        </p:nvSpPr>
        <p:spPr>
          <a:xfrm>
            <a:off x="4663440" y="2615184"/>
            <a:ext cx="1371600" cy="621792"/>
          </a:xfrm>
          <a:prstGeom prst="rect">
            <a:avLst/>
          </a:prstGeom>
          <a:noFill/>
          <a:ln/>
        </p:spPr>
        <p:txBody>
          <a:bodyPr wrap="square" rtlCol="0" anchor="ctr"/>
          <a:lstStyle/>
          <a:p>
            <a:pPr marL="0" indent="0">
              <a:lnSpc>
                <a:spcPct val="105000"/>
              </a:lnSpc>
              <a:buNone/>
            </a:pPr>
            <a:r>
              <a:rPr lang="en-US" sz="1800" b="1" dirty="0">
                <a:solidFill>
                  <a:srgbClr val="75EDBB"/>
                </a:solidFill>
                <a:latin typeface="Helvetica Neue" pitchFamily="34" charset="0"/>
                <a:ea typeface="Helvetica Neue" pitchFamily="34" charset="-122"/>
                <a:cs typeface="Helvetica Neue" pitchFamily="34" charset="-120"/>
              </a:rPr>
              <a:t>Body</a:t>
            </a:r>
            <a:endParaRPr lang="en-US" sz="1800" dirty="0"/>
          </a:p>
        </p:txBody>
      </p:sp>
      <p:sp>
        <p:nvSpPr>
          <p:cNvPr id="13" name="b02-pulse-cloud-row"/>
          <p:cNvSpPr/>
          <p:nvPr/>
        </p:nvSpPr>
        <p:spPr>
          <a:xfrm>
            <a:off x="6035040" y="2615184"/>
            <a:ext cx="5394960" cy="621792"/>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The harness supplies tools, context, execution and workflow.</a:t>
            </a:r>
            <a:endParaRPr lang="en-US" sz="1600" dirty="0"/>
          </a:p>
        </p:txBody>
      </p:sp>
      <p:sp>
        <p:nvSpPr>
          <p:cNvPr id="14" name="b01-fade-harness-rows"/>
          <p:cNvSpPr/>
          <p:nvPr/>
        </p:nvSpPr>
        <p:spPr>
          <a:xfrm>
            <a:off x="4434840" y="3355848"/>
            <a:ext cx="7178040" cy="621792"/>
          </a:xfrm>
          <a:prstGeom prst="roundRect">
            <a:avLst>
              <a:gd name="adj" fmla="val 14706"/>
            </a:avLst>
          </a:prstGeom>
          <a:solidFill>
            <a:srgbClr val="0E1219"/>
          </a:solidFill>
          <a:ln w="12700">
            <a:solidFill>
              <a:srgbClr val="1A212C"/>
            </a:solidFill>
            <a:prstDash val="solid"/>
          </a:ln>
        </p:spPr>
        <p:txBody>
          <a:bodyPr/>
          <a:lstStyle/>
          <a:p>
            <a:endParaRPr lang="en-US"/>
          </a:p>
        </p:txBody>
      </p:sp>
      <p:sp>
        <p:nvSpPr>
          <p:cNvPr id="15" name="b01-fade-harness-rows"/>
          <p:cNvSpPr/>
          <p:nvPr/>
        </p:nvSpPr>
        <p:spPr>
          <a:xfrm>
            <a:off x="4663440" y="3355848"/>
            <a:ext cx="1371600" cy="621792"/>
          </a:xfrm>
          <a:prstGeom prst="rect">
            <a:avLst/>
          </a:prstGeom>
          <a:noFill/>
          <a:ln/>
        </p:spPr>
        <p:txBody>
          <a:bodyPr wrap="square" rtlCol="0" anchor="ctr"/>
          <a:lstStyle/>
          <a:p>
            <a:pPr marL="0" indent="0">
              <a:lnSpc>
                <a:spcPct val="105000"/>
              </a:lnSpc>
              <a:buNone/>
            </a:pPr>
            <a:r>
              <a:rPr lang="en-US" sz="1800" b="1" dirty="0">
                <a:solidFill>
                  <a:srgbClr val="FFCA83"/>
                </a:solidFill>
                <a:latin typeface="Helvetica Neue" pitchFamily="34" charset="0"/>
                <a:ea typeface="Helvetica Neue" pitchFamily="34" charset="-122"/>
                <a:cs typeface="Helvetica Neue" pitchFamily="34" charset="-120"/>
              </a:rPr>
              <a:t>Popular</a:t>
            </a:r>
            <a:endParaRPr lang="en-US" sz="1800" dirty="0"/>
          </a:p>
        </p:txBody>
      </p:sp>
      <p:sp>
        <p:nvSpPr>
          <p:cNvPr id="16" name="b01-fade-harness-rows"/>
          <p:cNvSpPr/>
          <p:nvPr/>
        </p:nvSpPr>
        <p:spPr>
          <a:xfrm>
            <a:off x="6035040" y="3355848"/>
            <a:ext cx="5394960" cy="621792"/>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Codex and Claude Code are popular harnesses.</a:t>
            </a:r>
            <a:endParaRPr lang="en-US" sz="1600" dirty="0"/>
          </a:p>
        </p:txBody>
      </p:sp>
      <p:sp>
        <p:nvSpPr>
          <p:cNvPr id="17" name="b01-fade-harness-rows"/>
          <p:cNvSpPr/>
          <p:nvPr/>
        </p:nvSpPr>
        <p:spPr>
          <a:xfrm>
            <a:off x="4434840" y="4096512"/>
            <a:ext cx="7178040" cy="621792"/>
          </a:xfrm>
          <a:prstGeom prst="roundRect">
            <a:avLst>
              <a:gd name="adj" fmla="val 14706"/>
            </a:avLst>
          </a:prstGeom>
          <a:solidFill>
            <a:srgbClr val="0E1219"/>
          </a:solidFill>
          <a:ln w="12700">
            <a:solidFill>
              <a:srgbClr val="1A212C"/>
            </a:solidFill>
            <a:prstDash val="solid"/>
          </a:ln>
        </p:spPr>
        <p:txBody>
          <a:bodyPr/>
          <a:lstStyle/>
          <a:p>
            <a:endParaRPr lang="en-US"/>
          </a:p>
        </p:txBody>
      </p:sp>
      <p:sp>
        <p:nvSpPr>
          <p:cNvPr id="18" name="b01-fade-harness-rows"/>
          <p:cNvSpPr/>
          <p:nvPr/>
        </p:nvSpPr>
        <p:spPr>
          <a:xfrm>
            <a:off x="4663440" y="4096512"/>
            <a:ext cx="1371600" cy="621792"/>
          </a:xfrm>
          <a:prstGeom prst="rect">
            <a:avLst/>
          </a:prstGeom>
          <a:noFill/>
          <a:ln/>
        </p:spPr>
        <p:txBody>
          <a:bodyPr wrap="square" rtlCol="0" anchor="ctr"/>
          <a:lstStyle/>
          <a:p>
            <a:pPr marL="0" indent="0">
              <a:lnSpc>
                <a:spcPct val="105000"/>
              </a:lnSpc>
              <a:buNone/>
            </a:pPr>
            <a:r>
              <a:rPr lang="en-US" sz="1800" b="1" dirty="0">
                <a:solidFill>
                  <a:srgbClr val="75EDBB"/>
                </a:solidFill>
                <a:latin typeface="Helvetica Neue" pitchFamily="34" charset="0"/>
                <a:ea typeface="Helvetica Neue" pitchFamily="34" charset="-122"/>
                <a:cs typeface="Helvetica Neue" pitchFamily="34" charset="-120"/>
              </a:rPr>
              <a:t>Copilot</a:t>
            </a:r>
            <a:endParaRPr lang="en-US" sz="1800" dirty="0"/>
          </a:p>
        </p:txBody>
      </p:sp>
      <p:sp>
        <p:nvSpPr>
          <p:cNvPr id="19" name="b01-fade-harness-rows"/>
          <p:cNvSpPr/>
          <p:nvPr/>
        </p:nvSpPr>
        <p:spPr>
          <a:xfrm>
            <a:off x="6035040" y="4096512"/>
            <a:ext cx="5394960" cy="621792"/>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Broad choice: OpenAI, Anthropic, xAI, Gemini and more.</a:t>
            </a:r>
            <a:endParaRPr lang="en-US" sz="1600" dirty="0"/>
          </a:p>
        </p:txBody>
      </p:sp>
      <p:sp>
        <p:nvSpPr>
          <p:cNvPr id="20" name="b01-fade-harness-rows"/>
          <p:cNvSpPr/>
          <p:nvPr/>
        </p:nvSpPr>
        <p:spPr>
          <a:xfrm>
            <a:off x="4434840" y="4837176"/>
            <a:ext cx="7178040" cy="621792"/>
          </a:xfrm>
          <a:prstGeom prst="roundRect">
            <a:avLst>
              <a:gd name="adj" fmla="val 14706"/>
            </a:avLst>
          </a:prstGeom>
          <a:solidFill>
            <a:srgbClr val="0E1219"/>
          </a:solidFill>
          <a:ln w="12700">
            <a:solidFill>
              <a:srgbClr val="1A212C"/>
            </a:solidFill>
            <a:prstDash val="solid"/>
          </a:ln>
        </p:spPr>
        <p:txBody>
          <a:bodyPr/>
          <a:lstStyle/>
          <a:p>
            <a:endParaRPr lang="en-US"/>
          </a:p>
        </p:txBody>
      </p:sp>
      <p:sp>
        <p:nvSpPr>
          <p:cNvPr id="21" name="b01-fade-harness-rows"/>
          <p:cNvSpPr/>
          <p:nvPr/>
        </p:nvSpPr>
        <p:spPr>
          <a:xfrm>
            <a:off x="4663440" y="4837176"/>
            <a:ext cx="1371600" cy="621792"/>
          </a:xfrm>
          <a:prstGeom prst="rect">
            <a:avLst/>
          </a:prstGeom>
          <a:noFill/>
          <a:ln/>
        </p:spPr>
        <p:txBody>
          <a:bodyPr wrap="square" rtlCol="0" anchor="ctr"/>
          <a:lstStyle/>
          <a:p>
            <a:pPr marL="0" indent="0">
              <a:lnSpc>
                <a:spcPct val="105000"/>
              </a:lnSpc>
              <a:buNone/>
            </a:pPr>
            <a:r>
              <a:rPr lang="en-US" sz="1800" b="1" dirty="0">
                <a:solidFill>
                  <a:srgbClr val="7AB8FF"/>
                </a:solidFill>
                <a:latin typeface="Helvetica Neue" pitchFamily="34" charset="0"/>
                <a:ea typeface="Helvetica Neue" pitchFamily="34" charset="-122"/>
                <a:cs typeface="Helvetica Neue" pitchFamily="34" charset="-120"/>
              </a:rPr>
              <a:t>BYOM</a:t>
            </a:r>
            <a:endParaRPr lang="en-US" sz="1800" dirty="0"/>
          </a:p>
        </p:txBody>
      </p:sp>
      <p:sp>
        <p:nvSpPr>
          <p:cNvPr id="22" name="b01-fade-harness-rows"/>
          <p:cNvSpPr/>
          <p:nvPr/>
        </p:nvSpPr>
        <p:spPr>
          <a:xfrm>
            <a:off x="6035040" y="4837176"/>
            <a:ext cx="5394960" cy="621792"/>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Use local or custom models for control, privacy or cost.</a:t>
            </a:r>
            <a:endParaRPr lang="en-US" sz="1600" dirty="0"/>
          </a:p>
        </p:txBody>
      </p:sp>
      <p:sp>
        <p:nvSpPr>
          <p:cNvPr id="25" name="Text 22"/>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Current as of September 18, 2026 · availability varies by plan and configuration</a:t>
            </a:r>
            <a:endParaRPr lang="en-US" sz="1100" dirty="0"/>
          </a:p>
        </p:txBody>
      </p:sp>
      <p:sp>
        <p:nvSpPr>
          <p:cNvPr id="26" name="Text 23"/>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05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2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2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20"/>
                                        <p:tgtEl>
                                          <p:spTgt spid="14"/>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2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2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2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20"/>
                                        <p:tgtEl>
                                          <p:spTgt spid="18"/>
                                        </p:tgtEl>
                                      </p:cBhvr>
                                    </p:animEffect>
                                  </p:childTnLst>
                                </p:cTn>
                              </p:par>
                              <p:par>
                                <p:cTn id="29" presetID="10"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2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childTnLst>
                                </p:cTn>
                              </p:par>
                              <p:par>
                                <p:cTn id="35" presetID="10"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20"/>
                                        <p:tgtEl>
                                          <p:spTgt spid="21"/>
                                        </p:tgtEl>
                                      </p:cBhvr>
                                    </p:animEffect>
                                  </p:childTnLst>
                                </p:cTn>
                              </p:par>
                              <p:par>
                                <p:cTn id="38" presetID="10" presetClass="entr" presetSubtype="0" fill="hold"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THE PART THAT STAYS YOURS</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You still define successful work</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Two sides, one outcome a test can decide.</a:t>
            </a:r>
            <a:endParaRPr lang="en-US" sz="1900" dirty="0"/>
          </a:p>
        </p:txBody>
      </p:sp>
      <p:sp>
        <p:nvSpPr>
          <p:cNvPr id="5" name="Shape 3"/>
          <p:cNvSpPr/>
          <p:nvPr/>
        </p:nvSpPr>
        <p:spPr>
          <a:xfrm>
            <a:off x="566928" y="2011680"/>
            <a:ext cx="4846320" cy="2606040"/>
          </a:xfrm>
          <a:prstGeom prst="roundRect">
            <a:avLst>
              <a:gd name="adj" fmla="val 4561"/>
            </a:avLst>
          </a:prstGeom>
          <a:solidFill>
            <a:srgbClr val="0E1219"/>
          </a:solidFill>
          <a:ln w="12700">
            <a:solidFill>
              <a:srgbClr val="232C3A"/>
            </a:solidFill>
            <a:prstDash val="solid"/>
          </a:ln>
        </p:spPr>
        <p:txBody>
          <a:bodyPr/>
          <a:lstStyle/>
          <a:p>
            <a:endParaRPr lang="en-US"/>
          </a:p>
        </p:txBody>
      </p:sp>
      <p:sp>
        <p:nvSpPr>
          <p:cNvPr id="6" name="Text 4"/>
          <p:cNvSpPr/>
          <p:nvPr/>
        </p:nvSpPr>
        <p:spPr>
          <a:xfrm>
            <a:off x="877824" y="2240280"/>
            <a:ext cx="4206240" cy="274320"/>
          </a:xfrm>
          <a:prstGeom prst="rect">
            <a:avLst/>
          </a:prstGeom>
          <a:noFill/>
          <a:ln/>
        </p:spPr>
        <p:txBody>
          <a:bodyPr wrap="square" rtlCol="0" anchor="t"/>
          <a:lstStyle/>
          <a:p>
            <a:pPr marL="0" indent="0">
              <a:lnSpc>
                <a:spcPct val="105000"/>
              </a:lnSpc>
              <a:buNone/>
            </a:pPr>
            <a:r>
              <a:rPr lang="en-US" sz="1200" b="1" kern="0" spc="200" dirty="0">
                <a:solidFill>
                  <a:srgbClr val="A99AFF"/>
                </a:solidFill>
                <a:latin typeface="Helvetica Neue" pitchFamily="34" charset="0"/>
                <a:ea typeface="Helvetica Neue" pitchFamily="34" charset="-122"/>
                <a:cs typeface="Helvetica Neue" pitchFamily="34" charset="-120"/>
              </a:rPr>
              <a:t>HARNESS SUPPLIES</a:t>
            </a:r>
            <a:endParaRPr lang="en-US" sz="1200" dirty="0"/>
          </a:p>
        </p:txBody>
      </p:sp>
      <p:sp>
        <p:nvSpPr>
          <p:cNvPr id="7" name="Shape 5"/>
          <p:cNvSpPr/>
          <p:nvPr/>
        </p:nvSpPr>
        <p:spPr>
          <a:xfrm>
            <a:off x="877824" y="2880360"/>
            <a:ext cx="128016" cy="128016"/>
          </a:xfrm>
          <a:prstGeom prst="rect">
            <a:avLst/>
          </a:prstGeom>
          <a:solidFill>
            <a:srgbClr val="A99AFF"/>
          </a:solidFill>
          <a:ln w="6350">
            <a:solidFill>
              <a:srgbClr val="A99AFF"/>
            </a:solidFill>
            <a:prstDash val="solid"/>
          </a:ln>
        </p:spPr>
        <p:txBody>
          <a:bodyPr/>
          <a:lstStyle/>
          <a:p>
            <a:endParaRPr lang="en-US"/>
          </a:p>
        </p:txBody>
      </p:sp>
      <p:sp>
        <p:nvSpPr>
          <p:cNvPr id="8" name="Text 6"/>
          <p:cNvSpPr/>
          <p:nvPr/>
        </p:nvSpPr>
        <p:spPr>
          <a:xfrm>
            <a:off x="1170432" y="2724912"/>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the runtime and the loop</a:t>
            </a:r>
            <a:endParaRPr lang="en-US" sz="1900" dirty="0"/>
          </a:p>
        </p:txBody>
      </p:sp>
      <p:sp>
        <p:nvSpPr>
          <p:cNvPr id="9" name="Shape 7"/>
          <p:cNvSpPr/>
          <p:nvPr/>
        </p:nvSpPr>
        <p:spPr>
          <a:xfrm>
            <a:off x="877824" y="3447288"/>
            <a:ext cx="128016" cy="128016"/>
          </a:xfrm>
          <a:prstGeom prst="rect">
            <a:avLst/>
          </a:prstGeom>
          <a:solidFill>
            <a:srgbClr val="A99AFF"/>
          </a:solidFill>
          <a:ln w="6350">
            <a:solidFill>
              <a:srgbClr val="A99AFF"/>
            </a:solidFill>
            <a:prstDash val="solid"/>
          </a:ln>
        </p:spPr>
        <p:txBody>
          <a:bodyPr/>
          <a:lstStyle/>
          <a:p>
            <a:endParaRPr lang="en-US"/>
          </a:p>
        </p:txBody>
      </p:sp>
      <p:sp>
        <p:nvSpPr>
          <p:cNvPr id="10" name="Text 8"/>
          <p:cNvSpPr/>
          <p:nvPr/>
        </p:nvSpPr>
        <p:spPr>
          <a:xfrm>
            <a:off x="1170432" y="3291840"/>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tool execution</a:t>
            </a:r>
            <a:endParaRPr lang="en-US" sz="1900" dirty="0"/>
          </a:p>
        </p:txBody>
      </p:sp>
      <p:sp>
        <p:nvSpPr>
          <p:cNvPr id="11" name="Shape 9"/>
          <p:cNvSpPr/>
          <p:nvPr/>
        </p:nvSpPr>
        <p:spPr>
          <a:xfrm>
            <a:off x="877824" y="4014216"/>
            <a:ext cx="128016" cy="128016"/>
          </a:xfrm>
          <a:prstGeom prst="rect">
            <a:avLst/>
          </a:prstGeom>
          <a:solidFill>
            <a:srgbClr val="A99AFF"/>
          </a:solidFill>
          <a:ln w="6350">
            <a:solidFill>
              <a:srgbClr val="A99AFF"/>
            </a:solidFill>
            <a:prstDash val="solid"/>
          </a:ln>
        </p:spPr>
        <p:txBody>
          <a:bodyPr/>
          <a:lstStyle/>
          <a:p>
            <a:endParaRPr lang="en-US"/>
          </a:p>
        </p:txBody>
      </p:sp>
      <p:sp>
        <p:nvSpPr>
          <p:cNvPr id="12" name="Text 10"/>
          <p:cNvSpPr/>
          <p:nvPr/>
        </p:nvSpPr>
        <p:spPr>
          <a:xfrm>
            <a:off x="1170432" y="3858768"/>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state and permissions</a:t>
            </a:r>
            <a:endParaRPr lang="en-US" sz="1900" dirty="0"/>
          </a:p>
        </p:txBody>
      </p:sp>
      <p:sp>
        <p:nvSpPr>
          <p:cNvPr id="13" name="Shape 11"/>
          <p:cNvSpPr/>
          <p:nvPr/>
        </p:nvSpPr>
        <p:spPr>
          <a:xfrm>
            <a:off x="6766560" y="2011680"/>
            <a:ext cx="4846320" cy="2606040"/>
          </a:xfrm>
          <a:prstGeom prst="roundRect">
            <a:avLst>
              <a:gd name="adj" fmla="val 4561"/>
            </a:avLst>
          </a:prstGeom>
          <a:solidFill>
            <a:srgbClr val="0E1219"/>
          </a:solidFill>
          <a:ln w="12700">
            <a:solidFill>
              <a:srgbClr val="232C3A"/>
            </a:solidFill>
            <a:prstDash val="solid"/>
          </a:ln>
        </p:spPr>
        <p:txBody>
          <a:bodyPr/>
          <a:lstStyle/>
          <a:p>
            <a:endParaRPr lang="en-US"/>
          </a:p>
        </p:txBody>
      </p:sp>
      <p:sp>
        <p:nvSpPr>
          <p:cNvPr id="14" name="Text 12"/>
          <p:cNvSpPr/>
          <p:nvPr/>
        </p:nvSpPr>
        <p:spPr>
          <a:xfrm>
            <a:off x="7077456" y="2240280"/>
            <a:ext cx="4206240" cy="274320"/>
          </a:xfrm>
          <a:prstGeom prst="rect">
            <a:avLst/>
          </a:prstGeom>
          <a:noFill/>
          <a:ln/>
        </p:spPr>
        <p:txBody>
          <a:bodyPr wrap="square" rtlCol="0" anchor="t"/>
          <a:lstStyle/>
          <a:p>
            <a:pPr marL="0" indent="0">
              <a:lnSpc>
                <a:spcPct val="105000"/>
              </a:lnSpc>
              <a:buNone/>
            </a:pPr>
            <a:r>
              <a:rPr lang="en-US" sz="1200" b="1" kern="0" spc="200" dirty="0">
                <a:solidFill>
                  <a:srgbClr val="75EDBB"/>
                </a:solidFill>
                <a:latin typeface="Helvetica Neue" pitchFamily="34" charset="0"/>
                <a:ea typeface="Helvetica Neue" pitchFamily="34" charset="-122"/>
                <a:cs typeface="Helvetica Neue" pitchFamily="34" charset="-120"/>
              </a:rPr>
              <a:t>YOU SUPPLY</a:t>
            </a:r>
            <a:endParaRPr lang="en-US" sz="1200" dirty="0"/>
          </a:p>
        </p:txBody>
      </p:sp>
      <p:sp>
        <p:nvSpPr>
          <p:cNvPr id="15" name="Shape 13"/>
          <p:cNvSpPr/>
          <p:nvPr/>
        </p:nvSpPr>
        <p:spPr>
          <a:xfrm>
            <a:off x="7077456" y="2880360"/>
            <a:ext cx="128016" cy="128016"/>
          </a:xfrm>
          <a:prstGeom prst="rect">
            <a:avLst/>
          </a:prstGeom>
          <a:solidFill>
            <a:srgbClr val="75EDBB"/>
          </a:solidFill>
          <a:ln w="6350">
            <a:solidFill>
              <a:srgbClr val="75EDBB"/>
            </a:solidFill>
            <a:prstDash val="solid"/>
          </a:ln>
        </p:spPr>
        <p:txBody>
          <a:bodyPr/>
          <a:lstStyle/>
          <a:p>
            <a:endParaRPr lang="en-US"/>
          </a:p>
        </p:txBody>
      </p:sp>
      <p:sp>
        <p:nvSpPr>
          <p:cNvPr id="16" name="Text 14"/>
          <p:cNvSpPr/>
          <p:nvPr/>
        </p:nvSpPr>
        <p:spPr>
          <a:xfrm>
            <a:off x="7370064" y="2724912"/>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the goal</a:t>
            </a:r>
            <a:endParaRPr lang="en-US" sz="1900" dirty="0"/>
          </a:p>
        </p:txBody>
      </p:sp>
      <p:sp>
        <p:nvSpPr>
          <p:cNvPr id="17" name="Shape 15"/>
          <p:cNvSpPr/>
          <p:nvPr/>
        </p:nvSpPr>
        <p:spPr>
          <a:xfrm>
            <a:off x="7077456" y="3447288"/>
            <a:ext cx="128016" cy="128016"/>
          </a:xfrm>
          <a:prstGeom prst="rect">
            <a:avLst/>
          </a:prstGeom>
          <a:solidFill>
            <a:srgbClr val="75EDBB"/>
          </a:solidFill>
          <a:ln w="6350">
            <a:solidFill>
              <a:srgbClr val="75EDBB"/>
            </a:solidFill>
            <a:prstDash val="solid"/>
          </a:ln>
        </p:spPr>
        <p:txBody>
          <a:bodyPr/>
          <a:lstStyle/>
          <a:p>
            <a:endParaRPr lang="en-US"/>
          </a:p>
        </p:txBody>
      </p:sp>
      <p:sp>
        <p:nvSpPr>
          <p:cNvPr id="18" name="Text 16"/>
          <p:cNvSpPr/>
          <p:nvPr/>
        </p:nvSpPr>
        <p:spPr>
          <a:xfrm>
            <a:off x="7370064" y="3291840"/>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acceptance criteria</a:t>
            </a:r>
            <a:endParaRPr lang="en-US" sz="1900" dirty="0"/>
          </a:p>
        </p:txBody>
      </p:sp>
      <p:sp>
        <p:nvSpPr>
          <p:cNvPr id="19" name="Shape 17"/>
          <p:cNvSpPr/>
          <p:nvPr/>
        </p:nvSpPr>
        <p:spPr>
          <a:xfrm>
            <a:off x="7077456" y="4014216"/>
            <a:ext cx="128016" cy="128016"/>
          </a:xfrm>
          <a:prstGeom prst="rect">
            <a:avLst/>
          </a:prstGeom>
          <a:solidFill>
            <a:srgbClr val="75EDBB"/>
          </a:solidFill>
          <a:ln w="6350">
            <a:solidFill>
              <a:srgbClr val="75EDBB"/>
            </a:solidFill>
            <a:prstDash val="solid"/>
          </a:ln>
        </p:spPr>
        <p:txBody>
          <a:bodyPr/>
          <a:lstStyle/>
          <a:p>
            <a:endParaRPr lang="en-US"/>
          </a:p>
        </p:txBody>
      </p:sp>
      <p:sp>
        <p:nvSpPr>
          <p:cNvPr id="20" name="Text 18"/>
          <p:cNvSpPr/>
          <p:nvPr/>
        </p:nvSpPr>
        <p:spPr>
          <a:xfrm>
            <a:off x="7370064" y="3858768"/>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scope and environment</a:t>
            </a:r>
            <a:endParaRPr lang="en-US" sz="1900" dirty="0"/>
          </a:p>
        </p:txBody>
      </p:sp>
      <p:sp>
        <p:nvSpPr>
          <p:cNvPr id="21" name="b01-wipe-both-sides-converge"/>
          <p:cNvSpPr/>
          <p:nvPr/>
        </p:nvSpPr>
        <p:spPr>
          <a:xfrm>
            <a:off x="2990088" y="4663440"/>
            <a:ext cx="1554480" cy="530352"/>
          </a:xfrm>
          <a:prstGeom prst="line">
            <a:avLst/>
          </a:prstGeom>
          <a:noFill/>
          <a:ln w="19050">
            <a:solidFill>
              <a:srgbClr val="A99AFF"/>
            </a:solidFill>
            <a:prstDash val="solid"/>
            <a:tailEnd type="triangle"/>
          </a:ln>
        </p:spPr>
        <p:txBody>
          <a:bodyPr/>
          <a:lstStyle/>
          <a:p>
            <a:endParaRPr lang="en-US"/>
          </a:p>
        </p:txBody>
      </p:sp>
      <p:sp>
        <p:nvSpPr>
          <p:cNvPr id="22" name="b01-wipe-both-sides-converge"/>
          <p:cNvSpPr/>
          <p:nvPr/>
        </p:nvSpPr>
        <p:spPr>
          <a:xfrm flipH="1">
            <a:off x="7644384" y="4663440"/>
            <a:ext cx="1554480" cy="530352"/>
          </a:xfrm>
          <a:prstGeom prst="line">
            <a:avLst/>
          </a:prstGeom>
          <a:noFill/>
          <a:ln w="19050">
            <a:solidFill>
              <a:srgbClr val="75EDBB"/>
            </a:solidFill>
            <a:prstDash val="solid"/>
            <a:tailEnd type="triangle"/>
          </a:ln>
        </p:spPr>
        <p:txBody>
          <a:bodyPr/>
          <a:lstStyle/>
          <a:p>
            <a:endParaRPr lang="en-US"/>
          </a:p>
        </p:txBody>
      </p:sp>
      <p:sp>
        <p:nvSpPr>
          <p:cNvPr id="23" name="b02-rise-testable-outcome"/>
          <p:cNvSpPr/>
          <p:nvPr/>
        </p:nvSpPr>
        <p:spPr>
          <a:xfrm>
            <a:off x="3675888" y="5212080"/>
            <a:ext cx="4846320" cy="822960"/>
          </a:xfrm>
          <a:prstGeom prst="roundRect">
            <a:avLst>
              <a:gd name="adj" fmla="val 50000"/>
            </a:avLst>
          </a:prstGeom>
          <a:solidFill>
            <a:srgbClr val="1E3A33"/>
          </a:solidFill>
          <a:ln w="19050">
            <a:solidFill>
              <a:srgbClr val="75EDBB"/>
            </a:solidFill>
            <a:prstDash val="solid"/>
          </a:ln>
        </p:spPr>
        <p:txBody>
          <a:bodyPr/>
          <a:lstStyle/>
          <a:p>
            <a:endParaRPr lang="en-US"/>
          </a:p>
        </p:txBody>
      </p:sp>
      <p:sp>
        <p:nvSpPr>
          <p:cNvPr id="24" name="b02-rise-testable-outcome"/>
          <p:cNvSpPr/>
          <p:nvPr/>
        </p:nvSpPr>
        <p:spPr>
          <a:xfrm>
            <a:off x="3858768" y="5212080"/>
            <a:ext cx="4480560" cy="822960"/>
          </a:xfrm>
          <a:prstGeom prst="rect">
            <a:avLst/>
          </a:prstGeom>
          <a:noFill/>
          <a:ln/>
        </p:spPr>
        <p:txBody>
          <a:bodyPr wrap="square" rtlCol="0" anchor="ctr"/>
          <a:lstStyle/>
          <a:p>
            <a:pPr marL="0" indent="0" algn="ctr">
              <a:lnSpc>
                <a:spcPct val="105000"/>
              </a:lnSpc>
              <a:buNone/>
            </a:pPr>
            <a:r>
              <a:rPr lang="en-US" sz="1900" b="1" dirty="0">
                <a:solidFill>
                  <a:srgbClr val="75EDBB"/>
                </a:solidFill>
                <a:latin typeface="Helvetica Neue" pitchFamily="34" charset="0"/>
                <a:ea typeface="Helvetica Neue" pitchFamily="34" charset="-122"/>
                <a:cs typeface="Helvetica Neue" pitchFamily="34" charset="-120"/>
              </a:rPr>
              <a:t>One testable outcome both sides agree on</a:t>
            </a:r>
            <a:endParaRPr lang="en-US" sz="1900" dirty="0"/>
          </a:p>
        </p:txBody>
      </p:sp>
      <p:sp>
        <p:nvSpPr>
          <p:cNvPr id="25" name="Text 23"/>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If nobody can write the check, the task is not defined yet.</a:t>
            </a:r>
            <a:endParaRPr lang="en-US" sz="1100" dirty="0"/>
          </a:p>
        </p:txBody>
      </p:sp>
      <p:sp>
        <p:nvSpPr>
          <p:cNvPr id="26" name="Text 24"/>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06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right)">
                                      <p:cBhvr>
                                        <p:cTn id="7" dur="420"/>
                                        <p:tgtEl>
                                          <p:spTgt spid="21"/>
                                        </p:tgtEl>
                                      </p:cBhvr>
                                    </p:animEffect>
                                  </p:childTnLst>
                                </p:cTn>
                              </p:par>
                              <p:par>
                                <p:cTn id="8" presetID="22" presetClass="entr" presetSubtype="1"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right)">
                                      <p:cBhvr>
                                        <p:cTn id="10" dur="420"/>
                                        <p:tgtEl>
                                          <p:spTgt spid="22"/>
                                        </p:tgtEl>
                                      </p:cBhvr>
                                    </p:animEffect>
                                  </p:childTnLst>
                                </p:cTn>
                              </p:par>
                              <p:par>
                                <p:cTn id="11" presetID="42"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420" decel="60000" fill="hold"/>
                                        <p:tgtEl>
                                          <p:spTgt spid="23"/>
                                        </p:tgtEl>
                                        <p:attrNameLst>
                                          <p:attrName>ppt_y</p:attrName>
                                        </p:attrNameLst>
                                      </p:cBhvr>
                                      <p:tavLst>
                                        <p:tav tm="0">
                                          <p:val>
                                            <p:strVal val="#ppt_y+.014"/>
                                          </p:val>
                                        </p:tav>
                                        <p:tav tm="100000">
                                          <p:val>
                                            <p:strVal val="#ppt_y"/>
                                          </p:val>
                                        </p:tav>
                                      </p:tavLst>
                                    </p:anim>
                                    <p:animEffect transition="in" filter="fade">
                                      <p:cBhvr>
                                        <p:cTn id="14" dur="420"/>
                                        <p:tgtEl>
                                          <p:spTgt spid="23"/>
                                        </p:tgtEl>
                                      </p:cBhvr>
                                    </p:animEffect>
                                  </p:childTnLst>
                                </p:cTn>
                              </p:par>
                              <p:par>
                                <p:cTn id="15" presetID="42"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420" decel="60000" fill="hold"/>
                                        <p:tgtEl>
                                          <p:spTgt spid="24"/>
                                        </p:tgtEl>
                                        <p:attrNameLst>
                                          <p:attrName>ppt_y</p:attrName>
                                        </p:attrNameLst>
                                      </p:cBhvr>
                                      <p:tavLst>
                                        <p:tav tm="0">
                                          <p:val>
                                            <p:strVal val="#ppt_y+.014"/>
                                          </p:val>
                                        </p:tav>
                                        <p:tav tm="100000">
                                          <p:val>
                                            <p:strVal val="#ppt_y"/>
                                          </p:val>
                                        </p:tav>
                                      </p:tavLst>
                                    </p:anim>
                                    <p:animEffect transition="in" filter="fade">
                                      <p:cBhvr>
                                        <p:cTn id="18" dur="42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CONTEXT ECONOMY</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Discover broadly. Execute with focus.</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Look widely. Hand over what the task needs.</a:t>
            </a:r>
            <a:endParaRPr lang="en-US" sz="1900" dirty="0"/>
          </a:p>
        </p:txBody>
      </p:sp>
      <p:sp>
        <p:nvSpPr>
          <p:cNvPr id="5" name="Shape 3"/>
          <p:cNvSpPr/>
          <p:nvPr/>
        </p:nvSpPr>
        <p:spPr>
          <a:xfrm>
            <a:off x="566928" y="1965960"/>
            <a:ext cx="2834640" cy="603504"/>
          </a:xfrm>
          <a:prstGeom prst="roundRect">
            <a:avLst>
              <a:gd name="adj" fmla="val 15152"/>
            </a:avLst>
          </a:prstGeom>
          <a:solidFill>
            <a:srgbClr val="0E1219"/>
          </a:solidFill>
          <a:ln w="12700">
            <a:solidFill>
              <a:srgbClr val="1A212C"/>
            </a:solidFill>
            <a:prstDash val="solid"/>
          </a:ln>
        </p:spPr>
        <p:txBody>
          <a:bodyPr/>
          <a:lstStyle/>
          <a:p>
            <a:endParaRPr lang="en-US"/>
          </a:p>
        </p:txBody>
      </p:sp>
      <p:sp>
        <p:nvSpPr>
          <p:cNvPr id="6" name="Text 4"/>
          <p:cNvSpPr/>
          <p:nvPr/>
        </p:nvSpPr>
        <p:spPr>
          <a:xfrm>
            <a:off x="713232" y="1965960"/>
            <a:ext cx="2542032" cy="60350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The spec or request</a:t>
            </a:r>
            <a:endParaRPr lang="en-US" sz="1500" dirty="0"/>
          </a:p>
        </p:txBody>
      </p:sp>
      <p:sp>
        <p:nvSpPr>
          <p:cNvPr id="7" name="b01-wipe-discovery-converge"/>
          <p:cNvSpPr/>
          <p:nvPr/>
        </p:nvSpPr>
        <p:spPr>
          <a:xfrm>
            <a:off x="3456432" y="2267712"/>
            <a:ext cx="1060704" cy="0"/>
          </a:xfrm>
          <a:prstGeom prst="line">
            <a:avLst/>
          </a:prstGeom>
          <a:noFill/>
          <a:ln w="19050">
            <a:solidFill>
              <a:srgbClr val="232C3A"/>
            </a:solidFill>
            <a:prstDash val="solid"/>
            <a:tailEnd type="triangle"/>
          </a:ln>
        </p:spPr>
        <p:txBody>
          <a:bodyPr/>
          <a:lstStyle/>
          <a:p>
            <a:endParaRPr lang="en-US"/>
          </a:p>
        </p:txBody>
      </p:sp>
      <p:sp>
        <p:nvSpPr>
          <p:cNvPr id="8" name="Shape 6"/>
          <p:cNvSpPr/>
          <p:nvPr/>
        </p:nvSpPr>
        <p:spPr>
          <a:xfrm>
            <a:off x="566928" y="2697480"/>
            <a:ext cx="2834640" cy="603504"/>
          </a:xfrm>
          <a:prstGeom prst="roundRect">
            <a:avLst>
              <a:gd name="adj" fmla="val 15152"/>
            </a:avLst>
          </a:prstGeom>
          <a:solidFill>
            <a:srgbClr val="0E1219"/>
          </a:solidFill>
          <a:ln w="12700">
            <a:solidFill>
              <a:srgbClr val="1A212C"/>
            </a:solidFill>
            <a:prstDash val="solid"/>
          </a:ln>
        </p:spPr>
        <p:txBody>
          <a:bodyPr/>
          <a:lstStyle/>
          <a:p>
            <a:endParaRPr lang="en-US"/>
          </a:p>
        </p:txBody>
      </p:sp>
      <p:sp>
        <p:nvSpPr>
          <p:cNvPr id="9" name="Text 7"/>
          <p:cNvSpPr/>
          <p:nvPr/>
        </p:nvSpPr>
        <p:spPr>
          <a:xfrm>
            <a:off x="713232" y="2697480"/>
            <a:ext cx="2542032" cy="60350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How it behaves today</a:t>
            </a:r>
            <a:endParaRPr lang="en-US" sz="1500" dirty="0"/>
          </a:p>
        </p:txBody>
      </p:sp>
      <p:sp>
        <p:nvSpPr>
          <p:cNvPr id="10" name="b01-wipe-discovery-converge"/>
          <p:cNvSpPr/>
          <p:nvPr/>
        </p:nvSpPr>
        <p:spPr>
          <a:xfrm>
            <a:off x="3456432" y="2999232"/>
            <a:ext cx="1060704" cy="0"/>
          </a:xfrm>
          <a:prstGeom prst="line">
            <a:avLst/>
          </a:prstGeom>
          <a:noFill/>
          <a:ln w="19050">
            <a:solidFill>
              <a:srgbClr val="232C3A"/>
            </a:solidFill>
            <a:prstDash val="solid"/>
            <a:tailEnd type="triangle"/>
          </a:ln>
        </p:spPr>
        <p:txBody>
          <a:bodyPr/>
          <a:lstStyle/>
          <a:p>
            <a:endParaRPr lang="en-US"/>
          </a:p>
        </p:txBody>
      </p:sp>
      <p:sp>
        <p:nvSpPr>
          <p:cNvPr id="11" name="Shape 9"/>
          <p:cNvSpPr/>
          <p:nvPr/>
        </p:nvSpPr>
        <p:spPr>
          <a:xfrm>
            <a:off x="566928" y="3429000"/>
            <a:ext cx="2834640" cy="603504"/>
          </a:xfrm>
          <a:prstGeom prst="roundRect">
            <a:avLst>
              <a:gd name="adj" fmla="val 15152"/>
            </a:avLst>
          </a:prstGeom>
          <a:solidFill>
            <a:srgbClr val="0E1219"/>
          </a:solidFill>
          <a:ln w="12700">
            <a:solidFill>
              <a:srgbClr val="1A212C"/>
            </a:solidFill>
            <a:prstDash val="solid"/>
          </a:ln>
        </p:spPr>
        <p:txBody>
          <a:bodyPr/>
          <a:lstStyle/>
          <a:p>
            <a:endParaRPr lang="en-US"/>
          </a:p>
        </p:txBody>
      </p:sp>
      <p:sp>
        <p:nvSpPr>
          <p:cNvPr id="12" name="Text 10"/>
          <p:cNvSpPr/>
          <p:nvPr/>
        </p:nvSpPr>
        <p:spPr>
          <a:xfrm>
            <a:off x="713232" y="3429000"/>
            <a:ext cx="2542032" cy="60350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Prior research and issues</a:t>
            </a:r>
            <a:endParaRPr lang="en-US" sz="1500" dirty="0"/>
          </a:p>
        </p:txBody>
      </p:sp>
      <p:sp>
        <p:nvSpPr>
          <p:cNvPr id="13" name="b01-wipe-discovery-converge"/>
          <p:cNvSpPr/>
          <p:nvPr/>
        </p:nvSpPr>
        <p:spPr>
          <a:xfrm>
            <a:off x="3456432" y="3730752"/>
            <a:ext cx="1060704" cy="0"/>
          </a:xfrm>
          <a:prstGeom prst="line">
            <a:avLst/>
          </a:prstGeom>
          <a:noFill/>
          <a:ln w="19050">
            <a:solidFill>
              <a:srgbClr val="232C3A"/>
            </a:solidFill>
            <a:prstDash val="solid"/>
            <a:tailEnd type="triangle"/>
          </a:ln>
        </p:spPr>
        <p:txBody>
          <a:bodyPr/>
          <a:lstStyle/>
          <a:p>
            <a:endParaRPr lang="en-US"/>
          </a:p>
        </p:txBody>
      </p:sp>
      <p:sp>
        <p:nvSpPr>
          <p:cNvPr id="14" name="Shape 12"/>
          <p:cNvSpPr/>
          <p:nvPr/>
        </p:nvSpPr>
        <p:spPr>
          <a:xfrm>
            <a:off x="566928" y="4160520"/>
            <a:ext cx="2834640" cy="603504"/>
          </a:xfrm>
          <a:prstGeom prst="roundRect">
            <a:avLst>
              <a:gd name="adj" fmla="val 15152"/>
            </a:avLst>
          </a:prstGeom>
          <a:solidFill>
            <a:srgbClr val="0E1219"/>
          </a:solidFill>
          <a:ln w="12700">
            <a:solidFill>
              <a:srgbClr val="1A212C"/>
            </a:solidFill>
            <a:prstDash val="solid"/>
          </a:ln>
        </p:spPr>
        <p:txBody>
          <a:bodyPr/>
          <a:lstStyle/>
          <a:p>
            <a:endParaRPr lang="en-US"/>
          </a:p>
        </p:txBody>
      </p:sp>
      <p:sp>
        <p:nvSpPr>
          <p:cNvPr id="15" name="Text 13"/>
          <p:cNvSpPr/>
          <p:nvPr/>
        </p:nvSpPr>
        <p:spPr>
          <a:xfrm>
            <a:off x="713232" y="4160520"/>
            <a:ext cx="2542032" cy="60350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Constraints that apply</a:t>
            </a:r>
            <a:endParaRPr lang="en-US" sz="1500" dirty="0"/>
          </a:p>
        </p:txBody>
      </p:sp>
      <p:sp>
        <p:nvSpPr>
          <p:cNvPr id="16" name="b01-wipe-discovery-converge"/>
          <p:cNvSpPr/>
          <p:nvPr/>
        </p:nvSpPr>
        <p:spPr>
          <a:xfrm>
            <a:off x="3456432" y="4462272"/>
            <a:ext cx="1060704" cy="0"/>
          </a:xfrm>
          <a:prstGeom prst="line">
            <a:avLst/>
          </a:prstGeom>
          <a:noFill/>
          <a:ln w="19050">
            <a:solidFill>
              <a:srgbClr val="232C3A"/>
            </a:solidFill>
            <a:prstDash val="solid"/>
            <a:tailEnd type="triangle"/>
          </a:ln>
        </p:spPr>
        <p:txBody>
          <a:bodyPr/>
          <a:lstStyle/>
          <a:p>
            <a:endParaRPr lang="en-US"/>
          </a:p>
        </p:txBody>
      </p:sp>
      <p:sp>
        <p:nvSpPr>
          <p:cNvPr id="17" name="b01-fade-task-brief"/>
          <p:cNvSpPr/>
          <p:nvPr/>
        </p:nvSpPr>
        <p:spPr>
          <a:xfrm>
            <a:off x="4572000" y="2139696"/>
            <a:ext cx="3291840" cy="2340864"/>
          </a:xfrm>
          <a:prstGeom prst="roundRect">
            <a:avLst>
              <a:gd name="adj" fmla="val 5652"/>
            </a:avLst>
          </a:prstGeom>
          <a:solidFill>
            <a:srgbClr val="0E1219"/>
          </a:solidFill>
          <a:ln w="12700">
            <a:solidFill>
              <a:srgbClr val="75EDBB"/>
            </a:solidFill>
            <a:prstDash val="solid"/>
          </a:ln>
        </p:spPr>
        <p:txBody>
          <a:bodyPr/>
          <a:lstStyle/>
          <a:p>
            <a:endParaRPr lang="en-US"/>
          </a:p>
        </p:txBody>
      </p:sp>
      <p:sp>
        <p:nvSpPr>
          <p:cNvPr id="18" name="b01-fade-task-brief"/>
          <p:cNvSpPr/>
          <p:nvPr/>
        </p:nvSpPr>
        <p:spPr>
          <a:xfrm>
            <a:off x="4828032" y="2578608"/>
            <a:ext cx="2779776" cy="237744"/>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TASK BRIEF</a:t>
            </a:r>
            <a:endParaRPr lang="en-US" sz="1100" dirty="0"/>
          </a:p>
        </p:txBody>
      </p:sp>
      <p:sp>
        <p:nvSpPr>
          <p:cNvPr id="19" name="b01-fade-task-brief"/>
          <p:cNvSpPr/>
          <p:nvPr/>
        </p:nvSpPr>
        <p:spPr>
          <a:xfrm>
            <a:off x="4828032" y="2889504"/>
            <a:ext cx="2779776" cy="658368"/>
          </a:xfrm>
          <a:prstGeom prst="rect">
            <a:avLst/>
          </a:prstGeom>
          <a:noFill/>
          <a:ln/>
        </p:spPr>
        <p:txBody>
          <a:bodyPr wrap="square" rtlCol="0" anchor="t"/>
          <a:lstStyle/>
          <a:p>
            <a:pPr marL="0" indent="0">
              <a:lnSpc>
                <a:spcPct val="105000"/>
              </a:lnSpc>
              <a:buNone/>
            </a:pPr>
            <a:r>
              <a:rPr lang="en-US" sz="1900" b="1" dirty="0">
                <a:solidFill>
                  <a:srgbClr val="F3F6FA"/>
                </a:solidFill>
                <a:latin typeface="Helvetica Neue" pitchFamily="34" charset="0"/>
                <a:ea typeface="Helvetica Neue" pitchFamily="34" charset="-122"/>
                <a:cs typeface="Helvetica Neue" pitchFamily="34" charset="-120"/>
              </a:rPr>
              <a:t>Goal and acceptance criteria</a:t>
            </a:r>
            <a:endParaRPr lang="en-US" sz="1900" dirty="0"/>
          </a:p>
        </p:txBody>
      </p:sp>
      <p:sp>
        <p:nvSpPr>
          <p:cNvPr id="20" name="b01-fade-task-brief"/>
          <p:cNvSpPr/>
          <p:nvPr/>
        </p:nvSpPr>
        <p:spPr>
          <a:xfrm>
            <a:off x="4828032" y="3602736"/>
            <a:ext cx="2779776" cy="731520"/>
          </a:xfrm>
          <a:prstGeom prst="rect">
            <a:avLst/>
          </a:prstGeom>
          <a:noFill/>
          <a:ln/>
        </p:spPr>
        <p:txBody>
          <a:bodyPr wrap="square" rtlCol="0" anchor="t"/>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The files that matter, the constraints that apply.</a:t>
            </a:r>
            <a:endParaRPr lang="en-US" sz="1600" dirty="0"/>
          </a:p>
        </p:txBody>
      </p:sp>
      <p:sp>
        <p:nvSpPr>
          <p:cNvPr id="21" name="b02-wipe-brief-to-context"/>
          <p:cNvSpPr/>
          <p:nvPr/>
        </p:nvSpPr>
        <p:spPr>
          <a:xfrm>
            <a:off x="7973568" y="3429000"/>
            <a:ext cx="640080" cy="0"/>
          </a:xfrm>
          <a:prstGeom prst="line">
            <a:avLst/>
          </a:prstGeom>
          <a:noFill/>
          <a:ln w="19050">
            <a:solidFill>
              <a:srgbClr val="75EDBB"/>
            </a:solidFill>
            <a:prstDash val="solid"/>
            <a:tailEnd type="triangle"/>
          </a:ln>
        </p:spPr>
        <p:txBody>
          <a:bodyPr/>
          <a:lstStyle/>
          <a:p>
            <a:endParaRPr lang="en-US"/>
          </a:p>
        </p:txBody>
      </p:sp>
      <p:sp>
        <p:nvSpPr>
          <p:cNvPr id="22" name="b02-rise-agent-context"/>
          <p:cNvSpPr/>
          <p:nvPr/>
        </p:nvSpPr>
        <p:spPr>
          <a:xfrm>
            <a:off x="8686800" y="2788920"/>
            <a:ext cx="2926080" cy="1371600"/>
          </a:xfrm>
          <a:prstGeom prst="roundRect">
            <a:avLst>
              <a:gd name="adj" fmla="val 8667"/>
            </a:avLst>
          </a:prstGeom>
          <a:solidFill>
            <a:srgbClr val="0A0D13"/>
          </a:solidFill>
          <a:ln w="12700">
            <a:solidFill>
              <a:srgbClr val="232C3A"/>
            </a:solidFill>
            <a:prstDash val="solid"/>
          </a:ln>
        </p:spPr>
        <p:txBody>
          <a:bodyPr/>
          <a:lstStyle/>
          <a:p>
            <a:endParaRPr lang="en-US"/>
          </a:p>
        </p:txBody>
      </p:sp>
      <p:sp>
        <p:nvSpPr>
          <p:cNvPr id="23" name="b02-rise-agent-context"/>
          <p:cNvSpPr/>
          <p:nvPr/>
        </p:nvSpPr>
        <p:spPr>
          <a:xfrm>
            <a:off x="8942832" y="2990088"/>
            <a:ext cx="2414016" cy="237744"/>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AGENT CONTEXT</a:t>
            </a:r>
            <a:endParaRPr lang="en-US" sz="1100" dirty="0"/>
          </a:p>
        </p:txBody>
      </p:sp>
      <p:sp>
        <p:nvSpPr>
          <p:cNvPr id="24" name="b02-rise-agent-context"/>
          <p:cNvSpPr/>
          <p:nvPr/>
        </p:nvSpPr>
        <p:spPr>
          <a:xfrm>
            <a:off x="8942832" y="3300984"/>
            <a:ext cx="2414016" cy="384048"/>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What the agent sees</a:t>
            </a:r>
            <a:endParaRPr lang="en-US" sz="1800" dirty="0"/>
          </a:p>
        </p:txBody>
      </p:sp>
      <p:sp>
        <p:nvSpPr>
          <p:cNvPr id="25" name="b02-rise-agent-context"/>
          <p:cNvSpPr/>
          <p:nvPr/>
        </p:nvSpPr>
        <p:spPr>
          <a:xfrm>
            <a:off x="8942832" y="3739896"/>
            <a:ext cx="2414016" cy="274320"/>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Chosen, not everything.</a:t>
            </a:r>
            <a:endParaRPr lang="en-US" sz="1500" dirty="0"/>
          </a:p>
        </p:txBody>
      </p:sp>
      <p:sp>
        <p:nvSpPr>
          <p:cNvPr id="26" name="b03-rise-selection-rule"/>
          <p:cNvSpPr/>
          <p:nvPr/>
        </p:nvSpPr>
        <p:spPr>
          <a:xfrm>
            <a:off x="566928" y="5138928"/>
            <a:ext cx="11064240" cy="731520"/>
          </a:xfrm>
          <a:prstGeom prst="roundRect">
            <a:avLst>
              <a:gd name="adj" fmla="val 16250"/>
            </a:avLst>
          </a:prstGeom>
          <a:solidFill>
            <a:srgbClr val="0E1219"/>
          </a:solidFill>
          <a:ln w="12700">
            <a:solidFill>
              <a:srgbClr val="232C3A"/>
            </a:solidFill>
            <a:prstDash val="solid"/>
          </a:ln>
        </p:spPr>
        <p:txBody>
          <a:bodyPr/>
          <a:lstStyle/>
          <a:p>
            <a:endParaRPr lang="en-US"/>
          </a:p>
        </p:txBody>
      </p:sp>
      <p:sp>
        <p:nvSpPr>
          <p:cNvPr id="27" name="b03-rise-selection-rule"/>
          <p:cNvSpPr/>
          <p:nvPr/>
        </p:nvSpPr>
        <p:spPr>
          <a:xfrm>
            <a:off x="841248" y="5138928"/>
            <a:ext cx="10515600" cy="73152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Find enough before you start. Carry only what the task needs.</a:t>
            </a:r>
            <a:endParaRPr lang="en-US" sz="1900" dirty="0"/>
          </a:p>
        </p:txBody>
      </p:sp>
      <p:sp>
        <p:nvSpPr>
          <p:cNvPr id="28" name="Text 26"/>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Greenfield: you decide the constraints. Brownfield: you find them.</a:t>
            </a:r>
            <a:endParaRPr lang="en-US" sz="1100" dirty="0"/>
          </a:p>
        </p:txBody>
      </p:sp>
      <p:sp>
        <p:nvSpPr>
          <p:cNvPr id="29" name="Text 27"/>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07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420"/>
                                        <p:tgtEl>
                                          <p:spTgt spid="7"/>
                                        </p:tgtEl>
                                      </p:cBhvr>
                                    </p:animEffect>
                                  </p:childTnLst>
                                </p:cTn>
                              </p:par>
                              <p:par>
                                <p:cTn id="8" presetID="22" presetClass="entr" presetSubtype="1"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right)">
                                      <p:cBhvr>
                                        <p:cTn id="10" dur="420"/>
                                        <p:tgtEl>
                                          <p:spTgt spid="10"/>
                                        </p:tgtEl>
                                      </p:cBhvr>
                                    </p:animEffect>
                                  </p:childTnLst>
                                </p:cTn>
                              </p:par>
                              <p:par>
                                <p:cTn id="11" presetID="22" presetClass="entr" presetSubtype="1"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right)">
                                      <p:cBhvr>
                                        <p:cTn id="13" dur="420"/>
                                        <p:tgtEl>
                                          <p:spTgt spid="13"/>
                                        </p:tgtEl>
                                      </p:cBhvr>
                                    </p:animEffect>
                                  </p:childTnLst>
                                </p:cTn>
                              </p:par>
                              <p:par>
                                <p:cTn id="14" presetID="22" presetClass="entr" presetSubtype="1"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right)">
                                      <p:cBhvr>
                                        <p:cTn id="16" dur="42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2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20"/>
                                        <p:tgtEl>
                                          <p:spTgt spid="18"/>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20"/>
                                        <p:tgtEl>
                                          <p:spTgt spid="19"/>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2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right)">
                                      <p:cBhvr>
                                        <p:cTn id="33" dur="420"/>
                                        <p:tgtEl>
                                          <p:spTgt spid="21"/>
                                        </p:tgtEl>
                                      </p:cBhvr>
                                    </p:animEffect>
                                  </p:childTnLst>
                                </p:cTn>
                              </p:par>
                              <p:par>
                                <p:cTn id="34" presetID="42"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 calcmode="lin" valueType="num">
                                      <p:cBhvr additive="base">
                                        <p:cTn id="36" dur="420" decel="60000" fill="hold"/>
                                        <p:tgtEl>
                                          <p:spTgt spid="22"/>
                                        </p:tgtEl>
                                        <p:attrNameLst>
                                          <p:attrName>ppt_y</p:attrName>
                                        </p:attrNameLst>
                                      </p:cBhvr>
                                      <p:tavLst>
                                        <p:tav tm="0">
                                          <p:val>
                                            <p:strVal val="#ppt_y+.014"/>
                                          </p:val>
                                        </p:tav>
                                        <p:tav tm="100000">
                                          <p:val>
                                            <p:strVal val="#ppt_y"/>
                                          </p:val>
                                        </p:tav>
                                      </p:tavLst>
                                    </p:anim>
                                    <p:animEffect transition="in" filter="fade">
                                      <p:cBhvr>
                                        <p:cTn id="37" dur="420"/>
                                        <p:tgtEl>
                                          <p:spTgt spid="22"/>
                                        </p:tgtEl>
                                      </p:cBhvr>
                                    </p:animEffect>
                                  </p:childTnLst>
                                </p:cTn>
                              </p:par>
                              <p:par>
                                <p:cTn id="38" presetID="42" presetClass="entr" presetSubtype="0" fill="hold" nodeType="withEffect">
                                  <p:stCondLst>
                                    <p:cond delay="0"/>
                                  </p:stCondLst>
                                  <p:childTnLst>
                                    <p:set>
                                      <p:cBhvr>
                                        <p:cTn id="39" dur="1" fill="hold">
                                          <p:stCondLst>
                                            <p:cond delay="0"/>
                                          </p:stCondLst>
                                        </p:cTn>
                                        <p:tgtEl>
                                          <p:spTgt spid="23"/>
                                        </p:tgtEl>
                                        <p:attrNameLst>
                                          <p:attrName>style.visibility</p:attrName>
                                        </p:attrNameLst>
                                      </p:cBhvr>
                                      <p:to>
                                        <p:strVal val="visible"/>
                                      </p:to>
                                    </p:set>
                                    <p:anim calcmode="lin" valueType="num">
                                      <p:cBhvr additive="base">
                                        <p:cTn id="40" dur="420" decel="60000" fill="hold"/>
                                        <p:tgtEl>
                                          <p:spTgt spid="23"/>
                                        </p:tgtEl>
                                        <p:attrNameLst>
                                          <p:attrName>ppt_y</p:attrName>
                                        </p:attrNameLst>
                                      </p:cBhvr>
                                      <p:tavLst>
                                        <p:tav tm="0">
                                          <p:val>
                                            <p:strVal val="#ppt_y+.014"/>
                                          </p:val>
                                        </p:tav>
                                        <p:tav tm="100000">
                                          <p:val>
                                            <p:strVal val="#ppt_y"/>
                                          </p:val>
                                        </p:tav>
                                      </p:tavLst>
                                    </p:anim>
                                    <p:animEffect transition="in" filter="fade">
                                      <p:cBhvr>
                                        <p:cTn id="41" dur="420"/>
                                        <p:tgtEl>
                                          <p:spTgt spid="23"/>
                                        </p:tgtEl>
                                      </p:cBhvr>
                                    </p:animEffect>
                                  </p:childTnLst>
                                </p:cTn>
                              </p:par>
                              <p:par>
                                <p:cTn id="42" presetID="42" presetClass="entr" presetSubtype="0" fill="hold" nodeType="with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additive="base">
                                        <p:cTn id="44" dur="420" decel="60000" fill="hold"/>
                                        <p:tgtEl>
                                          <p:spTgt spid="24"/>
                                        </p:tgtEl>
                                        <p:attrNameLst>
                                          <p:attrName>ppt_y</p:attrName>
                                        </p:attrNameLst>
                                      </p:cBhvr>
                                      <p:tavLst>
                                        <p:tav tm="0">
                                          <p:val>
                                            <p:strVal val="#ppt_y+.014"/>
                                          </p:val>
                                        </p:tav>
                                        <p:tav tm="100000">
                                          <p:val>
                                            <p:strVal val="#ppt_y"/>
                                          </p:val>
                                        </p:tav>
                                      </p:tavLst>
                                    </p:anim>
                                    <p:animEffect transition="in" filter="fade">
                                      <p:cBhvr>
                                        <p:cTn id="45" dur="420"/>
                                        <p:tgtEl>
                                          <p:spTgt spid="24"/>
                                        </p:tgtEl>
                                      </p:cBhvr>
                                    </p:animEffect>
                                  </p:childTnLst>
                                </p:cTn>
                              </p:par>
                              <p:par>
                                <p:cTn id="46" presetID="42" presetClass="entr" presetSubtype="0"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anim calcmode="lin" valueType="num">
                                      <p:cBhvr additive="base">
                                        <p:cTn id="48" dur="420" decel="60000" fill="hold"/>
                                        <p:tgtEl>
                                          <p:spTgt spid="25"/>
                                        </p:tgtEl>
                                        <p:attrNameLst>
                                          <p:attrName>ppt_y</p:attrName>
                                        </p:attrNameLst>
                                      </p:cBhvr>
                                      <p:tavLst>
                                        <p:tav tm="0">
                                          <p:val>
                                            <p:strVal val="#ppt_y+.014"/>
                                          </p:val>
                                        </p:tav>
                                        <p:tav tm="100000">
                                          <p:val>
                                            <p:strVal val="#ppt_y"/>
                                          </p:val>
                                        </p:tav>
                                      </p:tavLst>
                                    </p:anim>
                                    <p:animEffect transition="in" filter="fade">
                                      <p:cBhvr>
                                        <p:cTn id="49" dur="420"/>
                                        <p:tgtEl>
                                          <p:spTgt spid="25"/>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26"/>
                                        </p:tgtEl>
                                        <p:attrNameLst>
                                          <p:attrName>style.visibility</p:attrName>
                                        </p:attrNameLst>
                                      </p:cBhvr>
                                      <p:to>
                                        <p:strVal val="visible"/>
                                      </p:to>
                                    </p:set>
                                    <p:anim calcmode="lin" valueType="num">
                                      <p:cBhvr additive="base">
                                        <p:cTn id="54" dur="420" decel="60000" fill="hold"/>
                                        <p:tgtEl>
                                          <p:spTgt spid="26"/>
                                        </p:tgtEl>
                                        <p:attrNameLst>
                                          <p:attrName>ppt_y</p:attrName>
                                        </p:attrNameLst>
                                      </p:cBhvr>
                                      <p:tavLst>
                                        <p:tav tm="0">
                                          <p:val>
                                            <p:strVal val="#ppt_y+.014"/>
                                          </p:val>
                                        </p:tav>
                                        <p:tav tm="100000">
                                          <p:val>
                                            <p:strVal val="#ppt_y"/>
                                          </p:val>
                                        </p:tav>
                                      </p:tavLst>
                                    </p:anim>
                                    <p:animEffect transition="in" filter="fade">
                                      <p:cBhvr>
                                        <p:cTn id="55" dur="420"/>
                                        <p:tgtEl>
                                          <p:spTgt spid="26"/>
                                        </p:tgtEl>
                                      </p:cBhvr>
                                    </p:animEffect>
                                  </p:childTnLst>
                                </p:cTn>
                              </p:par>
                              <p:par>
                                <p:cTn id="56" presetID="42"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additive="base">
                                        <p:cTn id="58" dur="420" decel="60000" fill="hold"/>
                                        <p:tgtEl>
                                          <p:spTgt spid="27"/>
                                        </p:tgtEl>
                                        <p:attrNameLst>
                                          <p:attrName>ppt_y</p:attrName>
                                        </p:attrNameLst>
                                      </p:cBhvr>
                                      <p:tavLst>
                                        <p:tav tm="0">
                                          <p:val>
                                            <p:strVal val="#ppt_y+.014"/>
                                          </p:val>
                                        </p:tav>
                                        <p:tav tm="100000">
                                          <p:val>
                                            <p:strVal val="#ppt_y"/>
                                          </p:val>
                                        </p:tav>
                                      </p:tavLst>
                                    </p:anim>
                                    <p:animEffect transition="in" filter="fade">
                                      <p:cBhvr>
                                        <p:cTn id="59" dur="42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90D"/>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0607040" cy="274320"/>
          </a:xfrm>
          <a:prstGeom prst="rect">
            <a:avLst/>
          </a:prstGeom>
          <a:noFill/>
        </p:spPr>
        <p:txBody>
          <a:bodyPr wrap="square" lIns="0" tIns="0" rIns="0" bIns="0" anchor="t">
            <a:spAutoFit/>
          </a:bodyPr>
          <a:lstStyle/>
          <a:p>
            <a:pPr algn="l">
              <a:lnSpc>
                <a:spcPct val="105000"/>
              </a:lnSpc>
            </a:pPr>
            <a:r>
              <a:rPr sz="1200" b="1" spc="260">
                <a:solidFill>
                  <a:srgbClr val="75EDBB"/>
                </a:solidFill>
                <a:latin typeface="Helvetica Neue"/>
                <a:ea typeface="Helvetica Neue"/>
                <a:cs typeface="Helvetica Neue"/>
              </a:rPr>
              <a:t>STATE</a:t>
            </a:r>
          </a:p>
        </p:txBody>
      </p:sp>
      <p:sp>
        <p:nvSpPr>
          <p:cNvPr id="3" name="TextBox 2"/>
          <p:cNvSpPr txBox="1"/>
          <p:nvPr/>
        </p:nvSpPr>
        <p:spPr>
          <a:xfrm>
            <a:off x="566928" y="585216"/>
            <a:ext cx="10789920" cy="731520"/>
          </a:xfrm>
          <a:prstGeom prst="rect">
            <a:avLst/>
          </a:prstGeom>
          <a:noFill/>
        </p:spPr>
        <p:txBody>
          <a:bodyPr wrap="square" lIns="0" tIns="0" rIns="0" bIns="0" anchor="ctr">
            <a:spAutoFit/>
          </a:bodyPr>
          <a:lstStyle/>
          <a:p>
            <a:pPr algn="l">
              <a:lnSpc>
                <a:spcPct val="95000"/>
              </a:lnSpc>
            </a:pPr>
            <a:r>
              <a:rPr sz="3800" b="0">
                <a:solidFill>
                  <a:srgbClr val="F3F6FA"/>
                </a:solidFill>
                <a:latin typeface="Avenir Next"/>
                <a:ea typeface="Avenir Next"/>
                <a:cs typeface="Avenir Next"/>
              </a:rPr>
              <a:t>The session is not the context window</a:t>
            </a:r>
          </a:p>
        </p:txBody>
      </p:sp>
      <p:sp>
        <p:nvSpPr>
          <p:cNvPr id="4" name="TextBox 3"/>
          <p:cNvSpPr txBox="1"/>
          <p:nvPr/>
        </p:nvSpPr>
        <p:spPr>
          <a:xfrm>
            <a:off x="566928" y="1335024"/>
            <a:ext cx="9692640" cy="384048"/>
          </a:xfrm>
          <a:prstGeom prst="rect">
            <a:avLst/>
          </a:prstGeom>
          <a:noFill/>
        </p:spPr>
        <p:txBody>
          <a:bodyPr wrap="square" lIns="0" tIns="0" rIns="0" bIns="0" anchor="t">
            <a:spAutoFit/>
          </a:bodyPr>
          <a:lstStyle/>
          <a:p>
            <a:pPr algn="l">
              <a:lnSpc>
                <a:spcPct val="105000"/>
              </a:lnSpc>
            </a:pPr>
            <a:r>
              <a:rPr sz="1900" b="0">
                <a:solidFill>
                  <a:srgbClr val="B2BDCD"/>
                </a:solidFill>
                <a:latin typeface="Helvetica Neue"/>
                <a:ea typeface="Helvetica Neue"/>
                <a:cs typeface="Helvetica Neue"/>
              </a:rPr>
              <a:t>The window is what the model can see now. The record is what the work stands on.</a:t>
            </a:r>
          </a:p>
        </p:txBody>
      </p:sp>
      <p:sp>
        <p:nvSpPr>
          <p:cNvPr id="5" name="Rounded Rectangle 4"/>
          <p:cNvSpPr/>
          <p:nvPr/>
        </p:nvSpPr>
        <p:spPr>
          <a:xfrm>
            <a:off x="566928" y="1828800"/>
            <a:ext cx="4846320" cy="3246120"/>
          </a:xfrm>
          <a:prstGeom prst="roundRect">
            <a:avLst>
              <a:gd name="adj" fmla="val 11267"/>
            </a:avLst>
          </a:prstGeom>
          <a:solidFill>
            <a:srgbClr val="0A0D13"/>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41248" y="2011680"/>
            <a:ext cx="4297680" cy="256032"/>
          </a:xfrm>
          <a:prstGeom prst="rect">
            <a:avLst/>
          </a:prstGeom>
          <a:noFill/>
        </p:spPr>
        <p:txBody>
          <a:bodyPr wrap="square" lIns="0" tIns="0" rIns="0" bIns="0" anchor="t">
            <a:spAutoFit/>
          </a:bodyPr>
          <a:lstStyle/>
          <a:p>
            <a:pPr algn="l">
              <a:lnSpc>
                <a:spcPct val="105000"/>
              </a:lnSpc>
            </a:pPr>
            <a:r>
              <a:rPr sz="1200" b="1" spc="160">
                <a:solidFill>
                  <a:srgbClr val="A99AFF"/>
                </a:solidFill>
                <a:latin typeface="Helvetica Neue"/>
                <a:ea typeface="Helvetica Neue"/>
                <a:cs typeface="Helvetica Neue"/>
              </a:rPr>
              <a:t>WORKING CONTEXT</a:t>
            </a:r>
          </a:p>
        </p:txBody>
      </p:sp>
      <p:sp>
        <p:nvSpPr>
          <p:cNvPr id="7" name="TextBox 6"/>
          <p:cNvSpPr txBox="1"/>
          <p:nvPr/>
        </p:nvSpPr>
        <p:spPr>
          <a:xfrm>
            <a:off x="841248" y="2322576"/>
            <a:ext cx="4297680" cy="365760"/>
          </a:xfrm>
          <a:prstGeom prst="rect">
            <a:avLst/>
          </a:prstGeom>
          <a:noFill/>
        </p:spPr>
        <p:txBody>
          <a:bodyPr wrap="square" lIns="0" tIns="0" rIns="0" bIns="0" anchor="t">
            <a:spAutoFit/>
          </a:bodyPr>
          <a:lstStyle/>
          <a:p>
            <a:pPr algn="l">
              <a:lnSpc>
                <a:spcPct val="105000"/>
              </a:lnSpc>
            </a:pPr>
            <a:r>
              <a:rPr sz="1500" b="0">
                <a:solidFill>
                  <a:srgbClr val="B2BDCD"/>
                </a:solidFill>
                <a:latin typeface="Helvetica Neue"/>
                <a:ea typeface="Helvetica Neue"/>
                <a:cs typeface="Helvetica Neue"/>
              </a:rPr>
              <a:t>What the model can see right now.</a:t>
            </a:r>
          </a:p>
        </p:txBody>
      </p:sp>
      <p:sp>
        <p:nvSpPr>
          <p:cNvPr id="8" name="Rounded Rectangle 7"/>
          <p:cNvSpPr/>
          <p:nvPr/>
        </p:nvSpPr>
        <p:spPr>
          <a:xfrm>
            <a:off x="5870448" y="1828800"/>
            <a:ext cx="5760720" cy="3246120"/>
          </a:xfrm>
          <a:prstGeom prst="roundRect">
            <a:avLst>
              <a:gd name="adj" fmla="val 11267"/>
            </a:avLst>
          </a:prstGeom>
          <a:solidFill>
            <a:srgbClr val="0A0D13"/>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144768" y="2011680"/>
            <a:ext cx="5212080" cy="256032"/>
          </a:xfrm>
          <a:prstGeom prst="rect">
            <a:avLst/>
          </a:prstGeom>
          <a:noFill/>
        </p:spPr>
        <p:txBody>
          <a:bodyPr wrap="square" lIns="0" tIns="0" rIns="0" bIns="0" anchor="t">
            <a:spAutoFit/>
          </a:bodyPr>
          <a:lstStyle/>
          <a:p>
            <a:pPr algn="l">
              <a:lnSpc>
                <a:spcPct val="105000"/>
              </a:lnSpc>
            </a:pPr>
            <a:r>
              <a:rPr sz="1200" b="1" spc="160">
                <a:solidFill>
                  <a:srgbClr val="75EDBB"/>
                </a:solidFill>
                <a:latin typeface="Helvetica Neue"/>
                <a:ea typeface="Helvetica Neue"/>
                <a:cs typeface="Helvetica Neue"/>
              </a:rPr>
              <a:t>DURABLE RECORD</a:t>
            </a:r>
          </a:p>
        </p:txBody>
      </p:sp>
      <p:sp>
        <p:nvSpPr>
          <p:cNvPr id="10" name="TextBox 9"/>
          <p:cNvSpPr txBox="1"/>
          <p:nvPr/>
        </p:nvSpPr>
        <p:spPr>
          <a:xfrm>
            <a:off x="6144768" y="2322576"/>
            <a:ext cx="5212080" cy="365760"/>
          </a:xfrm>
          <a:prstGeom prst="rect">
            <a:avLst/>
          </a:prstGeom>
          <a:noFill/>
        </p:spPr>
        <p:txBody>
          <a:bodyPr wrap="square" lIns="0" tIns="0" rIns="0" bIns="0" anchor="t">
            <a:spAutoFit/>
          </a:bodyPr>
          <a:lstStyle/>
          <a:p>
            <a:pPr algn="l">
              <a:lnSpc>
                <a:spcPct val="105000"/>
              </a:lnSpc>
            </a:pPr>
            <a:r>
              <a:rPr sz="1500" b="0">
                <a:solidFill>
                  <a:srgbClr val="B2BDCD"/>
                </a:solidFill>
                <a:latin typeface="Helvetica Neue"/>
                <a:ea typeface="Helvetica Neue"/>
                <a:cs typeface="Helvetica Neue"/>
              </a:rPr>
              <a:t>The source of truth outside the window.</a:t>
            </a:r>
          </a:p>
        </p:txBody>
      </p:sp>
      <p:sp>
        <p:nvSpPr>
          <p:cNvPr id="11" name="Rectangle 10"/>
          <p:cNvSpPr/>
          <p:nvPr/>
        </p:nvSpPr>
        <p:spPr>
          <a:xfrm>
            <a:off x="5431536" y="3410712"/>
            <a:ext cx="420624"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b01-fade-working-context"/>
          <p:cNvSpPr/>
          <p:nvPr/>
        </p:nvSpPr>
        <p:spPr>
          <a:xfrm>
            <a:off x="841248" y="2926080"/>
            <a:ext cx="4297680" cy="585216"/>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b01-fade-working-context"/>
          <p:cNvSpPr txBox="1"/>
          <p:nvPr/>
        </p:nvSpPr>
        <p:spPr>
          <a:xfrm>
            <a:off x="1024128" y="2926080"/>
            <a:ext cx="3931920" cy="585216"/>
          </a:xfrm>
          <a:prstGeom prst="rect">
            <a:avLst/>
          </a:prstGeom>
          <a:noFill/>
        </p:spPr>
        <p:txBody>
          <a:bodyPr wrap="square" lIns="0" tIns="0" rIns="0" bIns="0" anchor="ctr">
            <a:spAutoFit/>
          </a:bodyPr>
          <a:lstStyle/>
          <a:p>
            <a:pPr algn="l">
              <a:lnSpc>
                <a:spcPct val="105000"/>
              </a:lnSpc>
            </a:pPr>
            <a:r>
              <a:rPr sz="1500" b="0">
                <a:solidFill>
                  <a:srgbClr val="F3F6FA"/>
                </a:solidFill>
                <a:latin typeface="Helvetica Neue"/>
                <a:ea typeface="Helvetica Neue"/>
                <a:cs typeface="Helvetica Neue"/>
              </a:rPr>
              <a:t>Recent turns and the files it was handed</a:t>
            </a:r>
          </a:p>
        </p:txBody>
      </p:sp>
      <p:sp>
        <p:nvSpPr>
          <p:cNvPr id="14" name="b01-fade-working-context"/>
          <p:cNvSpPr/>
          <p:nvPr/>
        </p:nvSpPr>
        <p:spPr>
          <a:xfrm>
            <a:off x="841248" y="3639312"/>
            <a:ext cx="4297680" cy="585216"/>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b01-fade-working-context"/>
          <p:cNvSpPr txBox="1"/>
          <p:nvPr/>
        </p:nvSpPr>
        <p:spPr>
          <a:xfrm>
            <a:off x="1024128" y="3639312"/>
            <a:ext cx="3931920" cy="585216"/>
          </a:xfrm>
          <a:prstGeom prst="rect">
            <a:avLst/>
          </a:prstGeom>
          <a:noFill/>
        </p:spPr>
        <p:txBody>
          <a:bodyPr wrap="square" lIns="0" tIns="0" rIns="0" bIns="0" anchor="ctr">
            <a:spAutoFit/>
          </a:bodyPr>
          <a:lstStyle/>
          <a:p>
            <a:pPr algn="l">
              <a:lnSpc>
                <a:spcPct val="105000"/>
              </a:lnSpc>
            </a:pPr>
            <a:r>
              <a:rPr sz="1500" b="0">
                <a:solidFill>
                  <a:srgbClr val="F3F6FA"/>
                </a:solidFill>
                <a:latin typeface="Helvetica Neue"/>
                <a:ea typeface="Helvetica Neue"/>
                <a:cs typeface="Helvetica Neue"/>
              </a:rPr>
              <a:t>A selection, never the whole repository</a:t>
            </a:r>
          </a:p>
        </p:txBody>
      </p:sp>
      <p:sp>
        <p:nvSpPr>
          <p:cNvPr id="16" name="b01-fade-working-context"/>
          <p:cNvSpPr/>
          <p:nvPr/>
        </p:nvSpPr>
        <p:spPr>
          <a:xfrm>
            <a:off x="841248" y="4352544"/>
            <a:ext cx="4297680" cy="585216"/>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b01-fade-working-context"/>
          <p:cNvSpPr txBox="1"/>
          <p:nvPr/>
        </p:nvSpPr>
        <p:spPr>
          <a:xfrm>
            <a:off x="1024128" y="4352544"/>
            <a:ext cx="3931920" cy="585216"/>
          </a:xfrm>
          <a:prstGeom prst="rect">
            <a:avLst/>
          </a:prstGeom>
          <a:noFill/>
        </p:spPr>
        <p:txBody>
          <a:bodyPr wrap="square" lIns="0" tIns="0" rIns="0" bIns="0" anchor="ctr">
            <a:spAutoFit/>
          </a:bodyPr>
          <a:lstStyle/>
          <a:p>
            <a:pPr algn="l">
              <a:lnSpc>
                <a:spcPct val="105000"/>
              </a:lnSpc>
            </a:pPr>
            <a:r>
              <a:rPr sz="1500" b="0">
                <a:solidFill>
                  <a:srgbClr val="F3F6FA"/>
                </a:solidFill>
                <a:latin typeface="Helvetica Neue"/>
                <a:ea typeface="Helvetica Neue"/>
                <a:cs typeface="Helvetica Neue"/>
              </a:rPr>
              <a:t>Compacted or dropped when it fills up</a:t>
            </a:r>
          </a:p>
        </p:txBody>
      </p:sp>
      <p:sp>
        <p:nvSpPr>
          <p:cNvPr id="18" name="b02-fade-durable-record"/>
          <p:cNvSpPr txBox="1"/>
          <p:nvPr/>
        </p:nvSpPr>
        <p:spPr>
          <a:xfrm>
            <a:off x="6144768" y="2761488"/>
            <a:ext cx="5212080" cy="402336"/>
          </a:xfrm>
          <a:prstGeom prst="rect">
            <a:avLst/>
          </a:prstGeom>
          <a:noFill/>
        </p:spPr>
        <p:txBody>
          <a:bodyPr wrap="square" lIns="0" tIns="0" rIns="0" bIns="0" anchor="ctr">
            <a:spAutoFit/>
          </a:bodyPr>
          <a:lstStyle/>
          <a:p>
            <a:pPr algn="l">
              <a:lnSpc>
                <a:spcPct val="105000"/>
              </a:lnSpc>
            </a:pPr>
            <a:r>
              <a:rPr sz="1500" b="1">
                <a:solidFill>
                  <a:srgbClr val="F3F6FA"/>
                </a:solidFill>
                <a:latin typeface="Helvetica Neue"/>
                <a:ea typeface="Helvetica Neue"/>
                <a:cs typeface="Helvetica Neue"/>
              </a:rPr>
              <a:t>Goal</a:t>
            </a:r>
            <a:r>
              <a:rPr sz="1500" b="0">
                <a:solidFill>
                  <a:srgbClr val="B2BDCD"/>
                </a:solidFill>
                <a:latin typeface="Helvetica Neue"/>
                <a:ea typeface="Helvetica Neue"/>
                <a:cs typeface="Helvetica Neue"/>
              </a:rPr>
              <a:t>  ·  what done means here</a:t>
            </a:r>
          </a:p>
        </p:txBody>
      </p:sp>
      <p:sp>
        <p:nvSpPr>
          <p:cNvPr id="19" name="b02-fade-durable-record"/>
          <p:cNvSpPr txBox="1"/>
          <p:nvPr/>
        </p:nvSpPr>
        <p:spPr>
          <a:xfrm>
            <a:off x="6144768" y="3218688"/>
            <a:ext cx="5212080" cy="402336"/>
          </a:xfrm>
          <a:prstGeom prst="rect">
            <a:avLst/>
          </a:prstGeom>
          <a:noFill/>
        </p:spPr>
        <p:txBody>
          <a:bodyPr wrap="square" lIns="0" tIns="0" rIns="0" bIns="0" anchor="ctr">
            <a:spAutoFit/>
          </a:bodyPr>
          <a:lstStyle/>
          <a:p>
            <a:pPr algn="l">
              <a:lnSpc>
                <a:spcPct val="105000"/>
              </a:lnSpc>
            </a:pPr>
            <a:r>
              <a:rPr sz="1500" b="1">
                <a:solidFill>
                  <a:srgbClr val="F3F6FA"/>
                </a:solidFill>
                <a:latin typeface="Helvetica Neue"/>
                <a:ea typeface="Helvetica Neue"/>
                <a:cs typeface="Helvetica Neue"/>
              </a:rPr>
              <a:t>Decisions</a:t>
            </a:r>
            <a:r>
              <a:rPr sz="1500" b="0">
                <a:solidFill>
                  <a:srgbClr val="B2BDCD"/>
                </a:solidFill>
                <a:latin typeface="Helvetica Neue"/>
                <a:ea typeface="Helvetica Neue"/>
                <a:cs typeface="Helvetica Neue"/>
              </a:rPr>
              <a:t>  ·  what was ruled out, and why</a:t>
            </a:r>
          </a:p>
        </p:txBody>
      </p:sp>
      <p:sp>
        <p:nvSpPr>
          <p:cNvPr id="20" name="b02-fade-durable-record"/>
          <p:cNvSpPr txBox="1"/>
          <p:nvPr/>
        </p:nvSpPr>
        <p:spPr>
          <a:xfrm>
            <a:off x="6144768" y="3675887"/>
            <a:ext cx="5212080" cy="402336"/>
          </a:xfrm>
          <a:prstGeom prst="rect">
            <a:avLst/>
          </a:prstGeom>
          <a:noFill/>
        </p:spPr>
        <p:txBody>
          <a:bodyPr wrap="square" lIns="0" tIns="0" rIns="0" bIns="0" anchor="ctr">
            <a:spAutoFit/>
          </a:bodyPr>
          <a:lstStyle/>
          <a:p>
            <a:pPr algn="l">
              <a:lnSpc>
                <a:spcPct val="105000"/>
              </a:lnSpc>
            </a:pPr>
            <a:r>
              <a:rPr sz="1500" b="1">
                <a:solidFill>
                  <a:srgbClr val="F3F6FA"/>
                </a:solidFill>
                <a:latin typeface="Helvetica Neue"/>
                <a:ea typeface="Helvetica Neue"/>
                <a:cs typeface="Helvetica Neue"/>
              </a:rPr>
              <a:t>Evidence</a:t>
            </a:r>
            <a:r>
              <a:rPr sz="1500" b="0">
                <a:solidFill>
                  <a:srgbClr val="B2BDCD"/>
                </a:solidFill>
                <a:latin typeface="Helvetica Neue"/>
                <a:ea typeface="Helvetica Neue"/>
                <a:cs typeface="Helvetica Neue"/>
              </a:rPr>
              <a:t>  ·  commands run, results seen, approvals given</a:t>
            </a:r>
          </a:p>
        </p:txBody>
      </p:sp>
      <p:sp>
        <p:nvSpPr>
          <p:cNvPr id="21" name="b02-fade-durable-record"/>
          <p:cNvSpPr txBox="1"/>
          <p:nvPr/>
        </p:nvSpPr>
        <p:spPr>
          <a:xfrm>
            <a:off x="6144768" y="4133087"/>
            <a:ext cx="5212080" cy="402336"/>
          </a:xfrm>
          <a:prstGeom prst="rect">
            <a:avLst/>
          </a:prstGeom>
          <a:noFill/>
        </p:spPr>
        <p:txBody>
          <a:bodyPr wrap="square" lIns="0" tIns="0" rIns="0" bIns="0" anchor="ctr">
            <a:spAutoFit/>
          </a:bodyPr>
          <a:lstStyle/>
          <a:p>
            <a:pPr algn="l">
              <a:lnSpc>
                <a:spcPct val="105000"/>
              </a:lnSpc>
            </a:pPr>
            <a:r>
              <a:rPr sz="1500" b="1">
                <a:solidFill>
                  <a:srgbClr val="F3F6FA"/>
                </a:solidFill>
                <a:latin typeface="Helvetica Neue"/>
                <a:ea typeface="Helvetica Neue"/>
                <a:cs typeface="Helvetica Neue"/>
              </a:rPr>
              <a:t>Next step</a:t>
            </a:r>
            <a:r>
              <a:rPr sz="1500" b="0">
                <a:solidFill>
                  <a:srgbClr val="B2BDCD"/>
                </a:solidFill>
                <a:latin typeface="Helvetica Neue"/>
                <a:ea typeface="Helvetica Neue"/>
                <a:cs typeface="Helvetica Neue"/>
              </a:rPr>
              <a:t>  ·  the one thing that happens after this</a:t>
            </a:r>
          </a:p>
        </p:txBody>
      </p:sp>
      <p:sp>
        <p:nvSpPr>
          <p:cNvPr id="22" name="b02-fade-durable-record"/>
          <p:cNvSpPr txBox="1"/>
          <p:nvPr/>
        </p:nvSpPr>
        <p:spPr>
          <a:xfrm>
            <a:off x="6144768" y="4590288"/>
            <a:ext cx="5212080" cy="402336"/>
          </a:xfrm>
          <a:prstGeom prst="rect">
            <a:avLst/>
          </a:prstGeom>
          <a:noFill/>
        </p:spPr>
        <p:txBody>
          <a:bodyPr wrap="square" lIns="0" tIns="0" rIns="0" bIns="0" anchor="ctr">
            <a:spAutoFit/>
          </a:bodyPr>
          <a:lstStyle/>
          <a:p>
            <a:pPr algn="l">
              <a:lnSpc>
                <a:spcPct val="105000"/>
              </a:lnSpc>
            </a:pPr>
            <a:r>
              <a:rPr sz="1500" b="1">
                <a:solidFill>
                  <a:srgbClr val="F3F6FA"/>
                </a:solidFill>
                <a:latin typeface="Helvetica Neue"/>
                <a:ea typeface="Helvetica Neue"/>
                <a:cs typeface="Helvetica Neue"/>
              </a:rPr>
              <a:t>Checkpoint</a:t>
            </a:r>
            <a:r>
              <a:rPr sz="1500" b="0">
                <a:solidFill>
                  <a:srgbClr val="B2BDCD"/>
                </a:solidFill>
                <a:latin typeface="Helvetica Neue"/>
                <a:ea typeface="Helvetica Neue"/>
                <a:cs typeface="Helvetica Neue"/>
              </a:rPr>
              <a:t>  ·  the known-good place to resume from</a:t>
            </a:r>
          </a:p>
        </p:txBody>
      </p:sp>
      <p:sp>
        <p:nvSpPr>
          <p:cNvPr id="23" name="b03-rise-state-rule"/>
          <p:cNvSpPr/>
          <p:nvPr/>
        </p:nvSpPr>
        <p:spPr>
          <a:xfrm>
            <a:off x="566928" y="5532120"/>
            <a:ext cx="11064240" cy="56692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b03-rise-state-rule"/>
          <p:cNvSpPr txBox="1"/>
          <p:nvPr/>
        </p:nvSpPr>
        <p:spPr>
          <a:xfrm>
            <a:off x="841247" y="5532120"/>
            <a:ext cx="10515600" cy="566928"/>
          </a:xfrm>
          <a:prstGeom prst="rect">
            <a:avLst/>
          </a:prstGeom>
          <a:noFill/>
        </p:spPr>
        <p:txBody>
          <a:bodyPr wrap="square" lIns="0" tIns="0" rIns="0" bIns="0" anchor="ctr">
            <a:spAutoFit/>
          </a:bodyPr>
          <a:lstStyle/>
          <a:p>
            <a:pPr algn="l">
              <a:lnSpc>
                <a:spcPct val="105000"/>
              </a:lnSpc>
            </a:pPr>
            <a:r>
              <a:rPr sz="1800" b="0">
                <a:solidFill>
                  <a:srgbClr val="F3F6FA"/>
                </a:solidFill>
                <a:latin typeface="Helvetica Neue"/>
                <a:ea typeface="Helvetica Neue"/>
                <a:cs typeface="Helvetica Neue"/>
              </a:rPr>
              <a:t>Compaction may drop detail. It must never drop approvals or provenance.</a:t>
            </a:r>
          </a:p>
        </p:txBody>
      </p:sp>
      <p:sp>
        <p:nvSpPr>
          <p:cNvPr id="25" name="TextBox 24"/>
          <p:cNvSpPr txBox="1"/>
          <p:nvPr/>
        </p:nvSpPr>
        <p:spPr>
          <a:xfrm>
            <a:off x="566928" y="6391656"/>
            <a:ext cx="8961120" cy="274320"/>
          </a:xfrm>
          <a:prstGeom prst="rect">
            <a:avLst/>
          </a:prstGeom>
          <a:noFill/>
        </p:spPr>
        <p:txBody>
          <a:bodyPr wrap="square" lIns="0" tIns="0" rIns="0" bIns="0" anchor="ctr">
            <a:spAutoFit/>
          </a:bodyPr>
          <a:lstStyle/>
          <a:p>
            <a:pPr algn="l">
              <a:lnSpc>
                <a:spcPct val="105000"/>
              </a:lnSpc>
            </a:pPr>
            <a:r>
              <a:rPr sz="1100" b="0">
                <a:solidFill>
                  <a:srgbClr val="6F7B8D"/>
                </a:solidFill>
                <a:latin typeface="Helvetica Neue"/>
                <a:ea typeface="Helvetica Neue"/>
                <a:cs typeface="Helvetica Neue"/>
              </a:rPr>
              <a:t>A recommended engineering pattern. Storage, compaction and resume behaviour differ by harness.</a:t>
            </a:r>
          </a:p>
        </p:txBody>
      </p:sp>
      <p:sp>
        <p:nvSpPr>
          <p:cNvPr id="26" name="TextBox 25"/>
          <p:cNvSpPr txBox="1"/>
          <p:nvPr/>
        </p:nvSpPr>
        <p:spPr>
          <a:xfrm>
            <a:off x="9692640" y="6391656"/>
            <a:ext cx="1929384" cy="274320"/>
          </a:xfrm>
          <a:prstGeom prst="rect">
            <a:avLst/>
          </a:prstGeom>
          <a:noFill/>
        </p:spPr>
        <p:txBody>
          <a:bodyPr wrap="square" lIns="0" tIns="0" rIns="0" bIns="0" anchor="ctr">
            <a:spAutoFit/>
          </a:bodyPr>
          <a:lstStyle/>
          <a:p>
            <a:pPr algn="r">
              <a:lnSpc>
                <a:spcPct val="105000"/>
              </a:lnSpc>
            </a:pPr>
            <a:r>
              <a:rPr sz="1100" b="0">
                <a:solidFill>
                  <a:srgbClr val="6F7B8D"/>
                </a:solidFill>
                <a:latin typeface="Helvetica Neue"/>
                <a:ea typeface="Helvetica Neue"/>
                <a:cs typeface="Helvetica Neue"/>
              </a:rPr>
              <a:t>08 / 20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2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2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2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2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2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2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2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20"/>
                                        <p:tgtEl>
                                          <p:spTgt spid="19"/>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2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2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2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2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2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METHOD</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Make each change an evidence loop</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Plan mode covers part of this. Spec Kit helps write the rest down.</a:t>
            </a:r>
            <a:endParaRPr lang="en-US" sz="1900" dirty="0"/>
          </a:p>
        </p:txBody>
      </p:sp>
      <p:sp>
        <p:nvSpPr>
          <p:cNvPr id="5" name="Shape 3"/>
          <p:cNvSpPr/>
          <p:nvPr/>
        </p:nvSpPr>
        <p:spPr>
          <a:xfrm>
            <a:off x="566928" y="3017520"/>
            <a:ext cx="1965960" cy="868680"/>
          </a:xfrm>
          <a:prstGeom prst="roundRect">
            <a:avLst>
              <a:gd name="adj" fmla="val 10526"/>
            </a:avLst>
          </a:prstGeom>
          <a:solidFill>
            <a:srgbClr val="0E1219"/>
          </a:solidFill>
          <a:ln w="12700">
            <a:solidFill>
              <a:srgbClr val="232C3A"/>
            </a:solidFill>
            <a:prstDash val="solid"/>
          </a:ln>
        </p:spPr>
        <p:txBody>
          <a:bodyPr/>
          <a:lstStyle/>
          <a:p>
            <a:endParaRPr lang="en-US"/>
          </a:p>
        </p:txBody>
      </p:sp>
      <p:sp>
        <p:nvSpPr>
          <p:cNvPr id="6" name="Text 4"/>
          <p:cNvSpPr/>
          <p:nvPr/>
        </p:nvSpPr>
        <p:spPr>
          <a:xfrm>
            <a:off x="566928" y="3017520"/>
            <a:ext cx="1965960" cy="868680"/>
          </a:xfrm>
          <a:prstGeom prst="rect">
            <a:avLst/>
          </a:prstGeom>
          <a:noFill/>
          <a:ln/>
        </p:spPr>
        <p:txBody>
          <a:bodyPr wrap="square" rtlCol="0" anchor="ctr"/>
          <a:lstStyle/>
          <a:p>
            <a:pPr marL="0" indent="0" algn="ctr">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Discovery</a:t>
            </a:r>
            <a:endParaRPr lang="en-US" sz="1700" dirty="0"/>
          </a:p>
        </p:txBody>
      </p:sp>
      <p:sp>
        <p:nvSpPr>
          <p:cNvPr id="7" name="Shape 5"/>
          <p:cNvSpPr/>
          <p:nvPr/>
        </p:nvSpPr>
        <p:spPr>
          <a:xfrm>
            <a:off x="2532888" y="3451860"/>
            <a:ext cx="274320" cy="0"/>
          </a:xfrm>
          <a:prstGeom prst="line">
            <a:avLst/>
          </a:prstGeom>
          <a:noFill/>
          <a:ln w="19050">
            <a:solidFill>
              <a:srgbClr val="232C3A"/>
            </a:solidFill>
            <a:prstDash val="solid"/>
            <a:tailEnd type="triangle"/>
          </a:ln>
        </p:spPr>
        <p:txBody>
          <a:bodyPr/>
          <a:lstStyle/>
          <a:p>
            <a:endParaRPr lang="en-US"/>
          </a:p>
        </p:txBody>
      </p:sp>
      <p:sp>
        <p:nvSpPr>
          <p:cNvPr id="8" name="Shape 6"/>
          <p:cNvSpPr/>
          <p:nvPr/>
        </p:nvSpPr>
        <p:spPr>
          <a:xfrm>
            <a:off x="2807208" y="3017520"/>
            <a:ext cx="1965960" cy="868680"/>
          </a:xfrm>
          <a:prstGeom prst="roundRect">
            <a:avLst>
              <a:gd name="adj" fmla="val 10526"/>
            </a:avLst>
          </a:prstGeom>
          <a:solidFill>
            <a:srgbClr val="0E1219"/>
          </a:solidFill>
          <a:ln w="12700">
            <a:solidFill>
              <a:srgbClr val="232C3A"/>
            </a:solidFill>
            <a:prstDash val="solid"/>
          </a:ln>
        </p:spPr>
        <p:txBody>
          <a:bodyPr/>
          <a:lstStyle/>
          <a:p>
            <a:endParaRPr lang="en-US"/>
          </a:p>
        </p:txBody>
      </p:sp>
      <p:sp>
        <p:nvSpPr>
          <p:cNvPr id="9" name="Text 7"/>
          <p:cNvSpPr/>
          <p:nvPr/>
        </p:nvSpPr>
        <p:spPr>
          <a:xfrm>
            <a:off x="2807208" y="3017520"/>
            <a:ext cx="1965960" cy="868680"/>
          </a:xfrm>
          <a:prstGeom prst="rect">
            <a:avLst/>
          </a:prstGeom>
          <a:noFill/>
          <a:ln/>
        </p:spPr>
        <p:txBody>
          <a:bodyPr wrap="square" rtlCol="0" anchor="ctr"/>
          <a:lstStyle/>
          <a:p>
            <a:pPr marL="0" indent="0" algn="ctr">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Hypothesis</a:t>
            </a:r>
            <a:endParaRPr lang="en-US" sz="1700" dirty="0"/>
          </a:p>
        </p:txBody>
      </p:sp>
      <p:sp>
        <p:nvSpPr>
          <p:cNvPr id="10" name="Shape 8"/>
          <p:cNvSpPr/>
          <p:nvPr/>
        </p:nvSpPr>
        <p:spPr>
          <a:xfrm>
            <a:off x="4773168" y="3451860"/>
            <a:ext cx="274320" cy="0"/>
          </a:xfrm>
          <a:prstGeom prst="line">
            <a:avLst/>
          </a:prstGeom>
          <a:noFill/>
          <a:ln w="19050">
            <a:solidFill>
              <a:srgbClr val="232C3A"/>
            </a:solidFill>
            <a:prstDash val="solid"/>
            <a:tailEnd type="triangle"/>
          </a:ln>
        </p:spPr>
        <p:txBody>
          <a:bodyPr/>
          <a:lstStyle/>
          <a:p>
            <a:endParaRPr lang="en-US"/>
          </a:p>
        </p:txBody>
      </p:sp>
      <p:sp>
        <p:nvSpPr>
          <p:cNvPr id="11" name="Shape 9"/>
          <p:cNvSpPr/>
          <p:nvPr/>
        </p:nvSpPr>
        <p:spPr>
          <a:xfrm>
            <a:off x="5047488" y="3017520"/>
            <a:ext cx="1965960" cy="868680"/>
          </a:xfrm>
          <a:prstGeom prst="roundRect">
            <a:avLst>
              <a:gd name="adj" fmla="val 10526"/>
            </a:avLst>
          </a:prstGeom>
          <a:solidFill>
            <a:srgbClr val="0E1219"/>
          </a:solidFill>
          <a:ln w="12700">
            <a:solidFill>
              <a:srgbClr val="232C3A"/>
            </a:solidFill>
            <a:prstDash val="solid"/>
          </a:ln>
        </p:spPr>
        <p:txBody>
          <a:bodyPr/>
          <a:lstStyle/>
          <a:p>
            <a:endParaRPr lang="en-US"/>
          </a:p>
        </p:txBody>
      </p:sp>
      <p:sp>
        <p:nvSpPr>
          <p:cNvPr id="12" name="Text 10"/>
          <p:cNvSpPr/>
          <p:nvPr/>
        </p:nvSpPr>
        <p:spPr>
          <a:xfrm>
            <a:off x="5047488" y="3017520"/>
            <a:ext cx="1965960" cy="868680"/>
          </a:xfrm>
          <a:prstGeom prst="rect">
            <a:avLst/>
          </a:prstGeom>
          <a:noFill/>
          <a:ln/>
        </p:spPr>
        <p:txBody>
          <a:bodyPr wrap="square" rtlCol="0" anchor="ctr"/>
          <a:lstStyle/>
          <a:p>
            <a:pPr marL="0" indent="0" algn="ctr">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Plan</a:t>
            </a:r>
            <a:endParaRPr lang="en-US" sz="1700" dirty="0"/>
          </a:p>
        </p:txBody>
      </p:sp>
      <p:sp>
        <p:nvSpPr>
          <p:cNvPr id="13" name="Shape 11"/>
          <p:cNvSpPr/>
          <p:nvPr/>
        </p:nvSpPr>
        <p:spPr>
          <a:xfrm>
            <a:off x="7013448" y="3451860"/>
            <a:ext cx="274320" cy="0"/>
          </a:xfrm>
          <a:prstGeom prst="line">
            <a:avLst/>
          </a:prstGeom>
          <a:noFill/>
          <a:ln w="19050">
            <a:solidFill>
              <a:srgbClr val="232C3A"/>
            </a:solidFill>
            <a:prstDash val="solid"/>
            <a:tailEnd type="triangle"/>
          </a:ln>
        </p:spPr>
        <p:txBody>
          <a:bodyPr/>
          <a:lstStyle/>
          <a:p>
            <a:endParaRPr lang="en-US"/>
          </a:p>
        </p:txBody>
      </p:sp>
      <p:sp>
        <p:nvSpPr>
          <p:cNvPr id="14" name="Shape 12"/>
          <p:cNvSpPr/>
          <p:nvPr/>
        </p:nvSpPr>
        <p:spPr>
          <a:xfrm>
            <a:off x="7287768" y="3017520"/>
            <a:ext cx="1965960" cy="868680"/>
          </a:xfrm>
          <a:prstGeom prst="roundRect">
            <a:avLst>
              <a:gd name="adj" fmla="val 10526"/>
            </a:avLst>
          </a:prstGeom>
          <a:solidFill>
            <a:srgbClr val="0E1219"/>
          </a:solidFill>
          <a:ln w="12700">
            <a:solidFill>
              <a:srgbClr val="232C3A"/>
            </a:solidFill>
            <a:prstDash val="solid"/>
          </a:ln>
        </p:spPr>
        <p:txBody>
          <a:bodyPr/>
          <a:lstStyle/>
          <a:p>
            <a:endParaRPr lang="en-US"/>
          </a:p>
        </p:txBody>
      </p:sp>
      <p:sp>
        <p:nvSpPr>
          <p:cNvPr id="15" name="Text 13"/>
          <p:cNvSpPr/>
          <p:nvPr/>
        </p:nvSpPr>
        <p:spPr>
          <a:xfrm>
            <a:off x="7287768" y="3017520"/>
            <a:ext cx="1965960" cy="868680"/>
          </a:xfrm>
          <a:prstGeom prst="rect">
            <a:avLst/>
          </a:prstGeom>
          <a:noFill/>
          <a:ln/>
        </p:spPr>
        <p:txBody>
          <a:bodyPr wrap="square" rtlCol="0" anchor="ctr"/>
          <a:lstStyle/>
          <a:p>
            <a:pPr marL="0" indent="0" algn="ctr">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Implementation</a:t>
            </a:r>
            <a:endParaRPr lang="en-US" sz="1700" dirty="0"/>
          </a:p>
        </p:txBody>
      </p:sp>
      <p:sp>
        <p:nvSpPr>
          <p:cNvPr id="16" name="b01-wipe-gate-in"/>
          <p:cNvSpPr/>
          <p:nvPr/>
        </p:nvSpPr>
        <p:spPr>
          <a:xfrm>
            <a:off x="9253728" y="3451860"/>
            <a:ext cx="347472" cy="0"/>
          </a:xfrm>
          <a:prstGeom prst="line">
            <a:avLst/>
          </a:prstGeom>
          <a:noFill/>
          <a:ln w="19050">
            <a:solidFill>
              <a:srgbClr val="75EDBB"/>
            </a:solidFill>
            <a:prstDash val="solid"/>
            <a:tailEnd type="triangle"/>
          </a:ln>
        </p:spPr>
        <p:txBody>
          <a:bodyPr/>
          <a:lstStyle/>
          <a:p>
            <a:endParaRPr lang="en-US"/>
          </a:p>
        </p:txBody>
      </p:sp>
      <p:sp>
        <p:nvSpPr>
          <p:cNvPr id="17" name="b01-zoom-acceptance-gate"/>
          <p:cNvSpPr/>
          <p:nvPr/>
        </p:nvSpPr>
        <p:spPr>
          <a:xfrm>
            <a:off x="9601200" y="2487168"/>
            <a:ext cx="2011680" cy="1920240"/>
          </a:xfrm>
          <a:prstGeom prst="diamond">
            <a:avLst/>
          </a:prstGeom>
          <a:solidFill>
            <a:srgbClr val="0A0D13"/>
          </a:solidFill>
          <a:ln w="22225">
            <a:solidFill>
              <a:srgbClr val="75EDBB"/>
            </a:solidFill>
            <a:prstDash val="solid"/>
          </a:ln>
        </p:spPr>
        <p:txBody>
          <a:bodyPr/>
          <a:lstStyle/>
          <a:p>
            <a:endParaRPr lang="en-US"/>
          </a:p>
        </p:txBody>
      </p:sp>
      <p:sp>
        <p:nvSpPr>
          <p:cNvPr id="18" name="b01-zoom-acceptance-gate"/>
          <p:cNvSpPr/>
          <p:nvPr/>
        </p:nvSpPr>
        <p:spPr>
          <a:xfrm>
            <a:off x="9784080" y="2487168"/>
            <a:ext cx="1645920" cy="1920240"/>
          </a:xfrm>
          <a:prstGeom prst="rect">
            <a:avLst/>
          </a:prstGeom>
          <a:noFill/>
          <a:ln/>
        </p:spPr>
        <p:txBody>
          <a:bodyPr wrap="square" rtlCol="0" anchor="ctr"/>
          <a:lstStyle/>
          <a:p>
            <a:pPr marL="0" indent="0" algn="ctr">
              <a:lnSpc>
                <a:spcPct val="105000"/>
              </a:lnSpc>
              <a:buNone/>
            </a:pPr>
            <a:r>
              <a:rPr lang="en-US" sz="1800" b="1" dirty="0">
                <a:solidFill>
                  <a:srgbClr val="75EDBB"/>
                </a:solidFill>
                <a:latin typeface="Helvetica Neue" pitchFamily="34" charset="0"/>
                <a:ea typeface="Helvetica Neue" pitchFamily="34" charset="-122"/>
                <a:cs typeface="Helvetica Neue" pitchFamily="34" charset="-120"/>
              </a:rPr>
              <a:t>Gate</a:t>
            </a:r>
            <a:endParaRPr lang="en-US" sz="1800" dirty="0"/>
          </a:p>
        </p:txBody>
      </p:sp>
      <p:sp>
        <p:nvSpPr>
          <p:cNvPr id="19" name="b01-wipe-gate-in"/>
          <p:cNvSpPr/>
          <p:nvPr/>
        </p:nvSpPr>
        <p:spPr>
          <a:xfrm>
            <a:off x="10607040" y="4407408"/>
            <a:ext cx="0" cy="411480"/>
          </a:xfrm>
          <a:prstGeom prst="line">
            <a:avLst/>
          </a:prstGeom>
          <a:noFill/>
          <a:ln w="19050">
            <a:solidFill>
              <a:srgbClr val="75EDBB"/>
            </a:solidFill>
            <a:prstDash val="solid"/>
            <a:tailEnd type="triangle"/>
          </a:ln>
        </p:spPr>
        <p:txBody>
          <a:bodyPr/>
          <a:lstStyle/>
          <a:p>
            <a:endParaRPr lang="en-US"/>
          </a:p>
        </p:txBody>
      </p:sp>
      <p:sp>
        <p:nvSpPr>
          <p:cNvPr id="20" name="b01-wipe-gate-in"/>
          <p:cNvSpPr/>
          <p:nvPr/>
        </p:nvSpPr>
        <p:spPr>
          <a:xfrm>
            <a:off x="9601200" y="4818888"/>
            <a:ext cx="2011680" cy="594360"/>
          </a:xfrm>
          <a:prstGeom prst="roundRect">
            <a:avLst>
              <a:gd name="adj" fmla="val 15385"/>
            </a:avLst>
          </a:prstGeom>
          <a:solidFill>
            <a:srgbClr val="1E3A33"/>
          </a:solidFill>
          <a:ln w="12700">
            <a:solidFill>
              <a:srgbClr val="75EDBB"/>
            </a:solidFill>
            <a:prstDash val="solid"/>
          </a:ln>
        </p:spPr>
        <p:txBody>
          <a:bodyPr/>
          <a:lstStyle/>
          <a:p>
            <a:endParaRPr lang="en-US"/>
          </a:p>
        </p:txBody>
      </p:sp>
      <p:sp>
        <p:nvSpPr>
          <p:cNvPr id="21" name="b01-wipe-gate-in"/>
          <p:cNvSpPr/>
          <p:nvPr/>
        </p:nvSpPr>
        <p:spPr>
          <a:xfrm>
            <a:off x="9747504" y="4818888"/>
            <a:ext cx="1719072" cy="594360"/>
          </a:xfrm>
          <a:prstGeom prst="rect">
            <a:avLst/>
          </a:prstGeom>
          <a:noFill/>
          <a:ln/>
        </p:spPr>
        <p:txBody>
          <a:bodyPr wrap="square" rtlCol="0" anchor="ctr"/>
          <a:lstStyle/>
          <a:p>
            <a:pPr marL="0" indent="0" algn="ctr">
              <a:lnSpc>
                <a:spcPct val="105000"/>
              </a:lnSpc>
              <a:buNone/>
            </a:pPr>
            <a:r>
              <a:rPr lang="en-US" sz="1600" dirty="0">
                <a:solidFill>
                  <a:srgbClr val="75EDBB"/>
                </a:solidFill>
                <a:latin typeface="Helvetica Neue" pitchFamily="34" charset="0"/>
                <a:ea typeface="Helvetica Neue" pitchFamily="34" charset="-122"/>
                <a:cs typeface="Helvetica Neue" pitchFamily="34" charset="-120"/>
              </a:rPr>
              <a:t>PASS · done</a:t>
            </a:r>
            <a:endParaRPr lang="en-US" sz="1600" dirty="0"/>
          </a:p>
        </p:txBody>
      </p:sp>
      <p:sp>
        <p:nvSpPr>
          <p:cNvPr id="22" name="b02-wipe-fail-path"/>
          <p:cNvSpPr/>
          <p:nvPr/>
        </p:nvSpPr>
        <p:spPr>
          <a:xfrm flipV="1">
            <a:off x="10607040" y="2148840"/>
            <a:ext cx="0" cy="338328"/>
          </a:xfrm>
          <a:prstGeom prst="line">
            <a:avLst/>
          </a:prstGeom>
          <a:noFill/>
          <a:ln w="19050">
            <a:solidFill>
              <a:srgbClr val="FFCA83"/>
            </a:solidFill>
            <a:prstDash val="solid"/>
          </a:ln>
        </p:spPr>
        <p:txBody>
          <a:bodyPr/>
          <a:lstStyle/>
          <a:p>
            <a:endParaRPr lang="en-US"/>
          </a:p>
        </p:txBody>
      </p:sp>
      <p:sp>
        <p:nvSpPr>
          <p:cNvPr id="23" name="b02-wipe-fail-path"/>
          <p:cNvSpPr/>
          <p:nvPr/>
        </p:nvSpPr>
        <p:spPr>
          <a:xfrm flipH="1">
            <a:off x="3794760" y="2148840"/>
            <a:ext cx="6812280" cy="0"/>
          </a:xfrm>
          <a:prstGeom prst="line">
            <a:avLst/>
          </a:prstGeom>
          <a:noFill/>
          <a:ln w="19050">
            <a:solidFill>
              <a:srgbClr val="FFCA83"/>
            </a:solidFill>
            <a:prstDash val="solid"/>
          </a:ln>
        </p:spPr>
        <p:txBody>
          <a:bodyPr/>
          <a:lstStyle/>
          <a:p>
            <a:endParaRPr lang="en-US"/>
          </a:p>
        </p:txBody>
      </p:sp>
      <p:sp>
        <p:nvSpPr>
          <p:cNvPr id="24" name="b02-wipe-fail-path"/>
          <p:cNvSpPr/>
          <p:nvPr/>
        </p:nvSpPr>
        <p:spPr>
          <a:xfrm>
            <a:off x="3794760" y="2148840"/>
            <a:ext cx="0" cy="868680"/>
          </a:xfrm>
          <a:prstGeom prst="line">
            <a:avLst/>
          </a:prstGeom>
          <a:noFill/>
          <a:ln w="19050">
            <a:solidFill>
              <a:srgbClr val="FFCA83"/>
            </a:solidFill>
            <a:prstDash val="solid"/>
            <a:tailEnd type="triangle"/>
          </a:ln>
        </p:spPr>
        <p:txBody>
          <a:bodyPr/>
          <a:lstStyle/>
          <a:p>
            <a:endParaRPr lang="en-US"/>
          </a:p>
        </p:txBody>
      </p:sp>
      <p:sp>
        <p:nvSpPr>
          <p:cNvPr id="25" name="b02-wipe-fail-path"/>
          <p:cNvSpPr/>
          <p:nvPr/>
        </p:nvSpPr>
        <p:spPr>
          <a:xfrm>
            <a:off x="4937760" y="2231136"/>
            <a:ext cx="4206240" cy="274320"/>
          </a:xfrm>
          <a:prstGeom prst="rect">
            <a:avLst/>
          </a:prstGeom>
          <a:noFill/>
          <a:ln/>
        </p:spPr>
        <p:txBody>
          <a:bodyPr wrap="square" rtlCol="0" anchor="t"/>
          <a:lstStyle/>
          <a:p>
            <a:pPr marL="0" indent="0">
              <a:lnSpc>
                <a:spcPct val="105000"/>
              </a:lnSpc>
              <a:buNone/>
            </a:pPr>
            <a:r>
              <a:rPr lang="en-US" sz="1500" dirty="0">
                <a:solidFill>
                  <a:srgbClr val="FFCA83"/>
                </a:solidFill>
                <a:latin typeface="Helvetica Neue" pitchFamily="34" charset="0"/>
                <a:ea typeface="Helvetica Neue" pitchFamily="34" charset="-122"/>
                <a:cs typeface="Helvetica Neue" pitchFamily="34" charset="-120"/>
              </a:rPr>
              <a:t>FAIL · back to the stage that was wrong</a:t>
            </a:r>
            <a:endParaRPr lang="en-US" sz="1500" dirty="0"/>
          </a:p>
        </p:txBody>
      </p:sp>
      <p:sp>
        <p:nvSpPr>
          <p:cNvPr id="26" name="b03-rise-acceptance-line"/>
          <p:cNvSpPr/>
          <p:nvPr/>
        </p:nvSpPr>
        <p:spPr>
          <a:xfrm>
            <a:off x="566928" y="5138928"/>
            <a:ext cx="8686800" cy="841248"/>
          </a:xfrm>
          <a:prstGeom prst="roundRect">
            <a:avLst>
              <a:gd name="adj" fmla="val 14130"/>
            </a:avLst>
          </a:prstGeom>
          <a:solidFill>
            <a:srgbClr val="0E1219"/>
          </a:solidFill>
          <a:ln w="12700">
            <a:solidFill>
              <a:srgbClr val="232C3A"/>
            </a:solidFill>
            <a:prstDash val="solid"/>
          </a:ln>
        </p:spPr>
        <p:txBody>
          <a:bodyPr/>
          <a:lstStyle/>
          <a:p>
            <a:endParaRPr lang="en-US"/>
          </a:p>
        </p:txBody>
      </p:sp>
      <p:sp>
        <p:nvSpPr>
          <p:cNvPr id="27" name="b03-rise-acceptance-line"/>
          <p:cNvSpPr/>
          <p:nvPr/>
        </p:nvSpPr>
        <p:spPr>
          <a:xfrm>
            <a:off x="841248" y="5230368"/>
            <a:ext cx="8138160" cy="292608"/>
          </a:xfrm>
          <a:prstGeom prst="rect">
            <a:avLst/>
          </a:prstGeom>
          <a:noFill/>
          <a:ln/>
        </p:spPr>
        <p:txBody>
          <a:bodyPr wrap="square" rtlCol="0" anchor="t"/>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Acceptance: unpaid invoices past their due date, and nothing else.</a:t>
            </a:r>
            <a:endParaRPr lang="en-US" sz="1700" dirty="0"/>
          </a:p>
        </p:txBody>
      </p:sp>
      <p:sp>
        <p:nvSpPr>
          <p:cNvPr id="28" name="b03-rise-acceptance-line"/>
          <p:cNvSpPr/>
          <p:nvPr/>
        </p:nvSpPr>
        <p:spPr>
          <a:xfrm>
            <a:off x="841248" y="5559552"/>
            <a:ext cx="8138160" cy="292608"/>
          </a:xfrm>
          <a:prstGeom prst="rect">
            <a:avLst/>
          </a:prstGeom>
          <a:noFill/>
          <a:ln/>
        </p:spPr>
        <p:txBody>
          <a:bodyPr wrap="square" rtlCol="0" anchor="t"/>
          <a:lstStyle/>
          <a:p>
            <a:pPr marL="0" indent="0">
              <a:lnSpc>
                <a:spcPct val="105000"/>
              </a:lnSpc>
              <a:buNone/>
            </a:pPr>
            <a:r>
              <a:rPr lang="en-US" sz="1600" dirty="0">
                <a:solidFill>
                  <a:srgbClr val="75EDBB"/>
                </a:solidFill>
                <a:latin typeface="Menlo" pitchFamily="34" charset="0"/>
                <a:ea typeface="Menlo" pitchFamily="34" charset="-122"/>
                <a:cs typeface="Menlo" pitchFamily="34" charset="-120"/>
              </a:rPr>
              <a:t>Proof: one command, same result every run.</a:t>
            </a:r>
            <a:endParaRPr lang="en-US" sz="1600" dirty="0"/>
          </a:p>
        </p:txBody>
      </p:sp>
      <p:sp>
        <p:nvSpPr>
          <p:cNvPr id="29" name="Text 27"/>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Escalate when repeated attempts stop adding evidence.</a:t>
            </a:r>
            <a:endParaRPr lang="en-US" sz="1100" dirty="0"/>
          </a:p>
        </p:txBody>
      </p:sp>
      <p:sp>
        <p:nvSpPr>
          <p:cNvPr id="30" name="Text 28"/>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09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right)">
                                      <p:cBhvr>
                                        <p:cTn id="7" dur="420"/>
                                        <p:tgtEl>
                                          <p:spTgt spid="16"/>
                                        </p:tgtEl>
                                      </p:cBhvr>
                                    </p:animEffect>
                                  </p:childTnLst>
                                </p:cTn>
                              </p:par>
                              <p:par>
                                <p:cTn id="8" presetID="23"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Scale zoomContents="1">
                                      <p:cBhvr>
                                        <p:cTn id="10" dur="420" decel="50000" fill="hold"/>
                                        <p:tgtEl>
                                          <p:spTgt spid="17"/>
                                        </p:tgtEl>
                                      </p:cBhvr>
                                      <p:from x="95000" y="95000"/>
                                      <p:to x="100000" y="100000"/>
                                    </p:animScale>
                                    <p:animEffect transition="in" filter="fade">
                                      <p:cBhvr>
                                        <p:cTn id="11" dur="420"/>
                                        <p:tgtEl>
                                          <p:spTgt spid="17"/>
                                        </p:tgtEl>
                                      </p:cBhvr>
                                    </p:animEffect>
                                  </p:childTnLst>
                                </p:cTn>
                              </p:par>
                              <p:par>
                                <p:cTn id="12" presetID="23"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Scale zoomContents="1">
                                      <p:cBhvr>
                                        <p:cTn id="14" dur="420" decel="50000" fill="hold"/>
                                        <p:tgtEl>
                                          <p:spTgt spid="18"/>
                                        </p:tgtEl>
                                      </p:cBhvr>
                                      <p:from x="95000" y="95000"/>
                                      <p:to x="100000" y="100000"/>
                                    </p:animScale>
                                    <p:animEffect transition="in" filter="fade">
                                      <p:cBhvr>
                                        <p:cTn id="15" dur="420"/>
                                        <p:tgtEl>
                                          <p:spTgt spid="18"/>
                                        </p:tgtEl>
                                      </p:cBhvr>
                                    </p:animEffect>
                                  </p:childTnLst>
                                </p:cTn>
                              </p:par>
                              <p:par>
                                <p:cTn id="16" presetID="22" presetClass="entr" presetSubtype="1"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right)">
                                      <p:cBhvr>
                                        <p:cTn id="18" dur="420"/>
                                        <p:tgtEl>
                                          <p:spTgt spid="19"/>
                                        </p:tgtEl>
                                      </p:cBhvr>
                                    </p:animEffect>
                                  </p:childTnLst>
                                </p:cTn>
                              </p:par>
                              <p:par>
                                <p:cTn id="19" presetID="22" presetClass="entr" presetSubtype="1"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right)">
                                      <p:cBhvr>
                                        <p:cTn id="21" dur="420"/>
                                        <p:tgtEl>
                                          <p:spTgt spid="20"/>
                                        </p:tgtEl>
                                      </p:cBhvr>
                                    </p:animEffect>
                                  </p:childTnLst>
                                </p:cTn>
                              </p:par>
                              <p:par>
                                <p:cTn id="22" presetID="22" presetClass="entr" presetSubtype="1"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right)">
                                      <p:cBhvr>
                                        <p:cTn id="24" dur="42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wipe(right)">
                                      <p:cBhvr>
                                        <p:cTn id="29" dur="420"/>
                                        <p:tgtEl>
                                          <p:spTgt spid="22"/>
                                        </p:tgtEl>
                                      </p:cBhvr>
                                    </p:animEffect>
                                  </p:childTnLst>
                                </p:cTn>
                              </p:par>
                              <p:par>
                                <p:cTn id="30" presetID="22" presetClass="entr" presetSubtype="1"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right)">
                                      <p:cBhvr>
                                        <p:cTn id="32" dur="420"/>
                                        <p:tgtEl>
                                          <p:spTgt spid="23"/>
                                        </p:tgtEl>
                                      </p:cBhvr>
                                    </p:animEffect>
                                  </p:childTnLst>
                                </p:cTn>
                              </p:par>
                              <p:par>
                                <p:cTn id="33" presetID="22" presetClass="entr" presetSubtype="1"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right)">
                                      <p:cBhvr>
                                        <p:cTn id="35" dur="420"/>
                                        <p:tgtEl>
                                          <p:spTgt spid="24"/>
                                        </p:tgtEl>
                                      </p:cBhvr>
                                    </p:animEffect>
                                  </p:childTnLst>
                                </p:cTn>
                              </p:par>
                              <p:par>
                                <p:cTn id="36" presetID="22" presetClass="entr" presetSubtype="1"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right)">
                                      <p:cBhvr>
                                        <p:cTn id="38" dur="42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420" decel="60000" fill="hold"/>
                                        <p:tgtEl>
                                          <p:spTgt spid="26"/>
                                        </p:tgtEl>
                                        <p:attrNameLst>
                                          <p:attrName>ppt_y</p:attrName>
                                        </p:attrNameLst>
                                      </p:cBhvr>
                                      <p:tavLst>
                                        <p:tav tm="0">
                                          <p:val>
                                            <p:strVal val="#ppt_y+.014"/>
                                          </p:val>
                                        </p:tav>
                                        <p:tav tm="100000">
                                          <p:val>
                                            <p:strVal val="#ppt_y"/>
                                          </p:val>
                                        </p:tav>
                                      </p:tavLst>
                                    </p:anim>
                                    <p:animEffect transition="in" filter="fade">
                                      <p:cBhvr>
                                        <p:cTn id="44" dur="420"/>
                                        <p:tgtEl>
                                          <p:spTgt spid="26"/>
                                        </p:tgtEl>
                                      </p:cBhvr>
                                    </p:animEffect>
                                  </p:childTnLst>
                                </p:cTn>
                              </p:par>
                              <p:par>
                                <p:cTn id="45" presetID="42"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420" decel="60000" fill="hold"/>
                                        <p:tgtEl>
                                          <p:spTgt spid="27"/>
                                        </p:tgtEl>
                                        <p:attrNameLst>
                                          <p:attrName>ppt_y</p:attrName>
                                        </p:attrNameLst>
                                      </p:cBhvr>
                                      <p:tavLst>
                                        <p:tav tm="0">
                                          <p:val>
                                            <p:strVal val="#ppt_y+.014"/>
                                          </p:val>
                                        </p:tav>
                                        <p:tav tm="100000">
                                          <p:val>
                                            <p:strVal val="#ppt_y"/>
                                          </p:val>
                                        </p:tav>
                                      </p:tavLst>
                                    </p:anim>
                                    <p:animEffect transition="in" filter="fade">
                                      <p:cBhvr>
                                        <p:cTn id="48" dur="420"/>
                                        <p:tgtEl>
                                          <p:spTgt spid="27"/>
                                        </p:tgtEl>
                                      </p:cBhvr>
                                    </p:animEffect>
                                  </p:childTnLst>
                                </p:cTn>
                              </p:par>
                              <p:par>
                                <p:cTn id="49" presetID="42"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additive="base">
                                        <p:cTn id="51" dur="420" decel="60000" fill="hold"/>
                                        <p:tgtEl>
                                          <p:spTgt spid="28"/>
                                        </p:tgtEl>
                                        <p:attrNameLst>
                                          <p:attrName>ppt_y</p:attrName>
                                        </p:attrNameLst>
                                      </p:cBhvr>
                                      <p:tavLst>
                                        <p:tav tm="0">
                                          <p:val>
                                            <p:strVal val="#ppt_y+.014"/>
                                          </p:val>
                                        </p:tav>
                                        <p:tav tm="100000">
                                          <p:val>
                                            <p:strVal val="#ppt_y"/>
                                          </p:val>
                                        </p:tav>
                                      </p:tavLst>
                                    </p:anim>
                                    <p:animEffect transition="in" filter="fade">
                                      <p:cBhvr>
                                        <p:cTn id="52" dur="42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ACCESS</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Give access when the task needs it</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Two different things, often confused.</a:t>
            </a:r>
            <a:endParaRPr lang="en-US" sz="1900" dirty="0"/>
          </a:p>
        </p:txBody>
      </p:sp>
      <p:sp>
        <p:nvSpPr>
          <p:cNvPr id="5" name="Shape 3"/>
          <p:cNvSpPr/>
          <p:nvPr/>
        </p:nvSpPr>
        <p:spPr>
          <a:xfrm>
            <a:off x="566928" y="1828800"/>
            <a:ext cx="5486400" cy="777240"/>
          </a:xfrm>
          <a:prstGeom prst="roundRect">
            <a:avLst>
              <a:gd name="adj" fmla="val 15294"/>
            </a:avLst>
          </a:prstGeom>
          <a:solidFill>
            <a:srgbClr val="0E1219"/>
          </a:solidFill>
          <a:ln w="12700">
            <a:solidFill>
              <a:srgbClr val="1A212C"/>
            </a:solidFill>
            <a:prstDash val="solid"/>
          </a:ln>
        </p:spPr>
        <p:txBody>
          <a:bodyPr/>
          <a:lstStyle/>
          <a:p>
            <a:endParaRPr lang="en-US"/>
          </a:p>
        </p:txBody>
      </p:sp>
      <p:sp>
        <p:nvSpPr>
          <p:cNvPr id="6" name="Text 4"/>
          <p:cNvSpPr/>
          <p:nvPr/>
        </p:nvSpPr>
        <p:spPr>
          <a:xfrm>
            <a:off x="804672" y="1984248"/>
            <a:ext cx="5010912" cy="228600"/>
          </a:xfrm>
          <a:prstGeom prst="rect">
            <a:avLst/>
          </a:prstGeom>
          <a:noFill/>
          <a:ln/>
        </p:spPr>
        <p:txBody>
          <a:bodyPr wrap="square" rtlCol="0" anchor="t"/>
          <a:lstStyle/>
          <a:p>
            <a:pPr marL="0" indent="0">
              <a:lnSpc>
                <a:spcPct val="105000"/>
              </a:lnSpc>
              <a:buNone/>
            </a:pPr>
            <a:r>
              <a:rPr lang="en-US" sz="1700" b="1" dirty="0">
                <a:solidFill>
                  <a:srgbClr val="A99AFF"/>
                </a:solidFill>
                <a:latin typeface="Helvetica Neue" pitchFamily="34" charset="0"/>
                <a:ea typeface="Helvetica Neue" pitchFamily="34" charset="-122"/>
                <a:cs typeface="Helvetica Neue" pitchFamily="34" charset="-120"/>
              </a:rPr>
              <a:t>Tools and MCP servers</a:t>
            </a:r>
            <a:endParaRPr lang="en-US" sz="1700" dirty="0"/>
          </a:p>
        </p:txBody>
      </p:sp>
      <p:sp>
        <p:nvSpPr>
          <p:cNvPr id="7" name="Text 5"/>
          <p:cNvSpPr/>
          <p:nvPr/>
        </p:nvSpPr>
        <p:spPr>
          <a:xfrm>
            <a:off x="804672" y="2267712"/>
            <a:ext cx="5010912" cy="201168"/>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Access the agent otherwise lacks.</a:t>
            </a:r>
            <a:endParaRPr lang="en-US" sz="1500" dirty="0"/>
          </a:p>
        </p:txBody>
      </p:sp>
      <p:sp>
        <p:nvSpPr>
          <p:cNvPr id="8" name="Shape 6"/>
          <p:cNvSpPr/>
          <p:nvPr/>
        </p:nvSpPr>
        <p:spPr>
          <a:xfrm>
            <a:off x="6309360" y="1828800"/>
            <a:ext cx="5303520" cy="777240"/>
          </a:xfrm>
          <a:prstGeom prst="roundRect">
            <a:avLst>
              <a:gd name="adj" fmla="val 15294"/>
            </a:avLst>
          </a:prstGeom>
          <a:solidFill>
            <a:srgbClr val="0E1219"/>
          </a:solidFill>
          <a:ln w="12700">
            <a:solidFill>
              <a:srgbClr val="1A212C"/>
            </a:solidFill>
            <a:prstDash val="solid"/>
          </a:ln>
        </p:spPr>
        <p:txBody>
          <a:bodyPr/>
          <a:lstStyle/>
          <a:p>
            <a:endParaRPr lang="en-US"/>
          </a:p>
        </p:txBody>
      </p:sp>
      <p:sp>
        <p:nvSpPr>
          <p:cNvPr id="9" name="Text 7"/>
          <p:cNvSpPr/>
          <p:nvPr/>
        </p:nvSpPr>
        <p:spPr>
          <a:xfrm>
            <a:off x="6547104" y="1984248"/>
            <a:ext cx="4828032" cy="228600"/>
          </a:xfrm>
          <a:prstGeom prst="rect">
            <a:avLst/>
          </a:prstGeom>
          <a:noFill/>
          <a:ln/>
        </p:spPr>
        <p:txBody>
          <a:bodyPr wrap="square" rtlCol="0" anchor="t"/>
          <a:lstStyle/>
          <a:p>
            <a:pPr marL="0" indent="0">
              <a:lnSpc>
                <a:spcPct val="105000"/>
              </a:lnSpc>
              <a:buNone/>
            </a:pPr>
            <a:r>
              <a:rPr lang="en-US" sz="1700" b="1" dirty="0">
                <a:solidFill>
                  <a:srgbClr val="75EDBB"/>
                </a:solidFill>
                <a:latin typeface="Helvetica Neue" pitchFamily="34" charset="0"/>
                <a:ea typeface="Helvetica Neue" pitchFamily="34" charset="-122"/>
                <a:cs typeface="Helvetica Neue" pitchFamily="34" charset="-120"/>
              </a:rPr>
              <a:t>Skills</a:t>
            </a:r>
            <a:endParaRPr lang="en-US" sz="1700" dirty="0"/>
          </a:p>
        </p:txBody>
      </p:sp>
      <p:sp>
        <p:nvSpPr>
          <p:cNvPr id="10" name="Text 8"/>
          <p:cNvSpPr/>
          <p:nvPr/>
        </p:nvSpPr>
        <p:spPr>
          <a:xfrm>
            <a:off x="6547104" y="2267712"/>
            <a:ext cx="4828032" cy="201168"/>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 procedure the agent can repeat.</a:t>
            </a:r>
            <a:endParaRPr lang="en-US" sz="1500" dirty="0"/>
          </a:p>
        </p:txBody>
      </p:sp>
      <p:sp>
        <p:nvSpPr>
          <p:cNvPr id="11" name="Text 9"/>
          <p:cNvSpPr/>
          <p:nvPr/>
        </p:nvSpPr>
        <p:spPr>
          <a:xfrm>
            <a:off x="566928" y="2788920"/>
            <a:ext cx="2651760" cy="256032"/>
          </a:xfrm>
          <a:prstGeom prst="rect">
            <a:avLst/>
          </a:prstGeom>
          <a:noFill/>
          <a:ln/>
        </p:spPr>
        <p:txBody>
          <a:bodyPr wrap="square" rtlCol="0" anchor="t"/>
          <a:lstStyle/>
          <a:p>
            <a:pPr marL="0" indent="0">
              <a:lnSpc>
                <a:spcPct val="105000"/>
              </a:lnSpc>
              <a:buNone/>
            </a:pPr>
            <a:r>
              <a:rPr lang="en-US" sz="1100" b="1" kern="0" spc="200" dirty="0">
                <a:solidFill>
                  <a:srgbClr val="6F7B8D"/>
                </a:solidFill>
                <a:latin typeface="Helvetica Neue" pitchFamily="34" charset="0"/>
                <a:ea typeface="Helvetica Neue" pitchFamily="34" charset="-122"/>
                <a:cs typeface="Helvetica Neue" pitchFamily="34" charset="-120"/>
              </a:rPr>
              <a:t>AVAILABLE</a:t>
            </a:r>
            <a:endParaRPr lang="en-US" sz="1100" dirty="0"/>
          </a:p>
        </p:txBody>
      </p:sp>
      <p:sp>
        <p:nvSpPr>
          <p:cNvPr id="12" name="Shape 10"/>
          <p:cNvSpPr/>
          <p:nvPr/>
        </p:nvSpPr>
        <p:spPr>
          <a:xfrm>
            <a:off x="566928" y="3154680"/>
            <a:ext cx="2651760" cy="530352"/>
          </a:xfrm>
          <a:prstGeom prst="roundRect">
            <a:avLst>
              <a:gd name="adj" fmla="val 17241"/>
            </a:avLst>
          </a:prstGeom>
          <a:solidFill>
            <a:srgbClr val="141A24"/>
          </a:solidFill>
          <a:ln w="12700">
            <a:solidFill>
              <a:srgbClr val="75EDBB"/>
            </a:solidFill>
            <a:prstDash val="solid"/>
          </a:ln>
        </p:spPr>
        <p:txBody>
          <a:bodyPr/>
          <a:lstStyle/>
          <a:p>
            <a:endParaRPr lang="en-US"/>
          </a:p>
        </p:txBody>
      </p:sp>
      <p:sp>
        <p:nvSpPr>
          <p:cNvPr id="13" name="Text 11"/>
          <p:cNvSpPr/>
          <p:nvPr/>
        </p:nvSpPr>
        <p:spPr>
          <a:xfrm>
            <a:off x="713232" y="3154680"/>
            <a:ext cx="2359152" cy="530352"/>
          </a:xfrm>
          <a:prstGeom prst="rect">
            <a:avLst/>
          </a:prstGeom>
          <a:noFill/>
          <a:ln/>
        </p:spPr>
        <p:txBody>
          <a:bodyPr wrap="square" rtlCol="0" anchor="ctr"/>
          <a:lstStyle/>
          <a:p>
            <a:pPr marL="0" indent="0" algn="ctr">
              <a:lnSpc>
                <a:spcPct val="105000"/>
              </a:lnSpc>
              <a:buNone/>
            </a:pPr>
            <a:r>
              <a:rPr lang="en-US" sz="1500" dirty="0">
                <a:solidFill>
                  <a:srgbClr val="F3F6FA"/>
                </a:solidFill>
                <a:latin typeface="Helvetica Neue" pitchFamily="34" charset="0"/>
                <a:ea typeface="Helvetica Neue" pitchFamily="34" charset="-122"/>
                <a:cs typeface="Helvetica Neue" pitchFamily="34" charset="-120"/>
              </a:rPr>
              <a:t>repo tools</a:t>
            </a:r>
            <a:endParaRPr lang="en-US" sz="1500" dirty="0"/>
          </a:p>
        </p:txBody>
      </p:sp>
      <p:sp>
        <p:nvSpPr>
          <p:cNvPr id="14" name="b01-wipe-capability-selected"/>
          <p:cNvSpPr/>
          <p:nvPr/>
        </p:nvSpPr>
        <p:spPr>
          <a:xfrm>
            <a:off x="3218688" y="3419856"/>
            <a:ext cx="777240" cy="0"/>
          </a:xfrm>
          <a:prstGeom prst="line">
            <a:avLst/>
          </a:prstGeom>
          <a:noFill/>
          <a:ln w="19050">
            <a:solidFill>
              <a:srgbClr val="75EDBB"/>
            </a:solidFill>
            <a:prstDash val="solid"/>
            <a:tailEnd type="triangle"/>
          </a:ln>
        </p:spPr>
        <p:txBody>
          <a:bodyPr/>
          <a:lstStyle/>
          <a:p>
            <a:endParaRPr lang="en-US"/>
          </a:p>
        </p:txBody>
      </p:sp>
      <p:sp>
        <p:nvSpPr>
          <p:cNvPr id="15" name="Shape 13"/>
          <p:cNvSpPr/>
          <p:nvPr/>
        </p:nvSpPr>
        <p:spPr>
          <a:xfrm>
            <a:off x="566928" y="3739896"/>
            <a:ext cx="2651760" cy="530352"/>
          </a:xfrm>
          <a:prstGeom prst="roundRect">
            <a:avLst>
              <a:gd name="adj" fmla="val 17241"/>
            </a:avLst>
          </a:prstGeom>
          <a:solidFill>
            <a:srgbClr val="141A24"/>
          </a:solidFill>
          <a:ln w="12700">
            <a:solidFill>
              <a:srgbClr val="75EDBB"/>
            </a:solidFill>
            <a:prstDash val="solid"/>
          </a:ln>
        </p:spPr>
        <p:txBody>
          <a:bodyPr/>
          <a:lstStyle/>
          <a:p>
            <a:endParaRPr lang="en-US"/>
          </a:p>
        </p:txBody>
      </p:sp>
      <p:sp>
        <p:nvSpPr>
          <p:cNvPr id="16" name="Text 14"/>
          <p:cNvSpPr/>
          <p:nvPr/>
        </p:nvSpPr>
        <p:spPr>
          <a:xfrm>
            <a:off x="713232" y="3739896"/>
            <a:ext cx="2359152" cy="530352"/>
          </a:xfrm>
          <a:prstGeom prst="rect">
            <a:avLst/>
          </a:prstGeom>
          <a:noFill/>
          <a:ln/>
        </p:spPr>
        <p:txBody>
          <a:bodyPr wrap="square" rtlCol="0" anchor="ctr"/>
          <a:lstStyle/>
          <a:p>
            <a:pPr marL="0" indent="0" algn="ctr">
              <a:lnSpc>
                <a:spcPct val="105000"/>
              </a:lnSpc>
              <a:buNone/>
            </a:pPr>
            <a:r>
              <a:rPr lang="en-US" sz="1500" dirty="0">
                <a:solidFill>
                  <a:srgbClr val="F3F6FA"/>
                </a:solidFill>
                <a:latin typeface="Helvetica Neue" pitchFamily="34" charset="0"/>
                <a:ea typeface="Helvetica Neue" pitchFamily="34" charset="-122"/>
                <a:cs typeface="Helvetica Neue" pitchFamily="34" charset="-120"/>
              </a:rPr>
              <a:t>test runner</a:t>
            </a:r>
            <a:endParaRPr lang="en-US" sz="1500" dirty="0"/>
          </a:p>
        </p:txBody>
      </p:sp>
      <p:sp>
        <p:nvSpPr>
          <p:cNvPr id="17" name="b01-wipe-capability-selected"/>
          <p:cNvSpPr/>
          <p:nvPr/>
        </p:nvSpPr>
        <p:spPr>
          <a:xfrm>
            <a:off x="3218688" y="4005072"/>
            <a:ext cx="777240" cy="0"/>
          </a:xfrm>
          <a:prstGeom prst="line">
            <a:avLst/>
          </a:prstGeom>
          <a:noFill/>
          <a:ln w="19050">
            <a:solidFill>
              <a:srgbClr val="75EDBB"/>
            </a:solidFill>
            <a:prstDash val="solid"/>
            <a:tailEnd type="triangle"/>
          </a:ln>
        </p:spPr>
        <p:txBody>
          <a:bodyPr/>
          <a:lstStyle/>
          <a:p>
            <a:endParaRPr lang="en-US"/>
          </a:p>
        </p:txBody>
      </p:sp>
      <p:sp>
        <p:nvSpPr>
          <p:cNvPr id="18" name="Shape 16"/>
          <p:cNvSpPr/>
          <p:nvPr/>
        </p:nvSpPr>
        <p:spPr>
          <a:xfrm>
            <a:off x="566928" y="4325112"/>
            <a:ext cx="2651760" cy="530352"/>
          </a:xfrm>
          <a:prstGeom prst="roundRect">
            <a:avLst>
              <a:gd name="adj" fmla="val 17241"/>
            </a:avLst>
          </a:prstGeom>
          <a:solidFill>
            <a:srgbClr val="0A0D13"/>
          </a:solidFill>
          <a:ln w="12700">
            <a:solidFill>
              <a:srgbClr val="1A212C"/>
            </a:solidFill>
            <a:prstDash val="dash"/>
          </a:ln>
        </p:spPr>
        <p:txBody>
          <a:bodyPr/>
          <a:lstStyle/>
          <a:p>
            <a:endParaRPr lang="en-US"/>
          </a:p>
        </p:txBody>
      </p:sp>
      <p:sp>
        <p:nvSpPr>
          <p:cNvPr id="19" name="Text 17"/>
          <p:cNvSpPr/>
          <p:nvPr/>
        </p:nvSpPr>
        <p:spPr>
          <a:xfrm>
            <a:off x="713232" y="4325112"/>
            <a:ext cx="2359152" cy="530352"/>
          </a:xfrm>
          <a:prstGeom prst="rect">
            <a:avLst/>
          </a:prstGeom>
          <a:noFill/>
          <a:ln/>
        </p:spPr>
        <p:txBody>
          <a:bodyPr wrap="square" rtlCol="0" anchor="ctr"/>
          <a:lstStyle/>
          <a:p>
            <a:pPr marL="0" indent="0" algn="ctr">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cloud deploy</a:t>
            </a:r>
            <a:endParaRPr lang="en-US" sz="1500" dirty="0"/>
          </a:p>
        </p:txBody>
      </p:sp>
      <p:sp>
        <p:nvSpPr>
          <p:cNvPr id="20" name="Shape 18"/>
          <p:cNvSpPr/>
          <p:nvPr/>
        </p:nvSpPr>
        <p:spPr>
          <a:xfrm>
            <a:off x="566928" y="4910328"/>
            <a:ext cx="2651760" cy="530352"/>
          </a:xfrm>
          <a:prstGeom prst="roundRect">
            <a:avLst>
              <a:gd name="adj" fmla="val 17241"/>
            </a:avLst>
          </a:prstGeom>
          <a:solidFill>
            <a:srgbClr val="0A0D13"/>
          </a:solidFill>
          <a:ln w="12700">
            <a:solidFill>
              <a:srgbClr val="1A212C"/>
            </a:solidFill>
            <a:prstDash val="dash"/>
          </a:ln>
        </p:spPr>
        <p:txBody>
          <a:bodyPr/>
          <a:lstStyle/>
          <a:p>
            <a:endParaRPr lang="en-US"/>
          </a:p>
        </p:txBody>
      </p:sp>
      <p:sp>
        <p:nvSpPr>
          <p:cNvPr id="21" name="Text 19"/>
          <p:cNvSpPr/>
          <p:nvPr/>
        </p:nvSpPr>
        <p:spPr>
          <a:xfrm>
            <a:off x="713232" y="4910328"/>
            <a:ext cx="2359152" cy="530352"/>
          </a:xfrm>
          <a:prstGeom prst="rect">
            <a:avLst/>
          </a:prstGeom>
          <a:noFill/>
          <a:ln/>
        </p:spPr>
        <p:txBody>
          <a:bodyPr wrap="square" rtlCol="0" anchor="ctr"/>
          <a:lstStyle/>
          <a:p>
            <a:pPr marL="0" indent="0" algn="ctr">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browser driver</a:t>
            </a:r>
            <a:endParaRPr lang="en-US" sz="1500" dirty="0"/>
          </a:p>
        </p:txBody>
      </p:sp>
      <p:sp>
        <p:nvSpPr>
          <p:cNvPr id="22" name="Shape 20"/>
          <p:cNvSpPr/>
          <p:nvPr/>
        </p:nvSpPr>
        <p:spPr>
          <a:xfrm>
            <a:off x="4023360" y="2788920"/>
            <a:ext cx="7589520" cy="2423160"/>
          </a:xfrm>
          <a:prstGeom prst="roundRect">
            <a:avLst>
              <a:gd name="adj" fmla="val 7547"/>
            </a:avLst>
          </a:prstGeom>
          <a:solidFill>
            <a:srgbClr val="0A0D13"/>
          </a:solidFill>
          <a:ln w="15875">
            <a:solidFill>
              <a:srgbClr val="75EDBB"/>
            </a:solidFill>
            <a:prstDash val="dash"/>
          </a:ln>
        </p:spPr>
        <p:txBody>
          <a:bodyPr/>
          <a:lstStyle/>
          <a:p>
            <a:endParaRPr lang="en-US"/>
          </a:p>
        </p:txBody>
      </p:sp>
      <p:sp>
        <p:nvSpPr>
          <p:cNvPr id="23" name="Text 21"/>
          <p:cNvSpPr/>
          <p:nvPr/>
        </p:nvSpPr>
        <p:spPr>
          <a:xfrm>
            <a:off x="4315968" y="2944368"/>
            <a:ext cx="6949440" cy="274320"/>
          </a:xfrm>
          <a:prstGeom prst="rect">
            <a:avLst/>
          </a:prstGeom>
          <a:noFill/>
          <a:ln/>
        </p:spPr>
        <p:txBody>
          <a:bodyPr wrap="square" rtlCol="0" anchor="t"/>
          <a:lstStyle/>
          <a:p>
            <a:pPr marL="0" indent="0">
              <a:lnSpc>
                <a:spcPct val="105000"/>
              </a:lnSpc>
              <a:buNone/>
            </a:pPr>
            <a:r>
              <a:rPr lang="en-US" sz="1200" b="1" kern="0" spc="200" dirty="0">
                <a:solidFill>
                  <a:srgbClr val="75EDBB"/>
                </a:solidFill>
                <a:latin typeface="Helvetica Neue" pitchFamily="34" charset="0"/>
                <a:ea typeface="Helvetica Neue" pitchFamily="34" charset="-122"/>
                <a:cs typeface="Helvetica Neue" pitchFamily="34" charset="-120"/>
              </a:rPr>
              <a:t>THIS TASK</a:t>
            </a:r>
            <a:endParaRPr lang="en-US" sz="1200" dirty="0"/>
          </a:p>
        </p:txBody>
      </p:sp>
      <p:sp>
        <p:nvSpPr>
          <p:cNvPr id="24" name="b01-fade-task-grants"/>
          <p:cNvSpPr/>
          <p:nvPr/>
        </p:nvSpPr>
        <p:spPr>
          <a:xfrm>
            <a:off x="4315968" y="3364992"/>
            <a:ext cx="7004304" cy="777240"/>
          </a:xfrm>
          <a:prstGeom prst="roundRect">
            <a:avLst>
              <a:gd name="adj" fmla="val 15294"/>
            </a:avLst>
          </a:prstGeom>
          <a:solidFill>
            <a:srgbClr val="0E1219"/>
          </a:solidFill>
          <a:ln w="12700">
            <a:solidFill>
              <a:srgbClr val="232C3A"/>
            </a:solidFill>
            <a:prstDash val="solid"/>
          </a:ln>
        </p:spPr>
        <p:txBody>
          <a:bodyPr/>
          <a:lstStyle/>
          <a:p>
            <a:endParaRPr lang="en-US"/>
          </a:p>
        </p:txBody>
      </p:sp>
      <p:sp>
        <p:nvSpPr>
          <p:cNvPr id="25" name="b01-fade-task-grants"/>
          <p:cNvSpPr/>
          <p:nvPr/>
        </p:nvSpPr>
        <p:spPr>
          <a:xfrm>
            <a:off x="4553712" y="3547872"/>
            <a:ext cx="6528816" cy="310896"/>
          </a:xfrm>
          <a:prstGeom prst="rect">
            <a:avLst/>
          </a:prstGeom>
          <a:noFill/>
          <a:ln/>
        </p:spPr>
        <p:txBody>
          <a:bodyPr wrap="square" rtlCol="0" anchor="t"/>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Access: edit src/invoices, run the test command</a:t>
            </a:r>
            <a:endParaRPr lang="en-US" sz="1700" dirty="0"/>
          </a:p>
        </p:txBody>
      </p:sp>
      <p:sp>
        <p:nvSpPr>
          <p:cNvPr id="26" name="b01-fade-task-grants"/>
          <p:cNvSpPr/>
          <p:nvPr/>
        </p:nvSpPr>
        <p:spPr>
          <a:xfrm>
            <a:off x="4315968" y="4261104"/>
            <a:ext cx="7004304" cy="777240"/>
          </a:xfrm>
          <a:prstGeom prst="roundRect">
            <a:avLst>
              <a:gd name="adj" fmla="val 15294"/>
            </a:avLst>
          </a:prstGeom>
          <a:solidFill>
            <a:srgbClr val="0E1219"/>
          </a:solidFill>
          <a:ln w="12700">
            <a:solidFill>
              <a:srgbClr val="232C3A"/>
            </a:solidFill>
            <a:prstDash val="solid"/>
          </a:ln>
        </p:spPr>
        <p:txBody>
          <a:bodyPr/>
          <a:lstStyle/>
          <a:p>
            <a:endParaRPr lang="en-US"/>
          </a:p>
        </p:txBody>
      </p:sp>
      <p:sp>
        <p:nvSpPr>
          <p:cNvPr id="27" name="b01-fade-task-grants"/>
          <p:cNvSpPr/>
          <p:nvPr/>
        </p:nvSpPr>
        <p:spPr>
          <a:xfrm>
            <a:off x="4553712" y="4443984"/>
            <a:ext cx="6528816" cy="310896"/>
          </a:xfrm>
          <a:prstGeom prst="rect">
            <a:avLst/>
          </a:prstGeom>
          <a:noFill/>
          <a:ln/>
        </p:spPr>
        <p:txBody>
          <a:bodyPr wrap="square" rtlCol="0" anchor="t"/>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Skill: run the fixture suite, report failures</a:t>
            </a:r>
            <a:endParaRPr lang="en-US" sz="1700" dirty="0"/>
          </a:p>
        </p:txBody>
      </p:sp>
      <p:sp>
        <p:nvSpPr>
          <p:cNvPr id="28" name="b02-rise-access-rule"/>
          <p:cNvSpPr/>
          <p:nvPr/>
        </p:nvSpPr>
        <p:spPr>
          <a:xfrm>
            <a:off x="566928" y="5532120"/>
            <a:ext cx="11064240" cy="566928"/>
          </a:xfrm>
          <a:prstGeom prst="roundRect">
            <a:avLst>
              <a:gd name="adj" fmla="val 20968"/>
            </a:avLst>
          </a:prstGeom>
          <a:solidFill>
            <a:srgbClr val="0E1219"/>
          </a:solidFill>
          <a:ln w="12700">
            <a:solidFill>
              <a:srgbClr val="232C3A"/>
            </a:solidFill>
            <a:prstDash val="solid"/>
          </a:ln>
        </p:spPr>
        <p:txBody>
          <a:bodyPr/>
          <a:lstStyle/>
          <a:p>
            <a:endParaRPr lang="en-US"/>
          </a:p>
        </p:txBody>
      </p:sp>
      <p:sp>
        <p:nvSpPr>
          <p:cNvPr id="29" name="b02-rise-access-rule"/>
          <p:cNvSpPr/>
          <p:nvPr/>
        </p:nvSpPr>
        <p:spPr>
          <a:xfrm>
            <a:off x="841248" y="5532120"/>
            <a:ext cx="10515600" cy="566928"/>
          </a:xfrm>
          <a:prstGeom prst="rect">
            <a:avLst/>
          </a:prstGeom>
          <a:noFill/>
          <a:ln/>
        </p:spPr>
        <p:txBody>
          <a:bodyPr wrap="square" rtlCol="0" anchor="ctr"/>
          <a:lstStyle/>
          <a:p>
            <a:pPr marL="0" indent="0">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Grant what the task needs. Standing extras can wait.</a:t>
            </a:r>
            <a:endParaRPr lang="en-US" sz="1800" dirty="0"/>
          </a:p>
        </p:txBody>
      </p:sp>
      <p:sp>
        <p:nvSpPr>
          <p:cNvPr id="30" name="Text 28"/>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Prefer an isolated test identity over anything with production reach.</a:t>
            </a:r>
            <a:endParaRPr lang="en-US" sz="1100" dirty="0"/>
          </a:p>
        </p:txBody>
      </p:sp>
      <p:sp>
        <p:nvSpPr>
          <p:cNvPr id="31" name="Text 29"/>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10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420"/>
                                        <p:tgtEl>
                                          <p:spTgt spid="14"/>
                                        </p:tgtEl>
                                      </p:cBhvr>
                                    </p:animEffect>
                                  </p:childTnLst>
                                </p:cTn>
                              </p:par>
                              <p:par>
                                <p:cTn id="8" presetID="22" presetClass="entr" presetSubtype="1"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right)">
                                      <p:cBhvr>
                                        <p:cTn id="10" dur="42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2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20"/>
                                        <p:tgtEl>
                                          <p:spTgt spid="25"/>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2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2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420" decel="60000" fill="hold"/>
                                        <p:tgtEl>
                                          <p:spTgt spid="28"/>
                                        </p:tgtEl>
                                        <p:attrNameLst>
                                          <p:attrName>ppt_y</p:attrName>
                                        </p:attrNameLst>
                                      </p:cBhvr>
                                      <p:tavLst>
                                        <p:tav tm="0">
                                          <p:val>
                                            <p:strVal val="#ppt_y+.014"/>
                                          </p:val>
                                        </p:tav>
                                        <p:tav tm="100000">
                                          <p:val>
                                            <p:strVal val="#ppt_y"/>
                                          </p:val>
                                        </p:tav>
                                      </p:tavLst>
                                    </p:anim>
                                    <p:animEffect transition="in" filter="fade">
                                      <p:cBhvr>
                                        <p:cTn id="28" dur="420"/>
                                        <p:tgtEl>
                                          <p:spTgt spid="28"/>
                                        </p:tgtEl>
                                      </p:cBhvr>
                                    </p:animEffect>
                                  </p:childTnLst>
                                </p:cTn>
                              </p:par>
                              <p:par>
                                <p:cTn id="29" presetID="42"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420" decel="60000" fill="hold"/>
                                        <p:tgtEl>
                                          <p:spTgt spid="29"/>
                                        </p:tgtEl>
                                        <p:attrNameLst>
                                          <p:attrName>ppt_y</p:attrName>
                                        </p:attrNameLst>
                                      </p:cBhvr>
                                      <p:tavLst>
                                        <p:tav tm="0">
                                          <p:val>
                                            <p:strVal val="#ppt_y+.014"/>
                                          </p:val>
                                        </p:tav>
                                        <p:tav tm="100000">
                                          <p:val>
                                            <p:strVal val="#ppt_y"/>
                                          </p:val>
                                        </p:tav>
                                      </p:tavLst>
                                    </p:anim>
                                    <p:animEffect transition="in" filter="fade">
                                      <p:cBhvr>
                                        <p:cTn id="32" dur="42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90D"/>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0607040" cy="274320"/>
          </a:xfrm>
          <a:prstGeom prst="rect">
            <a:avLst/>
          </a:prstGeom>
          <a:noFill/>
        </p:spPr>
        <p:txBody>
          <a:bodyPr wrap="square" lIns="0" tIns="0" rIns="0" bIns="0" anchor="t">
            <a:spAutoFit/>
          </a:bodyPr>
          <a:lstStyle/>
          <a:p>
            <a:pPr algn="l">
              <a:lnSpc>
                <a:spcPct val="105000"/>
              </a:lnSpc>
            </a:pPr>
            <a:r>
              <a:rPr sz="1200" b="1" spc="260">
                <a:solidFill>
                  <a:srgbClr val="75EDBB"/>
                </a:solidFill>
                <a:latin typeface="Helvetica Neue"/>
                <a:ea typeface="Helvetica Neue"/>
                <a:cs typeface="Helvetica Neue"/>
              </a:rPr>
              <a:t>GUARDRAILS</a:t>
            </a:r>
          </a:p>
        </p:txBody>
      </p:sp>
      <p:sp>
        <p:nvSpPr>
          <p:cNvPr id="3" name="TextBox 2"/>
          <p:cNvSpPr txBox="1"/>
          <p:nvPr/>
        </p:nvSpPr>
        <p:spPr>
          <a:xfrm>
            <a:off x="566928" y="585216"/>
            <a:ext cx="10789920" cy="731520"/>
          </a:xfrm>
          <a:prstGeom prst="rect">
            <a:avLst/>
          </a:prstGeom>
          <a:noFill/>
        </p:spPr>
        <p:txBody>
          <a:bodyPr wrap="square" lIns="0" tIns="0" rIns="0" bIns="0" anchor="ctr">
            <a:spAutoFit/>
          </a:bodyPr>
          <a:lstStyle/>
          <a:p>
            <a:pPr algn="l">
              <a:lnSpc>
                <a:spcPct val="95000"/>
              </a:lnSpc>
            </a:pPr>
            <a:r>
              <a:rPr sz="3800" b="0">
                <a:solidFill>
                  <a:srgbClr val="F3F6FA"/>
                </a:solidFill>
                <a:latin typeface="Avenir Next"/>
                <a:ea typeface="Avenir Next"/>
                <a:cs typeface="Avenir Next"/>
              </a:rPr>
              <a:t>Put controls before actions</a:t>
            </a:r>
          </a:p>
        </p:txBody>
      </p:sp>
      <p:sp>
        <p:nvSpPr>
          <p:cNvPr id="4" name="TextBox 3"/>
          <p:cNvSpPr txBox="1"/>
          <p:nvPr/>
        </p:nvSpPr>
        <p:spPr>
          <a:xfrm>
            <a:off x="566928" y="1335024"/>
            <a:ext cx="9692640" cy="384048"/>
          </a:xfrm>
          <a:prstGeom prst="rect">
            <a:avLst/>
          </a:prstGeom>
          <a:noFill/>
        </p:spPr>
        <p:txBody>
          <a:bodyPr wrap="square" lIns="0" tIns="0" rIns="0" bIns="0" anchor="t">
            <a:spAutoFit/>
          </a:bodyPr>
          <a:lstStyle/>
          <a:p>
            <a:pPr algn="l">
              <a:lnSpc>
                <a:spcPct val="105000"/>
              </a:lnSpc>
            </a:pPr>
            <a:r>
              <a:rPr sz="1900" b="0">
                <a:solidFill>
                  <a:srgbClr val="B2BDCD"/>
                </a:solidFill>
                <a:latin typeface="Helvetica Neue"/>
                <a:ea typeface="Helvetica Neue"/>
                <a:cs typeface="Helvetica Neue"/>
              </a:rPr>
              <a:t>The model proposes. The runtime decides what is allowed to run.</a:t>
            </a:r>
          </a:p>
        </p:txBody>
      </p:sp>
      <p:sp>
        <p:nvSpPr>
          <p:cNvPr id="5" name="Rounded Rectangle 4"/>
          <p:cNvSpPr/>
          <p:nvPr/>
        </p:nvSpPr>
        <p:spPr>
          <a:xfrm>
            <a:off x="566928" y="2331720"/>
            <a:ext cx="3017520" cy="96012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04672" y="2505456"/>
            <a:ext cx="2560320" cy="256032"/>
          </a:xfrm>
          <a:prstGeom prst="rect">
            <a:avLst/>
          </a:prstGeom>
          <a:noFill/>
        </p:spPr>
        <p:txBody>
          <a:bodyPr wrap="square" lIns="0" tIns="0" rIns="0" bIns="0" anchor="t">
            <a:spAutoFit/>
          </a:bodyPr>
          <a:lstStyle/>
          <a:p>
            <a:pPr algn="l">
              <a:lnSpc>
                <a:spcPct val="105000"/>
              </a:lnSpc>
            </a:pPr>
            <a:r>
              <a:rPr sz="1700" b="1">
                <a:solidFill>
                  <a:srgbClr val="A99AFF"/>
                </a:solidFill>
                <a:latin typeface="Helvetica Neue"/>
                <a:ea typeface="Helvetica Neue"/>
                <a:cs typeface="Helvetica Neue"/>
              </a:rPr>
              <a:t>Model proposes</a:t>
            </a:r>
          </a:p>
        </p:txBody>
      </p:sp>
      <p:sp>
        <p:nvSpPr>
          <p:cNvPr id="7" name="TextBox 6"/>
          <p:cNvSpPr txBox="1"/>
          <p:nvPr/>
        </p:nvSpPr>
        <p:spPr>
          <a:xfrm>
            <a:off x="804672" y="2816352"/>
            <a:ext cx="2560320" cy="274320"/>
          </a:xfrm>
          <a:prstGeom prst="rect">
            <a:avLst/>
          </a:prstGeom>
          <a:noFill/>
        </p:spPr>
        <p:txBody>
          <a:bodyPr wrap="square" lIns="0" tIns="0" rIns="0" bIns="0" anchor="t">
            <a:spAutoFit/>
          </a:bodyPr>
          <a:lstStyle/>
          <a:p>
            <a:pPr algn="l">
              <a:lnSpc>
                <a:spcPct val="105000"/>
              </a:lnSpc>
            </a:pPr>
            <a:r>
              <a:rPr sz="1400" b="0">
                <a:solidFill>
                  <a:srgbClr val="B2BDCD"/>
                </a:solidFill>
                <a:latin typeface="Helvetica Neue"/>
                <a:ea typeface="Helvetica Neue"/>
                <a:cs typeface="Helvetica Neue"/>
              </a:rPr>
              <a:t>an action and its arguments</a:t>
            </a:r>
          </a:p>
        </p:txBody>
      </p:sp>
      <p:sp>
        <p:nvSpPr>
          <p:cNvPr id="8" name="Rectangle 7"/>
          <p:cNvSpPr/>
          <p:nvPr/>
        </p:nvSpPr>
        <p:spPr>
          <a:xfrm>
            <a:off x="3639312" y="2811780"/>
            <a:ext cx="384048"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078224" y="2331720"/>
            <a:ext cx="3017520" cy="960120"/>
          </a:xfrm>
          <a:prstGeom prst="roundRect">
            <a:avLst>
              <a:gd name="adj" fmla="val 15294"/>
            </a:avLst>
          </a:prstGeom>
          <a:solidFill>
            <a:srgbClr val="0A0D13"/>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315968" y="2505456"/>
            <a:ext cx="2560320" cy="256032"/>
          </a:xfrm>
          <a:prstGeom prst="rect">
            <a:avLst/>
          </a:prstGeom>
          <a:noFill/>
        </p:spPr>
        <p:txBody>
          <a:bodyPr wrap="square" lIns="0" tIns="0" rIns="0" bIns="0" anchor="t">
            <a:spAutoFit/>
          </a:bodyPr>
          <a:lstStyle/>
          <a:p>
            <a:pPr algn="l">
              <a:lnSpc>
                <a:spcPct val="105000"/>
              </a:lnSpc>
            </a:pPr>
            <a:r>
              <a:rPr sz="1700" b="1">
                <a:solidFill>
                  <a:srgbClr val="75EDBB"/>
                </a:solidFill>
                <a:latin typeface="Helvetica Neue"/>
                <a:ea typeface="Helvetica Neue"/>
                <a:cs typeface="Helvetica Neue"/>
              </a:rPr>
              <a:t>Runtime checks</a:t>
            </a:r>
          </a:p>
        </p:txBody>
      </p:sp>
      <p:sp>
        <p:nvSpPr>
          <p:cNvPr id="11" name="TextBox 10"/>
          <p:cNvSpPr txBox="1"/>
          <p:nvPr/>
        </p:nvSpPr>
        <p:spPr>
          <a:xfrm>
            <a:off x="4315968" y="2816352"/>
            <a:ext cx="2651760" cy="274320"/>
          </a:xfrm>
          <a:prstGeom prst="rect">
            <a:avLst/>
          </a:prstGeom>
          <a:noFill/>
        </p:spPr>
        <p:txBody>
          <a:bodyPr wrap="square" lIns="0" tIns="0" rIns="0" bIns="0" anchor="t">
            <a:spAutoFit/>
          </a:bodyPr>
          <a:lstStyle/>
          <a:p>
            <a:pPr algn="l">
              <a:lnSpc>
                <a:spcPct val="105000"/>
              </a:lnSpc>
            </a:pPr>
            <a:r>
              <a:rPr sz="1400" b="0">
                <a:solidFill>
                  <a:srgbClr val="B2BDCD"/>
                </a:solidFill>
                <a:latin typeface="Helvetica Neue"/>
                <a:ea typeface="Helvetica Neue"/>
                <a:cs typeface="Helvetica Neue"/>
              </a:rPr>
              <a:t>scope · trust · permission</a:t>
            </a:r>
          </a:p>
        </p:txBody>
      </p:sp>
      <p:sp>
        <p:nvSpPr>
          <p:cNvPr id="12" name="b01-wipe-verdicts"/>
          <p:cNvSpPr/>
          <p:nvPr/>
        </p:nvSpPr>
        <p:spPr>
          <a:xfrm>
            <a:off x="7132320" y="2811780"/>
            <a:ext cx="365760" cy="0"/>
          </a:xfrm>
          <a:prstGeom prst="line">
            <a:avLst/>
          </a:prstGeom>
          <a:noFill/>
          <a:ln w="19050">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b01-wipe-verdicts"/>
          <p:cNvSpPr/>
          <p:nvPr/>
        </p:nvSpPr>
        <p:spPr>
          <a:xfrm>
            <a:off x="7498079" y="2103120"/>
            <a:ext cx="0" cy="1417320"/>
          </a:xfrm>
          <a:prstGeom prst="line">
            <a:avLst/>
          </a:prstGeom>
          <a:noFill/>
          <a:ln w="19050">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b01-wipe-verdicts"/>
          <p:cNvSpPr/>
          <p:nvPr/>
        </p:nvSpPr>
        <p:spPr>
          <a:xfrm>
            <a:off x="7498079" y="2103120"/>
            <a:ext cx="182880"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b01-wipe-verdicts"/>
          <p:cNvSpPr/>
          <p:nvPr/>
        </p:nvSpPr>
        <p:spPr>
          <a:xfrm>
            <a:off x="7680960" y="1783080"/>
            <a:ext cx="3950208" cy="640080"/>
          </a:xfrm>
          <a:prstGeom prst="roundRect">
            <a:avLst>
              <a:gd name="adj" fmla="val 15294"/>
            </a:avLst>
          </a:prstGeom>
          <a:solidFill>
            <a:srgbClr val="0E1219"/>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b01-wipe-verdicts"/>
          <p:cNvSpPr txBox="1"/>
          <p:nvPr/>
        </p:nvSpPr>
        <p:spPr>
          <a:xfrm>
            <a:off x="7955279" y="1783080"/>
            <a:ext cx="3493008" cy="640080"/>
          </a:xfrm>
          <a:prstGeom prst="rect">
            <a:avLst/>
          </a:prstGeom>
          <a:noFill/>
        </p:spPr>
        <p:txBody>
          <a:bodyPr wrap="square" lIns="0" tIns="0" rIns="0" bIns="0" anchor="ctr">
            <a:spAutoFit/>
          </a:bodyPr>
          <a:lstStyle/>
          <a:p>
            <a:pPr algn="l">
              <a:lnSpc>
                <a:spcPct val="105000"/>
              </a:lnSpc>
            </a:pPr>
            <a:r>
              <a:rPr sz="1700" b="1">
                <a:solidFill>
                  <a:srgbClr val="75EDBB"/>
                </a:solidFill>
                <a:latin typeface="Helvetica Neue"/>
                <a:ea typeface="Helvetica Neue"/>
                <a:cs typeface="Helvetica Neue"/>
              </a:rPr>
              <a:t>Allow</a:t>
            </a:r>
            <a:r>
              <a:rPr sz="1400" b="0">
                <a:solidFill>
                  <a:srgbClr val="B2BDCD"/>
                </a:solidFill>
                <a:latin typeface="Helvetica Neue"/>
                <a:ea typeface="Helvetica Neue"/>
                <a:cs typeface="Helvetica Neue"/>
              </a:rPr>
              <a:t>   inside scope, reversible</a:t>
            </a:r>
          </a:p>
        </p:txBody>
      </p:sp>
      <p:sp>
        <p:nvSpPr>
          <p:cNvPr id="17" name="b01-wipe-verdicts"/>
          <p:cNvSpPr/>
          <p:nvPr/>
        </p:nvSpPr>
        <p:spPr>
          <a:xfrm>
            <a:off x="7498079" y="2811780"/>
            <a:ext cx="182880"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b01-wipe-verdicts"/>
          <p:cNvSpPr/>
          <p:nvPr/>
        </p:nvSpPr>
        <p:spPr>
          <a:xfrm>
            <a:off x="7680960" y="2491740"/>
            <a:ext cx="3950208" cy="640080"/>
          </a:xfrm>
          <a:prstGeom prst="roundRect">
            <a:avLst>
              <a:gd name="adj" fmla="val 15294"/>
            </a:avLst>
          </a:prstGeom>
          <a:solidFill>
            <a:srgbClr val="0E1219"/>
          </a:solidFill>
          <a:ln w="15875">
            <a:solidFill>
              <a:srgbClr val="FFCA8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b01-wipe-verdicts"/>
          <p:cNvSpPr txBox="1"/>
          <p:nvPr/>
        </p:nvSpPr>
        <p:spPr>
          <a:xfrm>
            <a:off x="7955279" y="2491740"/>
            <a:ext cx="3493008" cy="640080"/>
          </a:xfrm>
          <a:prstGeom prst="rect">
            <a:avLst/>
          </a:prstGeom>
          <a:noFill/>
        </p:spPr>
        <p:txBody>
          <a:bodyPr wrap="square" lIns="0" tIns="0" rIns="0" bIns="0" anchor="ctr">
            <a:spAutoFit/>
          </a:bodyPr>
          <a:lstStyle/>
          <a:p>
            <a:pPr algn="l">
              <a:lnSpc>
                <a:spcPct val="105000"/>
              </a:lnSpc>
            </a:pPr>
            <a:r>
              <a:rPr sz="1700" b="1">
                <a:solidFill>
                  <a:srgbClr val="FFCA83"/>
                </a:solidFill>
                <a:latin typeface="Helvetica Neue"/>
                <a:ea typeface="Helvetica Neue"/>
                <a:cs typeface="Helvetica Neue"/>
              </a:rPr>
              <a:t>Ask approval</a:t>
            </a:r>
            <a:r>
              <a:rPr sz="1400" b="0">
                <a:solidFill>
                  <a:srgbClr val="B2BDCD"/>
                </a:solidFill>
                <a:latin typeface="Helvetica Neue"/>
                <a:ea typeface="Helvetica Neue"/>
                <a:cs typeface="Helvetica Neue"/>
              </a:rPr>
              <a:t>   irreversible or sensitive</a:t>
            </a:r>
          </a:p>
        </p:txBody>
      </p:sp>
      <p:sp>
        <p:nvSpPr>
          <p:cNvPr id="20" name="b01-wipe-verdicts"/>
          <p:cNvSpPr/>
          <p:nvPr/>
        </p:nvSpPr>
        <p:spPr>
          <a:xfrm>
            <a:off x="7498079" y="3520440"/>
            <a:ext cx="182880"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01-wipe-verdicts"/>
          <p:cNvSpPr/>
          <p:nvPr/>
        </p:nvSpPr>
        <p:spPr>
          <a:xfrm>
            <a:off x="7680960" y="3200400"/>
            <a:ext cx="3950208" cy="640080"/>
          </a:xfrm>
          <a:prstGeom prst="roundRect">
            <a:avLst>
              <a:gd name="adj" fmla="val 15294"/>
            </a:avLst>
          </a:prstGeom>
          <a:solidFill>
            <a:srgbClr val="0A0D13"/>
          </a:solidFill>
          <a:ln w="12700">
            <a:solidFill>
              <a:srgbClr val="6F7B8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b01-wipe-verdicts"/>
          <p:cNvSpPr txBox="1"/>
          <p:nvPr/>
        </p:nvSpPr>
        <p:spPr>
          <a:xfrm>
            <a:off x="7955279" y="3200400"/>
            <a:ext cx="3493008" cy="640080"/>
          </a:xfrm>
          <a:prstGeom prst="rect">
            <a:avLst/>
          </a:prstGeom>
          <a:noFill/>
        </p:spPr>
        <p:txBody>
          <a:bodyPr wrap="square" lIns="0" tIns="0" rIns="0" bIns="0" anchor="ctr">
            <a:spAutoFit/>
          </a:bodyPr>
          <a:lstStyle/>
          <a:p>
            <a:pPr algn="l">
              <a:lnSpc>
                <a:spcPct val="105000"/>
              </a:lnSpc>
            </a:pPr>
            <a:r>
              <a:rPr sz="1700" b="1">
                <a:solidFill>
                  <a:srgbClr val="6F7B8D"/>
                </a:solidFill>
                <a:latin typeface="Helvetica Neue"/>
                <a:ea typeface="Helvetica Neue"/>
                <a:cs typeface="Helvetica Neue"/>
              </a:rPr>
              <a:t>Deny</a:t>
            </a:r>
            <a:r>
              <a:rPr sz="1400" b="0">
                <a:solidFill>
                  <a:srgbClr val="B2BDCD"/>
                </a:solidFill>
                <a:latin typeface="Helvetica Neue"/>
                <a:ea typeface="Helvetica Neue"/>
                <a:cs typeface="Helvetica Neue"/>
              </a:rPr>
              <a:t>   outside scope or unverifiable</a:t>
            </a:r>
          </a:p>
        </p:txBody>
      </p:sp>
      <p:sp>
        <p:nvSpPr>
          <p:cNvPr id="23" name="b02-fade-gated-examples"/>
          <p:cNvSpPr/>
          <p:nvPr/>
        </p:nvSpPr>
        <p:spPr>
          <a:xfrm>
            <a:off x="566928" y="4023360"/>
            <a:ext cx="5394960" cy="100584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b02-fade-gated-examples"/>
          <p:cNvSpPr txBox="1"/>
          <p:nvPr/>
        </p:nvSpPr>
        <p:spPr>
          <a:xfrm>
            <a:off x="841247" y="4206240"/>
            <a:ext cx="4846320" cy="256032"/>
          </a:xfrm>
          <a:prstGeom prst="rect">
            <a:avLst/>
          </a:prstGeom>
          <a:noFill/>
        </p:spPr>
        <p:txBody>
          <a:bodyPr wrap="square" lIns="0" tIns="0" rIns="0" bIns="0" anchor="t">
            <a:spAutoFit/>
          </a:bodyPr>
          <a:lstStyle/>
          <a:p>
            <a:pPr algn="l">
              <a:lnSpc>
                <a:spcPct val="105000"/>
              </a:lnSpc>
            </a:pPr>
            <a:r>
              <a:rPr sz="1700" b="1">
                <a:solidFill>
                  <a:srgbClr val="FFCA83"/>
                </a:solidFill>
                <a:latin typeface="Helvetica Neue"/>
                <a:ea typeface="Helvetica Neue"/>
                <a:cs typeface="Helvetica Neue"/>
              </a:rPr>
              <a:t>Customer data → external destination</a:t>
            </a:r>
          </a:p>
        </p:txBody>
      </p:sp>
      <p:sp>
        <p:nvSpPr>
          <p:cNvPr id="25" name="b02-fade-gated-examples"/>
          <p:cNvSpPr txBox="1"/>
          <p:nvPr/>
        </p:nvSpPr>
        <p:spPr>
          <a:xfrm>
            <a:off x="841247" y="4517136"/>
            <a:ext cx="4846320" cy="420624"/>
          </a:xfrm>
          <a:prstGeom prst="rect">
            <a:avLst/>
          </a:prstGeom>
          <a:noFill/>
        </p:spPr>
        <p:txBody>
          <a:bodyPr wrap="square" lIns="0" tIns="0" rIns="0" bIns="0" anchor="t">
            <a:spAutoFit/>
          </a:bodyPr>
          <a:lstStyle/>
          <a:p>
            <a:pPr algn="l">
              <a:lnSpc>
                <a:spcPct val="105000"/>
              </a:lnSpc>
            </a:pPr>
            <a:r>
              <a:rPr sz="1400" b="0">
                <a:solidFill>
                  <a:srgbClr val="B2BDCD"/>
                </a:solidFill>
                <a:latin typeface="Helvetica Neue"/>
                <a:ea typeface="Helvetica Neue"/>
                <a:cs typeface="Helvetica Neue"/>
              </a:rPr>
              <a:t>The runtime asks or refuses before the send. That call is not the model's.</a:t>
            </a:r>
          </a:p>
        </p:txBody>
      </p:sp>
      <p:sp>
        <p:nvSpPr>
          <p:cNvPr id="26" name="b02-fade-gated-examples"/>
          <p:cNvSpPr/>
          <p:nvPr/>
        </p:nvSpPr>
        <p:spPr>
          <a:xfrm>
            <a:off x="6236208" y="4023360"/>
            <a:ext cx="5394960" cy="100584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b02-fade-gated-examples"/>
          <p:cNvSpPr txBox="1"/>
          <p:nvPr/>
        </p:nvSpPr>
        <p:spPr>
          <a:xfrm>
            <a:off x="6510528" y="4206240"/>
            <a:ext cx="4846320" cy="256032"/>
          </a:xfrm>
          <a:prstGeom prst="rect">
            <a:avLst/>
          </a:prstGeom>
          <a:noFill/>
        </p:spPr>
        <p:txBody>
          <a:bodyPr wrap="square" lIns="0" tIns="0" rIns="0" bIns="0" anchor="t">
            <a:spAutoFit/>
          </a:bodyPr>
          <a:lstStyle/>
          <a:p>
            <a:pPr algn="l">
              <a:lnSpc>
                <a:spcPct val="105000"/>
              </a:lnSpc>
            </a:pPr>
            <a:r>
              <a:rPr sz="1700" b="1">
                <a:solidFill>
                  <a:srgbClr val="75EDBB"/>
                </a:solidFill>
                <a:latin typeface="Helvetica Neue"/>
                <a:ea typeface="Helvetica Neue"/>
                <a:cs typeface="Helvetica Neue"/>
              </a:rPr>
              <a:t>Publish · deploy · delete</a:t>
            </a:r>
          </a:p>
        </p:txBody>
      </p:sp>
      <p:sp>
        <p:nvSpPr>
          <p:cNvPr id="28" name="b02-fade-gated-examples"/>
          <p:cNvSpPr txBox="1"/>
          <p:nvPr/>
        </p:nvSpPr>
        <p:spPr>
          <a:xfrm>
            <a:off x="6510528" y="4517136"/>
            <a:ext cx="4846320" cy="420624"/>
          </a:xfrm>
          <a:prstGeom prst="rect">
            <a:avLst/>
          </a:prstGeom>
          <a:noFill/>
        </p:spPr>
        <p:txBody>
          <a:bodyPr wrap="square" lIns="0" tIns="0" rIns="0" bIns="0" anchor="t">
            <a:spAutoFit/>
          </a:bodyPr>
          <a:lstStyle/>
          <a:p>
            <a:pPr algn="l">
              <a:lnSpc>
                <a:spcPct val="105000"/>
              </a:lnSpc>
            </a:pPr>
            <a:r>
              <a:rPr sz="1400" b="0">
                <a:solidFill>
                  <a:srgbClr val="B2BDCD"/>
                </a:solidFill>
                <a:latin typeface="Helvetica Neue"/>
                <a:ea typeface="Helvetica Neue"/>
                <a:cs typeface="Helvetica Neue"/>
              </a:rPr>
              <a:t>Irreversible steps stay gated, even when the plan looks right.</a:t>
            </a:r>
          </a:p>
        </p:txBody>
      </p:sp>
      <p:sp>
        <p:nvSpPr>
          <p:cNvPr id="29" name="b03-rise-guardrail-rule"/>
          <p:cNvSpPr/>
          <p:nvPr/>
        </p:nvSpPr>
        <p:spPr>
          <a:xfrm>
            <a:off x="566928" y="5532120"/>
            <a:ext cx="11064240" cy="56692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b03-rise-guardrail-rule"/>
          <p:cNvSpPr txBox="1"/>
          <p:nvPr/>
        </p:nvSpPr>
        <p:spPr>
          <a:xfrm>
            <a:off x="841247" y="5532120"/>
            <a:ext cx="10515600" cy="566928"/>
          </a:xfrm>
          <a:prstGeom prst="rect">
            <a:avLst/>
          </a:prstGeom>
          <a:noFill/>
        </p:spPr>
        <p:txBody>
          <a:bodyPr wrap="square" lIns="0" tIns="0" rIns="0" bIns="0" anchor="ctr">
            <a:spAutoFit/>
          </a:bodyPr>
          <a:lstStyle/>
          <a:p>
            <a:pPr algn="l">
              <a:lnSpc>
                <a:spcPct val="105000"/>
              </a:lnSpc>
            </a:pPr>
            <a:r>
              <a:rPr sz="1800" b="0">
                <a:solidFill>
                  <a:srgbClr val="F3F6FA"/>
                </a:solidFill>
                <a:latin typeface="Helvetica Neue"/>
                <a:ea typeface="Helvetica Neue"/>
                <a:cs typeface="Helvetica Neue"/>
              </a:rPr>
              <a:t>AGENTS.md is guidance. Permissions are what the runtime will actually allow.</a:t>
            </a:r>
          </a:p>
        </p:txBody>
      </p:sp>
      <p:sp>
        <p:nvSpPr>
          <p:cNvPr id="31" name="TextBox 30"/>
          <p:cNvSpPr txBox="1"/>
          <p:nvPr/>
        </p:nvSpPr>
        <p:spPr>
          <a:xfrm>
            <a:off x="566928" y="6391656"/>
            <a:ext cx="8961120" cy="274320"/>
          </a:xfrm>
          <a:prstGeom prst="rect">
            <a:avLst/>
          </a:prstGeom>
          <a:noFill/>
        </p:spPr>
        <p:txBody>
          <a:bodyPr wrap="square" lIns="0" tIns="0" rIns="0" bIns="0" anchor="ctr">
            <a:spAutoFit/>
          </a:bodyPr>
          <a:lstStyle/>
          <a:p>
            <a:pPr algn="l">
              <a:lnSpc>
                <a:spcPct val="105000"/>
              </a:lnSpc>
            </a:pPr>
            <a:r>
              <a:rPr sz="1100" b="0">
                <a:solidFill>
                  <a:srgbClr val="6F7B8D"/>
                </a:solidFill>
                <a:latin typeface="Helvetica Neue"/>
                <a:ea typeface="Helvetica Neue"/>
                <a:cs typeface="Helvetica Neue"/>
              </a:rPr>
              <a:t>A failed or missing check must stop the action, not default to allow. No setup prevents every injection attempt.</a:t>
            </a:r>
          </a:p>
        </p:txBody>
      </p:sp>
      <p:sp>
        <p:nvSpPr>
          <p:cNvPr id="32" name="TextBox 31"/>
          <p:cNvSpPr txBox="1"/>
          <p:nvPr/>
        </p:nvSpPr>
        <p:spPr>
          <a:xfrm>
            <a:off x="9692640" y="6391656"/>
            <a:ext cx="1929384" cy="274320"/>
          </a:xfrm>
          <a:prstGeom prst="rect">
            <a:avLst/>
          </a:prstGeom>
          <a:noFill/>
        </p:spPr>
        <p:txBody>
          <a:bodyPr wrap="square" lIns="0" tIns="0" rIns="0" bIns="0" anchor="ctr">
            <a:spAutoFit/>
          </a:bodyPr>
          <a:lstStyle/>
          <a:p>
            <a:pPr algn="r">
              <a:lnSpc>
                <a:spcPct val="105000"/>
              </a:lnSpc>
            </a:pPr>
            <a:r>
              <a:rPr sz="1100" b="0">
                <a:solidFill>
                  <a:srgbClr val="6F7B8D"/>
                </a:solidFill>
                <a:latin typeface="Helvetica Neue"/>
                <a:ea typeface="Helvetica Neue"/>
                <a:cs typeface="Helvetica Neue"/>
              </a:rPr>
              <a:t>11 / 20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2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2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2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2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2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2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20"/>
                                        <p:tgtEl>
                                          <p:spTgt spid="18"/>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20"/>
                                        <p:tgtEl>
                                          <p:spTgt spid="19"/>
                                        </p:tgtEl>
                                      </p:cBhvr>
                                    </p:animEffect>
                                  </p:childTnLst>
                                </p:cTn>
                              </p:par>
                              <p:par>
                                <p:cTn id="29" presetID="10"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2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20"/>
                                        <p:tgtEl>
                                          <p:spTgt spid="21"/>
                                        </p:tgtEl>
                                      </p:cBhvr>
                                    </p:animEffect>
                                  </p:childTnLst>
                                </p:cTn>
                              </p:par>
                              <p:par>
                                <p:cTn id="35" presetID="10"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2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20"/>
                                        <p:tgtEl>
                                          <p:spTgt spid="23"/>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childTnLst>
                                </p:cTn>
                              </p:par>
                              <p:par>
                                <p:cTn id="46" presetID="10" presetClass="entr" presetSubtype="0"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20"/>
                                        <p:tgtEl>
                                          <p:spTgt spid="25"/>
                                        </p:tgtEl>
                                      </p:cBhvr>
                                    </p:animEffect>
                                  </p:childTnLst>
                                </p:cTn>
                              </p:par>
                              <p:par>
                                <p:cTn id="49" presetID="10"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20"/>
                                        <p:tgtEl>
                                          <p:spTgt spid="27"/>
                                        </p:tgtEl>
                                      </p:cBhvr>
                                    </p:animEffect>
                                  </p:childTnLst>
                                </p:cTn>
                              </p:par>
                              <p:par>
                                <p:cTn id="55" presetID="10" presetClass="entr" presetSubtype="0" fill="hold"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42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420"/>
                                        <p:tgtEl>
                                          <p:spTgt spid="29"/>
                                        </p:tgtEl>
                                      </p:cBhvr>
                                    </p:animEffect>
                                  </p:childTnLst>
                                </p:cTn>
                              </p:par>
                              <p:par>
                                <p:cTn id="63" presetID="10" presetClass="entr" presetSubtype="0" fill="hold" nodeType="with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2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PACE</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Move slow to move fast</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A conceptual comparison. No timings here, and none implied.</a:t>
            </a:r>
            <a:endParaRPr lang="en-US" sz="1900" dirty="0"/>
          </a:p>
        </p:txBody>
      </p:sp>
      <p:sp>
        <p:nvSpPr>
          <p:cNvPr id="5" name="Text 3"/>
          <p:cNvSpPr/>
          <p:nvPr/>
        </p:nvSpPr>
        <p:spPr>
          <a:xfrm>
            <a:off x="566928" y="2514600"/>
            <a:ext cx="2194560" cy="640080"/>
          </a:xfrm>
          <a:prstGeom prst="rect">
            <a:avLst/>
          </a:prstGeom>
          <a:noFill/>
          <a:ln/>
        </p:spPr>
        <p:txBody>
          <a:bodyPr wrap="square" rtlCol="0" anchor="ctr"/>
          <a:lstStyle/>
          <a:p>
            <a:pPr marL="0" indent="0">
              <a:lnSpc>
                <a:spcPct val="105000"/>
              </a:lnSpc>
              <a:buNone/>
            </a:pPr>
            <a:r>
              <a:rPr lang="en-US" sz="1700" dirty="0">
                <a:solidFill>
                  <a:srgbClr val="B2BDCD"/>
                </a:solidFill>
                <a:latin typeface="Helvetica Neue" pitchFamily="34" charset="0"/>
                <a:ea typeface="Helvetica Neue" pitchFamily="34" charset="-122"/>
                <a:cs typeface="Helvetica Neue" pitchFamily="34" charset="-120"/>
              </a:rPr>
              <a:t>Start immediately</a:t>
            </a:r>
            <a:endParaRPr lang="en-US" sz="1700" dirty="0"/>
          </a:p>
        </p:txBody>
      </p:sp>
      <p:sp>
        <p:nvSpPr>
          <p:cNvPr id="6" name="b01-wipe-lane-unplanned"/>
          <p:cNvSpPr/>
          <p:nvPr/>
        </p:nvSpPr>
        <p:spPr>
          <a:xfrm>
            <a:off x="2926080" y="2514600"/>
            <a:ext cx="1371600" cy="640080"/>
          </a:xfrm>
          <a:prstGeom prst="roundRect">
            <a:avLst>
              <a:gd name="adj" fmla="val 11429"/>
            </a:avLst>
          </a:prstGeom>
          <a:solidFill>
            <a:srgbClr val="0E1219"/>
          </a:solidFill>
          <a:ln w="12700">
            <a:solidFill>
              <a:srgbClr val="232C3A"/>
            </a:solidFill>
            <a:prstDash val="solid"/>
          </a:ln>
        </p:spPr>
        <p:txBody>
          <a:bodyPr/>
          <a:lstStyle/>
          <a:p>
            <a:endParaRPr lang="en-US"/>
          </a:p>
        </p:txBody>
      </p:sp>
      <p:sp>
        <p:nvSpPr>
          <p:cNvPr id="7" name="b01-wipe-lane-unplanned"/>
          <p:cNvSpPr/>
          <p:nvPr/>
        </p:nvSpPr>
        <p:spPr>
          <a:xfrm>
            <a:off x="4462272" y="2514600"/>
            <a:ext cx="1005840" cy="640080"/>
          </a:xfrm>
          <a:prstGeom prst="roundRect">
            <a:avLst>
              <a:gd name="adj" fmla="val 11429"/>
            </a:avLst>
          </a:prstGeom>
          <a:solidFill>
            <a:srgbClr val="3A2E1C"/>
          </a:solidFill>
          <a:ln w="12700">
            <a:solidFill>
              <a:srgbClr val="FFCA83"/>
            </a:solidFill>
            <a:prstDash val="solid"/>
          </a:ln>
        </p:spPr>
        <p:txBody>
          <a:bodyPr/>
          <a:lstStyle/>
          <a:p>
            <a:endParaRPr lang="en-US"/>
          </a:p>
        </p:txBody>
      </p:sp>
      <p:sp>
        <p:nvSpPr>
          <p:cNvPr id="8" name="b01-wipe-lane-unplanned"/>
          <p:cNvSpPr/>
          <p:nvPr/>
        </p:nvSpPr>
        <p:spPr>
          <a:xfrm>
            <a:off x="4462272" y="2514600"/>
            <a:ext cx="1005840" cy="640080"/>
          </a:xfrm>
          <a:prstGeom prst="rect">
            <a:avLst/>
          </a:prstGeom>
          <a:noFill/>
          <a:ln/>
        </p:spPr>
        <p:txBody>
          <a:bodyPr wrap="square" rtlCol="0" anchor="ctr"/>
          <a:lstStyle/>
          <a:p>
            <a:pPr marL="0" indent="0" algn="ctr">
              <a:lnSpc>
                <a:spcPct val="105000"/>
              </a:lnSpc>
              <a:buNone/>
            </a:pPr>
            <a:r>
              <a:rPr lang="en-US" sz="1500" dirty="0">
                <a:solidFill>
                  <a:srgbClr val="FFCA83"/>
                </a:solidFill>
                <a:latin typeface="Helvetica Neue" pitchFamily="34" charset="0"/>
                <a:ea typeface="Helvetica Neue" pitchFamily="34" charset="-122"/>
                <a:cs typeface="Helvetica Neue" pitchFamily="34" charset="-120"/>
              </a:rPr>
              <a:t>rework</a:t>
            </a:r>
            <a:endParaRPr lang="en-US" sz="1500" dirty="0"/>
          </a:p>
        </p:txBody>
      </p:sp>
      <p:sp>
        <p:nvSpPr>
          <p:cNvPr id="9" name="b01-wipe-lane-unplanned"/>
          <p:cNvSpPr/>
          <p:nvPr/>
        </p:nvSpPr>
        <p:spPr>
          <a:xfrm>
            <a:off x="5632704" y="2514600"/>
            <a:ext cx="1645920" cy="640080"/>
          </a:xfrm>
          <a:prstGeom prst="roundRect">
            <a:avLst>
              <a:gd name="adj" fmla="val 11429"/>
            </a:avLst>
          </a:prstGeom>
          <a:solidFill>
            <a:srgbClr val="0E1219"/>
          </a:solidFill>
          <a:ln w="12700">
            <a:solidFill>
              <a:srgbClr val="232C3A"/>
            </a:solidFill>
            <a:prstDash val="solid"/>
          </a:ln>
        </p:spPr>
        <p:txBody>
          <a:bodyPr/>
          <a:lstStyle/>
          <a:p>
            <a:endParaRPr lang="en-US"/>
          </a:p>
        </p:txBody>
      </p:sp>
      <p:sp>
        <p:nvSpPr>
          <p:cNvPr id="10" name="b01-wipe-lane-unplanned"/>
          <p:cNvSpPr/>
          <p:nvPr/>
        </p:nvSpPr>
        <p:spPr>
          <a:xfrm>
            <a:off x="7443216" y="2514600"/>
            <a:ext cx="822960" cy="640080"/>
          </a:xfrm>
          <a:prstGeom prst="roundRect">
            <a:avLst>
              <a:gd name="adj" fmla="val 11429"/>
            </a:avLst>
          </a:prstGeom>
          <a:solidFill>
            <a:srgbClr val="3A2E1C"/>
          </a:solidFill>
          <a:ln w="12700">
            <a:solidFill>
              <a:srgbClr val="FFCA83"/>
            </a:solidFill>
            <a:prstDash val="solid"/>
          </a:ln>
        </p:spPr>
        <p:txBody>
          <a:bodyPr/>
          <a:lstStyle/>
          <a:p>
            <a:endParaRPr lang="en-US"/>
          </a:p>
        </p:txBody>
      </p:sp>
      <p:sp>
        <p:nvSpPr>
          <p:cNvPr id="11" name="b01-wipe-lane-unplanned"/>
          <p:cNvSpPr/>
          <p:nvPr/>
        </p:nvSpPr>
        <p:spPr>
          <a:xfrm>
            <a:off x="7443216" y="2514600"/>
            <a:ext cx="822960" cy="640080"/>
          </a:xfrm>
          <a:prstGeom prst="rect">
            <a:avLst/>
          </a:prstGeom>
          <a:noFill/>
          <a:ln/>
        </p:spPr>
        <p:txBody>
          <a:bodyPr wrap="square" rtlCol="0" anchor="ctr"/>
          <a:lstStyle/>
          <a:p>
            <a:pPr marL="0" indent="0" algn="ctr">
              <a:lnSpc>
                <a:spcPct val="105000"/>
              </a:lnSpc>
              <a:buNone/>
            </a:pPr>
            <a:r>
              <a:rPr lang="en-US" sz="1500" dirty="0">
                <a:solidFill>
                  <a:srgbClr val="FFCA83"/>
                </a:solidFill>
                <a:latin typeface="Helvetica Neue" pitchFamily="34" charset="0"/>
                <a:ea typeface="Helvetica Neue" pitchFamily="34" charset="-122"/>
                <a:cs typeface="Helvetica Neue" pitchFamily="34" charset="-120"/>
              </a:rPr>
              <a:t>rework</a:t>
            </a:r>
            <a:endParaRPr lang="en-US" sz="1500" dirty="0"/>
          </a:p>
        </p:txBody>
      </p:sp>
      <p:sp>
        <p:nvSpPr>
          <p:cNvPr id="12" name="b01-wipe-lane-unplanned"/>
          <p:cNvSpPr/>
          <p:nvPr/>
        </p:nvSpPr>
        <p:spPr>
          <a:xfrm>
            <a:off x="8430768" y="2514600"/>
            <a:ext cx="1463040" cy="640080"/>
          </a:xfrm>
          <a:prstGeom prst="roundRect">
            <a:avLst>
              <a:gd name="adj" fmla="val 11429"/>
            </a:avLst>
          </a:prstGeom>
          <a:solidFill>
            <a:srgbClr val="0E1219"/>
          </a:solidFill>
          <a:ln w="12700">
            <a:solidFill>
              <a:srgbClr val="232C3A"/>
            </a:solidFill>
            <a:prstDash val="solid"/>
          </a:ln>
        </p:spPr>
        <p:txBody>
          <a:bodyPr/>
          <a:lstStyle/>
          <a:p>
            <a:endParaRPr lang="en-US"/>
          </a:p>
        </p:txBody>
      </p:sp>
      <p:sp>
        <p:nvSpPr>
          <p:cNvPr id="13" name="b01-wipe-lane-unplanned"/>
          <p:cNvSpPr/>
          <p:nvPr/>
        </p:nvSpPr>
        <p:spPr>
          <a:xfrm>
            <a:off x="10058400" y="2514600"/>
            <a:ext cx="1097280" cy="640080"/>
          </a:xfrm>
          <a:prstGeom prst="roundRect">
            <a:avLst>
              <a:gd name="adj" fmla="val 11429"/>
            </a:avLst>
          </a:prstGeom>
          <a:solidFill>
            <a:srgbClr val="3A2E1C"/>
          </a:solidFill>
          <a:ln w="12700">
            <a:solidFill>
              <a:srgbClr val="FFCA83"/>
            </a:solidFill>
            <a:prstDash val="solid"/>
          </a:ln>
        </p:spPr>
        <p:txBody>
          <a:bodyPr/>
          <a:lstStyle/>
          <a:p>
            <a:endParaRPr lang="en-US"/>
          </a:p>
        </p:txBody>
      </p:sp>
      <p:sp>
        <p:nvSpPr>
          <p:cNvPr id="14" name="b01-wipe-lane-unplanned"/>
          <p:cNvSpPr/>
          <p:nvPr/>
        </p:nvSpPr>
        <p:spPr>
          <a:xfrm>
            <a:off x="10058400" y="2514600"/>
            <a:ext cx="1097280" cy="640080"/>
          </a:xfrm>
          <a:prstGeom prst="rect">
            <a:avLst/>
          </a:prstGeom>
          <a:noFill/>
          <a:ln/>
        </p:spPr>
        <p:txBody>
          <a:bodyPr wrap="square" rtlCol="0" anchor="ctr"/>
          <a:lstStyle/>
          <a:p>
            <a:pPr marL="0" indent="0" algn="ctr">
              <a:lnSpc>
                <a:spcPct val="105000"/>
              </a:lnSpc>
              <a:buNone/>
            </a:pPr>
            <a:r>
              <a:rPr lang="en-US" sz="1500" dirty="0">
                <a:solidFill>
                  <a:srgbClr val="FFCA83"/>
                </a:solidFill>
                <a:latin typeface="Helvetica Neue" pitchFamily="34" charset="0"/>
                <a:ea typeface="Helvetica Neue" pitchFamily="34" charset="-122"/>
                <a:cs typeface="Helvetica Neue" pitchFamily="34" charset="-120"/>
              </a:rPr>
              <a:t>rework</a:t>
            </a:r>
            <a:endParaRPr lang="en-US" sz="1500" dirty="0"/>
          </a:p>
        </p:txBody>
      </p:sp>
      <p:sp>
        <p:nvSpPr>
          <p:cNvPr id="15" name="b01-wipe-lane-unplanned"/>
          <p:cNvSpPr/>
          <p:nvPr/>
        </p:nvSpPr>
        <p:spPr>
          <a:xfrm>
            <a:off x="2926080" y="3246120"/>
            <a:ext cx="8686800" cy="292608"/>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Checks arrive late, so rework arrives late.</a:t>
            </a:r>
            <a:endParaRPr lang="en-US" sz="1500" dirty="0"/>
          </a:p>
        </p:txBody>
      </p:sp>
      <p:sp>
        <p:nvSpPr>
          <p:cNvPr id="16" name="Text 14"/>
          <p:cNvSpPr/>
          <p:nvPr/>
        </p:nvSpPr>
        <p:spPr>
          <a:xfrm>
            <a:off x="566928" y="4160520"/>
            <a:ext cx="2194560" cy="640080"/>
          </a:xfrm>
          <a:prstGeom prst="rect">
            <a:avLst/>
          </a:prstGeom>
          <a:noFill/>
          <a:ln/>
        </p:spPr>
        <p:txBody>
          <a:bodyPr wrap="square" rtlCol="0" anchor="ctr"/>
          <a:lstStyle/>
          <a:p>
            <a:pPr marL="0" indent="0">
              <a:lnSpc>
                <a:spcPct val="105000"/>
              </a:lnSpc>
              <a:buNone/>
            </a:pPr>
            <a:r>
              <a:rPr lang="en-US" sz="1700" dirty="0">
                <a:solidFill>
                  <a:srgbClr val="B2BDCD"/>
                </a:solidFill>
                <a:latin typeface="Helvetica Neue" pitchFamily="34" charset="0"/>
                <a:ea typeface="Helvetica Neue" pitchFamily="34" charset="-122"/>
                <a:cs typeface="Helvetica Neue" pitchFamily="34" charset="-120"/>
              </a:rPr>
              <a:t>Set up once</a:t>
            </a:r>
            <a:endParaRPr lang="en-US" sz="1700" dirty="0"/>
          </a:p>
        </p:txBody>
      </p:sp>
      <p:sp>
        <p:nvSpPr>
          <p:cNvPr id="17" name="b02-wipe-lane-prepared"/>
          <p:cNvSpPr/>
          <p:nvPr/>
        </p:nvSpPr>
        <p:spPr>
          <a:xfrm>
            <a:off x="2926080" y="4160520"/>
            <a:ext cx="3169920" cy="640080"/>
          </a:xfrm>
          <a:prstGeom prst="roundRect">
            <a:avLst>
              <a:gd name="adj" fmla="val 11429"/>
            </a:avLst>
          </a:prstGeom>
          <a:solidFill>
            <a:srgbClr val="2A2547"/>
          </a:solidFill>
          <a:ln w="12700">
            <a:solidFill>
              <a:srgbClr val="A99AFF"/>
            </a:solidFill>
            <a:prstDash val="solid"/>
          </a:ln>
        </p:spPr>
        <p:txBody>
          <a:bodyPr/>
          <a:lstStyle/>
          <a:p>
            <a:endParaRPr lang="en-US"/>
          </a:p>
        </p:txBody>
      </p:sp>
      <p:sp>
        <p:nvSpPr>
          <p:cNvPr id="18" name="b02-wipe-lane-prepared"/>
          <p:cNvSpPr/>
          <p:nvPr/>
        </p:nvSpPr>
        <p:spPr>
          <a:xfrm>
            <a:off x="2926079" y="4160520"/>
            <a:ext cx="3169919" cy="640080"/>
          </a:xfrm>
          <a:prstGeom prst="rect">
            <a:avLst/>
          </a:prstGeom>
          <a:noFill/>
          <a:ln/>
        </p:spPr>
        <p:txBody>
          <a:bodyPr wrap="square" rtlCol="0" anchor="ctr"/>
          <a:lstStyle/>
          <a:p>
            <a:pPr marL="0" indent="0" algn="ctr">
              <a:lnSpc>
                <a:spcPct val="105000"/>
              </a:lnSpc>
              <a:buNone/>
            </a:pPr>
            <a:r>
              <a:rPr lang="en-US" sz="1500" dirty="0">
                <a:solidFill>
                  <a:srgbClr val="A99AFF"/>
                </a:solidFill>
                <a:latin typeface="Helvetica Neue" pitchFamily="34" charset="0"/>
                <a:ea typeface="Helvetica Neue" pitchFamily="34" charset="-122"/>
                <a:cs typeface="Helvetica Neue" pitchFamily="34" charset="-120"/>
              </a:rPr>
              <a:t>setup</a:t>
            </a:r>
            <a:endParaRPr lang="en-US" sz="1500" dirty="0"/>
          </a:p>
        </p:txBody>
      </p:sp>
      <p:sp>
        <p:nvSpPr>
          <p:cNvPr id="21" name="b02-wipe-lane-prepared"/>
          <p:cNvSpPr/>
          <p:nvPr/>
        </p:nvSpPr>
        <p:spPr>
          <a:xfrm>
            <a:off x="6291072"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22" name="b02-wipe-lane-prepared"/>
          <p:cNvSpPr/>
          <p:nvPr/>
        </p:nvSpPr>
        <p:spPr>
          <a:xfrm>
            <a:off x="6291072"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23" name="b02-wipe-lane-prepared"/>
          <p:cNvSpPr/>
          <p:nvPr/>
        </p:nvSpPr>
        <p:spPr>
          <a:xfrm>
            <a:off x="7324344"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24" name="b02-wipe-lane-prepared"/>
          <p:cNvSpPr/>
          <p:nvPr/>
        </p:nvSpPr>
        <p:spPr>
          <a:xfrm>
            <a:off x="7324344"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25" name="b02-wipe-lane-prepared"/>
          <p:cNvSpPr/>
          <p:nvPr/>
        </p:nvSpPr>
        <p:spPr>
          <a:xfrm>
            <a:off x="8357616"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26" name="b02-wipe-lane-prepared"/>
          <p:cNvSpPr/>
          <p:nvPr/>
        </p:nvSpPr>
        <p:spPr>
          <a:xfrm>
            <a:off x="8357616"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27" name="b02-wipe-lane-prepared"/>
          <p:cNvSpPr/>
          <p:nvPr/>
        </p:nvSpPr>
        <p:spPr>
          <a:xfrm>
            <a:off x="9390888"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28" name="b02-wipe-lane-prepared"/>
          <p:cNvSpPr/>
          <p:nvPr/>
        </p:nvSpPr>
        <p:spPr>
          <a:xfrm>
            <a:off x="9390888"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29" name="b02-wipe-lane-prepared"/>
          <p:cNvSpPr/>
          <p:nvPr/>
        </p:nvSpPr>
        <p:spPr>
          <a:xfrm>
            <a:off x="10424160"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30" name="b02-wipe-lane-prepared"/>
          <p:cNvSpPr/>
          <p:nvPr/>
        </p:nvSpPr>
        <p:spPr>
          <a:xfrm>
            <a:off x="10424160"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31" name="b02-wipe-lane-prepared"/>
          <p:cNvSpPr/>
          <p:nvPr/>
        </p:nvSpPr>
        <p:spPr>
          <a:xfrm>
            <a:off x="2926080" y="4892040"/>
            <a:ext cx="8686800" cy="292608"/>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Each step is verified before the next one starts.</a:t>
            </a:r>
            <a:endParaRPr lang="en-US" sz="1500" dirty="0"/>
          </a:p>
        </p:txBody>
      </p:sp>
      <p:sp>
        <p:nvSpPr>
          <p:cNvPr id="32" name="b03-rise-proportionality"/>
          <p:cNvSpPr/>
          <p:nvPr/>
        </p:nvSpPr>
        <p:spPr>
          <a:xfrm>
            <a:off x="566928" y="5440680"/>
            <a:ext cx="11064240" cy="621792"/>
          </a:xfrm>
          <a:prstGeom prst="roundRect">
            <a:avLst>
              <a:gd name="adj" fmla="val 19118"/>
            </a:avLst>
          </a:prstGeom>
          <a:solidFill>
            <a:srgbClr val="0E1219"/>
          </a:solidFill>
          <a:ln w="12700">
            <a:solidFill>
              <a:srgbClr val="232C3A"/>
            </a:solidFill>
            <a:prstDash val="solid"/>
          </a:ln>
        </p:spPr>
        <p:txBody>
          <a:bodyPr/>
          <a:lstStyle/>
          <a:p>
            <a:endParaRPr lang="en-US"/>
          </a:p>
        </p:txBody>
      </p:sp>
      <p:sp>
        <p:nvSpPr>
          <p:cNvPr id="33" name="b03-rise-proportionality"/>
          <p:cNvSpPr/>
          <p:nvPr/>
        </p:nvSpPr>
        <p:spPr>
          <a:xfrm>
            <a:off x="841248" y="5440680"/>
            <a:ext cx="10515600" cy="621792"/>
          </a:xfrm>
          <a:prstGeom prst="rect">
            <a:avLst/>
          </a:prstGeom>
          <a:noFill/>
          <a:ln/>
        </p:spPr>
        <p:txBody>
          <a:bodyPr wrap="square" rtlCol="0" anchor="ctr"/>
          <a:lstStyle/>
          <a:p>
            <a:pPr marL="0" indent="0">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Match the effort to the risk. A one-file change does not need a program around it.</a:t>
            </a:r>
            <a:endParaRPr lang="en-US" sz="1800" dirty="0"/>
          </a:p>
        </p:txBody>
      </p:sp>
      <p:sp>
        <p:nvSpPr>
          <p:cNvPr id="34" name="Text 32"/>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Shapes are illustrative. Nothing on this slide is measured.</a:t>
            </a:r>
            <a:endParaRPr lang="en-US" sz="1100" dirty="0"/>
          </a:p>
        </p:txBody>
      </p:sp>
      <p:sp>
        <p:nvSpPr>
          <p:cNvPr id="35" name="Text 33"/>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12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420"/>
                                        <p:tgtEl>
                                          <p:spTgt spid="6"/>
                                        </p:tgtEl>
                                      </p:cBhvr>
                                    </p:animEffect>
                                  </p:childTnLst>
                                </p:cTn>
                              </p:par>
                              <p:par>
                                <p:cTn id="8" presetID="22" presetClass="entr" presetSubtype="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right)">
                                      <p:cBhvr>
                                        <p:cTn id="10" dur="420"/>
                                        <p:tgtEl>
                                          <p:spTgt spid="7"/>
                                        </p:tgtEl>
                                      </p:cBhvr>
                                    </p:animEffect>
                                  </p:childTnLst>
                                </p:cTn>
                              </p:par>
                              <p:par>
                                <p:cTn id="11" presetID="22" presetClass="entr" presetSubtype="1"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right)">
                                      <p:cBhvr>
                                        <p:cTn id="13" dur="420"/>
                                        <p:tgtEl>
                                          <p:spTgt spid="8"/>
                                        </p:tgtEl>
                                      </p:cBhvr>
                                    </p:animEffect>
                                  </p:childTnLst>
                                </p:cTn>
                              </p:par>
                              <p:par>
                                <p:cTn id="14" presetID="22" presetClass="entr" presetSubtype="1"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right)">
                                      <p:cBhvr>
                                        <p:cTn id="16" dur="420"/>
                                        <p:tgtEl>
                                          <p:spTgt spid="9"/>
                                        </p:tgtEl>
                                      </p:cBhvr>
                                    </p:animEffect>
                                  </p:childTnLst>
                                </p:cTn>
                              </p:par>
                              <p:par>
                                <p:cTn id="17" presetID="22" presetClass="entr" presetSubtype="1"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right)">
                                      <p:cBhvr>
                                        <p:cTn id="19" dur="420"/>
                                        <p:tgtEl>
                                          <p:spTgt spid="10"/>
                                        </p:tgtEl>
                                      </p:cBhvr>
                                    </p:animEffect>
                                  </p:childTnLst>
                                </p:cTn>
                              </p:par>
                              <p:par>
                                <p:cTn id="20" presetID="22" presetClass="entr" presetSubtype="1"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right)">
                                      <p:cBhvr>
                                        <p:cTn id="22" dur="420"/>
                                        <p:tgtEl>
                                          <p:spTgt spid="11"/>
                                        </p:tgtEl>
                                      </p:cBhvr>
                                    </p:animEffect>
                                  </p:childTnLst>
                                </p:cTn>
                              </p:par>
                              <p:par>
                                <p:cTn id="23" presetID="22" presetClass="entr" presetSubtype="1"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20"/>
                                        <p:tgtEl>
                                          <p:spTgt spid="12"/>
                                        </p:tgtEl>
                                      </p:cBhvr>
                                    </p:animEffect>
                                  </p:childTnLst>
                                </p:cTn>
                              </p:par>
                              <p:par>
                                <p:cTn id="26" presetID="22" presetClass="entr" presetSubtype="1"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right)">
                                      <p:cBhvr>
                                        <p:cTn id="28" dur="420"/>
                                        <p:tgtEl>
                                          <p:spTgt spid="13"/>
                                        </p:tgtEl>
                                      </p:cBhvr>
                                    </p:animEffect>
                                  </p:childTnLst>
                                </p:cTn>
                              </p:par>
                              <p:par>
                                <p:cTn id="29" presetID="22" presetClass="entr" presetSubtype="1"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420"/>
                                        <p:tgtEl>
                                          <p:spTgt spid="14"/>
                                        </p:tgtEl>
                                      </p:cBhvr>
                                    </p:animEffect>
                                  </p:childTnLst>
                                </p:cTn>
                              </p:par>
                              <p:par>
                                <p:cTn id="32" presetID="22" presetClass="entr" presetSubtype="1"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right)">
                                      <p:cBhvr>
                                        <p:cTn id="34" dur="420"/>
                                        <p:tgtEl>
                                          <p:spTgt spid="15"/>
                                        </p:tgtEl>
                                      </p:cBhvr>
                                    </p:animEffect>
                                  </p:childTnLst>
                                </p:cTn>
                              </p:par>
                              <p:par>
                                <p:cTn id="35" presetID="22" presetClass="entr" presetSubtype="1"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right)">
                                      <p:cBhvr>
                                        <p:cTn id="37" dur="420"/>
                                        <p:tgtEl>
                                          <p:spTgt spid="17"/>
                                        </p:tgtEl>
                                      </p:cBhvr>
                                    </p:animEffect>
                                  </p:childTnLst>
                                </p:cTn>
                              </p:par>
                              <p:par>
                                <p:cTn id="38" presetID="22" presetClass="entr" presetSubtype="1"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right)">
                                      <p:cBhvr>
                                        <p:cTn id="40" dur="420"/>
                                        <p:tgtEl>
                                          <p:spTgt spid="18"/>
                                        </p:tgtEl>
                                      </p:cBhvr>
                                    </p:animEffect>
                                  </p:childTnLst>
                                </p:cTn>
                              </p:par>
                              <p:par>
                                <p:cTn id="41" presetID="22" presetClass="entr" presetSubtype="1"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right)">
                                      <p:cBhvr>
                                        <p:cTn id="43" dur="420"/>
                                        <p:tgtEl>
                                          <p:spTgt spid="21"/>
                                        </p:tgtEl>
                                      </p:cBhvr>
                                    </p:animEffect>
                                  </p:childTnLst>
                                </p:cTn>
                              </p:par>
                              <p:par>
                                <p:cTn id="44" presetID="22" presetClass="entr" presetSubtype="1"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right)">
                                      <p:cBhvr>
                                        <p:cTn id="46" dur="420"/>
                                        <p:tgtEl>
                                          <p:spTgt spid="22"/>
                                        </p:tgtEl>
                                      </p:cBhvr>
                                    </p:animEffect>
                                  </p:childTnLst>
                                </p:cTn>
                              </p:par>
                              <p:par>
                                <p:cTn id="47" presetID="22" presetClass="entr" presetSubtype="1"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wipe(right)">
                                      <p:cBhvr>
                                        <p:cTn id="49" dur="420"/>
                                        <p:tgtEl>
                                          <p:spTgt spid="23"/>
                                        </p:tgtEl>
                                      </p:cBhvr>
                                    </p:animEffect>
                                  </p:childTnLst>
                                </p:cTn>
                              </p:par>
                              <p:par>
                                <p:cTn id="50" presetID="22" presetClass="entr" presetSubtype="1" fill="hold"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right)">
                                      <p:cBhvr>
                                        <p:cTn id="52" dur="420"/>
                                        <p:tgtEl>
                                          <p:spTgt spid="24"/>
                                        </p:tgtEl>
                                      </p:cBhvr>
                                    </p:animEffect>
                                  </p:childTnLst>
                                </p:cTn>
                              </p:par>
                              <p:par>
                                <p:cTn id="53" presetID="22" presetClass="entr" presetSubtype="1"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right)">
                                      <p:cBhvr>
                                        <p:cTn id="55" dur="420"/>
                                        <p:tgtEl>
                                          <p:spTgt spid="25"/>
                                        </p:tgtEl>
                                      </p:cBhvr>
                                    </p:animEffect>
                                  </p:childTnLst>
                                </p:cTn>
                              </p:par>
                              <p:par>
                                <p:cTn id="56" presetID="22" presetClass="entr" presetSubtype="1"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wipe(right)">
                                      <p:cBhvr>
                                        <p:cTn id="58" dur="420"/>
                                        <p:tgtEl>
                                          <p:spTgt spid="26"/>
                                        </p:tgtEl>
                                      </p:cBhvr>
                                    </p:animEffect>
                                  </p:childTnLst>
                                </p:cTn>
                              </p:par>
                              <p:par>
                                <p:cTn id="59" presetID="22" presetClass="entr" presetSubtype="1"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wipe(right)">
                                      <p:cBhvr>
                                        <p:cTn id="61" dur="420"/>
                                        <p:tgtEl>
                                          <p:spTgt spid="27"/>
                                        </p:tgtEl>
                                      </p:cBhvr>
                                    </p:animEffect>
                                  </p:childTnLst>
                                </p:cTn>
                              </p:par>
                              <p:par>
                                <p:cTn id="62" presetID="22" presetClass="entr" presetSubtype="1"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wipe(right)">
                                      <p:cBhvr>
                                        <p:cTn id="64" dur="420"/>
                                        <p:tgtEl>
                                          <p:spTgt spid="28"/>
                                        </p:tgtEl>
                                      </p:cBhvr>
                                    </p:animEffect>
                                  </p:childTnLst>
                                </p:cTn>
                              </p:par>
                              <p:par>
                                <p:cTn id="65" presetID="22" presetClass="entr" presetSubtype="1"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right)">
                                      <p:cBhvr>
                                        <p:cTn id="67" dur="420"/>
                                        <p:tgtEl>
                                          <p:spTgt spid="29"/>
                                        </p:tgtEl>
                                      </p:cBhvr>
                                    </p:animEffect>
                                  </p:childTnLst>
                                </p:cTn>
                              </p:par>
                              <p:par>
                                <p:cTn id="68" presetID="22" presetClass="entr" presetSubtype="1" fill="hold"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wipe(right)">
                                      <p:cBhvr>
                                        <p:cTn id="70" dur="420"/>
                                        <p:tgtEl>
                                          <p:spTgt spid="30"/>
                                        </p:tgtEl>
                                      </p:cBhvr>
                                    </p:animEffect>
                                  </p:childTnLst>
                                </p:cTn>
                              </p:par>
                              <p:par>
                                <p:cTn id="71" presetID="22" presetClass="entr" presetSubtype="1" fill="hold"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wipe(right)">
                                      <p:cBhvr>
                                        <p:cTn id="73" dur="420"/>
                                        <p:tgtEl>
                                          <p:spTgt spid="31"/>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nodeType="clickEffect">
                                  <p:stCondLst>
                                    <p:cond delay="0"/>
                                  </p:stCondLst>
                                  <p:childTnLst>
                                    <p:set>
                                      <p:cBhvr>
                                        <p:cTn id="77" dur="1" fill="hold">
                                          <p:stCondLst>
                                            <p:cond delay="0"/>
                                          </p:stCondLst>
                                        </p:cTn>
                                        <p:tgtEl>
                                          <p:spTgt spid="32"/>
                                        </p:tgtEl>
                                        <p:attrNameLst>
                                          <p:attrName>style.visibility</p:attrName>
                                        </p:attrNameLst>
                                      </p:cBhvr>
                                      <p:to>
                                        <p:strVal val="visible"/>
                                      </p:to>
                                    </p:set>
                                    <p:anim calcmode="lin" valueType="num">
                                      <p:cBhvr additive="base">
                                        <p:cTn id="78" dur="420" decel="60000" fill="hold"/>
                                        <p:tgtEl>
                                          <p:spTgt spid="32"/>
                                        </p:tgtEl>
                                        <p:attrNameLst>
                                          <p:attrName>ppt_y</p:attrName>
                                        </p:attrNameLst>
                                      </p:cBhvr>
                                      <p:tavLst>
                                        <p:tav tm="0">
                                          <p:val>
                                            <p:strVal val="#ppt_y+.014"/>
                                          </p:val>
                                        </p:tav>
                                        <p:tav tm="100000">
                                          <p:val>
                                            <p:strVal val="#ppt_y"/>
                                          </p:val>
                                        </p:tav>
                                      </p:tavLst>
                                    </p:anim>
                                    <p:animEffect transition="in" filter="fade">
                                      <p:cBhvr>
                                        <p:cTn id="79" dur="420"/>
                                        <p:tgtEl>
                                          <p:spTgt spid="32"/>
                                        </p:tgtEl>
                                      </p:cBhvr>
                                    </p:animEffect>
                                  </p:childTnLst>
                                </p:cTn>
                              </p:par>
                              <p:par>
                                <p:cTn id="80" presetID="42" presetClass="entr" presetSubtype="0" fill="hold" nodeType="withEffect">
                                  <p:stCondLst>
                                    <p:cond delay="0"/>
                                  </p:stCondLst>
                                  <p:childTnLst>
                                    <p:set>
                                      <p:cBhvr>
                                        <p:cTn id="81" dur="1" fill="hold">
                                          <p:stCondLst>
                                            <p:cond delay="0"/>
                                          </p:stCondLst>
                                        </p:cTn>
                                        <p:tgtEl>
                                          <p:spTgt spid="33"/>
                                        </p:tgtEl>
                                        <p:attrNameLst>
                                          <p:attrName>style.visibility</p:attrName>
                                        </p:attrNameLst>
                                      </p:cBhvr>
                                      <p:to>
                                        <p:strVal val="visible"/>
                                      </p:to>
                                    </p:set>
                                    <p:anim calcmode="lin" valueType="num">
                                      <p:cBhvr additive="base">
                                        <p:cTn id="82" dur="420" decel="60000" fill="hold"/>
                                        <p:tgtEl>
                                          <p:spTgt spid="33"/>
                                        </p:tgtEl>
                                        <p:attrNameLst>
                                          <p:attrName>ppt_y</p:attrName>
                                        </p:attrNameLst>
                                      </p:cBhvr>
                                      <p:tavLst>
                                        <p:tav tm="0">
                                          <p:val>
                                            <p:strVal val="#ppt_y+.014"/>
                                          </p:val>
                                        </p:tav>
                                        <p:tav tm="100000">
                                          <p:val>
                                            <p:strVal val="#ppt_y"/>
                                          </p:val>
                                        </p:tav>
                                      </p:tavLst>
                                    </p:anim>
                                    <p:animEffect transition="in" filter="fade">
                                      <p:cBhvr>
                                        <p:cTn id="83"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SETUP</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Build the rig before the feature</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Give the agent a way to check its own work.</a:t>
            </a:r>
            <a:endParaRPr lang="en-US" sz="1900" dirty="0"/>
          </a:p>
        </p:txBody>
      </p:sp>
      <p:sp>
        <p:nvSpPr>
          <p:cNvPr id="5" name="Shape 3"/>
          <p:cNvSpPr/>
          <p:nvPr/>
        </p:nvSpPr>
        <p:spPr>
          <a:xfrm>
            <a:off x="566928" y="2011680"/>
            <a:ext cx="6766560" cy="3200400"/>
          </a:xfrm>
          <a:prstGeom prst="roundRect">
            <a:avLst>
              <a:gd name="adj" fmla="val 5714"/>
            </a:avLst>
          </a:prstGeom>
          <a:solidFill>
            <a:srgbClr val="0A0D13"/>
          </a:solidFill>
          <a:ln w="12700">
            <a:solidFill>
              <a:srgbClr val="232C3A"/>
            </a:solidFill>
            <a:prstDash val="solid"/>
          </a:ln>
        </p:spPr>
        <p:txBody>
          <a:bodyPr/>
          <a:lstStyle/>
          <a:p>
            <a:endParaRPr lang="en-US"/>
          </a:p>
        </p:txBody>
      </p:sp>
      <p:sp>
        <p:nvSpPr>
          <p:cNvPr id="6" name="Text 4"/>
          <p:cNvSpPr/>
          <p:nvPr/>
        </p:nvSpPr>
        <p:spPr>
          <a:xfrm>
            <a:off x="868680" y="2176272"/>
            <a:ext cx="6126480" cy="274320"/>
          </a:xfrm>
          <a:prstGeom prst="rect">
            <a:avLst/>
          </a:prstGeom>
          <a:noFill/>
          <a:ln/>
        </p:spPr>
        <p:txBody>
          <a:bodyPr wrap="square" rtlCol="0" anchor="t"/>
          <a:lstStyle/>
          <a:p>
            <a:pPr marL="0" indent="0">
              <a:lnSpc>
                <a:spcPct val="105000"/>
              </a:lnSpc>
              <a:buNone/>
            </a:pPr>
            <a:r>
              <a:rPr lang="en-US" sz="1200" b="1" kern="0" spc="200" dirty="0">
                <a:solidFill>
                  <a:srgbClr val="75EDBB"/>
                </a:solidFill>
                <a:latin typeface="Helvetica Neue" pitchFamily="34" charset="0"/>
                <a:ea typeface="Helvetica Neue" pitchFamily="34" charset="-122"/>
                <a:cs typeface="Helvetica Neue" pitchFamily="34" charset="-120"/>
              </a:rPr>
              <a:t>LOCAL CONTAINER</a:t>
            </a:r>
            <a:endParaRPr lang="en-US" sz="1200" dirty="0"/>
          </a:p>
        </p:txBody>
      </p:sp>
      <p:sp>
        <p:nvSpPr>
          <p:cNvPr id="7" name="b01-rise-rig-contents"/>
          <p:cNvSpPr/>
          <p:nvPr/>
        </p:nvSpPr>
        <p:spPr>
          <a:xfrm>
            <a:off x="868680" y="2606040"/>
            <a:ext cx="6163056" cy="685800"/>
          </a:xfrm>
          <a:prstGeom prst="roundRect">
            <a:avLst>
              <a:gd name="adj" fmla="val 13333"/>
            </a:avLst>
          </a:prstGeom>
          <a:solidFill>
            <a:srgbClr val="0E1219"/>
          </a:solidFill>
          <a:ln w="12700">
            <a:solidFill>
              <a:srgbClr val="232C3A"/>
            </a:solidFill>
            <a:prstDash val="solid"/>
          </a:ln>
        </p:spPr>
        <p:txBody>
          <a:bodyPr/>
          <a:lstStyle/>
          <a:p>
            <a:endParaRPr lang="en-US"/>
          </a:p>
        </p:txBody>
      </p:sp>
      <p:sp>
        <p:nvSpPr>
          <p:cNvPr id="8" name="b01-rise-rig-contents"/>
          <p:cNvSpPr/>
          <p:nvPr/>
        </p:nvSpPr>
        <p:spPr>
          <a:xfrm>
            <a:off x="1014984" y="2606040"/>
            <a:ext cx="5870448" cy="685800"/>
          </a:xfrm>
          <a:prstGeom prst="rect">
            <a:avLst/>
          </a:prstGeom>
          <a:noFill/>
          <a:ln/>
        </p:spPr>
        <p:txBody>
          <a:bodyPr wrap="square" rtlCol="0" anchor="ctr"/>
          <a:lstStyle/>
          <a:p>
            <a:pPr marL="0" indent="0" algn="l">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Deterministic fixture</a:t>
            </a:r>
            <a:endParaRPr lang="en-US" sz="1800" dirty="0"/>
          </a:p>
        </p:txBody>
      </p:sp>
      <p:sp>
        <p:nvSpPr>
          <p:cNvPr id="9" name="b01-rise-rig-contents"/>
          <p:cNvSpPr/>
          <p:nvPr/>
        </p:nvSpPr>
        <p:spPr>
          <a:xfrm>
            <a:off x="868680" y="3429000"/>
            <a:ext cx="6163056" cy="685800"/>
          </a:xfrm>
          <a:prstGeom prst="roundRect">
            <a:avLst>
              <a:gd name="adj" fmla="val 13333"/>
            </a:avLst>
          </a:prstGeom>
          <a:solidFill>
            <a:srgbClr val="0E1219"/>
          </a:solidFill>
          <a:ln w="12700">
            <a:solidFill>
              <a:srgbClr val="232C3A"/>
            </a:solidFill>
            <a:prstDash val="solid"/>
          </a:ln>
        </p:spPr>
        <p:txBody>
          <a:bodyPr/>
          <a:lstStyle/>
          <a:p>
            <a:endParaRPr lang="en-US"/>
          </a:p>
        </p:txBody>
      </p:sp>
      <p:sp>
        <p:nvSpPr>
          <p:cNvPr id="10" name="b01-rise-rig-contents"/>
          <p:cNvSpPr/>
          <p:nvPr/>
        </p:nvSpPr>
        <p:spPr>
          <a:xfrm>
            <a:off x="1014984" y="3429000"/>
            <a:ext cx="5870448" cy="685800"/>
          </a:xfrm>
          <a:prstGeom prst="rect">
            <a:avLst/>
          </a:prstGeom>
          <a:noFill/>
          <a:ln/>
        </p:spPr>
        <p:txBody>
          <a:bodyPr wrap="square" rtlCol="0" anchor="ctr"/>
          <a:lstStyle/>
          <a:p>
            <a:pPr marL="0" indent="0" algn="l">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One command runs the checks</a:t>
            </a:r>
            <a:endParaRPr lang="en-US" sz="1800" dirty="0"/>
          </a:p>
        </p:txBody>
      </p:sp>
      <p:sp>
        <p:nvSpPr>
          <p:cNvPr id="11" name="b01-rise-rig-contents"/>
          <p:cNvSpPr/>
          <p:nvPr/>
        </p:nvSpPr>
        <p:spPr>
          <a:xfrm>
            <a:off x="868680" y="4251960"/>
            <a:ext cx="6163056" cy="685800"/>
          </a:xfrm>
          <a:prstGeom prst="roundRect">
            <a:avLst>
              <a:gd name="adj" fmla="val 13333"/>
            </a:avLst>
          </a:prstGeom>
          <a:solidFill>
            <a:srgbClr val="0E1219"/>
          </a:solidFill>
          <a:ln w="12700">
            <a:solidFill>
              <a:srgbClr val="232C3A"/>
            </a:solidFill>
            <a:prstDash val="solid"/>
          </a:ln>
        </p:spPr>
        <p:txBody>
          <a:bodyPr/>
          <a:lstStyle/>
          <a:p>
            <a:endParaRPr lang="en-US"/>
          </a:p>
        </p:txBody>
      </p:sp>
      <p:sp>
        <p:nvSpPr>
          <p:cNvPr id="12" name="b01-rise-rig-contents"/>
          <p:cNvSpPr/>
          <p:nvPr/>
        </p:nvSpPr>
        <p:spPr>
          <a:xfrm>
            <a:off x="1014984" y="4251960"/>
            <a:ext cx="5870448" cy="685800"/>
          </a:xfrm>
          <a:prstGeom prst="rect">
            <a:avLst/>
          </a:prstGeom>
          <a:noFill/>
          <a:ln/>
        </p:spPr>
        <p:txBody>
          <a:bodyPr wrap="square" rtlCol="0" anchor="ctr"/>
          <a:lstStyle/>
          <a:p>
            <a:pPr marL="0" indent="0" algn="l">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A report that names the failing case</a:t>
            </a:r>
            <a:endParaRPr lang="en-US" sz="1800" dirty="0"/>
          </a:p>
        </p:txBody>
      </p:sp>
      <p:sp>
        <p:nvSpPr>
          <p:cNvPr id="13" name="b02-fade-inner-loop-stubs"/>
          <p:cNvSpPr/>
          <p:nvPr/>
        </p:nvSpPr>
        <p:spPr>
          <a:xfrm>
            <a:off x="7589520" y="2011680"/>
            <a:ext cx="4023360" cy="1463040"/>
          </a:xfrm>
          <a:prstGeom prst="roundRect">
            <a:avLst>
              <a:gd name="adj" fmla="val 8125"/>
            </a:avLst>
          </a:prstGeom>
          <a:solidFill>
            <a:srgbClr val="0E1219"/>
          </a:solidFill>
          <a:ln w="12700">
            <a:solidFill>
              <a:srgbClr val="1A212C"/>
            </a:solidFill>
            <a:prstDash val="solid"/>
          </a:ln>
        </p:spPr>
        <p:txBody>
          <a:bodyPr/>
          <a:lstStyle/>
          <a:p>
            <a:endParaRPr lang="en-US"/>
          </a:p>
        </p:txBody>
      </p:sp>
      <p:sp>
        <p:nvSpPr>
          <p:cNvPr id="14" name="b02-fade-inner-loop-stubs"/>
          <p:cNvSpPr/>
          <p:nvPr/>
        </p:nvSpPr>
        <p:spPr>
          <a:xfrm>
            <a:off x="7845552" y="2212848"/>
            <a:ext cx="3511296" cy="237744"/>
          </a:xfrm>
          <a:prstGeom prst="rect">
            <a:avLst/>
          </a:prstGeom>
          <a:noFill/>
          <a:ln/>
        </p:spPr>
        <p:txBody>
          <a:bodyPr wrap="square" rtlCol="0" anchor="t"/>
          <a:lstStyle/>
          <a:p>
            <a:pPr marL="0" indent="0">
              <a:lnSpc>
                <a:spcPct val="105000"/>
              </a:lnSpc>
              <a:buNone/>
            </a:pPr>
            <a:r>
              <a:rPr lang="en-US" sz="1100" b="1" kern="0" spc="200" dirty="0">
                <a:solidFill>
                  <a:srgbClr val="A99AFF"/>
                </a:solidFill>
                <a:latin typeface="Helvetica Neue" pitchFamily="34" charset="0"/>
                <a:ea typeface="Helvetica Neue" pitchFamily="34" charset="-122"/>
                <a:cs typeface="Helvetica Neue" pitchFamily="34" charset="-120"/>
              </a:rPr>
              <a:t>STUBBED FOR THE INNER LOOP</a:t>
            </a:r>
            <a:endParaRPr lang="en-US" sz="1100" dirty="0"/>
          </a:p>
        </p:txBody>
      </p:sp>
      <p:sp>
        <p:nvSpPr>
          <p:cNvPr id="15" name="b02-fade-inner-loop-stubs"/>
          <p:cNvSpPr/>
          <p:nvPr/>
        </p:nvSpPr>
        <p:spPr>
          <a:xfrm>
            <a:off x="7845552" y="2523744"/>
            <a:ext cx="3511296" cy="804672"/>
          </a:xfrm>
          <a:prstGeom prst="rect">
            <a:avLst/>
          </a:prstGeom>
          <a:noFill/>
          <a:ln/>
        </p:spPr>
        <p:txBody>
          <a:bodyPr wrap="square" rtlCol="0" anchor="t"/>
          <a:lstStyle/>
          <a:p>
            <a:pPr marL="0" indent="0">
              <a:lnSpc>
                <a:spcPct val="105000"/>
              </a:lnSpc>
              <a:buNone/>
            </a:pPr>
            <a:r>
              <a:rPr lang="en-US" sz="1700" dirty="0">
                <a:solidFill>
                  <a:srgbClr val="B2BDCD"/>
                </a:solidFill>
                <a:latin typeface="Helvetica Neue" pitchFamily="34" charset="0"/>
                <a:ea typeface="Helvetica Neue" pitchFamily="34" charset="-122"/>
                <a:cs typeface="Helvetica Neue" pitchFamily="34" charset="-120"/>
              </a:rPr>
              <a:t>payment gateway, mail, identity provider</a:t>
            </a:r>
            <a:endParaRPr lang="en-US" sz="1700" dirty="0"/>
          </a:p>
        </p:txBody>
      </p:sp>
      <p:sp>
        <p:nvSpPr>
          <p:cNvPr id="16" name="b03-rise-final-gate"/>
          <p:cNvSpPr/>
          <p:nvPr/>
        </p:nvSpPr>
        <p:spPr>
          <a:xfrm>
            <a:off x="7589520" y="3749040"/>
            <a:ext cx="4023360" cy="1463040"/>
          </a:xfrm>
          <a:prstGeom prst="roundRect">
            <a:avLst>
              <a:gd name="adj" fmla="val 8125"/>
            </a:avLst>
          </a:prstGeom>
          <a:solidFill>
            <a:srgbClr val="0E1219"/>
          </a:solidFill>
          <a:ln w="12700">
            <a:solidFill>
              <a:srgbClr val="75EDBB"/>
            </a:solidFill>
            <a:prstDash val="solid"/>
          </a:ln>
        </p:spPr>
        <p:txBody>
          <a:bodyPr/>
          <a:lstStyle/>
          <a:p>
            <a:endParaRPr lang="en-US"/>
          </a:p>
        </p:txBody>
      </p:sp>
      <p:sp>
        <p:nvSpPr>
          <p:cNvPr id="17" name="b03-rise-final-gate"/>
          <p:cNvSpPr/>
          <p:nvPr/>
        </p:nvSpPr>
        <p:spPr>
          <a:xfrm>
            <a:off x="7845552" y="3950208"/>
            <a:ext cx="3511296" cy="237744"/>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KEPT FOR THE FINAL GATE</a:t>
            </a:r>
            <a:endParaRPr lang="en-US" sz="1100" dirty="0"/>
          </a:p>
        </p:txBody>
      </p:sp>
      <p:sp>
        <p:nvSpPr>
          <p:cNvPr id="18" name="b03-rise-final-gate"/>
          <p:cNvSpPr/>
          <p:nvPr/>
        </p:nvSpPr>
        <p:spPr>
          <a:xfrm>
            <a:off x="7845552" y="4261104"/>
            <a:ext cx="3511296" cy="804672"/>
          </a:xfrm>
          <a:prstGeom prst="rect">
            <a:avLst/>
          </a:prstGeom>
          <a:noFill/>
          <a:ln/>
        </p:spPr>
        <p:txBody>
          <a:bodyPr wrap="square" rtlCol="0" anchor="t"/>
          <a:lstStyle/>
          <a:p>
            <a:pPr marL="0" indent="0">
              <a:lnSpc>
                <a:spcPct val="105000"/>
              </a:lnSpc>
              <a:buNone/>
            </a:pPr>
            <a:r>
              <a:rPr lang="en-US" sz="1700" dirty="0">
                <a:solidFill>
                  <a:srgbClr val="B2BDCD"/>
                </a:solidFill>
                <a:latin typeface="Helvetica Neue" pitchFamily="34" charset="0"/>
                <a:ea typeface="Helvetica Neue" pitchFamily="34" charset="-122"/>
                <a:cs typeface="Helvetica Neue" pitchFamily="34" charset="-120"/>
              </a:rPr>
              <a:t>real auth with an isolated test identity</a:t>
            </a:r>
            <a:endParaRPr lang="en-US" sz="1700" dirty="0"/>
          </a:p>
        </p:txBody>
      </p:sp>
      <p:sp>
        <p:nvSpPr>
          <p:cNvPr id="19" name="b03-rise-final-gate"/>
          <p:cNvSpPr/>
          <p:nvPr/>
        </p:nvSpPr>
        <p:spPr>
          <a:xfrm>
            <a:off x="566928" y="5532120"/>
            <a:ext cx="11064240" cy="548640"/>
          </a:xfrm>
          <a:prstGeom prst="roundRect">
            <a:avLst>
              <a:gd name="adj" fmla="val 21667"/>
            </a:avLst>
          </a:prstGeom>
          <a:solidFill>
            <a:srgbClr val="0E1219"/>
          </a:solidFill>
          <a:ln w="12700">
            <a:solidFill>
              <a:srgbClr val="232C3A"/>
            </a:solidFill>
            <a:prstDash val="solid"/>
          </a:ln>
        </p:spPr>
        <p:txBody>
          <a:bodyPr/>
          <a:lstStyle/>
          <a:p>
            <a:endParaRPr lang="en-US"/>
          </a:p>
        </p:txBody>
      </p:sp>
      <p:sp>
        <p:nvSpPr>
          <p:cNvPr id="20" name="b03-rise-final-gate"/>
          <p:cNvSpPr/>
          <p:nvPr/>
        </p:nvSpPr>
        <p:spPr>
          <a:xfrm>
            <a:off x="841248" y="5532120"/>
            <a:ext cx="10515600" cy="548640"/>
          </a:xfrm>
          <a:prstGeom prst="rect">
            <a:avLst/>
          </a:prstGeom>
          <a:noFill/>
          <a:ln/>
        </p:spPr>
        <p:txBody>
          <a:bodyPr wrap="square" rtlCol="0" anchor="ctr"/>
          <a:lstStyle/>
          <a:p>
            <a:pPr marL="0" indent="0">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The rig is what lets the agent check itself, so build it before the feature.</a:t>
            </a:r>
            <a:endParaRPr lang="en-US" sz="1800" dirty="0"/>
          </a:p>
        </p:txBody>
      </p:sp>
      <p:sp>
        <p:nvSpPr>
          <p:cNvPr id="21" name="Text 19"/>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Local speeds up the inner loop. It does not replace the integration path.</a:t>
            </a:r>
            <a:endParaRPr lang="en-US" sz="1100" dirty="0"/>
          </a:p>
        </p:txBody>
      </p:sp>
      <p:sp>
        <p:nvSpPr>
          <p:cNvPr id="22" name="Text 20"/>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13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420" decel="60000" fill="hold"/>
                                        <p:tgtEl>
                                          <p:spTgt spid="7"/>
                                        </p:tgtEl>
                                        <p:attrNameLst>
                                          <p:attrName>ppt_y</p:attrName>
                                        </p:attrNameLst>
                                      </p:cBhvr>
                                      <p:tavLst>
                                        <p:tav tm="0">
                                          <p:val>
                                            <p:strVal val="#ppt_y+.014"/>
                                          </p:val>
                                        </p:tav>
                                        <p:tav tm="100000">
                                          <p:val>
                                            <p:strVal val="#ppt_y"/>
                                          </p:val>
                                        </p:tav>
                                      </p:tavLst>
                                    </p:anim>
                                    <p:animEffect transition="in" filter="fade">
                                      <p:cBhvr>
                                        <p:cTn id="8" dur="420"/>
                                        <p:tgtEl>
                                          <p:spTgt spid="7"/>
                                        </p:tgtEl>
                                      </p:cBhvr>
                                    </p:animEffect>
                                  </p:childTnLst>
                                </p:cTn>
                              </p:par>
                              <p:par>
                                <p:cTn id="9" presetID="42"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420" decel="60000" fill="hold"/>
                                        <p:tgtEl>
                                          <p:spTgt spid="8"/>
                                        </p:tgtEl>
                                        <p:attrNameLst>
                                          <p:attrName>ppt_y</p:attrName>
                                        </p:attrNameLst>
                                      </p:cBhvr>
                                      <p:tavLst>
                                        <p:tav tm="0">
                                          <p:val>
                                            <p:strVal val="#ppt_y+.014"/>
                                          </p:val>
                                        </p:tav>
                                        <p:tav tm="100000">
                                          <p:val>
                                            <p:strVal val="#ppt_y"/>
                                          </p:val>
                                        </p:tav>
                                      </p:tavLst>
                                    </p:anim>
                                    <p:animEffect transition="in" filter="fade">
                                      <p:cBhvr>
                                        <p:cTn id="12" dur="420"/>
                                        <p:tgtEl>
                                          <p:spTgt spid="8"/>
                                        </p:tgtEl>
                                      </p:cBhvr>
                                    </p:animEffect>
                                  </p:childTnLst>
                                </p:cTn>
                              </p:par>
                              <p:par>
                                <p:cTn id="13" presetID="42"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420" decel="60000" fill="hold"/>
                                        <p:tgtEl>
                                          <p:spTgt spid="9"/>
                                        </p:tgtEl>
                                        <p:attrNameLst>
                                          <p:attrName>ppt_y</p:attrName>
                                        </p:attrNameLst>
                                      </p:cBhvr>
                                      <p:tavLst>
                                        <p:tav tm="0">
                                          <p:val>
                                            <p:strVal val="#ppt_y+.014"/>
                                          </p:val>
                                        </p:tav>
                                        <p:tav tm="100000">
                                          <p:val>
                                            <p:strVal val="#ppt_y"/>
                                          </p:val>
                                        </p:tav>
                                      </p:tavLst>
                                    </p:anim>
                                    <p:animEffect transition="in" filter="fade">
                                      <p:cBhvr>
                                        <p:cTn id="16" dur="420"/>
                                        <p:tgtEl>
                                          <p:spTgt spid="9"/>
                                        </p:tgtEl>
                                      </p:cBhvr>
                                    </p:animEffect>
                                  </p:childTnLst>
                                </p:cTn>
                              </p:par>
                              <p:par>
                                <p:cTn id="17" presetID="42"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420" decel="60000" fill="hold"/>
                                        <p:tgtEl>
                                          <p:spTgt spid="10"/>
                                        </p:tgtEl>
                                        <p:attrNameLst>
                                          <p:attrName>ppt_y</p:attrName>
                                        </p:attrNameLst>
                                      </p:cBhvr>
                                      <p:tavLst>
                                        <p:tav tm="0">
                                          <p:val>
                                            <p:strVal val="#ppt_y+.014"/>
                                          </p:val>
                                        </p:tav>
                                        <p:tav tm="100000">
                                          <p:val>
                                            <p:strVal val="#ppt_y"/>
                                          </p:val>
                                        </p:tav>
                                      </p:tavLst>
                                    </p:anim>
                                    <p:animEffect transition="in" filter="fade">
                                      <p:cBhvr>
                                        <p:cTn id="20" dur="420"/>
                                        <p:tgtEl>
                                          <p:spTgt spid="10"/>
                                        </p:tgtEl>
                                      </p:cBhvr>
                                    </p:animEffect>
                                  </p:childTnLst>
                                </p:cTn>
                              </p:par>
                              <p:par>
                                <p:cTn id="21" presetID="42"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420" decel="60000" fill="hold"/>
                                        <p:tgtEl>
                                          <p:spTgt spid="11"/>
                                        </p:tgtEl>
                                        <p:attrNameLst>
                                          <p:attrName>ppt_y</p:attrName>
                                        </p:attrNameLst>
                                      </p:cBhvr>
                                      <p:tavLst>
                                        <p:tav tm="0">
                                          <p:val>
                                            <p:strVal val="#ppt_y+.014"/>
                                          </p:val>
                                        </p:tav>
                                        <p:tav tm="100000">
                                          <p:val>
                                            <p:strVal val="#ppt_y"/>
                                          </p:val>
                                        </p:tav>
                                      </p:tavLst>
                                    </p:anim>
                                    <p:animEffect transition="in" filter="fade">
                                      <p:cBhvr>
                                        <p:cTn id="24" dur="420"/>
                                        <p:tgtEl>
                                          <p:spTgt spid="11"/>
                                        </p:tgtEl>
                                      </p:cBhvr>
                                    </p:animEffect>
                                  </p:childTnLst>
                                </p:cTn>
                              </p:par>
                              <p:par>
                                <p:cTn id="25" presetID="42"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420" decel="60000" fill="hold"/>
                                        <p:tgtEl>
                                          <p:spTgt spid="12"/>
                                        </p:tgtEl>
                                        <p:attrNameLst>
                                          <p:attrName>ppt_y</p:attrName>
                                        </p:attrNameLst>
                                      </p:cBhvr>
                                      <p:tavLst>
                                        <p:tav tm="0">
                                          <p:val>
                                            <p:strVal val="#ppt_y+.014"/>
                                          </p:val>
                                        </p:tav>
                                        <p:tav tm="100000">
                                          <p:val>
                                            <p:strVal val="#ppt_y"/>
                                          </p:val>
                                        </p:tav>
                                      </p:tavLst>
                                    </p:anim>
                                    <p:animEffect transition="in" filter="fade">
                                      <p:cBhvr>
                                        <p:cTn id="28" dur="42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2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2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20"/>
                                        <p:tgtEl>
                                          <p:spTgt spid="15"/>
                                        </p:tgtEl>
                                      </p:cBhvr>
                                    </p:animEffect>
                                  </p:childTnLst>
                                </p:cTn>
                              </p:par>
                              <p:par>
                                <p:cTn id="38" presetID="42"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 calcmode="lin" valueType="num">
                                      <p:cBhvr additive="base">
                                        <p:cTn id="40" dur="420" decel="60000" fill="hold"/>
                                        <p:tgtEl>
                                          <p:spTgt spid="16"/>
                                        </p:tgtEl>
                                        <p:attrNameLst>
                                          <p:attrName>ppt_y</p:attrName>
                                        </p:attrNameLst>
                                      </p:cBhvr>
                                      <p:tavLst>
                                        <p:tav tm="0">
                                          <p:val>
                                            <p:strVal val="#ppt_y+.014"/>
                                          </p:val>
                                        </p:tav>
                                        <p:tav tm="100000">
                                          <p:val>
                                            <p:strVal val="#ppt_y"/>
                                          </p:val>
                                        </p:tav>
                                      </p:tavLst>
                                    </p:anim>
                                    <p:animEffect transition="in" filter="fade">
                                      <p:cBhvr>
                                        <p:cTn id="41" dur="420"/>
                                        <p:tgtEl>
                                          <p:spTgt spid="16"/>
                                        </p:tgtEl>
                                      </p:cBhvr>
                                    </p:animEffect>
                                  </p:childTnLst>
                                </p:cTn>
                              </p:par>
                              <p:par>
                                <p:cTn id="42" presetID="42"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420" decel="60000" fill="hold"/>
                                        <p:tgtEl>
                                          <p:spTgt spid="17"/>
                                        </p:tgtEl>
                                        <p:attrNameLst>
                                          <p:attrName>ppt_y</p:attrName>
                                        </p:attrNameLst>
                                      </p:cBhvr>
                                      <p:tavLst>
                                        <p:tav tm="0">
                                          <p:val>
                                            <p:strVal val="#ppt_y+.014"/>
                                          </p:val>
                                        </p:tav>
                                        <p:tav tm="100000">
                                          <p:val>
                                            <p:strVal val="#ppt_y"/>
                                          </p:val>
                                        </p:tav>
                                      </p:tavLst>
                                    </p:anim>
                                    <p:animEffect transition="in" filter="fade">
                                      <p:cBhvr>
                                        <p:cTn id="45" dur="420"/>
                                        <p:tgtEl>
                                          <p:spTgt spid="17"/>
                                        </p:tgtEl>
                                      </p:cBhvr>
                                    </p:animEffect>
                                  </p:childTnLst>
                                </p:cTn>
                              </p:par>
                              <p:par>
                                <p:cTn id="46" presetID="42"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420" decel="60000" fill="hold"/>
                                        <p:tgtEl>
                                          <p:spTgt spid="18"/>
                                        </p:tgtEl>
                                        <p:attrNameLst>
                                          <p:attrName>ppt_y</p:attrName>
                                        </p:attrNameLst>
                                      </p:cBhvr>
                                      <p:tavLst>
                                        <p:tav tm="0">
                                          <p:val>
                                            <p:strVal val="#ppt_y+.014"/>
                                          </p:val>
                                        </p:tav>
                                        <p:tav tm="100000">
                                          <p:val>
                                            <p:strVal val="#ppt_y"/>
                                          </p:val>
                                        </p:tav>
                                      </p:tavLst>
                                    </p:anim>
                                    <p:animEffect transition="in" filter="fade">
                                      <p:cBhvr>
                                        <p:cTn id="49" dur="420"/>
                                        <p:tgtEl>
                                          <p:spTgt spid="18"/>
                                        </p:tgtEl>
                                      </p:cBhvr>
                                    </p:animEffect>
                                  </p:childTnLst>
                                </p:cTn>
                              </p:par>
                              <p:par>
                                <p:cTn id="50" presetID="42"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additive="base">
                                        <p:cTn id="52" dur="420" decel="60000" fill="hold"/>
                                        <p:tgtEl>
                                          <p:spTgt spid="19"/>
                                        </p:tgtEl>
                                        <p:attrNameLst>
                                          <p:attrName>ppt_y</p:attrName>
                                        </p:attrNameLst>
                                      </p:cBhvr>
                                      <p:tavLst>
                                        <p:tav tm="0">
                                          <p:val>
                                            <p:strVal val="#ppt_y+.014"/>
                                          </p:val>
                                        </p:tav>
                                        <p:tav tm="100000">
                                          <p:val>
                                            <p:strVal val="#ppt_y"/>
                                          </p:val>
                                        </p:tav>
                                      </p:tavLst>
                                    </p:anim>
                                    <p:animEffect transition="in" filter="fade">
                                      <p:cBhvr>
                                        <p:cTn id="53" dur="420"/>
                                        <p:tgtEl>
                                          <p:spTgt spid="19"/>
                                        </p:tgtEl>
                                      </p:cBhvr>
                                    </p:animEffect>
                                  </p:childTnLst>
                                </p:cTn>
                              </p:par>
                              <p:par>
                                <p:cTn id="54" presetID="42"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420" decel="60000" fill="hold"/>
                                        <p:tgtEl>
                                          <p:spTgt spid="20"/>
                                        </p:tgtEl>
                                        <p:attrNameLst>
                                          <p:attrName>ppt_y</p:attrName>
                                        </p:attrNameLst>
                                      </p:cBhvr>
                                      <p:tavLst>
                                        <p:tav tm="0">
                                          <p:val>
                                            <p:strVal val="#ppt_y+.014"/>
                                          </p:val>
                                        </p:tav>
                                        <p:tav tm="100000">
                                          <p:val>
                                            <p:strVal val="#ppt_y"/>
                                          </p:val>
                                        </p:tav>
                                      </p:tavLst>
                                    </p:anim>
                                    <p:animEffect transition="in" filter="fade">
                                      <p:cBhvr>
                                        <p:cTn id="57" dur="42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INNER LOOP</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Put the cheapest reliable check first</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Same question, smaller and more direct evidence.</a:t>
            </a:r>
            <a:endParaRPr lang="en-US" sz="1900" dirty="0"/>
          </a:p>
        </p:txBody>
      </p:sp>
      <p:sp>
        <p:nvSpPr>
          <p:cNvPr id="5" name="Text 3"/>
          <p:cNvSpPr/>
          <p:nvPr/>
        </p:nvSpPr>
        <p:spPr>
          <a:xfrm>
            <a:off x="566928" y="1965960"/>
            <a:ext cx="4023360" cy="868680"/>
          </a:xfrm>
          <a:prstGeom prst="rect">
            <a:avLst/>
          </a:prstGeom>
          <a:noFill/>
          <a:ln/>
        </p:spPr>
        <p:txBody>
          <a:bodyPr wrap="square" rtlCol="0" anchor="t"/>
          <a:lstStyle/>
          <a:p>
            <a:pPr marL="0" indent="0">
              <a:lnSpc>
                <a:spcPct val="105000"/>
              </a:lnSpc>
              <a:buNone/>
            </a:pPr>
            <a:r>
              <a:rPr lang="en-US" sz="4600" dirty="0">
                <a:solidFill>
                  <a:srgbClr val="6F7B8D"/>
                </a:solidFill>
                <a:latin typeface="Avenir Next" pitchFamily="34" charset="0"/>
                <a:ea typeface="Avenir Next" pitchFamily="34" charset="-122"/>
                <a:cs typeface="Avenir Next" pitchFamily="34" charset="-120"/>
              </a:rPr>
              <a:t>400,000</a:t>
            </a:r>
            <a:endParaRPr lang="en-US" sz="4600" dirty="0"/>
          </a:p>
        </p:txBody>
      </p:sp>
      <p:sp>
        <p:nvSpPr>
          <p:cNvPr id="6" name="Text 4"/>
          <p:cNvSpPr/>
          <p:nvPr/>
        </p:nvSpPr>
        <p:spPr>
          <a:xfrm>
            <a:off x="566928" y="2852928"/>
            <a:ext cx="4023360" cy="292608"/>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synthetic rows in the dataset</a:t>
            </a:r>
            <a:endParaRPr lang="en-US" sz="1500" dirty="0"/>
          </a:p>
        </p:txBody>
      </p:sp>
      <p:sp>
        <p:nvSpPr>
          <p:cNvPr id="7" name="Shape 5"/>
          <p:cNvSpPr/>
          <p:nvPr/>
        </p:nvSpPr>
        <p:spPr>
          <a:xfrm>
            <a:off x="4754880" y="2395728"/>
            <a:ext cx="822960" cy="0"/>
          </a:xfrm>
          <a:prstGeom prst="line">
            <a:avLst/>
          </a:prstGeom>
          <a:noFill/>
          <a:ln w="25400">
            <a:solidFill>
              <a:srgbClr val="75EDBB"/>
            </a:solidFill>
            <a:prstDash val="solid"/>
            <a:tailEnd type="triangle"/>
          </a:ln>
        </p:spPr>
        <p:txBody>
          <a:bodyPr/>
          <a:lstStyle/>
          <a:p>
            <a:endParaRPr lang="en-US"/>
          </a:p>
        </p:txBody>
      </p:sp>
      <p:sp>
        <p:nvSpPr>
          <p:cNvPr id="8" name="b01-zoom-sample-count"/>
          <p:cNvSpPr/>
          <p:nvPr/>
        </p:nvSpPr>
        <p:spPr>
          <a:xfrm>
            <a:off x="5852160" y="1828800"/>
            <a:ext cx="5760720" cy="1051560"/>
          </a:xfrm>
          <a:prstGeom prst="rect">
            <a:avLst/>
          </a:prstGeom>
          <a:noFill/>
          <a:ln/>
        </p:spPr>
        <p:txBody>
          <a:bodyPr wrap="square" rtlCol="0" anchor="t"/>
          <a:lstStyle/>
          <a:p>
            <a:pPr marL="0" indent="0">
              <a:lnSpc>
                <a:spcPct val="105000"/>
              </a:lnSpc>
              <a:buNone/>
            </a:pPr>
            <a:r>
              <a:rPr lang="en-US" sz="6000" dirty="0">
                <a:solidFill>
                  <a:srgbClr val="75EDBB"/>
                </a:solidFill>
                <a:latin typeface="Avenir Next" pitchFamily="34" charset="0"/>
                <a:ea typeface="Avenir Next" pitchFamily="34" charset="-122"/>
                <a:cs typeface="Avenir Next" pitchFamily="34" charset="-120"/>
              </a:rPr>
              <a:t>100</a:t>
            </a:r>
            <a:endParaRPr lang="en-US" sz="6000" dirty="0"/>
          </a:p>
        </p:txBody>
      </p:sp>
      <p:sp>
        <p:nvSpPr>
          <p:cNvPr id="9" name="b01-zoom-sample-count"/>
          <p:cNvSpPr/>
          <p:nvPr/>
        </p:nvSpPr>
        <p:spPr>
          <a:xfrm>
            <a:off x="5852160" y="2852928"/>
            <a:ext cx="5760720" cy="292608"/>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curated functional cases, edge cases included</a:t>
            </a:r>
            <a:endParaRPr lang="en-US" sz="1500" dirty="0"/>
          </a:p>
        </p:txBody>
      </p:sp>
      <p:sp>
        <p:nvSpPr>
          <p:cNvPr id="10" name="Shape 8"/>
          <p:cNvSpPr/>
          <p:nvPr/>
        </p:nvSpPr>
        <p:spPr>
          <a:xfrm>
            <a:off x="566928" y="3474720"/>
            <a:ext cx="11064240" cy="0"/>
          </a:xfrm>
          <a:prstGeom prst="line">
            <a:avLst/>
          </a:prstGeom>
          <a:noFill/>
          <a:ln w="12700">
            <a:solidFill>
              <a:srgbClr val="1A212C"/>
            </a:solidFill>
            <a:prstDash val="solid"/>
          </a:ln>
        </p:spPr>
        <p:txBody>
          <a:bodyPr/>
          <a:lstStyle/>
          <a:p>
            <a:endParaRPr lang="en-US"/>
          </a:p>
        </p:txBody>
      </p:sp>
      <p:sp>
        <p:nvSpPr>
          <p:cNvPr id="11" name="Text 9"/>
          <p:cNvSpPr/>
          <p:nvPr/>
        </p:nvSpPr>
        <p:spPr>
          <a:xfrm>
            <a:off x="566928" y="3749040"/>
            <a:ext cx="4023360" cy="457200"/>
          </a:xfrm>
          <a:prstGeom prst="rect">
            <a:avLst/>
          </a:prstGeom>
          <a:noFill/>
          <a:ln/>
        </p:spPr>
        <p:txBody>
          <a:bodyPr wrap="square" rtlCol="0" anchor="t"/>
          <a:lstStyle/>
          <a:p>
            <a:pPr marL="0" indent="0">
              <a:lnSpc>
                <a:spcPct val="105000"/>
              </a:lnSpc>
              <a:buNone/>
            </a:pPr>
            <a:r>
              <a:rPr lang="en-US" sz="2200" dirty="0">
                <a:solidFill>
                  <a:srgbClr val="B2BDCD"/>
                </a:solidFill>
                <a:latin typeface="Helvetica Neue" pitchFamily="34" charset="0"/>
                <a:ea typeface="Helvetica Neue" pitchFamily="34" charset="-122"/>
                <a:cs typeface="Helvetica Neue" pitchFamily="34" charset="-120"/>
              </a:rPr>
              <a:t>drive a browser</a:t>
            </a:r>
            <a:endParaRPr lang="en-US" sz="2200" dirty="0"/>
          </a:p>
        </p:txBody>
      </p:sp>
      <p:sp>
        <p:nvSpPr>
          <p:cNvPr id="12" name="Text 10"/>
          <p:cNvSpPr/>
          <p:nvPr/>
        </p:nvSpPr>
        <p:spPr>
          <a:xfrm>
            <a:off x="566928" y="4261104"/>
            <a:ext cx="4023360" cy="292608"/>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to read one table row</a:t>
            </a:r>
            <a:endParaRPr lang="en-US" sz="1500" dirty="0"/>
          </a:p>
        </p:txBody>
      </p:sp>
      <p:sp>
        <p:nvSpPr>
          <p:cNvPr id="13" name="b02-wipe-html-check"/>
          <p:cNvSpPr/>
          <p:nvPr/>
        </p:nvSpPr>
        <p:spPr>
          <a:xfrm>
            <a:off x="4754880" y="3977640"/>
            <a:ext cx="822960" cy="0"/>
          </a:xfrm>
          <a:prstGeom prst="line">
            <a:avLst/>
          </a:prstGeom>
          <a:noFill/>
          <a:ln w="25400">
            <a:solidFill>
              <a:srgbClr val="75EDBB"/>
            </a:solidFill>
            <a:prstDash val="solid"/>
            <a:tailEnd type="triangle"/>
          </a:ln>
        </p:spPr>
        <p:txBody>
          <a:bodyPr/>
          <a:lstStyle/>
          <a:p>
            <a:endParaRPr lang="en-US"/>
          </a:p>
        </p:txBody>
      </p:sp>
      <p:sp>
        <p:nvSpPr>
          <p:cNvPr id="14" name="b02-wipe-html-check"/>
          <p:cNvSpPr/>
          <p:nvPr/>
        </p:nvSpPr>
        <p:spPr>
          <a:xfrm>
            <a:off x="5852160" y="3749040"/>
            <a:ext cx="5760720" cy="457200"/>
          </a:xfrm>
          <a:prstGeom prst="rect">
            <a:avLst/>
          </a:prstGeom>
          <a:noFill/>
          <a:ln/>
        </p:spPr>
        <p:txBody>
          <a:bodyPr wrap="square" rtlCol="0" anchor="t"/>
          <a:lstStyle/>
          <a:p>
            <a:pPr marL="0" indent="0">
              <a:lnSpc>
                <a:spcPct val="105000"/>
              </a:lnSpc>
              <a:buNone/>
            </a:pPr>
            <a:r>
              <a:rPr lang="en-US" sz="2200" dirty="0">
                <a:solidFill>
                  <a:srgbClr val="75EDBB"/>
                </a:solidFill>
                <a:latin typeface="Helvetica Neue" pitchFamily="34" charset="0"/>
                <a:ea typeface="Helvetica Neue" pitchFamily="34" charset="-122"/>
                <a:cs typeface="Helvetica Neue" pitchFamily="34" charset="-120"/>
              </a:rPr>
              <a:t>assert the HTML the app generated</a:t>
            </a:r>
            <a:endParaRPr lang="en-US" sz="2200" dirty="0"/>
          </a:p>
        </p:txBody>
      </p:sp>
      <p:sp>
        <p:nvSpPr>
          <p:cNvPr id="15" name="b02-wipe-html-check"/>
          <p:cNvSpPr/>
          <p:nvPr/>
        </p:nvSpPr>
        <p:spPr>
          <a:xfrm>
            <a:off x="5852160" y="4261104"/>
            <a:ext cx="5760720" cy="292608"/>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same evidence, fewer moving parts</a:t>
            </a:r>
            <a:endParaRPr lang="en-US" sz="1500" dirty="0"/>
          </a:p>
        </p:txBody>
      </p:sp>
      <p:sp>
        <p:nvSpPr>
          <p:cNvPr id="16" name="b03-rise-final-gate-note"/>
          <p:cNvSpPr/>
          <p:nvPr/>
        </p:nvSpPr>
        <p:spPr>
          <a:xfrm>
            <a:off x="566928" y="5074920"/>
            <a:ext cx="11064240" cy="777240"/>
          </a:xfrm>
          <a:prstGeom prst="roundRect">
            <a:avLst>
              <a:gd name="adj" fmla="val 15294"/>
            </a:avLst>
          </a:prstGeom>
          <a:solidFill>
            <a:srgbClr val="0E1219"/>
          </a:solidFill>
          <a:ln w="12700">
            <a:solidFill>
              <a:srgbClr val="232C3A"/>
            </a:solidFill>
            <a:prstDash val="solid"/>
          </a:ln>
        </p:spPr>
        <p:txBody>
          <a:bodyPr/>
          <a:lstStyle/>
          <a:p>
            <a:endParaRPr lang="en-US"/>
          </a:p>
        </p:txBody>
      </p:sp>
      <p:sp>
        <p:nvSpPr>
          <p:cNvPr id="17" name="b03-rise-final-gate-note"/>
          <p:cNvSpPr/>
          <p:nvPr/>
        </p:nvSpPr>
        <p:spPr>
          <a:xfrm>
            <a:off x="841248" y="5074920"/>
            <a:ext cx="10515600" cy="77724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Inner loop only. The final gate still runs real auth, one browser check and full-scale data.</a:t>
            </a:r>
            <a:endParaRPr lang="en-US" sz="1900" dirty="0"/>
          </a:p>
        </p:txBody>
      </p:sp>
      <p:sp>
        <p:nvSpPr>
          <p:cNvPr id="18" name="Text 16"/>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A smaller sample is a speed choice, not a token measurement. Record any claim live.</a:t>
            </a:r>
            <a:endParaRPr lang="en-US" sz="1100" dirty="0"/>
          </a:p>
        </p:txBody>
      </p:sp>
      <p:sp>
        <p:nvSpPr>
          <p:cNvPr id="19" name="Text 17"/>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14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Scale zoomContents="1">
                                      <p:cBhvr>
                                        <p:cTn id="7" dur="420" decel="50000" fill="hold"/>
                                        <p:tgtEl>
                                          <p:spTgt spid="8"/>
                                        </p:tgtEl>
                                      </p:cBhvr>
                                      <p:from x="95000" y="95000"/>
                                      <p:to x="100000" y="100000"/>
                                    </p:animScale>
                                    <p:animEffect transition="in" filter="fade">
                                      <p:cBhvr>
                                        <p:cTn id="8" dur="420"/>
                                        <p:tgtEl>
                                          <p:spTgt spid="8"/>
                                        </p:tgtEl>
                                      </p:cBhvr>
                                    </p:animEffect>
                                  </p:childTnLst>
                                </p:cTn>
                              </p:par>
                              <p:par>
                                <p:cTn id="9" presetID="23"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Scale zoomContents="1">
                                      <p:cBhvr>
                                        <p:cTn id="11" dur="420" decel="50000" fill="hold"/>
                                        <p:tgtEl>
                                          <p:spTgt spid="9"/>
                                        </p:tgtEl>
                                      </p:cBhvr>
                                      <p:from x="95000" y="95000"/>
                                      <p:to x="100000" y="100000"/>
                                    </p:animScale>
                                    <p:animEffect transition="in" filter="fade">
                                      <p:cBhvr>
                                        <p:cTn id="12" dur="420"/>
                                        <p:tgtEl>
                                          <p:spTgt spid="9"/>
                                        </p:tgtEl>
                                      </p:cBhvr>
                                    </p:animEffect>
                                  </p:childTnLst>
                                </p:cTn>
                              </p:par>
                              <p:par>
                                <p:cTn id="13" presetID="22" presetClass="entr" presetSubtype="1"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right)">
                                      <p:cBhvr>
                                        <p:cTn id="15" dur="420"/>
                                        <p:tgtEl>
                                          <p:spTgt spid="13"/>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right)">
                                      <p:cBhvr>
                                        <p:cTn id="18" dur="420"/>
                                        <p:tgtEl>
                                          <p:spTgt spid="14"/>
                                        </p:tgtEl>
                                      </p:cBhvr>
                                    </p:animEffect>
                                  </p:childTnLst>
                                </p:cTn>
                              </p:par>
                              <p:par>
                                <p:cTn id="19" presetID="22" presetClass="entr" presetSubtype="1"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right)">
                                      <p:cBhvr>
                                        <p:cTn id="21" dur="420"/>
                                        <p:tgtEl>
                                          <p:spTgt spid="15"/>
                                        </p:tgtEl>
                                      </p:cBhvr>
                                    </p:animEffect>
                                  </p:childTnLst>
                                </p:cTn>
                              </p:par>
                              <p:par>
                                <p:cTn id="22" presetID="42"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420" decel="60000" fill="hold"/>
                                        <p:tgtEl>
                                          <p:spTgt spid="16"/>
                                        </p:tgtEl>
                                        <p:attrNameLst>
                                          <p:attrName>ppt_y</p:attrName>
                                        </p:attrNameLst>
                                      </p:cBhvr>
                                      <p:tavLst>
                                        <p:tav tm="0">
                                          <p:val>
                                            <p:strVal val="#ppt_y+.014"/>
                                          </p:val>
                                        </p:tav>
                                        <p:tav tm="100000">
                                          <p:val>
                                            <p:strVal val="#ppt_y"/>
                                          </p:val>
                                        </p:tav>
                                      </p:tavLst>
                                    </p:anim>
                                    <p:animEffect transition="in" filter="fade">
                                      <p:cBhvr>
                                        <p:cTn id="25" dur="420"/>
                                        <p:tgtEl>
                                          <p:spTgt spid="16"/>
                                        </p:tgtEl>
                                      </p:cBhvr>
                                    </p:animEffect>
                                  </p:childTnLst>
                                </p:cTn>
                              </p:par>
                              <p:par>
                                <p:cTn id="26" presetID="42"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additive="base">
                                        <p:cTn id="28" dur="420" decel="60000" fill="hold"/>
                                        <p:tgtEl>
                                          <p:spTgt spid="17"/>
                                        </p:tgtEl>
                                        <p:attrNameLst>
                                          <p:attrName>ppt_y</p:attrName>
                                        </p:attrNameLst>
                                      </p:cBhvr>
                                      <p:tavLst>
                                        <p:tav tm="0">
                                          <p:val>
                                            <p:strVal val="#ppt_y+.014"/>
                                          </p:val>
                                        </p:tav>
                                        <p:tav tm="100000">
                                          <p:val>
                                            <p:strVal val="#ppt_y"/>
                                          </p:val>
                                        </p:tav>
                                      </p:tavLst>
                                    </p:anim>
                                    <p:animEffect transition="in" filter="fade">
                                      <p:cBhvr>
                                        <p:cTn id="29"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PATTERN</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TWTTY: Tell me What To Tell You</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Ask the agent to diagnose its own loop, then verify.</a:t>
            </a:r>
            <a:endParaRPr lang="en-US" sz="1900" dirty="0"/>
          </a:p>
        </p:txBody>
      </p:sp>
      <p:sp>
        <p:nvSpPr>
          <p:cNvPr id="5" name="Shape 3"/>
          <p:cNvSpPr/>
          <p:nvPr/>
        </p:nvSpPr>
        <p:spPr>
          <a:xfrm>
            <a:off x="566928" y="1965960"/>
            <a:ext cx="7040880" cy="2697480"/>
          </a:xfrm>
          <a:prstGeom prst="roundRect">
            <a:avLst>
              <a:gd name="adj" fmla="val 5424"/>
            </a:avLst>
          </a:prstGeom>
          <a:solidFill>
            <a:srgbClr val="0A0D13"/>
          </a:solidFill>
          <a:ln w="12700">
            <a:solidFill>
              <a:srgbClr val="A99AFF"/>
            </a:solidFill>
            <a:prstDash val="solid"/>
          </a:ln>
        </p:spPr>
        <p:txBody>
          <a:bodyPr/>
          <a:lstStyle/>
          <a:p>
            <a:endParaRPr lang="en-US"/>
          </a:p>
        </p:txBody>
      </p:sp>
      <p:sp>
        <p:nvSpPr>
          <p:cNvPr id="6" name="Text 4"/>
          <p:cNvSpPr/>
          <p:nvPr/>
        </p:nvSpPr>
        <p:spPr>
          <a:xfrm>
            <a:off x="841248" y="2130552"/>
            <a:ext cx="6492240" cy="256032"/>
          </a:xfrm>
          <a:prstGeom prst="rect">
            <a:avLst/>
          </a:prstGeom>
          <a:noFill/>
          <a:ln/>
        </p:spPr>
        <p:txBody>
          <a:bodyPr wrap="square" rtlCol="0" anchor="t"/>
          <a:lstStyle/>
          <a:p>
            <a:pPr marL="0" indent="0">
              <a:lnSpc>
                <a:spcPct val="105000"/>
              </a:lnSpc>
              <a:buNone/>
            </a:pPr>
            <a:r>
              <a:rPr lang="en-US" sz="1100" b="1" kern="0" spc="200" dirty="0">
                <a:solidFill>
                  <a:srgbClr val="A99AFF"/>
                </a:solidFill>
                <a:latin typeface="Helvetica Neue" pitchFamily="34" charset="0"/>
                <a:ea typeface="Helvetica Neue" pitchFamily="34" charset="-122"/>
                <a:cs typeface="Helvetica Neue" pitchFamily="34" charset="-120"/>
              </a:rPr>
              <a:t>PROMPT</a:t>
            </a:r>
            <a:endParaRPr lang="en-US" sz="1100" dirty="0"/>
          </a:p>
        </p:txBody>
      </p:sp>
      <p:sp>
        <p:nvSpPr>
          <p:cNvPr id="7" name="b01-fade-twtty-prompt"/>
          <p:cNvSpPr/>
          <p:nvPr/>
        </p:nvSpPr>
        <p:spPr>
          <a:xfrm>
            <a:off x="841248" y="2487168"/>
            <a:ext cx="6492240" cy="2011680"/>
          </a:xfrm>
          <a:prstGeom prst="rect">
            <a:avLst/>
          </a:prstGeom>
          <a:noFill/>
          <a:ln/>
        </p:spPr>
        <p:txBody>
          <a:bodyPr wrap="square" rtlCol="0" anchor="t"/>
          <a:lstStyle/>
          <a:p>
            <a:pPr marL="0" indent="0">
              <a:lnSpc>
                <a:spcPct val="125000"/>
              </a:lnSpc>
              <a:buNone/>
            </a:pPr>
            <a:r>
              <a:rPr lang="en-US" sz="1700" dirty="0">
                <a:solidFill>
                  <a:srgbClr val="F3F6FA"/>
                </a:solidFill>
                <a:latin typeface="Menlo" pitchFamily="34" charset="0"/>
                <a:ea typeface="Menlo" pitchFamily="34" charset="-122"/>
                <a:cs typeface="Menlo" pitchFamily="34" charset="-120"/>
              </a:rPr>
              <a:t>Look at the timings we just recorded and name the slowest step in this loop. Propose the smallest safe change that keeps every acceptance criterion.</a:t>
            </a:r>
            <a:endParaRPr lang="en-US" sz="1700" dirty="0"/>
          </a:p>
        </p:txBody>
      </p:sp>
      <p:sp>
        <p:nvSpPr>
          <p:cNvPr id="8" name="b02-wipe-twtty-loop"/>
          <p:cNvSpPr/>
          <p:nvPr/>
        </p:nvSpPr>
        <p:spPr>
          <a:xfrm>
            <a:off x="8138160" y="1965960"/>
            <a:ext cx="3474720" cy="822960"/>
          </a:xfrm>
          <a:prstGeom prst="roundRect">
            <a:avLst>
              <a:gd name="adj" fmla="val 11111"/>
            </a:avLst>
          </a:prstGeom>
          <a:solidFill>
            <a:srgbClr val="0E1219"/>
          </a:solidFill>
          <a:ln w="12700">
            <a:solidFill>
              <a:srgbClr val="232C3A"/>
            </a:solidFill>
            <a:prstDash val="solid"/>
          </a:ln>
        </p:spPr>
        <p:txBody>
          <a:bodyPr/>
          <a:lstStyle/>
          <a:p>
            <a:endParaRPr lang="en-US"/>
          </a:p>
        </p:txBody>
      </p:sp>
      <p:sp>
        <p:nvSpPr>
          <p:cNvPr id="9" name="b02-wipe-twtty-loop"/>
          <p:cNvSpPr/>
          <p:nvPr/>
        </p:nvSpPr>
        <p:spPr>
          <a:xfrm>
            <a:off x="8284464" y="1965960"/>
            <a:ext cx="3182112" cy="822960"/>
          </a:xfrm>
          <a:prstGeom prst="rect">
            <a:avLst/>
          </a:prstGeom>
          <a:noFill/>
          <a:ln/>
        </p:spPr>
        <p:txBody>
          <a:bodyPr wrap="square" rtlCol="0" anchor="ctr"/>
          <a:lstStyle/>
          <a:p>
            <a:pPr marL="0" indent="0" algn="ctr">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Diagnose</a:t>
            </a:r>
            <a:endParaRPr lang="en-US" sz="1800" dirty="0"/>
          </a:p>
        </p:txBody>
      </p:sp>
      <p:sp>
        <p:nvSpPr>
          <p:cNvPr id="10" name="b02-wipe-twtty-loop"/>
          <p:cNvSpPr/>
          <p:nvPr/>
        </p:nvSpPr>
        <p:spPr>
          <a:xfrm>
            <a:off x="9875520" y="2788920"/>
            <a:ext cx="0" cy="274320"/>
          </a:xfrm>
          <a:prstGeom prst="line">
            <a:avLst/>
          </a:prstGeom>
          <a:noFill/>
          <a:ln w="19050">
            <a:solidFill>
              <a:srgbClr val="75EDBB"/>
            </a:solidFill>
            <a:prstDash val="solid"/>
            <a:tailEnd type="triangle"/>
          </a:ln>
        </p:spPr>
        <p:txBody>
          <a:bodyPr/>
          <a:lstStyle/>
          <a:p>
            <a:endParaRPr lang="en-US"/>
          </a:p>
        </p:txBody>
      </p:sp>
      <p:sp>
        <p:nvSpPr>
          <p:cNvPr id="11" name="b02-wipe-twtty-loop"/>
          <p:cNvSpPr/>
          <p:nvPr/>
        </p:nvSpPr>
        <p:spPr>
          <a:xfrm>
            <a:off x="8138160" y="3063240"/>
            <a:ext cx="3474720" cy="822960"/>
          </a:xfrm>
          <a:prstGeom prst="roundRect">
            <a:avLst>
              <a:gd name="adj" fmla="val 11111"/>
            </a:avLst>
          </a:prstGeom>
          <a:solidFill>
            <a:srgbClr val="0E1219"/>
          </a:solidFill>
          <a:ln w="12700">
            <a:solidFill>
              <a:srgbClr val="232C3A"/>
            </a:solidFill>
            <a:prstDash val="solid"/>
          </a:ln>
        </p:spPr>
        <p:txBody>
          <a:bodyPr/>
          <a:lstStyle/>
          <a:p>
            <a:endParaRPr lang="en-US"/>
          </a:p>
        </p:txBody>
      </p:sp>
      <p:sp>
        <p:nvSpPr>
          <p:cNvPr id="12" name="b02-wipe-twtty-loop"/>
          <p:cNvSpPr/>
          <p:nvPr/>
        </p:nvSpPr>
        <p:spPr>
          <a:xfrm>
            <a:off x="8284464" y="3063240"/>
            <a:ext cx="3182112" cy="822960"/>
          </a:xfrm>
          <a:prstGeom prst="rect">
            <a:avLst/>
          </a:prstGeom>
          <a:noFill/>
          <a:ln/>
        </p:spPr>
        <p:txBody>
          <a:bodyPr wrap="square" rtlCol="0" anchor="ctr"/>
          <a:lstStyle/>
          <a:p>
            <a:pPr marL="0" indent="0" algn="ctr">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Change one thing</a:t>
            </a:r>
            <a:endParaRPr lang="en-US" sz="1800" dirty="0"/>
          </a:p>
        </p:txBody>
      </p:sp>
      <p:sp>
        <p:nvSpPr>
          <p:cNvPr id="13" name="b02-wipe-twtty-loop"/>
          <p:cNvSpPr/>
          <p:nvPr/>
        </p:nvSpPr>
        <p:spPr>
          <a:xfrm>
            <a:off x="9875520" y="3886200"/>
            <a:ext cx="0" cy="274320"/>
          </a:xfrm>
          <a:prstGeom prst="line">
            <a:avLst/>
          </a:prstGeom>
          <a:noFill/>
          <a:ln w="19050">
            <a:solidFill>
              <a:srgbClr val="75EDBB"/>
            </a:solidFill>
            <a:prstDash val="solid"/>
            <a:tailEnd type="triangle"/>
          </a:ln>
        </p:spPr>
        <p:txBody>
          <a:bodyPr/>
          <a:lstStyle/>
          <a:p>
            <a:endParaRPr lang="en-US"/>
          </a:p>
        </p:txBody>
      </p:sp>
      <p:sp>
        <p:nvSpPr>
          <p:cNvPr id="14" name="b02-wipe-twtty-loop"/>
          <p:cNvSpPr/>
          <p:nvPr/>
        </p:nvSpPr>
        <p:spPr>
          <a:xfrm>
            <a:off x="8138160" y="4160520"/>
            <a:ext cx="3474720" cy="822960"/>
          </a:xfrm>
          <a:prstGeom prst="roundRect">
            <a:avLst>
              <a:gd name="adj" fmla="val 11111"/>
            </a:avLst>
          </a:prstGeom>
          <a:solidFill>
            <a:srgbClr val="0E1219"/>
          </a:solidFill>
          <a:ln w="12700">
            <a:solidFill>
              <a:srgbClr val="232C3A"/>
            </a:solidFill>
            <a:prstDash val="solid"/>
          </a:ln>
        </p:spPr>
        <p:txBody>
          <a:bodyPr/>
          <a:lstStyle/>
          <a:p>
            <a:endParaRPr lang="en-US"/>
          </a:p>
        </p:txBody>
      </p:sp>
      <p:sp>
        <p:nvSpPr>
          <p:cNvPr id="15" name="b02-wipe-twtty-loop"/>
          <p:cNvSpPr/>
          <p:nvPr/>
        </p:nvSpPr>
        <p:spPr>
          <a:xfrm>
            <a:off x="8284464" y="4160520"/>
            <a:ext cx="3182112" cy="822960"/>
          </a:xfrm>
          <a:prstGeom prst="rect">
            <a:avLst/>
          </a:prstGeom>
          <a:noFill/>
          <a:ln/>
        </p:spPr>
        <p:txBody>
          <a:bodyPr wrap="square" rtlCol="0" anchor="ctr"/>
          <a:lstStyle/>
          <a:p>
            <a:pPr marL="0" indent="0" algn="ctr">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Verify by measuring</a:t>
            </a:r>
            <a:endParaRPr lang="en-US" sz="1800" dirty="0"/>
          </a:p>
        </p:txBody>
      </p:sp>
      <p:sp>
        <p:nvSpPr>
          <p:cNvPr id="16" name="b02-wipe-twtty-loop"/>
          <p:cNvSpPr/>
          <p:nvPr/>
        </p:nvSpPr>
        <p:spPr>
          <a:xfrm flipH="1">
            <a:off x="7863840" y="4572000"/>
            <a:ext cx="274320" cy="0"/>
          </a:xfrm>
          <a:prstGeom prst="line">
            <a:avLst/>
          </a:prstGeom>
          <a:noFill/>
          <a:ln w="19050">
            <a:solidFill>
              <a:srgbClr val="75EDBB"/>
            </a:solidFill>
            <a:prstDash val="solid"/>
          </a:ln>
        </p:spPr>
        <p:txBody>
          <a:bodyPr/>
          <a:lstStyle/>
          <a:p>
            <a:endParaRPr lang="en-US"/>
          </a:p>
        </p:txBody>
      </p:sp>
      <p:sp>
        <p:nvSpPr>
          <p:cNvPr id="17" name="b02-wipe-twtty-loop"/>
          <p:cNvSpPr/>
          <p:nvPr/>
        </p:nvSpPr>
        <p:spPr>
          <a:xfrm flipV="1">
            <a:off x="7863840" y="2377440"/>
            <a:ext cx="0" cy="2194560"/>
          </a:xfrm>
          <a:prstGeom prst="line">
            <a:avLst/>
          </a:prstGeom>
          <a:noFill/>
          <a:ln w="19050">
            <a:solidFill>
              <a:srgbClr val="75EDBB"/>
            </a:solidFill>
            <a:prstDash val="solid"/>
          </a:ln>
        </p:spPr>
        <p:txBody>
          <a:bodyPr/>
          <a:lstStyle/>
          <a:p>
            <a:endParaRPr lang="en-US"/>
          </a:p>
        </p:txBody>
      </p:sp>
      <p:sp>
        <p:nvSpPr>
          <p:cNvPr id="18" name="b02-wipe-twtty-loop"/>
          <p:cNvSpPr/>
          <p:nvPr/>
        </p:nvSpPr>
        <p:spPr>
          <a:xfrm>
            <a:off x="7863840" y="2377440"/>
            <a:ext cx="274320" cy="0"/>
          </a:xfrm>
          <a:prstGeom prst="line">
            <a:avLst/>
          </a:prstGeom>
          <a:noFill/>
          <a:ln w="19050">
            <a:solidFill>
              <a:srgbClr val="75EDBB"/>
            </a:solidFill>
            <a:prstDash val="solid"/>
            <a:tailEnd type="triangle"/>
          </a:ln>
        </p:spPr>
        <p:txBody>
          <a:bodyPr/>
          <a:lstStyle/>
          <a:p>
            <a:endParaRPr lang="en-US"/>
          </a:p>
        </p:txBody>
      </p:sp>
      <p:sp>
        <p:nvSpPr>
          <p:cNvPr id="19" name="b03-rise-twtty-caution"/>
          <p:cNvSpPr/>
          <p:nvPr/>
        </p:nvSpPr>
        <p:spPr>
          <a:xfrm>
            <a:off x="566928" y="5138928"/>
            <a:ext cx="11064240" cy="658368"/>
          </a:xfrm>
          <a:prstGeom prst="roundRect">
            <a:avLst>
              <a:gd name="adj" fmla="val 18056"/>
            </a:avLst>
          </a:prstGeom>
          <a:solidFill>
            <a:srgbClr val="3A2E1C"/>
          </a:solidFill>
          <a:ln w="12700">
            <a:solidFill>
              <a:srgbClr val="FFCA83"/>
            </a:solidFill>
            <a:prstDash val="solid"/>
          </a:ln>
        </p:spPr>
        <p:txBody>
          <a:bodyPr/>
          <a:lstStyle/>
          <a:p>
            <a:endParaRPr lang="en-US"/>
          </a:p>
        </p:txBody>
      </p:sp>
      <p:sp>
        <p:nvSpPr>
          <p:cNvPr id="20" name="b03-rise-twtty-caution"/>
          <p:cNvSpPr/>
          <p:nvPr/>
        </p:nvSpPr>
        <p:spPr>
          <a:xfrm>
            <a:off x="841248" y="5138928"/>
            <a:ext cx="10515600" cy="658368"/>
          </a:xfrm>
          <a:prstGeom prst="rect">
            <a:avLst/>
          </a:prstGeom>
          <a:noFill/>
          <a:ln/>
        </p:spPr>
        <p:txBody>
          <a:bodyPr wrap="square" rtlCol="0" anchor="ctr"/>
          <a:lstStyle/>
          <a:p>
            <a:pPr marL="0" indent="0">
              <a:lnSpc>
                <a:spcPct val="105000"/>
              </a:lnSpc>
              <a:buNone/>
            </a:pPr>
            <a:r>
              <a:rPr lang="en-US" sz="1800" dirty="0">
                <a:solidFill>
                  <a:srgbClr val="FFCA83"/>
                </a:solidFill>
                <a:latin typeface="Helvetica Neue" pitchFamily="34" charset="0"/>
                <a:ea typeface="Helvetica Neue" pitchFamily="34" charset="-122"/>
                <a:cs typeface="Helvetica Neue" pitchFamily="34" charset="-120"/>
              </a:rPr>
              <a:t>The diagnosis is a hypothesis. Confirm it with a measurement before you keep it.</a:t>
            </a:r>
            <a:endParaRPr lang="en-US" sz="1800" dirty="0"/>
          </a:p>
        </p:txBody>
      </p:sp>
      <p:sp>
        <p:nvSpPr>
          <p:cNvPr id="21" name="Text 19"/>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Fuller copyable prompt and the field case are in the speaker notes.</a:t>
            </a:r>
            <a:endParaRPr lang="en-US" sz="1100" dirty="0"/>
          </a:p>
        </p:txBody>
      </p:sp>
      <p:sp>
        <p:nvSpPr>
          <p:cNvPr id="22" name="Text 20"/>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15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right)">
                                      <p:cBhvr>
                                        <p:cTn id="12" dur="420"/>
                                        <p:tgtEl>
                                          <p:spTgt spid="8"/>
                                        </p:tgtEl>
                                      </p:cBhvr>
                                    </p:animEffect>
                                  </p:childTnLst>
                                </p:cTn>
                              </p:par>
                              <p:par>
                                <p:cTn id="13" presetID="22" presetClass="entr" presetSubtype="1"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right)">
                                      <p:cBhvr>
                                        <p:cTn id="15" dur="420"/>
                                        <p:tgtEl>
                                          <p:spTgt spid="9"/>
                                        </p:tgtEl>
                                      </p:cBhvr>
                                    </p:animEffect>
                                  </p:childTnLst>
                                </p:cTn>
                              </p:par>
                              <p:par>
                                <p:cTn id="16" presetID="22" presetClass="entr" presetSubtype="1"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right)">
                                      <p:cBhvr>
                                        <p:cTn id="18" dur="420"/>
                                        <p:tgtEl>
                                          <p:spTgt spid="10"/>
                                        </p:tgtEl>
                                      </p:cBhvr>
                                    </p:animEffect>
                                  </p:childTnLst>
                                </p:cTn>
                              </p:par>
                              <p:par>
                                <p:cTn id="19" presetID="22" presetClass="entr" presetSubtype="1"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right)">
                                      <p:cBhvr>
                                        <p:cTn id="21" dur="420"/>
                                        <p:tgtEl>
                                          <p:spTgt spid="11"/>
                                        </p:tgtEl>
                                      </p:cBhvr>
                                    </p:animEffect>
                                  </p:childTnLst>
                                </p:cTn>
                              </p:par>
                              <p:par>
                                <p:cTn id="22" presetID="22" presetClass="entr" presetSubtype="1"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right)">
                                      <p:cBhvr>
                                        <p:cTn id="24" dur="420"/>
                                        <p:tgtEl>
                                          <p:spTgt spid="12"/>
                                        </p:tgtEl>
                                      </p:cBhvr>
                                    </p:animEffect>
                                  </p:childTnLst>
                                </p:cTn>
                              </p:par>
                              <p:par>
                                <p:cTn id="25" presetID="22" presetClass="entr" presetSubtype="1"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right)">
                                      <p:cBhvr>
                                        <p:cTn id="27" dur="420"/>
                                        <p:tgtEl>
                                          <p:spTgt spid="13"/>
                                        </p:tgtEl>
                                      </p:cBhvr>
                                    </p:animEffect>
                                  </p:childTnLst>
                                </p:cTn>
                              </p:par>
                              <p:par>
                                <p:cTn id="28" presetID="22" presetClass="entr" presetSubtype="1"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right)">
                                      <p:cBhvr>
                                        <p:cTn id="30" dur="420"/>
                                        <p:tgtEl>
                                          <p:spTgt spid="14"/>
                                        </p:tgtEl>
                                      </p:cBhvr>
                                    </p:animEffect>
                                  </p:childTnLst>
                                </p:cTn>
                              </p:par>
                              <p:par>
                                <p:cTn id="31" presetID="22" presetClass="entr" presetSubtype="1"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420"/>
                                        <p:tgtEl>
                                          <p:spTgt spid="15"/>
                                        </p:tgtEl>
                                      </p:cBhvr>
                                    </p:animEffect>
                                  </p:childTnLst>
                                </p:cTn>
                              </p:par>
                              <p:par>
                                <p:cTn id="34" presetID="22" presetClass="entr" presetSubtype="1"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par>
                                <p:cTn id="37" presetID="22" presetClass="entr" presetSubtype="1"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right)">
                                      <p:cBhvr>
                                        <p:cTn id="39" dur="420"/>
                                        <p:tgtEl>
                                          <p:spTgt spid="17"/>
                                        </p:tgtEl>
                                      </p:cBhvr>
                                    </p:animEffect>
                                  </p:childTnLst>
                                </p:cTn>
                              </p:par>
                              <p:par>
                                <p:cTn id="40" presetID="22" presetClass="entr" presetSubtype="1"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right)">
                                      <p:cBhvr>
                                        <p:cTn id="42"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420" decel="60000" fill="hold"/>
                                        <p:tgtEl>
                                          <p:spTgt spid="19"/>
                                        </p:tgtEl>
                                        <p:attrNameLst>
                                          <p:attrName>ppt_y</p:attrName>
                                        </p:attrNameLst>
                                      </p:cBhvr>
                                      <p:tavLst>
                                        <p:tav tm="0">
                                          <p:val>
                                            <p:strVal val="#ppt_y+.014"/>
                                          </p:val>
                                        </p:tav>
                                        <p:tav tm="100000">
                                          <p:val>
                                            <p:strVal val="#ppt_y"/>
                                          </p:val>
                                        </p:tav>
                                      </p:tavLst>
                                    </p:anim>
                                    <p:animEffect transition="in" filter="fade">
                                      <p:cBhvr>
                                        <p:cTn id="48" dur="420"/>
                                        <p:tgtEl>
                                          <p:spTgt spid="19"/>
                                        </p:tgtEl>
                                      </p:cBhvr>
                                    </p:animEffect>
                                  </p:childTnLst>
                                </p:cTn>
                              </p:par>
                              <p:par>
                                <p:cTn id="49" presetID="42"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420" decel="60000" fill="hold"/>
                                        <p:tgtEl>
                                          <p:spTgt spid="20"/>
                                        </p:tgtEl>
                                        <p:attrNameLst>
                                          <p:attrName>ppt_y</p:attrName>
                                        </p:attrNameLst>
                                      </p:cBhvr>
                                      <p:tavLst>
                                        <p:tav tm="0">
                                          <p:val>
                                            <p:strVal val="#ppt_y+.014"/>
                                          </p:val>
                                        </p:tav>
                                        <p:tav tm="100000">
                                          <p:val>
                                            <p:strVal val="#ppt_y"/>
                                          </p:val>
                                        </p:tav>
                                      </p:tavLst>
                                    </p:anim>
                                    <p:animEffect transition="in" filter="fade">
                                      <p:cBhvr>
                                        <p:cTn id="52" dur="42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90D"/>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0607040" cy="274320"/>
          </a:xfrm>
          <a:prstGeom prst="rect">
            <a:avLst/>
          </a:prstGeom>
          <a:noFill/>
        </p:spPr>
        <p:txBody>
          <a:bodyPr wrap="square" lIns="0" tIns="0" rIns="0" bIns="0" anchor="t">
            <a:spAutoFit/>
          </a:bodyPr>
          <a:lstStyle/>
          <a:p>
            <a:pPr algn="l">
              <a:lnSpc>
                <a:spcPct val="105000"/>
              </a:lnSpc>
            </a:pPr>
            <a:r>
              <a:rPr sz="1200" b="1" spc="260">
                <a:solidFill>
                  <a:srgbClr val="75EDBB"/>
                </a:solidFill>
                <a:latin typeface="Helvetica Neue"/>
                <a:ea typeface="Helvetica Neue"/>
                <a:cs typeface="Helvetica Neue"/>
              </a:rPr>
              <a:t>HARNESS CI</a:t>
            </a:r>
          </a:p>
        </p:txBody>
      </p:sp>
      <p:sp>
        <p:nvSpPr>
          <p:cNvPr id="3" name="TextBox 2"/>
          <p:cNvSpPr txBox="1"/>
          <p:nvPr/>
        </p:nvSpPr>
        <p:spPr>
          <a:xfrm>
            <a:off x="566928" y="585216"/>
            <a:ext cx="10789920" cy="731520"/>
          </a:xfrm>
          <a:prstGeom prst="rect">
            <a:avLst/>
          </a:prstGeom>
          <a:noFill/>
        </p:spPr>
        <p:txBody>
          <a:bodyPr wrap="square" lIns="0" tIns="0" rIns="0" bIns="0" anchor="ctr">
            <a:spAutoFit/>
          </a:bodyPr>
          <a:lstStyle/>
          <a:p>
            <a:pPr algn="l">
              <a:lnSpc>
                <a:spcPct val="95000"/>
              </a:lnSpc>
            </a:pPr>
            <a:r>
              <a:rPr sz="3800" b="0">
                <a:solidFill>
                  <a:srgbClr val="F3F6FA"/>
                </a:solidFill>
                <a:latin typeface="Avenir Next"/>
                <a:ea typeface="Avenir Next"/>
                <a:cs typeface="Avenir Next"/>
              </a:rPr>
              <a:t>Turn one failure into a regression</a:t>
            </a:r>
          </a:p>
        </p:txBody>
      </p:sp>
      <p:sp>
        <p:nvSpPr>
          <p:cNvPr id="4" name="TextBox 3"/>
          <p:cNvSpPr txBox="1"/>
          <p:nvPr/>
        </p:nvSpPr>
        <p:spPr>
          <a:xfrm>
            <a:off x="566928" y="1335024"/>
            <a:ext cx="9692640" cy="384048"/>
          </a:xfrm>
          <a:prstGeom prst="rect">
            <a:avLst/>
          </a:prstGeom>
          <a:noFill/>
        </p:spPr>
        <p:txBody>
          <a:bodyPr wrap="square" lIns="0" tIns="0" rIns="0" bIns="0" anchor="t">
            <a:spAutoFit/>
          </a:bodyPr>
          <a:lstStyle/>
          <a:p>
            <a:pPr algn="l">
              <a:lnSpc>
                <a:spcPct val="105000"/>
              </a:lnSpc>
            </a:pPr>
            <a:r>
              <a:rPr sz="1900" b="0">
                <a:solidFill>
                  <a:srgbClr val="B2BDCD"/>
                </a:solidFill>
                <a:latin typeface="Helvetica Neue"/>
                <a:ea typeface="Helvetica Neue"/>
                <a:cs typeface="Helvetica Neue"/>
              </a:rPr>
              <a:t>One trace. One cause. One reviewed change. One repeatable check.</a:t>
            </a:r>
          </a:p>
        </p:txBody>
      </p:sp>
      <p:sp>
        <p:nvSpPr>
          <p:cNvPr id="5" name="Rounded Rectangle 4"/>
          <p:cNvSpPr/>
          <p:nvPr/>
        </p:nvSpPr>
        <p:spPr>
          <a:xfrm>
            <a:off x="566928" y="1874519"/>
            <a:ext cx="1993392" cy="77724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66928" y="1874519"/>
            <a:ext cx="1993392" cy="777240"/>
          </a:xfrm>
          <a:prstGeom prst="rect">
            <a:avLst/>
          </a:prstGeom>
          <a:noFill/>
        </p:spPr>
        <p:txBody>
          <a:bodyPr wrap="square" lIns="0" tIns="0" rIns="0" bIns="0" anchor="ctr">
            <a:spAutoFit/>
          </a:bodyPr>
          <a:lstStyle/>
          <a:p>
            <a:pPr algn="ctr">
              <a:lnSpc>
                <a:spcPct val="105000"/>
              </a:lnSpc>
            </a:pPr>
            <a:r>
              <a:rPr sz="1700" b="1">
                <a:solidFill>
                  <a:srgbClr val="F3F6FA"/>
                </a:solidFill>
                <a:latin typeface="Helvetica Neue"/>
                <a:ea typeface="Helvetica Neue"/>
                <a:cs typeface="Helvetica Neue"/>
              </a:rPr>
              <a:t>Trace</a:t>
            </a:r>
          </a:p>
        </p:txBody>
      </p:sp>
      <p:sp>
        <p:nvSpPr>
          <p:cNvPr id="7" name="Rectangle 6"/>
          <p:cNvSpPr/>
          <p:nvPr/>
        </p:nvSpPr>
        <p:spPr>
          <a:xfrm>
            <a:off x="2596896" y="2263140"/>
            <a:ext cx="201168"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834640" y="1874519"/>
            <a:ext cx="1993392" cy="77724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834640" y="1874519"/>
            <a:ext cx="1993392" cy="777240"/>
          </a:xfrm>
          <a:prstGeom prst="rect">
            <a:avLst/>
          </a:prstGeom>
          <a:noFill/>
        </p:spPr>
        <p:txBody>
          <a:bodyPr wrap="square" lIns="0" tIns="0" rIns="0" bIns="0" anchor="ctr">
            <a:spAutoFit/>
          </a:bodyPr>
          <a:lstStyle/>
          <a:p>
            <a:pPr algn="ctr">
              <a:lnSpc>
                <a:spcPct val="105000"/>
              </a:lnSpc>
            </a:pPr>
            <a:r>
              <a:rPr sz="1700" b="1">
                <a:solidFill>
                  <a:srgbClr val="F3F6FA"/>
                </a:solidFill>
                <a:latin typeface="Helvetica Neue"/>
                <a:ea typeface="Helvetica Neue"/>
                <a:cs typeface="Helvetica Neue"/>
              </a:rPr>
              <a:t>Cause</a:t>
            </a:r>
          </a:p>
        </p:txBody>
      </p:sp>
      <p:sp>
        <p:nvSpPr>
          <p:cNvPr id="10" name="Rectangle 9"/>
          <p:cNvSpPr/>
          <p:nvPr/>
        </p:nvSpPr>
        <p:spPr>
          <a:xfrm>
            <a:off x="4864608" y="2263140"/>
            <a:ext cx="201168"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102352" y="1874519"/>
            <a:ext cx="1993392" cy="77724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102352" y="1874519"/>
            <a:ext cx="1993392" cy="777240"/>
          </a:xfrm>
          <a:prstGeom prst="rect">
            <a:avLst/>
          </a:prstGeom>
          <a:noFill/>
        </p:spPr>
        <p:txBody>
          <a:bodyPr wrap="square" lIns="0" tIns="0" rIns="0" bIns="0" anchor="ctr">
            <a:spAutoFit/>
          </a:bodyPr>
          <a:lstStyle/>
          <a:p>
            <a:pPr algn="ctr">
              <a:lnSpc>
                <a:spcPct val="105000"/>
              </a:lnSpc>
            </a:pPr>
            <a:r>
              <a:rPr sz="1700" b="1">
                <a:solidFill>
                  <a:srgbClr val="F3F6FA"/>
                </a:solidFill>
                <a:latin typeface="Helvetica Neue"/>
                <a:ea typeface="Helvetica Neue"/>
                <a:cs typeface="Helvetica Neue"/>
              </a:rPr>
              <a:t>One change</a:t>
            </a:r>
          </a:p>
        </p:txBody>
      </p:sp>
      <p:sp>
        <p:nvSpPr>
          <p:cNvPr id="13" name="Rectangle 12"/>
          <p:cNvSpPr/>
          <p:nvPr/>
        </p:nvSpPr>
        <p:spPr>
          <a:xfrm>
            <a:off x="7132320" y="2263140"/>
            <a:ext cx="201168"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70064" y="1874519"/>
            <a:ext cx="1993392" cy="77724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370064" y="1874519"/>
            <a:ext cx="1993392" cy="777240"/>
          </a:xfrm>
          <a:prstGeom prst="rect">
            <a:avLst/>
          </a:prstGeom>
          <a:noFill/>
        </p:spPr>
        <p:txBody>
          <a:bodyPr wrap="square" lIns="0" tIns="0" rIns="0" bIns="0" anchor="ctr">
            <a:spAutoFit/>
          </a:bodyPr>
          <a:lstStyle/>
          <a:p>
            <a:pPr algn="ctr">
              <a:lnSpc>
                <a:spcPct val="105000"/>
              </a:lnSpc>
            </a:pPr>
            <a:r>
              <a:rPr sz="1700" b="1">
                <a:solidFill>
                  <a:srgbClr val="F3F6FA"/>
                </a:solidFill>
                <a:latin typeface="Helvetica Neue"/>
                <a:ea typeface="Helvetica Neue"/>
                <a:cs typeface="Helvetica Neue"/>
              </a:rPr>
              <a:t>Replay</a:t>
            </a:r>
          </a:p>
        </p:txBody>
      </p:sp>
      <p:sp>
        <p:nvSpPr>
          <p:cNvPr id="16" name="Rectangle 15"/>
          <p:cNvSpPr/>
          <p:nvPr/>
        </p:nvSpPr>
        <p:spPr>
          <a:xfrm>
            <a:off x="9400032" y="2263140"/>
            <a:ext cx="201168"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637776" y="1874519"/>
            <a:ext cx="1993392" cy="777240"/>
          </a:xfrm>
          <a:prstGeom prst="roundRect">
            <a:avLst>
              <a:gd name="adj" fmla="val 15294"/>
            </a:avLst>
          </a:prstGeom>
          <a:solidFill>
            <a:srgbClr val="0E1219"/>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637776" y="1874519"/>
            <a:ext cx="1993392" cy="777240"/>
          </a:xfrm>
          <a:prstGeom prst="rect">
            <a:avLst/>
          </a:prstGeom>
          <a:noFill/>
        </p:spPr>
        <p:txBody>
          <a:bodyPr wrap="square" lIns="0" tIns="0" rIns="0" bIns="0" anchor="ctr">
            <a:spAutoFit/>
          </a:bodyPr>
          <a:lstStyle/>
          <a:p>
            <a:pPr algn="ctr">
              <a:lnSpc>
                <a:spcPct val="105000"/>
              </a:lnSpc>
            </a:pPr>
            <a:r>
              <a:rPr sz="1700" b="1">
                <a:solidFill>
                  <a:srgbClr val="75EDBB"/>
                </a:solidFill>
                <a:latin typeface="Helvetica Neue"/>
                <a:ea typeface="Helvetica Neue"/>
                <a:cs typeface="Helvetica Neue"/>
              </a:rPr>
              <a:t>Gate</a:t>
            </a:r>
          </a:p>
        </p:txBody>
      </p:sp>
      <p:sp>
        <p:nvSpPr>
          <p:cNvPr id="19" name="b01-fade-trace-evidence"/>
          <p:cNvSpPr/>
          <p:nvPr/>
        </p:nvSpPr>
        <p:spPr>
          <a:xfrm>
            <a:off x="566928" y="2971800"/>
            <a:ext cx="5394960" cy="2194560"/>
          </a:xfrm>
          <a:prstGeom prst="roundRect">
            <a:avLst>
              <a:gd name="adj" fmla="val 15294"/>
            </a:avLst>
          </a:prstGeom>
          <a:solidFill>
            <a:srgbClr val="0A0D13"/>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b01-fade-trace-evidence"/>
          <p:cNvSpPr txBox="1"/>
          <p:nvPr/>
        </p:nvSpPr>
        <p:spPr>
          <a:xfrm>
            <a:off x="841248" y="3154680"/>
            <a:ext cx="4846320" cy="256032"/>
          </a:xfrm>
          <a:prstGeom prst="rect">
            <a:avLst/>
          </a:prstGeom>
          <a:noFill/>
        </p:spPr>
        <p:txBody>
          <a:bodyPr wrap="square" lIns="0" tIns="0" rIns="0" bIns="0" anchor="t">
            <a:spAutoFit/>
          </a:bodyPr>
          <a:lstStyle/>
          <a:p>
            <a:pPr algn="l">
              <a:lnSpc>
                <a:spcPct val="105000"/>
              </a:lnSpc>
            </a:pPr>
            <a:r>
              <a:rPr sz="1200" b="1" spc="160">
                <a:solidFill>
                  <a:srgbClr val="6F7B8D"/>
                </a:solidFill>
                <a:latin typeface="Helvetica Neue"/>
                <a:ea typeface="Helvetica Neue"/>
                <a:cs typeface="Helvetica Neue"/>
              </a:rPr>
              <a:t>WHAT THE TRACE SHOWS</a:t>
            </a:r>
          </a:p>
        </p:txBody>
      </p:sp>
      <p:sp>
        <p:nvSpPr>
          <p:cNvPr id="21" name="b01-fade-trace-evidence"/>
          <p:cNvSpPr txBox="1"/>
          <p:nvPr/>
        </p:nvSpPr>
        <p:spPr>
          <a:xfrm>
            <a:off x="841248" y="3493008"/>
            <a:ext cx="4846320" cy="292608"/>
          </a:xfrm>
          <a:prstGeom prst="rect">
            <a:avLst/>
          </a:prstGeom>
          <a:noFill/>
        </p:spPr>
        <p:txBody>
          <a:bodyPr wrap="square" lIns="0" tIns="0" rIns="0" bIns="0" anchor="ctr">
            <a:spAutoFit/>
          </a:bodyPr>
          <a:lstStyle/>
          <a:p>
            <a:pPr algn="l">
              <a:lnSpc>
                <a:spcPct val="105000"/>
              </a:lnSpc>
            </a:pPr>
            <a:r>
              <a:rPr sz="1400" b="0">
                <a:solidFill>
                  <a:srgbClr val="75EDBB"/>
                </a:solidFill>
                <a:latin typeface="Menlo"/>
                <a:ea typeface="Menlo"/>
                <a:cs typeface="Menlo"/>
              </a:rPr>
              <a:t>input</a:t>
            </a:r>
            <a:r>
              <a:rPr sz="1400" b="0">
                <a:solidFill>
                  <a:srgbClr val="B2BDCD"/>
                </a:solidFill>
                <a:latin typeface="Helvetica Neue"/>
                <a:ea typeface="Helvetica Neue"/>
                <a:cs typeface="Helvetica Neue"/>
              </a:rPr>
              <a:t>   what was actually asked</a:t>
            </a:r>
          </a:p>
        </p:txBody>
      </p:sp>
      <p:sp>
        <p:nvSpPr>
          <p:cNvPr id="22" name="b01-fade-trace-evidence"/>
          <p:cNvSpPr txBox="1"/>
          <p:nvPr/>
        </p:nvSpPr>
        <p:spPr>
          <a:xfrm>
            <a:off x="841248" y="3822191"/>
            <a:ext cx="4846320" cy="292608"/>
          </a:xfrm>
          <a:prstGeom prst="rect">
            <a:avLst/>
          </a:prstGeom>
          <a:noFill/>
        </p:spPr>
        <p:txBody>
          <a:bodyPr wrap="square" lIns="0" tIns="0" rIns="0" bIns="0" anchor="ctr">
            <a:spAutoFit/>
          </a:bodyPr>
          <a:lstStyle/>
          <a:p>
            <a:pPr algn="l">
              <a:lnSpc>
                <a:spcPct val="105000"/>
              </a:lnSpc>
            </a:pPr>
            <a:r>
              <a:rPr sz="1400" b="0">
                <a:solidFill>
                  <a:srgbClr val="75EDBB"/>
                </a:solidFill>
                <a:latin typeface="Menlo"/>
                <a:ea typeface="Menlo"/>
                <a:cs typeface="Menlo"/>
              </a:rPr>
              <a:t>output</a:t>
            </a:r>
            <a:r>
              <a:rPr sz="1400" b="0">
                <a:solidFill>
                  <a:srgbClr val="B2BDCD"/>
                </a:solidFill>
                <a:latin typeface="Helvetica Neue"/>
                <a:ea typeface="Helvetica Neue"/>
                <a:cs typeface="Helvetica Neue"/>
              </a:rPr>
              <a:t>   what the agent produced</a:t>
            </a:r>
          </a:p>
        </p:txBody>
      </p:sp>
      <p:sp>
        <p:nvSpPr>
          <p:cNvPr id="23" name="b01-fade-trace-evidence"/>
          <p:cNvSpPr txBox="1"/>
          <p:nvPr/>
        </p:nvSpPr>
        <p:spPr>
          <a:xfrm>
            <a:off x="841248" y="4151376"/>
            <a:ext cx="4846320" cy="292608"/>
          </a:xfrm>
          <a:prstGeom prst="rect">
            <a:avLst/>
          </a:prstGeom>
          <a:noFill/>
        </p:spPr>
        <p:txBody>
          <a:bodyPr wrap="square" lIns="0" tIns="0" rIns="0" bIns="0" anchor="ctr">
            <a:spAutoFit/>
          </a:bodyPr>
          <a:lstStyle/>
          <a:p>
            <a:pPr algn="l">
              <a:lnSpc>
                <a:spcPct val="105000"/>
              </a:lnSpc>
            </a:pPr>
            <a:r>
              <a:rPr sz="1400" b="0">
                <a:solidFill>
                  <a:srgbClr val="75EDBB"/>
                </a:solidFill>
                <a:latin typeface="Menlo"/>
                <a:ea typeface="Menlo"/>
                <a:cs typeface="Menlo"/>
              </a:rPr>
              <a:t>tool call</a:t>
            </a:r>
            <a:r>
              <a:rPr sz="1400" b="0">
                <a:solidFill>
                  <a:srgbClr val="B2BDCD"/>
                </a:solidFill>
                <a:latin typeface="Helvetica Neue"/>
                <a:ea typeface="Helvetica Neue"/>
                <a:cs typeface="Helvetica Neue"/>
              </a:rPr>
              <a:t>   what it ran, with which arguments</a:t>
            </a:r>
          </a:p>
        </p:txBody>
      </p:sp>
      <p:sp>
        <p:nvSpPr>
          <p:cNvPr id="24" name="b01-fade-trace-evidence"/>
          <p:cNvSpPr txBox="1"/>
          <p:nvPr/>
        </p:nvSpPr>
        <p:spPr>
          <a:xfrm>
            <a:off x="841248" y="4480560"/>
            <a:ext cx="4846320" cy="292608"/>
          </a:xfrm>
          <a:prstGeom prst="rect">
            <a:avLst/>
          </a:prstGeom>
          <a:noFill/>
        </p:spPr>
        <p:txBody>
          <a:bodyPr wrap="square" lIns="0" tIns="0" rIns="0" bIns="0" anchor="ctr">
            <a:spAutoFit/>
          </a:bodyPr>
          <a:lstStyle/>
          <a:p>
            <a:pPr algn="l">
              <a:lnSpc>
                <a:spcPct val="105000"/>
              </a:lnSpc>
            </a:pPr>
            <a:r>
              <a:rPr sz="1400" b="0">
                <a:solidFill>
                  <a:srgbClr val="75EDBB"/>
                </a:solidFill>
                <a:latin typeface="Menlo"/>
                <a:ea typeface="Menlo"/>
                <a:cs typeface="Menlo"/>
              </a:rPr>
              <a:t>error</a:t>
            </a:r>
            <a:r>
              <a:rPr sz="1400" b="0">
                <a:solidFill>
                  <a:srgbClr val="B2BDCD"/>
                </a:solidFill>
                <a:latin typeface="Helvetica Neue"/>
                <a:ea typeface="Helvetica Neue"/>
                <a:cs typeface="Helvetica Neue"/>
              </a:rPr>
              <a:t>   what came back</a:t>
            </a:r>
          </a:p>
        </p:txBody>
      </p:sp>
      <p:sp>
        <p:nvSpPr>
          <p:cNvPr id="25" name="b01-fade-trace-evidence"/>
          <p:cNvSpPr txBox="1"/>
          <p:nvPr/>
        </p:nvSpPr>
        <p:spPr>
          <a:xfrm>
            <a:off x="841248" y="4809744"/>
            <a:ext cx="4846320" cy="292608"/>
          </a:xfrm>
          <a:prstGeom prst="rect">
            <a:avLst/>
          </a:prstGeom>
          <a:noFill/>
        </p:spPr>
        <p:txBody>
          <a:bodyPr wrap="square" lIns="0" tIns="0" rIns="0" bIns="0" anchor="ctr">
            <a:spAutoFit/>
          </a:bodyPr>
          <a:lstStyle/>
          <a:p>
            <a:pPr algn="l">
              <a:lnSpc>
                <a:spcPct val="105000"/>
              </a:lnSpc>
            </a:pPr>
            <a:r>
              <a:rPr sz="1400" b="0">
                <a:solidFill>
                  <a:srgbClr val="75EDBB"/>
                </a:solidFill>
                <a:latin typeface="Menlo"/>
                <a:ea typeface="Menlo"/>
                <a:cs typeface="Menlo"/>
              </a:rPr>
              <a:t>context</a:t>
            </a:r>
            <a:r>
              <a:rPr sz="1400" b="0">
                <a:solidFill>
                  <a:srgbClr val="B2BDCD"/>
                </a:solidFill>
                <a:latin typeface="Helvetica Neue"/>
                <a:ea typeface="Helvetica Neue"/>
                <a:cs typeface="Helvetica Neue"/>
              </a:rPr>
              <a:t>   what it could see at the time</a:t>
            </a:r>
          </a:p>
        </p:txBody>
      </p:sp>
      <p:sp>
        <p:nvSpPr>
          <p:cNvPr id="26" name="b02-fade-name-the-failure"/>
          <p:cNvSpPr/>
          <p:nvPr/>
        </p:nvSpPr>
        <p:spPr>
          <a:xfrm>
            <a:off x="6236208" y="2971800"/>
            <a:ext cx="5394960" cy="2194560"/>
          </a:xfrm>
          <a:prstGeom prst="roundRect">
            <a:avLst>
              <a:gd name="adj" fmla="val 15294"/>
            </a:avLst>
          </a:prstGeom>
          <a:solidFill>
            <a:srgbClr val="0A0D13"/>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b02-fade-name-the-failure"/>
          <p:cNvSpPr txBox="1"/>
          <p:nvPr/>
        </p:nvSpPr>
        <p:spPr>
          <a:xfrm>
            <a:off x="6510528" y="3154680"/>
            <a:ext cx="4846320" cy="256032"/>
          </a:xfrm>
          <a:prstGeom prst="rect">
            <a:avLst/>
          </a:prstGeom>
          <a:noFill/>
        </p:spPr>
        <p:txBody>
          <a:bodyPr wrap="square" lIns="0" tIns="0" rIns="0" bIns="0" anchor="t">
            <a:spAutoFit/>
          </a:bodyPr>
          <a:lstStyle/>
          <a:p>
            <a:pPr algn="l">
              <a:lnSpc>
                <a:spcPct val="105000"/>
              </a:lnSpc>
            </a:pPr>
            <a:r>
              <a:rPr sz="1200" b="1" spc="160">
                <a:solidFill>
                  <a:srgbClr val="75EDBB"/>
                </a:solidFill>
                <a:latin typeface="Helvetica Neue"/>
                <a:ea typeface="Helvetica Neue"/>
                <a:cs typeface="Helvetica Neue"/>
              </a:rPr>
              <a:t>NAME THE FAILURE</a:t>
            </a:r>
          </a:p>
        </p:txBody>
      </p:sp>
      <p:sp>
        <p:nvSpPr>
          <p:cNvPr id="28" name="b02-fade-name-the-failure"/>
          <p:cNvSpPr txBox="1"/>
          <p:nvPr/>
        </p:nvSpPr>
        <p:spPr>
          <a:xfrm>
            <a:off x="6510528" y="3529584"/>
            <a:ext cx="4846320" cy="237744"/>
          </a:xfrm>
          <a:prstGeom prst="rect">
            <a:avLst/>
          </a:prstGeom>
          <a:noFill/>
        </p:spPr>
        <p:txBody>
          <a:bodyPr wrap="square" lIns="0" tIns="0" rIns="0" bIns="0" anchor="t">
            <a:spAutoFit/>
          </a:bodyPr>
          <a:lstStyle/>
          <a:p>
            <a:pPr algn="l">
              <a:lnSpc>
                <a:spcPct val="105000"/>
              </a:lnSpc>
            </a:pPr>
            <a:r>
              <a:rPr sz="1100" b="1" spc="160">
                <a:solidFill>
                  <a:srgbClr val="6F7B8D"/>
                </a:solidFill>
                <a:latin typeface="Helvetica Neue"/>
                <a:ea typeface="Helvetica Neue"/>
                <a:cs typeface="Helvetica Neue"/>
              </a:rPr>
              <a:t>NOT THIS</a:t>
            </a:r>
          </a:p>
        </p:txBody>
      </p:sp>
      <p:sp>
        <p:nvSpPr>
          <p:cNvPr id="29" name="b02-fade-name-the-failure"/>
          <p:cNvSpPr txBox="1"/>
          <p:nvPr/>
        </p:nvSpPr>
        <p:spPr>
          <a:xfrm>
            <a:off x="6510528" y="3803904"/>
            <a:ext cx="4846320" cy="292608"/>
          </a:xfrm>
          <a:prstGeom prst="rect">
            <a:avLst/>
          </a:prstGeom>
          <a:noFill/>
        </p:spPr>
        <p:txBody>
          <a:bodyPr wrap="square" lIns="0" tIns="0" rIns="0" bIns="0" anchor="t">
            <a:spAutoFit/>
          </a:bodyPr>
          <a:lstStyle/>
          <a:p>
            <a:pPr algn="l">
              <a:lnSpc>
                <a:spcPct val="105000"/>
              </a:lnSpc>
            </a:pPr>
            <a:r>
              <a:rPr sz="1500" b="0">
                <a:solidFill>
                  <a:srgbClr val="6F7B8D"/>
                </a:solidFill>
                <a:latin typeface="Menlo"/>
                <a:ea typeface="Menlo"/>
                <a:cs typeface="Menlo"/>
              </a:rPr>
              <a:t>"improve the prompt"</a:t>
            </a:r>
          </a:p>
        </p:txBody>
      </p:sp>
      <p:sp>
        <p:nvSpPr>
          <p:cNvPr id="30" name="b02-fade-name-the-failure"/>
          <p:cNvSpPr txBox="1"/>
          <p:nvPr/>
        </p:nvSpPr>
        <p:spPr>
          <a:xfrm>
            <a:off x="6510528" y="4224528"/>
            <a:ext cx="4846320" cy="237744"/>
          </a:xfrm>
          <a:prstGeom prst="rect">
            <a:avLst/>
          </a:prstGeom>
          <a:noFill/>
        </p:spPr>
        <p:txBody>
          <a:bodyPr wrap="square" lIns="0" tIns="0" rIns="0" bIns="0" anchor="t">
            <a:spAutoFit/>
          </a:bodyPr>
          <a:lstStyle/>
          <a:p>
            <a:pPr algn="l">
              <a:lnSpc>
                <a:spcPct val="105000"/>
              </a:lnSpc>
            </a:pPr>
            <a:r>
              <a:rPr sz="1100" b="1" spc="160">
                <a:solidFill>
                  <a:srgbClr val="75EDBB"/>
                </a:solidFill>
                <a:latin typeface="Helvetica Neue"/>
                <a:ea typeface="Helvetica Neue"/>
                <a:cs typeface="Helvetica Neue"/>
              </a:rPr>
              <a:t>THIS</a:t>
            </a:r>
          </a:p>
        </p:txBody>
      </p:sp>
      <p:sp>
        <p:nvSpPr>
          <p:cNvPr id="31" name="b02-fade-name-the-failure"/>
          <p:cNvSpPr txBox="1"/>
          <p:nvPr/>
        </p:nvSpPr>
        <p:spPr>
          <a:xfrm>
            <a:off x="6510528" y="4498848"/>
            <a:ext cx="4846320" cy="566928"/>
          </a:xfrm>
          <a:prstGeom prst="rect">
            <a:avLst/>
          </a:prstGeom>
          <a:noFill/>
        </p:spPr>
        <p:txBody>
          <a:bodyPr wrap="square" lIns="0" tIns="0" rIns="0" bIns="0" anchor="t">
            <a:spAutoFit/>
          </a:bodyPr>
          <a:lstStyle/>
          <a:p>
            <a:pPr algn="l">
              <a:lnSpc>
                <a:spcPct val="105000"/>
              </a:lnSpc>
            </a:pPr>
            <a:r>
              <a:rPr sz="1500" b="0">
                <a:solidFill>
                  <a:srgbClr val="F3F6FA"/>
                </a:solidFill>
                <a:latin typeface="Helvetica Neue"/>
                <a:ea typeface="Helvetica Neue"/>
                <a:cs typeface="Helvetica Neue"/>
              </a:rPr>
              <a:t>The past-due filter counted DRAFT rows, and no check covered that case.</a:t>
            </a:r>
          </a:p>
        </p:txBody>
      </p:sp>
      <p:sp>
        <p:nvSpPr>
          <p:cNvPr id="32" name="b03-rise-regression-rule"/>
          <p:cNvSpPr/>
          <p:nvPr/>
        </p:nvSpPr>
        <p:spPr>
          <a:xfrm>
            <a:off x="566928" y="5532120"/>
            <a:ext cx="11064240" cy="56692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b03-rise-regression-rule"/>
          <p:cNvSpPr txBox="1"/>
          <p:nvPr/>
        </p:nvSpPr>
        <p:spPr>
          <a:xfrm>
            <a:off x="841247" y="5532120"/>
            <a:ext cx="10515600" cy="566928"/>
          </a:xfrm>
          <a:prstGeom prst="rect">
            <a:avLst/>
          </a:prstGeom>
          <a:noFill/>
        </p:spPr>
        <p:txBody>
          <a:bodyPr wrap="square" lIns="0" tIns="0" rIns="0" bIns="0" anchor="ctr">
            <a:spAutoFit/>
          </a:bodyPr>
          <a:lstStyle/>
          <a:p>
            <a:pPr algn="l">
              <a:lnSpc>
                <a:spcPct val="105000"/>
              </a:lnSpc>
            </a:pPr>
            <a:r>
              <a:rPr sz="1800" b="0">
                <a:solidFill>
                  <a:srgbClr val="F3F6FA"/>
                </a:solidFill>
                <a:latin typeface="Helvetica Neue"/>
                <a:ea typeface="Helvetica Neue"/>
                <a:cs typeface="Helvetica Neue"/>
              </a:rPr>
              <a:t>TWTTY diagnoses. A case you can replay is what confirms the fix.</a:t>
            </a:r>
          </a:p>
        </p:txBody>
      </p:sp>
      <p:sp>
        <p:nvSpPr>
          <p:cNvPr id="34" name="TextBox 33"/>
          <p:cNvSpPr txBox="1"/>
          <p:nvPr/>
        </p:nvSpPr>
        <p:spPr>
          <a:xfrm>
            <a:off x="566928" y="6391656"/>
            <a:ext cx="8961120" cy="274320"/>
          </a:xfrm>
          <a:prstGeom prst="rect">
            <a:avLst/>
          </a:prstGeom>
          <a:noFill/>
        </p:spPr>
        <p:txBody>
          <a:bodyPr wrap="square" lIns="0" tIns="0" rIns="0" bIns="0" anchor="ctr">
            <a:spAutoFit/>
          </a:bodyPr>
          <a:lstStyle/>
          <a:p>
            <a:pPr algn="l">
              <a:lnSpc>
                <a:spcPct val="105000"/>
              </a:lnSpc>
            </a:pPr>
            <a:r>
              <a:rPr sz="1100" b="0">
                <a:solidFill>
                  <a:srgbClr val="6F7B8D"/>
                </a:solidFill>
                <a:latin typeface="Helvetica Neue"/>
                <a:ea typeface="Helvetica Neue"/>
                <a:cs typeface="Helvetica Neue"/>
              </a:rPr>
              <a:t>A reviewed change, replayed against the same case. No self-repair, and no measured claims on this slide.</a:t>
            </a:r>
          </a:p>
        </p:txBody>
      </p:sp>
      <p:sp>
        <p:nvSpPr>
          <p:cNvPr id="35" name="TextBox 34"/>
          <p:cNvSpPr txBox="1"/>
          <p:nvPr/>
        </p:nvSpPr>
        <p:spPr>
          <a:xfrm>
            <a:off x="9692640" y="6391656"/>
            <a:ext cx="1929384" cy="274320"/>
          </a:xfrm>
          <a:prstGeom prst="rect">
            <a:avLst/>
          </a:prstGeom>
          <a:noFill/>
        </p:spPr>
        <p:txBody>
          <a:bodyPr wrap="square" lIns="0" tIns="0" rIns="0" bIns="0" anchor="ctr">
            <a:spAutoFit/>
          </a:bodyPr>
          <a:lstStyle/>
          <a:p>
            <a:pPr algn="r">
              <a:lnSpc>
                <a:spcPct val="105000"/>
              </a:lnSpc>
            </a:pPr>
            <a:r>
              <a:rPr sz="1100" b="0">
                <a:solidFill>
                  <a:srgbClr val="6F7B8D"/>
                </a:solidFill>
                <a:latin typeface="Helvetica Neue"/>
                <a:ea typeface="Helvetica Neue"/>
                <a:cs typeface="Helvetica Neue"/>
              </a:rPr>
              <a:t>16 / 20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2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2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2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2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2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20"/>
                                        <p:tgtEl>
                                          <p:spTgt spid="24"/>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2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20"/>
                                        <p:tgtEl>
                                          <p:spTgt spid="26"/>
                                        </p:tgtEl>
                                      </p:cBhvr>
                                    </p:animEffect>
                                  </p:childTnLst>
                                </p:cTn>
                              </p:par>
                              <p:par>
                                <p:cTn id="31" presetID="10"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420"/>
                                        <p:tgtEl>
                                          <p:spTgt spid="27"/>
                                        </p:tgtEl>
                                      </p:cBhvr>
                                    </p:animEffect>
                                  </p:childTnLst>
                                </p:cTn>
                              </p:par>
                              <p:par>
                                <p:cTn id="34" presetID="10" presetClass="entr" presetSubtype="0" fill="hold"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420"/>
                                        <p:tgtEl>
                                          <p:spTgt spid="28"/>
                                        </p:tgtEl>
                                      </p:cBhvr>
                                    </p:animEffect>
                                  </p:childTnLst>
                                </p:cTn>
                              </p:par>
                              <p:par>
                                <p:cTn id="37" presetID="10"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420"/>
                                        <p:tgtEl>
                                          <p:spTgt spid="29"/>
                                        </p:tgtEl>
                                      </p:cBhvr>
                                    </p:animEffect>
                                  </p:childTnLst>
                                </p:cTn>
                              </p:par>
                              <p:par>
                                <p:cTn id="40" presetID="10"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20"/>
                                        <p:tgtEl>
                                          <p:spTgt spid="30"/>
                                        </p:tgtEl>
                                      </p:cBhvr>
                                    </p:animEffect>
                                  </p:childTnLst>
                                </p:cTn>
                              </p:par>
                              <p:par>
                                <p:cTn id="43" presetID="10"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420"/>
                                        <p:tgtEl>
                                          <p:spTgt spid="3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420"/>
                                        <p:tgtEl>
                                          <p:spTgt spid="32"/>
                                        </p:tgtEl>
                                      </p:cBhvr>
                                    </p:animEffect>
                                  </p:childTnLst>
                                </p:cTn>
                              </p:par>
                              <p:par>
                                <p:cTn id="51" presetID="10" presetClass="entr" presetSubtype="0" fill="hold" nodeType="with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REPO MEMORY</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Record the traps once</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Short, true, next to the code.</a:t>
            </a:r>
            <a:endParaRPr lang="en-US" sz="1900" dirty="0"/>
          </a:p>
        </p:txBody>
      </p:sp>
      <p:sp>
        <p:nvSpPr>
          <p:cNvPr id="5" name="Shape 3"/>
          <p:cNvSpPr/>
          <p:nvPr/>
        </p:nvSpPr>
        <p:spPr>
          <a:xfrm>
            <a:off x="566928" y="1783080"/>
            <a:ext cx="7498080" cy="4023360"/>
          </a:xfrm>
          <a:prstGeom prst="roundRect">
            <a:avLst>
              <a:gd name="adj" fmla="val 3636"/>
            </a:avLst>
          </a:prstGeom>
          <a:solidFill>
            <a:srgbClr val="0A0D13"/>
          </a:solidFill>
          <a:ln w="12700">
            <a:solidFill>
              <a:srgbClr val="232C3A"/>
            </a:solidFill>
            <a:prstDash val="solid"/>
          </a:ln>
        </p:spPr>
        <p:txBody>
          <a:bodyPr/>
          <a:lstStyle/>
          <a:p>
            <a:endParaRPr lang="en-US"/>
          </a:p>
        </p:txBody>
      </p:sp>
      <p:sp>
        <p:nvSpPr>
          <p:cNvPr id="6" name="Shape 4"/>
          <p:cNvSpPr/>
          <p:nvPr/>
        </p:nvSpPr>
        <p:spPr>
          <a:xfrm>
            <a:off x="566928" y="1783080"/>
            <a:ext cx="7498080" cy="420624"/>
          </a:xfrm>
          <a:prstGeom prst="roundRect">
            <a:avLst>
              <a:gd name="adj" fmla="val 34783"/>
            </a:avLst>
          </a:prstGeom>
          <a:solidFill>
            <a:srgbClr val="141A24"/>
          </a:solidFill>
          <a:ln w="12700">
            <a:solidFill>
              <a:srgbClr val="1A212C"/>
            </a:solidFill>
            <a:prstDash val="solid"/>
          </a:ln>
        </p:spPr>
        <p:txBody>
          <a:bodyPr/>
          <a:lstStyle/>
          <a:p>
            <a:endParaRPr lang="en-US"/>
          </a:p>
        </p:txBody>
      </p:sp>
      <p:sp>
        <p:nvSpPr>
          <p:cNvPr id="7" name="Shape 5"/>
          <p:cNvSpPr/>
          <p:nvPr/>
        </p:nvSpPr>
        <p:spPr>
          <a:xfrm>
            <a:off x="786384" y="1938528"/>
            <a:ext cx="109728" cy="109728"/>
          </a:xfrm>
          <a:prstGeom prst="ellipse">
            <a:avLst/>
          </a:prstGeom>
          <a:solidFill>
            <a:srgbClr val="232C3A"/>
          </a:solidFill>
          <a:ln w="6350">
            <a:solidFill>
              <a:srgbClr val="232C3A"/>
            </a:solidFill>
            <a:prstDash val="solid"/>
          </a:ln>
        </p:spPr>
        <p:txBody>
          <a:bodyPr/>
          <a:lstStyle/>
          <a:p>
            <a:endParaRPr lang="en-US"/>
          </a:p>
        </p:txBody>
      </p:sp>
      <p:sp>
        <p:nvSpPr>
          <p:cNvPr id="8" name="Shape 6"/>
          <p:cNvSpPr/>
          <p:nvPr/>
        </p:nvSpPr>
        <p:spPr>
          <a:xfrm>
            <a:off x="987552" y="1938528"/>
            <a:ext cx="109728" cy="109728"/>
          </a:xfrm>
          <a:prstGeom prst="ellipse">
            <a:avLst/>
          </a:prstGeom>
          <a:solidFill>
            <a:srgbClr val="232C3A"/>
          </a:solidFill>
          <a:ln w="6350">
            <a:solidFill>
              <a:srgbClr val="232C3A"/>
            </a:solidFill>
            <a:prstDash val="solid"/>
          </a:ln>
        </p:spPr>
        <p:txBody>
          <a:bodyPr/>
          <a:lstStyle/>
          <a:p>
            <a:endParaRPr lang="en-US"/>
          </a:p>
        </p:txBody>
      </p:sp>
      <p:sp>
        <p:nvSpPr>
          <p:cNvPr id="9" name="Shape 7"/>
          <p:cNvSpPr/>
          <p:nvPr/>
        </p:nvSpPr>
        <p:spPr>
          <a:xfrm>
            <a:off x="1188720" y="1938528"/>
            <a:ext cx="109728" cy="109728"/>
          </a:xfrm>
          <a:prstGeom prst="ellipse">
            <a:avLst/>
          </a:prstGeom>
          <a:solidFill>
            <a:srgbClr val="232C3A"/>
          </a:solidFill>
          <a:ln w="6350">
            <a:solidFill>
              <a:srgbClr val="232C3A"/>
            </a:solidFill>
            <a:prstDash val="solid"/>
          </a:ln>
        </p:spPr>
        <p:txBody>
          <a:bodyPr/>
          <a:lstStyle/>
          <a:p>
            <a:endParaRPr lang="en-US"/>
          </a:p>
        </p:txBody>
      </p:sp>
      <p:sp>
        <p:nvSpPr>
          <p:cNvPr id="10" name="Text 8"/>
          <p:cNvSpPr/>
          <p:nvPr/>
        </p:nvSpPr>
        <p:spPr>
          <a:xfrm>
            <a:off x="1481328" y="1783080"/>
            <a:ext cx="2743200" cy="420624"/>
          </a:xfrm>
          <a:prstGeom prst="rect">
            <a:avLst/>
          </a:prstGeom>
          <a:noFill/>
          <a:ln/>
        </p:spPr>
        <p:txBody>
          <a:bodyPr wrap="square" rtlCol="0" anchor="ctr"/>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AGENTS.md</a:t>
            </a:r>
            <a:endParaRPr lang="en-US" sz="1500" dirty="0"/>
          </a:p>
        </p:txBody>
      </p:sp>
      <p:sp>
        <p:nvSpPr>
          <p:cNvPr id="11" name="Shape 9"/>
          <p:cNvSpPr/>
          <p:nvPr/>
        </p:nvSpPr>
        <p:spPr>
          <a:xfrm>
            <a:off x="576072" y="2203704"/>
            <a:ext cx="530352" cy="3602736"/>
          </a:xfrm>
          <a:prstGeom prst="roundRect">
            <a:avLst/>
          </a:prstGeom>
          <a:solidFill>
            <a:srgbClr val="0A0D13"/>
          </a:solidFill>
          <a:ln w="12700">
            <a:solidFill>
              <a:srgbClr val="0A0D13"/>
            </a:solidFill>
            <a:prstDash val="solid"/>
          </a:ln>
        </p:spPr>
        <p:txBody>
          <a:bodyPr/>
          <a:lstStyle/>
          <a:p>
            <a:endParaRPr lang="en-US"/>
          </a:p>
        </p:txBody>
      </p:sp>
      <p:sp>
        <p:nvSpPr>
          <p:cNvPr id="12" name="Text 10"/>
          <p:cNvSpPr/>
          <p:nvPr/>
        </p:nvSpPr>
        <p:spPr>
          <a:xfrm>
            <a:off x="566928" y="2395728"/>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1</a:t>
            </a:r>
            <a:endParaRPr lang="en-US" sz="1100" dirty="0"/>
          </a:p>
        </p:txBody>
      </p:sp>
      <p:sp>
        <p:nvSpPr>
          <p:cNvPr id="13" name="Text 11"/>
          <p:cNvSpPr/>
          <p:nvPr/>
        </p:nvSpPr>
        <p:spPr>
          <a:xfrm>
            <a:off x="1225296" y="2395728"/>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Scope</a:t>
            </a:r>
            <a:endParaRPr lang="en-US" sz="1500" dirty="0"/>
          </a:p>
        </p:txBody>
      </p:sp>
      <p:sp>
        <p:nvSpPr>
          <p:cNvPr id="14" name="Text 12"/>
          <p:cNvSpPr/>
          <p:nvPr/>
        </p:nvSpPr>
        <p:spPr>
          <a:xfrm>
            <a:off x="566928" y="2724912"/>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2</a:t>
            </a:r>
            <a:endParaRPr lang="en-US" sz="1100" dirty="0"/>
          </a:p>
        </p:txBody>
      </p:sp>
      <p:sp>
        <p:nvSpPr>
          <p:cNvPr id="15" name="Text 13"/>
          <p:cNvSpPr/>
          <p:nvPr/>
        </p:nvSpPr>
        <p:spPr>
          <a:xfrm>
            <a:off x="1225296" y="2724912"/>
            <a:ext cx="6583680" cy="274320"/>
          </a:xfrm>
          <a:prstGeom prst="rect">
            <a:avLst/>
          </a:prstGeom>
          <a:noFill/>
          <a:ln/>
        </p:spPr>
        <p:txBody>
          <a:bodyPr wrap="square" rtlCol="0" anchor="t"/>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Only src/invoices and its tests.</a:t>
            </a:r>
            <a:endParaRPr lang="en-US" sz="1500" dirty="0"/>
          </a:p>
        </p:txBody>
      </p:sp>
      <p:sp>
        <p:nvSpPr>
          <p:cNvPr id="16" name="Text 14"/>
          <p:cNvSpPr/>
          <p:nvPr/>
        </p:nvSpPr>
        <p:spPr>
          <a:xfrm>
            <a:off x="566928" y="3054096"/>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3</a:t>
            </a:r>
            <a:endParaRPr lang="en-US" sz="1100" dirty="0"/>
          </a:p>
        </p:txBody>
      </p:sp>
      <p:sp>
        <p:nvSpPr>
          <p:cNvPr id="17" name="Text 15"/>
          <p:cNvSpPr/>
          <p:nvPr/>
        </p:nvSpPr>
        <p:spPr>
          <a:xfrm>
            <a:off x="1225296" y="3054096"/>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Verify</a:t>
            </a:r>
            <a:endParaRPr lang="en-US" sz="1500" dirty="0"/>
          </a:p>
        </p:txBody>
      </p:sp>
      <p:sp>
        <p:nvSpPr>
          <p:cNvPr id="18" name="Text 16"/>
          <p:cNvSpPr/>
          <p:nvPr/>
        </p:nvSpPr>
        <p:spPr>
          <a:xfrm>
            <a:off x="566928" y="3383280"/>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4</a:t>
            </a:r>
            <a:endParaRPr lang="en-US" sz="1100" dirty="0"/>
          </a:p>
        </p:txBody>
      </p:sp>
      <p:sp>
        <p:nvSpPr>
          <p:cNvPr id="19" name="b02-pulse-verify-line"/>
          <p:cNvSpPr/>
          <p:nvPr/>
        </p:nvSpPr>
        <p:spPr>
          <a:xfrm>
            <a:off x="1207008" y="3346704"/>
            <a:ext cx="4023360" cy="347472"/>
          </a:xfrm>
          <a:prstGeom prst="roundRect">
            <a:avLst>
              <a:gd name="adj" fmla="val 15789"/>
            </a:avLst>
          </a:prstGeom>
          <a:solidFill>
            <a:srgbClr val="1E3A33"/>
          </a:solidFill>
          <a:ln w="12700">
            <a:solidFill>
              <a:srgbClr val="75EDBB"/>
            </a:solidFill>
            <a:prstDash val="solid"/>
          </a:ln>
        </p:spPr>
        <p:txBody>
          <a:bodyPr/>
          <a:lstStyle/>
          <a:p>
            <a:endParaRPr lang="en-US"/>
          </a:p>
        </p:txBody>
      </p:sp>
      <p:sp>
        <p:nvSpPr>
          <p:cNvPr id="20" name="b02-pulse-verify-line"/>
          <p:cNvSpPr/>
          <p:nvPr/>
        </p:nvSpPr>
        <p:spPr>
          <a:xfrm>
            <a:off x="1335024" y="3383280"/>
            <a:ext cx="6583680" cy="274320"/>
          </a:xfrm>
          <a:prstGeom prst="rect">
            <a:avLst/>
          </a:prstGeom>
          <a:noFill/>
          <a:ln/>
        </p:spPr>
        <p:txBody>
          <a:bodyPr wrap="square" rtlCol="0" anchor="t"/>
          <a:lstStyle/>
          <a:p>
            <a:pPr marL="0" indent="0">
              <a:lnSpc>
                <a:spcPct val="105000"/>
              </a:lnSpc>
              <a:buNone/>
            </a:pPr>
            <a:r>
              <a:rPr lang="en-US" sz="1500" dirty="0">
                <a:solidFill>
                  <a:srgbClr val="75EDBB"/>
                </a:solidFill>
                <a:latin typeface="Menlo" pitchFamily="34" charset="0"/>
                <a:ea typeface="Menlo" pitchFamily="34" charset="-122"/>
                <a:cs typeface="Menlo" pitchFamily="34" charset="-120"/>
              </a:rPr>
              <a:t>npm run test:invoices</a:t>
            </a:r>
            <a:endParaRPr lang="en-US" sz="1500" dirty="0"/>
          </a:p>
        </p:txBody>
      </p:sp>
      <p:sp>
        <p:nvSpPr>
          <p:cNvPr id="21" name="Text 19"/>
          <p:cNvSpPr/>
          <p:nvPr/>
        </p:nvSpPr>
        <p:spPr>
          <a:xfrm>
            <a:off x="566928" y="3712464"/>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5</a:t>
            </a:r>
            <a:endParaRPr lang="en-US" sz="1100" dirty="0"/>
          </a:p>
        </p:txBody>
      </p:sp>
      <p:sp>
        <p:nvSpPr>
          <p:cNvPr id="22" name="Text 20"/>
          <p:cNvSpPr/>
          <p:nvPr/>
        </p:nvSpPr>
        <p:spPr>
          <a:xfrm>
            <a:off x="1225296" y="3712464"/>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Environment</a:t>
            </a:r>
            <a:endParaRPr lang="en-US" sz="1500" dirty="0"/>
          </a:p>
        </p:txBody>
      </p:sp>
      <p:sp>
        <p:nvSpPr>
          <p:cNvPr id="23" name="Text 21"/>
          <p:cNvSpPr/>
          <p:nvPr/>
        </p:nvSpPr>
        <p:spPr>
          <a:xfrm>
            <a:off x="566928" y="4041648"/>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6</a:t>
            </a:r>
            <a:endParaRPr lang="en-US" sz="1100" dirty="0"/>
          </a:p>
        </p:txBody>
      </p:sp>
      <p:sp>
        <p:nvSpPr>
          <p:cNvPr id="24" name="Text 22"/>
          <p:cNvSpPr/>
          <p:nvPr/>
        </p:nvSpPr>
        <p:spPr>
          <a:xfrm>
            <a:off x="1225296" y="4041648"/>
            <a:ext cx="6583680" cy="274320"/>
          </a:xfrm>
          <a:prstGeom prst="rect">
            <a:avLst/>
          </a:prstGeom>
          <a:noFill/>
          <a:ln/>
        </p:spPr>
        <p:txBody>
          <a:bodyPr wrap="square" rtlCol="0" anchor="t"/>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Package registry needs the VPN.</a:t>
            </a:r>
            <a:endParaRPr lang="en-US" sz="1500" dirty="0"/>
          </a:p>
        </p:txBody>
      </p:sp>
      <p:sp>
        <p:nvSpPr>
          <p:cNvPr id="25" name="Text 23"/>
          <p:cNvSpPr/>
          <p:nvPr/>
        </p:nvSpPr>
        <p:spPr>
          <a:xfrm>
            <a:off x="566928" y="4370832"/>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7</a:t>
            </a:r>
            <a:endParaRPr lang="en-US" sz="1100" dirty="0"/>
          </a:p>
        </p:txBody>
      </p:sp>
      <p:sp>
        <p:nvSpPr>
          <p:cNvPr id="26" name="Text 24"/>
          <p:cNvSpPr/>
          <p:nvPr/>
        </p:nvSpPr>
        <p:spPr>
          <a:xfrm>
            <a:off x="1225296" y="4370832"/>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Mocks</a:t>
            </a:r>
            <a:endParaRPr lang="en-US" sz="1500" dirty="0"/>
          </a:p>
        </p:txBody>
      </p:sp>
      <p:sp>
        <p:nvSpPr>
          <p:cNvPr id="27" name="Text 25"/>
          <p:cNvSpPr/>
          <p:nvPr/>
        </p:nvSpPr>
        <p:spPr>
          <a:xfrm>
            <a:off x="566928" y="4700016"/>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8</a:t>
            </a:r>
            <a:endParaRPr lang="en-US" sz="1100" dirty="0"/>
          </a:p>
        </p:txBody>
      </p:sp>
      <p:sp>
        <p:nvSpPr>
          <p:cNvPr id="28" name="Text 26"/>
          <p:cNvSpPr/>
          <p:nvPr/>
        </p:nvSpPr>
        <p:spPr>
          <a:xfrm>
            <a:off x="1225296" y="4700016"/>
            <a:ext cx="6583680" cy="274320"/>
          </a:xfrm>
          <a:prstGeom prst="rect">
            <a:avLst/>
          </a:prstGeom>
          <a:noFill/>
          <a:ln/>
        </p:spPr>
        <p:txBody>
          <a:bodyPr wrap="square" rtlCol="0" anchor="t"/>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Stub the payment gateway in the inner loop.</a:t>
            </a:r>
            <a:endParaRPr lang="en-US" sz="1500" dirty="0"/>
          </a:p>
        </p:txBody>
      </p:sp>
      <p:sp>
        <p:nvSpPr>
          <p:cNvPr id="29" name="Text 27"/>
          <p:cNvSpPr/>
          <p:nvPr/>
        </p:nvSpPr>
        <p:spPr>
          <a:xfrm>
            <a:off x="566928" y="5029200"/>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9</a:t>
            </a:r>
            <a:endParaRPr lang="en-US" sz="1100" dirty="0"/>
          </a:p>
        </p:txBody>
      </p:sp>
      <p:sp>
        <p:nvSpPr>
          <p:cNvPr id="30" name="Text 28"/>
          <p:cNvSpPr/>
          <p:nvPr/>
        </p:nvSpPr>
        <p:spPr>
          <a:xfrm>
            <a:off x="1225296" y="5029200"/>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Source control</a:t>
            </a:r>
            <a:endParaRPr lang="en-US" sz="1500" dirty="0"/>
          </a:p>
        </p:txBody>
      </p:sp>
      <p:sp>
        <p:nvSpPr>
          <p:cNvPr id="31" name="Text 29"/>
          <p:cNvSpPr/>
          <p:nvPr/>
        </p:nvSpPr>
        <p:spPr>
          <a:xfrm>
            <a:off x="566928" y="5358384"/>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10</a:t>
            </a:r>
            <a:endParaRPr lang="en-US" sz="1100" dirty="0"/>
          </a:p>
        </p:txBody>
      </p:sp>
      <p:sp>
        <p:nvSpPr>
          <p:cNvPr id="32" name="Text 30"/>
          <p:cNvSpPr/>
          <p:nvPr/>
        </p:nvSpPr>
        <p:spPr>
          <a:xfrm>
            <a:off x="1225296" y="5358384"/>
            <a:ext cx="6583680" cy="274320"/>
          </a:xfrm>
          <a:prstGeom prst="rect">
            <a:avLst/>
          </a:prstGeom>
          <a:noFill/>
          <a:ln/>
        </p:spPr>
        <p:txBody>
          <a:bodyPr wrap="square" rtlCol="0" anchor="t"/>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Worktree branch. No force push.</a:t>
            </a:r>
            <a:endParaRPr lang="en-US" sz="1500" dirty="0"/>
          </a:p>
        </p:txBody>
      </p:sp>
      <p:sp>
        <p:nvSpPr>
          <p:cNvPr id="33" name="b01-fade-instruction-rules"/>
          <p:cNvSpPr/>
          <p:nvPr/>
        </p:nvSpPr>
        <p:spPr>
          <a:xfrm>
            <a:off x="8412480" y="2194560"/>
            <a:ext cx="3200400" cy="713232"/>
          </a:xfrm>
          <a:prstGeom prst="roundRect">
            <a:avLst>
              <a:gd name="adj" fmla="val 12821"/>
            </a:avLst>
          </a:prstGeom>
          <a:solidFill>
            <a:srgbClr val="0E1219"/>
          </a:solidFill>
          <a:ln w="12700">
            <a:solidFill>
              <a:srgbClr val="1A212C"/>
            </a:solidFill>
            <a:prstDash val="solid"/>
          </a:ln>
        </p:spPr>
        <p:txBody>
          <a:bodyPr/>
          <a:lstStyle/>
          <a:p>
            <a:endParaRPr lang="en-US"/>
          </a:p>
        </p:txBody>
      </p:sp>
      <p:sp>
        <p:nvSpPr>
          <p:cNvPr id="34" name="b01-fade-instruction-rules"/>
          <p:cNvSpPr/>
          <p:nvPr/>
        </p:nvSpPr>
        <p:spPr>
          <a:xfrm>
            <a:off x="8558784" y="2194560"/>
            <a:ext cx="2907792" cy="713232"/>
          </a:xfrm>
          <a:prstGeom prst="rect">
            <a:avLst/>
          </a:prstGeom>
          <a:noFill/>
          <a:ln/>
        </p:spPr>
        <p:txBody>
          <a:bodyPr wrap="square" rtlCol="0" anchor="ctr"/>
          <a:lstStyle/>
          <a:p>
            <a:pPr marL="0" indent="0" algn="l">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Short enough to stay true</a:t>
            </a:r>
            <a:endParaRPr lang="en-US" sz="1600" dirty="0"/>
          </a:p>
        </p:txBody>
      </p:sp>
      <p:sp>
        <p:nvSpPr>
          <p:cNvPr id="35" name="b01-fade-instruction-rules"/>
          <p:cNvSpPr/>
          <p:nvPr/>
        </p:nvSpPr>
        <p:spPr>
          <a:xfrm>
            <a:off x="8412480" y="3035808"/>
            <a:ext cx="3200400" cy="713232"/>
          </a:xfrm>
          <a:prstGeom prst="roundRect">
            <a:avLst>
              <a:gd name="adj" fmla="val 12821"/>
            </a:avLst>
          </a:prstGeom>
          <a:solidFill>
            <a:srgbClr val="0E1219"/>
          </a:solidFill>
          <a:ln w="12700">
            <a:solidFill>
              <a:srgbClr val="1A212C"/>
            </a:solidFill>
            <a:prstDash val="solid"/>
          </a:ln>
        </p:spPr>
        <p:txBody>
          <a:bodyPr/>
          <a:lstStyle/>
          <a:p>
            <a:endParaRPr lang="en-US"/>
          </a:p>
        </p:txBody>
      </p:sp>
      <p:sp>
        <p:nvSpPr>
          <p:cNvPr id="36" name="b01-fade-instruction-rules"/>
          <p:cNvSpPr/>
          <p:nvPr/>
        </p:nvSpPr>
        <p:spPr>
          <a:xfrm>
            <a:off x="8558784" y="3035808"/>
            <a:ext cx="2907792" cy="713232"/>
          </a:xfrm>
          <a:prstGeom prst="rect">
            <a:avLst/>
          </a:prstGeom>
          <a:noFill/>
          <a:ln/>
        </p:spPr>
        <p:txBody>
          <a:bodyPr wrap="square" rtlCol="0" anchor="ctr"/>
          <a:lstStyle/>
          <a:p>
            <a:pPr marL="0" indent="0" algn="l">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No credentials</a:t>
            </a:r>
            <a:endParaRPr lang="en-US" sz="1600" dirty="0"/>
          </a:p>
        </p:txBody>
      </p:sp>
      <p:sp>
        <p:nvSpPr>
          <p:cNvPr id="37" name="b01-fade-instruction-rules"/>
          <p:cNvSpPr/>
          <p:nvPr/>
        </p:nvSpPr>
        <p:spPr>
          <a:xfrm>
            <a:off x="8412480" y="3877056"/>
            <a:ext cx="3200400" cy="713232"/>
          </a:xfrm>
          <a:prstGeom prst="roundRect">
            <a:avLst>
              <a:gd name="adj" fmla="val 12821"/>
            </a:avLst>
          </a:prstGeom>
          <a:solidFill>
            <a:srgbClr val="0E1219"/>
          </a:solidFill>
          <a:ln w="12700">
            <a:solidFill>
              <a:srgbClr val="1A212C"/>
            </a:solidFill>
            <a:prstDash val="solid"/>
          </a:ln>
        </p:spPr>
        <p:txBody>
          <a:bodyPr/>
          <a:lstStyle/>
          <a:p>
            <a:endParaRPr lang="en-US"/>
          </a:p>
        </p:txBody>
      </p:sp>
      <p:sp>
        <p:nvSpPr>
          <p:cNvPr id="38" name="b01-fade-instruction-rules"/>
          <p:cNvSpPr/>
          <p:nvPr/>
        </p:nvSpPr>
        <p:spPr>
          <a:xfrm>
            <a:off x="8558784" y="3877056"/>
            <a:ext cx="2907792" cy="713232"/>
          </a:xfrm>
          <a:prstGeom prst="rect">
            <a:avLst/>
          </a:prstGeom>
          <a:noFill/>
          <a:ln/>
        </p:spPr>
        <p:txBody>
          <a:bodyPr wrap="square" rtlCol="0" anchor="ctr"/>
          <a:lstStyle/>
          <a:p>
            <a:pPr marL="0" indent="0" algn="l">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Update it when the repo changes</a:t>
            </a:r>
            <a:endParaRPr lang="en-US" sz="1600" dirty="0"/>
          </a:p>
        </p:txBody>
      </p:sp>
      <p:sp>
        <p:nvSpPr>
          <p:cNvPr id="39" name="b02-rise-stale-command"/>
          <p:cNvSpPr/>
          <p:nvPr/>
        </p:nvSpPr>
        <p:spPr>
          <a:xfrm>
            <a:off x="8412480" y="4892040"/>
            <a:ext cx="3200400" cy="914400"/>
          </a:xfrm>
          <a:prstGeom prst="roundRect">
            <a:avLst>
              <a:gd name="adj" fmla="val 13000"/>
            </a:avLst>
          </a:prstGeom>
          <a:solidFill>
            <a:srgbClr val="3A2E1C"/>
          </a:solidFill>
          <a:ln w="12700">
            <a:solidFill>
              <a:srgbClr val="FFCA83"/>
            </a:solidFill>
            <a:prstDash val="solid"/>
          </a:ln>
        </p:spPr>
        <p:txBody>
          <a:bodyPr/>
          <a:lstStyle/>
          <a:p>
            <a:endParaRPr lang="en-US"/>
          </a:p>
        </p:txBody>
      </p:sp>
      <p:sp>
        <p:nvSpPr>
          <p:cNvPr id="40" name="b02-rise-stale-command"/>
          <p:cNvSpPr/>
          <p:nvPr/>
        </p:nvSpPr>
        <p:spPr>
          <a:xfrm>
            <a:off x="8613648" y="4892040"/>
            <a:ext cx="2798064" cy="914400"/>
          </a:xfrm>
          <a:prstGeom prst="rect">
            <a:avLst/>
          </a:prstGeom>
          <a:noFill/>
          <a:ln/>
        </p:spPr>
        <p:txBody>
          <a:bodyPr wrap="square" rtlCol="0" anchor="ctr"/>
          <a:lstStyle/>
          <a:p>
            <a:pPr marL="0" indent="0">
              <a:lnSpc>
                <a:spcPct val="105000"/>
              </a:lnSpc>
              <a:buNone/>
            </a:pPr>
            <a:r>
              <a:rPr lang="en-US" sz="1600" dirty="0">
                <a:solidFill>
                  <a:srgbClr val="FFCA83"/>
                </a:solidFill>
                <a:latin typeface="Helvetica Neue" pitchFamily="34" charset="0"/>
                <a:ea typeface="Helvetica Neue" pitchFamily="34" charset="-122"/>
                <a:cs typeface="Helvetica Neue" pitchFamily="34" charset="-120"/>
              </a:rPr>
              <a:t>A stale command costs more than a missing line.</a:t>
            </a:r>
            <a:endParaRPr lang="en-US" sz="1600" dirty="0"/>
          </a:p>
        </p:txBody>
      </p:sp>
      <p:sp>
        <p:nvSpPr>
          <p:cNvPr id="41" name="Text 39"/>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Illustrative file. Filenames and loading rules differ per harness.</a:t>
            </a:r>
            <a:endParaRPr lang="en-US" sz="1100" dirty="0"/>
          </a:p>
        </p:txBody>
      </p:sp>
      <p:sp>
        <p:nvSpPr>
          <p:cNvPr id="42" name="Text 40"/>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17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20"/>
                                        <p:tgtEl>
                                          <p:spTgt spid="33"/>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420"/>
                                        <p:tgtEl>
                                          <p:spTgt spid="34"/>
                                        </p:tgtEl>
                                      </p:cBhvr>
                                    </p:animEffect>
                                  </p:childTnLst>
                                </p:cTn>
                              </p:par>
                              <p:par>
                                <p:cTn id="11" presetID="10"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420"/>
                                        <p:tgtEl>
                                          <p:spTgt spid="35"/>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420"/>
                                        <p:tgtEl>
                                          <p:spTgt spid="36"/>
                                        </p:tgtEl>
                                      </p:cBhvr>
                                    </p:animEffect>
                                  </p:childTnLst>
                                </p:cTn>
                              </p:par>
                              <p:par>
                                <p:cTn id="17" presetID="10" presetClass="entr" presetSubtype="0"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420"/>
                                        <p:tgtEl>
                                          <p:spTgt spid="37"/>
                                        </p:tgtEl>
                                      </p:cBhvr>
                                    </p:animEffect>
                                  </p:childTnLst>
                                </p:cTn>
                              </p:par>
                              <p:par>
                                <p:cTn id="20" presetID="10" presetClass="entr" presetSubtype="0"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42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zoomContents="1">
                                      <p:cBhvr>
                                        <p:cTn id="26" dur="200" accel="30000" decel="30000" autoRev="1" fill="remove"/>
                                        <p:tgtEl>
                                          <p:spTgt spid="19"/>
                                        </p:tgtEl>
                                      </p:cBhvr>
                                      <p:from x="100000" y="100000"/>
                                      <p:to x="104000" y="104000"/>
                                    </p:animScale>
                                  </p:childTnLst>
                                </p:cTn>
                              </p:par>
                              <p:par>
                                <p:cTn id="27" presetID="6" presetClass="emph" presetSubtype="0" fill="hold" nodeType="withEffect">
                                  <p:stCondLst>
                                    <p:cond delay="0"/>
                                  </p:stCondLst>
                                  <p:childTnLst>
                                    <p:animScale zoomContents="1">
                                      <p:cBhvr>
                                        <p:cTn id="28" dur="200" accel="30000" decel="30000" autoRev="1" fill="remove"/>
                                        <p:tgtEl>
                                          <p:spTgt spid="20"/>
                                        </p:tgtEl>
                                      </p:cBhvr>
                                      <p:from x="100000" y="100000"/>
                                      <p:to x="104000" y="104000"/>
                                    </p:animScale>
                                  </p:childTnLst>
                                </p:cTn>
                              </p:par>
                              <p:par>
                                <p:cTn id="29" presetID="42"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anim calcmode="lin" valueType="num">
                                      <p:cBhvr additive="base">
                                        <p:cTn id="31" dur="420" decel="60000" fill="hold"/>
                                        <p:tgtEl>
                                          <p:spTgt spid="39"/>
                                        </p:tgtEl>
                                        <p:attrNameLst>
                                          <p:attrName>ppt_y</p:attrName>
                                        </p:attrNameLst>
                                      </p:cBhvr>
                                      <p:tavLst>
                                        <p:tav tm="0">
                                          <p:val>
                                            <p:strVal val="#ppt_y+.014"/>
                                          </p:val>
                                        </p:tav>
                                        <p:tav tm="100000">
                                          <p:val>
                                            <p:strVal val="#ppt_y"/>
                                          </p:val>
                                        </p:tav>
                                      </p:tavLst>
                                    </p:anim>
                                    <p:animEffect transition="in" filter="fade">
                                      <p:cBhvr>
                                        <p:cTn id="32" dur="420"/>
                                        <p:tgtEl>
                                          <p:spTgt spid="39"/>
                                        </p:tgtEl>
                                      </p:cBhvr>
                                    </p:animEffect>
                                  </p:childTnLst>
                                </p:cTn>
                              </p:par>
                              <p:par>
                                <p:cTn id="33" presetID="42" presetClass="entr" presetSubtype="0" fill="hold" nodeType="with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additive="base">
                                        <p:cTn id="35" dur="420" decel="60000" fill="hold"/>
                                        <p:tgtEl>
                                          <p:spTgt spid="40"/>
                                        </p:tgtEl>
                                        <p:attrNameLst>
                                          <p:attrName>ppt_y</p:attrName>
                                        </p:attrNameLst>
                                      </p:cBhvr>
                                      <p:tavLst>
                                        <p:tav tm="0">
                                          <p:val>
                                            <p:strVal val="#ppt_y+.014"/>
                                          </p:val>
                                        </p:tav>
                                        <p:tav tm="100000">
                                          <p:val>
                                            <p:strVal val="#ppt_y"/>
                                          </p:val>
                                        </p:tav>
                                      </p:tavLst>
                                    </p:anim>
                                    <p:animEffect transition="in" filter="fade">
                                      <p:cBhvr>
                                        <p:cTn id="36" dur="42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ORCHESTRATION</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Delegate within one feature</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One objective, bounded tasks, one shared gate.</a:t>
            </a:r>
            <a:endParaRPr lang="en-US" sz="1900" dirty="0"/>
          </a:p>
        </p:txBody>
      </p:sp>
      <p:sp>
        <p:nvSpPr>
          <p:cNvPr id="5" name="Shape 3"/>
          <p:cNvSpPr/>
          <p:nvPr/>
        </p:nvSpPr>
        <p:spPr>
          <a:xfrm>
            <a:off x="4114800" y="1828800"/>
            <a:ext cx="3931920" cy="731520"/>
          </a:xfrm>
          <a:prstGeom prst="roundRect">
            <a:avLst>
              <a:gd name="adj" fmla="val 12500"/>
            </a:avLst>
          </a:prstGeom>
          <a:solidFill>
            <a:srgbClr val="1E3A33"/>
          </a:solidFill>
          <a:ln w="12700">
            <a:solidFill>
              <a:srgbClr val="75EDBB"/>
            </a:solidFill>
            <a:prstDash val="solid"/>
          </a:ln>
        </p:spPr>
        <p:txBody>
          <a:bodyPr/>
          <a:lstStyle/>
          <a:p>
            <a:endParaRPr lang="en-US"/>
          </a:p>
        </p:txBody>
      </p:sp>
      <p:sp>
        <p:nvSpPr>
          <p:cNvPr id="6" name="Text 4"/>
          <p:cNvSpPr/>
          <p:nvPr/>
        </p:nvSpPr>
        <p:spPr>
          <a:xfrm>
            <a:off x="4261104" y="1828800"/>
            <a:ext cx="3639312" cy="731520"/>
          </a:xfrm>
          <a:prstGeom prst="rect">
            <a:avLst/>
          </a:prstGeom>
          <a:noFill/>
          <a:ln/>
        </p:spPr>
        <p:txBody>
          <a:bodyPr wrap="square" rtlCol="0" anchor="ctr"/>
          <a:lstStyle/>
          <a:p>
            <a:pPr marL="0" indent="0" algn="ctr">
              <a:lnSpc>
                <a:spcPct val="105000"/>
              </a:lnSpc>
              <a:buNone/>
            </a:pPr>
            <a:r>
              <a:rPr lang="en-US" sz="1800" dirty="0">
                <a:solidFill>
                  <a:srgbClr val="75EDBB"/>
                </a:solidFill>
                <a:latin typeface="Helvetica Neue" pitchFamily="34" charset="0"/>
                <a:ea typeface="Helvetica Neue" pitchFamily="34" charset="-122"/>
                <a:cs typeface="Helvetica Neue" pitchFamily="34" charset="-120"/>
              </a:rPr>
              <a:t>One owner · one objective</a:t>
            </a:r>
            <a:endParaRPr lang="en-US" sz="1800" dirty="0"/>
          </a:p>
        </p:txBody>
      </p:sp>
      <p:sp>
        <p:nvSpPr>
          <p:cNvPr id="7" name="b01-fade-bounded-tasks"/>
          <p:cNvSpPr/>
          <p:nvPr/>
        </p:nvSpPr>
        <p:spPr>
          <a:xfrm>
            <a:off x="566928" y="2926080"/>
            <a:ext cx="3566160" cy="1188720"/>
          </a:xfrm>
          <a:prstGeom prst="roundRect">
            <a:avLst>
              <a:gd name="adj" fmla="val 10000"/>
            </a:avLst>
          </a:prstGeom>
          <a:solidFill>
            <a:srgbClr val="0E1219"/>
          </a:solidFill>
          <a:ln w="12700">
            <a:solidFill>
              <a:srgbClr val="232C3A"/>
            </a:solidFill>
            <a:prstDash val="solid"/>
          </a:ln>
        </p:spPr>
        <p:txBody>
          <a:bodyPr/>
          <a:lstStyle/>
          <a:p>
            <a:endParaRPr lang="en-US"/>
          </a:p>
        </p:txBody>
      </p:sp>
      <p:sp>
        <p:nvSpPr>
          <p:cNvPr id="8" name="b01-fade-bounded-tasks"/>
          <p:cNvSpPr/>
          <p:nvPr/>
        </p:nvSpPr>
        <p:spPr>
          <a:xfrm>
            <a:off x="804672" y="3145536"/>
            <a:ext cx="3090672" cy="384048"/>
          </a:xfrm>
          <a:prstGeom prst="rect">
            <a:avLst/>
          </a:prstGeom>
          <a:noFill/>
          <a:ln/>
        </p:spPr>
        <p:txBody>
          <a:bodyPr wrap="square" rtlCol="0" anchor="t"/>
          <a:lstStyle/>
          <a:p>
            <a:pPr marL="0" indent="0">
              <a:lnSpc>
                <a:spcPct val="105000"/>
              </a:lnSpc>
              <a:buNone/>
            </a:pPr>
            <a:r>
              <a:rPr lang="en-US" sz="1900" b="1" dirty="0">
                <a:solidFill>
                  <a:srgbClr val="F3F6FA"/>
                </a:solidFill>
                <a:latin typeface="Helvetica Neue" pitchFamily="34" charset="0"/>
                <a:ea typeface="Helvetica Neue" pitchFamily="34" charset="-122"/>
                <a:cs typeface="Helvetica Neue" pitchFamily="34" charset="-120"/>
              </a:rPr>
              <a:t>Route and query</a:t>
            </a:r>
            <a:endParaRPr lang="en-US" sz="1900" dirty="0"/>
          </a:p>
        </p:txBody>
      </p:sp>
      <p:sp>
        <p:nvSpPr>
          <p:cNvPr id="9" name="b01-fade-bounded-tasks"/>
          <p:cNvSpPr/>
          <p:nvPr/>
        </p:nvSpPr>
        <p:spPr>
          <a:xfrm>
            <a:off x="804672" y="3584448"/>
            <a:ext cx="3090672" cy="384048"/>
          </a:xfrm>
          <a:prstGeom prst="rect">
            <a:avLst/>
          </a:prstGeom>
          <a:noFill/>
          <a:ln/>
        </p:spPr>
        <p:txBody>
          <a:bodyPr wrap="square" rtlCol="0" anchor="t"/>
          <a:lstStyle/>
          <a:p>
            <a:pPr marL="0" indent="0">
              <a:lnSpc>
                <a:spcPct val="105000"/>
              </a:lnSpc>
              <a:buNone/>
            </a:pPr>
            <a:r>
              <a:rPr lang="en-US" sz="1500" dirty="0">
                <a:solidFill>
                  <a:srgbClr val="6F7B8D"/>
                </a:solidFill>
                <a:latin typeface="Menlo" pitchFamily="34" charset="0"/>
                <a:ea typeface="Menlo" pitchFamily="34" charset="-122"/>
                <a:cs typeface="Menlo" pitchFamily="34" charset="-120"/>
              </a:rPr>
              <a:t>worktree A</a:t>
            </a:r>
            <a:endParaRPr lang="en-US" sz="1500" dirty="0"/>
          </a:p>
        </p:txBody>
      </p:sp>
      <p:sp>
        <p:nvSpPr>
          <p:cNvPr id="10" name="b01-fade-bounded-tasks"/>
          <p:cNvSpPr/>
          <p:nvPr/>
        </p:nvSpPr>
        <p:spPr>
          <a:xfrm>
            <a:off x="4306824" y="2926080"/>
            <a:ext cx="3566160" cy="1188720"/>
          </a:xfrm>
          <a:prstGeom prst="roundRect">
            <a:avLst>
              <a:gd name="adj" fmla="val 10000"/>
            </a:avLst>
          </a:prstGeom>
          <a:solidFill>
            <a:srgbClr val="0E1219"/>
          </a:solidFill>
          <a:ln w="12700">
            <a:solidFill>
              <a:srgbClr val="232C3A"/>
            </a:solidFill>
            <a:prstDash val="solid"/>
          </a:ln>
        </p:spPr>
        <p:txBody>
          <a:bodyPr/>
          <a:lstStyle/>
          <a:p>
            <a:endParaRPr lang="en-US"/>
          </a:p>
        </p:txBody>
      </p:sp>
      <p:sp>
        <p:nvSpPr>
          <p:cNvPr id="11" name="b01-fade-bounded-tasks"/>
          <p:cNvSpPr/>
          <p:nvPr/>
        </p:nvSpPr>
        <p:spPr>
          <a:xfrm>
            <a:off x="4544568" y="3145536"/>
            <a:ext cx="3090672" cy="384048"/>
          </a:xfrm>
          <a:prstGeom prst="rect">
            <a:avLst/>
          </a:prstGeom>
          <a:noFill/>
          <a:ln/>
        </p:spPr>
        <p:txBody>
          <a:bodyPr wrap="square" rtlCol="0" anchor="t"/>
          <a:lstStyle/>
          <a:p>
            <a:pPr marL="0" indent="0">
              <a:lnSpc>
                <a:spcPct val="105000"/>
              </a:lnSpc>
              <a:buNone/>
            </a:pPr>
            <a:r>
              <a:rPr lang="en-US" sz="1900" b="1" dirty="0">
                <a:solidFill>
                  <a:srgbClr val="F3F6FA"/>
                </a:solidFill>
                <a:latin typeface="Helvetica Neue" pitchFamily="34" charset="0"/>
                <a:ea typeface="Helvetica Neue" pitchFamily="34" charset="-122"/>
                <a:cs typeface="Helvetica Neue" pitchFamily="34" charset="-120"/>
              </a:rPr>
              <a:t>HTML and formatting</a:t>
            </a:r>
            <a:endParaRPr lang="en-US" sz="1900" dirty="0"/>
          </a:p>
        </p:txBody>
      </p:sp>
      <p:sp>
        <p:nvSpPr>
          <p:cNvPr id="12" name="b01-fade-bounded-tasks"/>
          <p:cNvSpPr/>
          <p:nvPr/>
        </p:nvSpPr>
        <p:spPr>
          <a:xfrm>
            <a:off x="4544568" y="3584448"/>
            <a:ext cx="3090672" cy="384048"/>
          </a:xfrm>
          <a:prstGeom prst="rect">
            <a:avLst/>
          </a:prstGeom>
          <a:noFill/>
          <a:ln/>
        </p:spPr>
        <p:txBody>
          <a:bodyPr wrap="square" rtlCol="0" anchor="t"/>
          <a:lstStyle/>
          <a:p>
            <a:pPr marL="0" indent="0">
              <a:lnSpc>
                <a:spcPct val="105000"/>
              </a:lnSpc>
              <a:buNone/>
            </a:pPr>
            <a:r>
              <a:rPr lang="en-US" sz="1500" dirty="0">
                <a:solidFill>
                  <a:srgbClr val="6F7B8D"/>
                </a:solidFill>
                <a:latin typeface="Menlo" pitchFamily="34" charset="0"/>
                <a:ea typeface="Menlo" pitchFamily="34" charset="-122"/>
                <a:cs typeface="Menlo" pitchFamily="34" charset="-120"/>
              </a:rPr>
              <a:t>worktree B</a:t>
            </a:r>
            <a:endParaRPr lang="en-US" sz="1500" dirty="0"/>
          </a:p>
        </p:txBody>
      </p:sp>
      <p:sp>
        <p:nvSpPr>
          <p:cNvPr id="13" name="b01-fade-bounded-tasks"/>
          <p:cNvSpPr/>
          <p:nvPr/>
        </p:nvSpPr>
        <p:spPr>
          <a:xfrm>
            <a:off x="8046720" y="2926080"/>
            <a:ext cx="3566160" cy="1188720"/>
          </a:xfrm>
          <a:prstGeom prst="roundRect">
            <a:avLst>
              <a:gd name="adj" fmla="val 10000"/>
            </a:avLst>
          </a:prstGeom>
          <a:solidFill>
            <a:srgbClr val="0E1219"/>
          </a:solidFill>
          <a:ln w="12700">
            <a:solidFill>
              <a:srgbClr val="232C3A"/>
            </a:solidFill>
            <a:prstDash val="solid"/>
          </a:ln>
        </p:spPr>
        <p:txBody>
          <a:bodyPr/>
          <a:lstStyle/>
          <a:p>
            <a:endParaRPr lang="en-US"/>
          </a:p>
        </p:txBody>
      </p:sp>
      <p:sp>
        <p:nvSpPr>
          <p:cNvPr id="14" name="b01-fade-bounded-tasks"/>
          <p:cNvSpPr/>
          <p:nvPr/>
        </p:nvSpPr>
        <p:spPr>
          <a:xfrm>
            <a:off x="8284464" y="3145536"/>
            <a:ext cx="3090672" cy="384048"/>
          </a:xfrm>
          <a:prstGeom prst="rect">
            <a:avLst/>
          </a:prstGeom>
          <a:noFill/>
          <a:ln/>
        </p:spPr>
        <p:txBody>
          <a:bodyPr wrap="square" rtlCol="0" anchor="t"/>
          <a:lstStyle/>
          <a:p>
            <a:pPr marL="0" indent="0">
              <a:lnSpc>
                <a:spcPct val="105000"/>
              </a:lnSpc>
              <a:buNone/>
            </a:pPr>
            <a:r>
              <a:rPr lang="en-US" sz="1900" b="1" dirty="0">
                <a:solidFill>
                  <a:srgbClr val="F3F6FA"/>
                </a:solidFill>
                <a:latin typeface="Helvetica Neue" pitchFamily="34" charset="0"/>
                <a:ea typeface="Helvetica Neue" pitchFamily="34" charset="-122"/>
                <a:cs typeface="Helvetica Neue" pitchFamily="34" charset="-120"/>
              </a:rPr>
              <a:t>Tests and fixtures</a:t>
            </a:r>
            <a:endParaRPr lang="en-US" sz="1900" dirty="0"/>
          </a:p>
        </p:txBody>
      </p:sp>
      <p:sp>
        <p:nvSpPr>
          <p:cNvPr id="15" name="b01-fade-bounded-tasks"/>
          <p:cNvSpPr/>
          <p:nvPr/>
        </p:nvSpPr>
        <p:spPr>
          <a:xfrm>
            <a:off x="8284464" y="3584448"/>
            <a:ext cx="3090672" cy="384048"/>
          </a:xfrm>
          <a:prstGeom prst="rect">
            <a:avLst/>
          </a:prstGeom>
          <a:noFill/>
          <a:ln/>
        </p:spPr>
        <p:txBody>
          <a:bodyPr wrap="square" rtlCol="0" anchor="t"/>
          <a:lstStyle/>
          <a:p>
            <a:pPr marL="0" indent="0">
              <a:lnSpc>
                <a:spcPct val="105000"/>
              </a:lnSpc>
              <a:buNone/>
            </a:pPr>
            <a:r>
              <a:rPr lang="en-US" sz="1500" dirty="0">
                <a:solidFill>
                  <a:srgbClr val="6F7B8D"/>
                </a:solidFill>
                <a:latin typeface="Menlo" pitchFamily="34" charset="0"/>
                <a:ea typeface="Menlo" pitchFamily="34" charset="-122"/>
                <a:cs typeface="Menlo" pitchFamily="34" charset="-120"/>
              </a:rPr>
              <a:t>worktree C</a:t>
            </a:r>
            <a:endParaRPr lang="en-US" sz="1500" dirty="0"/>
          </a:p>
        </p:txBody>
      </p:sp>
      <p:sp>
        <p:nvSpPr>
          <p:cNvPr id="16" name="b01-wipe-task-split"/>
          <p:cNvSpPr/>
          <p:nvPr/>
        </p:nvSpPr>
        <p:spPr>
          <a:xfrm flipH="1">
            <a:off x="2350008" y="2560320"/>
            <a:ext cx="3730752" cy="365760"/>
          </a:xfrm>
          <a:prstGeom prst="line">
            <a:avLst/>
          </a:prstGeom>
          <a:noFill/>
          <a:ln w="19050">
            <a:solidFill>
              <a:srgbClr val="75EDBB"/>
            </a:solidFill>
            <a:prstDash val="solid"/>
            <a:tailEnd type="triangle"/>
          </a:ln>
        </p:spPr>
        <p:txBody>
          <a:bodyPr/>
          <a:lstStyle/>
          <a:p>
            <a:endParaRPr lang="en-US"/>
          </a:p>
        </p:txBody>
      </p:sp>
      <p:sp>
        <p:nvSpPr>
          <p:cNvPr id="17" name="b01-wipe-task-split"/>
          <p:cNvSpPr/>
          <p:nvPr/>
        </p:nvSpPr>
        <p:spPr>
          <a:xfrm>
            <a:off x="6080760" y="2560320"/>
            <a:ext cx="0" cy="365760"/>
          </a:xfrm>
          <a:prstGeom prst="line">
            <a:avLst/>
          </a:prstGeom>
          <a:noFill/>
          <a:ln w="19050">
            <a:solidFill>
              <a:srgbClr val="75EDBB"/>
            </a:solidFill>
            <a:prstDash val="solid"/>
            <a:tailEnd type="triangle"/>
          </a:ln>
        </p:spPr>
        <p:txBody>
          <a:bodyPr/>
          <a:lstStyle/>
          <a:p>
            <a:endParaRPr lang="en-US"/>
          </a:p>
        </p:txBody>
      </p:sp>
      <p:sp>
        <p:nvSpPr>
          <p:cNvPr id="18" name="b01-wipe-task-split"/>
          <p:cNvSpPr/>
          <p:nvPr/>
        </p:nvSpPr>
        <p:spPr>
          <a:xfrm>
            <a:off x="6080760" y="2560320"/>
            <a:ext cx="3749040" cy="365760"/>
          </a:xfrm>
          <a:prstGeom prst="line">
            <a:avLst/>
          </a:prstGeom>
          <a:noFill/>
          <a:ln w="19050">
            <a:solidFill>
              <a:srgbClr val="75EDBB"/>
            </a:solidFill>
            <a:prstDash val="solid"/>
            <a:tailEnd type="triangle"/>
          </a:ln>
        </p:spPr>
        <p:txBody>
          <a:bodyPr/>
          <a:lstStyle/>
          <a:p>
            <a:endParaRPr lang="en-US"/>
          </a:p>
        </p:txBody>
      </p:sp>
      <p:sp>
        <p:nvSpPr>
          <p:cNvPr id="19" name="b02-wipe-converge-gate"/>
          <p:cNvSpPr/>
          <p:nvPr/>
        </p:nvSpPr>
        <p:spPr>
          <a:xfrm>
            <a:off x="2350008" y="4114800"/>
            <a:ext cx="1490472" cy="457200"/>
          </a:xfrm>
          <a:prstGeom prst="line">
            <a:avLst/>
          </a:prstGeom>
          <a:noFill/>
          <a:ln w="19050">
            <a:solidFill>
              <a:srgbClr val="A99AFF"/>
            </a:solidFill>
            <a:prstDash val="solid"/>
            <a:tailEnd type="triangle"/>
          </a:ln>
        </p:spPr>
        <p:txBody>
          <a:bodyPr/>
          <a:lstStyle/>
          <a:p>
            <a:endParaRPr lang="en-US"/>
          </a:p>
        </p:txBody>
      </p:sp>
      <p:sp>
        <p:nvSpPr>
          <p:cNvPr id="20" name="b02-wipe-converge-gate"/>
          <p:cNvSpPr/>
          <p:nvPr/>
        </p:nvSpPr>
        <p:spPr>
          <a:xfrm>
            <a:off x="6080760" y="4114800"/>
            <a:ext cx="0" cy="457200"/>
          </a:xfrm>
          <a:prstGeom prst="line">
            <a:avLst/>
          </a:prstGeom>
          <a:noFill/>
          <a:ln w="19050">
            <a:solidFill>
              <a:srgbClr val="A99AFF"/>
            </a:solidFill>
            <a:prstDash val="solid"/>
            <a:tailEnd type="triangle"/>
          </a:ln>
        </p:spPr>
        <p:txBody>
          <a:bodyPr/>
          <a:lstStyle/>
          <a:p>
            <a:endParaRPr lang="en-US"/>
          </a:p>
        </p:txBody>
      </p:sp>
      <p:sp>
        <p:nvSpPr>
          <p:cNvPr id="21" name="b02-wipe-converge-gate"/>
          <p:cNvSpPr/>
          <p:nvPr/>
        </p:nvSpPr>
        <p:spPr>
          <a:xfrm flipH="1">
            <a:off x="8321040" y="4114800"/>
            <a:ext cx="1508760" cy="457200"/>
          </a:xfrm>
          <a:prstGeom prst="line">
            <a:avLst/>
          </a:prstGeom>
          <a:noFill/>
          <a:ln w="19050">
            <a:solidFill>
              <a:srgbClr val="A99AFF"/>
            </a:solidFill>
            <a:prstDash val="solid"/>
            <a:tailEnd type="triangle"/>
          </a:ln>
        </p:spPr>
        <p:txBody>
          <a:bodyPr/>
          <a:lstStyle/>
          <a:p>
            <a:endParaRPr lang="en-US"/>
          </a:p>
        </p:txBody>
      </p:sp>
      <p:sp>
        <p:nvSpPr>
          <p:cNvPr id="22" name="b02-wipe-converge-gate"/>
          <p:cNvSpPr/>
          <p:nvPr/>
        </p:nvSpPr>
        <p:spPr>
          <a:xfrm>
            <a:off x="2743200" y="4572000"/>
            <a:ext cx="6675120" cy="777240"/>
          </a:xfrm>
          <a:prstGeom prst="roundRect">
            <a:avLst>
              <a:gd name="adj" fmla="val 11765"/>
            </a:avLst>
          </a:prstGeom>
          <a:solidFill>
            <a:srgbClr val="2A2547"/>
          </a:solidFill>
          <a:ln w="12700">
            <a:solidFill>
              <a:srgbClr val="A99AFF"/>
            </a:solidFill>
            <a:prstDash val="solid"/>
          </a:ln>
        </p:spPr>
        <p:txBody>
          <a:bodyPr/>
          <a:lstStyle/>
          <a:p>
            <a:endParaRPr lang="en-US"/>
          </a:p>
        </p:txBody>
      </p:sp>
      <p:sp>
        <p:nvSpPr>
          <p:cNvPr id="23" name="b02-wipe-converge-gate"/>
          <p:cNvSpPr/>
          <p:nvPr/>
        </p:nvSpPr>
        <p:spPr>
          <a:xfrm>
            <a:off x="2889504" y="4572000"/>
            <a:ext cx="6382512" cy="777240"/>
          </a:xfrm>
          <a:prstGeom prst="rect">
            <a:avLst/>
          </a:prstGeom>
          <a:noFill/>
          <a:ln/>
        </p:spPr>
        <p:txBody>
          <a:bodyPr wrap="square" rtlCol="0" anchor="ctr"/>
          <a:lstStyle/>
          <a:p>
            <a:pPr marL="0" indent="0" algn="ctr">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Shared integration and review gate, then the next feature</a:t>
            </a:r>
            <a:endParaRPr lang="en-US" sz="1800" dirty="0"/>
          </a:p>
        </p:txBody>
      </p:sp>
      <p:sp>
        <p:nvSpPr>
          <p:cNvPr id="24" name="b03-rise-independence-rule"/>
          <p:cNvSpPr/>
          <p:nvPr/>
        </p:nvSpPr>
        <p:spPr>
          <a:xfrm>
            <a:off x="566928" y="5532120"/>
            <a:ext cx="11064240" cy="548640"/>
          </a:xfrm>
          <a:prstGeom prst="roundRect">
            <a:avLst>
              <a:gd name="adj" fmla="val 21667"/>
            </a:avLst>
          </a:prstGeom>
          <a:solidFill>
            <a:srgbClr val="0E1219"/>
          </a:solidFill>
          <a:ln w="12700">
            <a:solidFill>
              <a:srgbClr val="232C3A"/>
            </a:solidFill>
            <a:prstDash val="solid"/>
          </a:ln>
        </p:spPr>
        <p:txBody>
          <a:bodyPr/>
          <a:lstStyle/>
          <a:p>
            <a:endParaRPr lang="en-US"/>
          </a:p>
        </p:txBody>
      </p:sp>
      <p:sp>
        <p:nvSpPr>
          <p:cNvPr id="25" name="b03-rise-independence-rule"/>
          <p:cNvSpPr/>
          <p:nvPr/>
        </p:nvSpPr>
        <p:spPr>
          <a:xfrm>
            <a:off x="841248" y="5532120"/>
            <a:ext cx="10515600" cy="548640"/>
          </a:xfrm>
          <a:prstGeom prst="rect">
            <a:avLst/>
          </a:prstGeom>
          <a:noFill/>
          <a:ln/>
        </p:spPr>
        <p:txBody>
          <a:bodyPr wrap="square" rtlCol="0" anchor="ctr"/>
          <a:lstStyle/>
          <a:p>
            <a:pPr marL="0" indent="0">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Parallel work pays only when the tasks do not share files.</a:t>
            </a:r>
            <a:endParaRPr lang="en-US" sz="1800" dirty="0"/>
          </a:p>
        </p:txBody>
      </p:sp>
      <p:sp>
        <p:nvSpPr>
          <p:cNvPr id="26" name="Text 24"/>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Agent-written code goes through the same review as anyone else's.</a:t>
            </a:r>
            <a:endParaRPr lang="en-US" sz="1100" dirty="0"/>
          </a:p>
        </p:txBody>
      </p:sp>
      <p:sp>
        <p:nvSpPr>
          <p:cNvPr id="27" name="Text 25"/>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18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2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2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2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2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2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20"/>
                                        <p:tgtEl>
                                          <p:spTgt spid="15"/>
                                        </p:tgtEl>
                                      </p:cBhvr>
                                    </p:animEffect>
                                  </p:childTnLst>
                                </p:cTn>
                              </p:par>
                              <p:par>
                                <p:cTn id="32" presetID="22" presetClass="entr" presetSubtype="1"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right)">
                                      <p:cBhvr>
                                        <p:cTn id="34" dur="420"/>
                                        <p:tgtEl>
                                          <p:spTgt spid="16"/>
                                        </p:tgtEl>
                                      </p:cBhvr>
                                    </p:animEffect>
                                  </p:childTnLst>
                                </p:cTn>
                              </p:par>
                              <p:par>
                                <p:cTn id="35" presetID="22" presetClass="entr" presetSubtype="1"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right)">
                                      <p:cBhvr>
                                        <p:cTn id="37" dur="420"/>
                                        <p:tgtEl>
                                          <p:spTgt spid="17"/>
                                        </p:tgtEl>
                                      </p:cBhvr>
                                    </p:animEffect>
                                  </p:childTnLst>
                                </p:cTn>
                              </p:par>
                              <p:par>
                                <p:cTn id="38" presetID="22" presetClass="entr" presetSubtype="1"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right)">
                                      <p:cBhvr>
                                        <p:cTn id="40" dur="42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right)">
                                      <p:cBhvr>
                                        <p:cTn id="45" dur="420"/>
                                        <p:tgtEl>
                                          <p:spTgt spid="19"/>
                                        </p:tgtEl>
                                      </p:cBhvr>
                                    </p:animEffect>
                                  </p:childTnLst>
                                </p:cTn>
                              </p:par>
                              <p:par>
                                <p:cTn id="46" presetID="22" presetClass="entr" presetSubtype="1"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right)">
                                      <p:cBhvr>
                                        <p:cTn id="48" dur="420"/>
                                        <p:tgtEl>
                                          <p:spTgt spid="20"/>
                                        </p:tgtEl>
                                      </p:cBhvr>
                                    </p:animEffect>
                                  </p:childTnLst>
                                </p:cTn>
                              </p:par>
                              <p:par>
                                <p:cTn id="49" presetID="22" presetClass="entr" presetSubtype="1"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right)">
                                      <p:cBhvr>
                                        <p:cTn id="51" dur="420"/>
                                        <p:tgtEl>
                                          <p:spTgt spid="21"/>
                                        </p:tgtEl>
                                      </p:cBhvr>
                                    </p:animEffect>
                                  </p:childTnLst>
                                </p:cTn>
                              </p:par>
                              <p:par>
                                <p:cTn id="52" presetID="22" presetClass="entr" presetSubtype="1"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wipe(right)">
                                      <p:cBhvr>
                                        <p:cTn id="54" dur="420"/>
                                        <p:tgtEl>
                                          <p:spTgt spid="22"/>
                                        </p:tgtEl>
                                      </p:cBhvr>
                                    </p:animEffect>
                                  </p:childTnLst>
                                </p:cTn>
                              </p:par>
                              <p:par>
                                <p:cTn id="55" presetID="22" presetClass="entr" presetSubtype="1"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wipe(right)">
                                      <p:cBhvr>
                                        <p:cTn id="57" dur="42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 calcmode="lin" valueType="num">
                                      <p:cBhvr additive="base">
                                        <p:cTn id="62" dur="420" decel="60000" fill="hold"/>
                                        <p:tgtEl>
                                          <p:spTgt spid="24"/>
                                        </p:tgtEl>
                                        <p:attrNameLst>
                                          <p:attrName>ppt_y</p:attrName>
                                        </p:attrNameLst>
                                      </p:cBhvr>
                                      <p:tavLst>
                                        <p:tav tm="0">
                                          <p:val>
                                            <p:strVal val="#ppt_y+.014"/>
                                          </p:val>
                                        </p:tav>
                                        <p:tav tm="100000">
                                          <p:val>
                                            <p:strVal val="#ppt_y"/>
                                          </p:val>
                                        </p:tav>
                                      </p:tavLst>
                                    </p:anim>
                                    <p:animEffect transition="in" filter="fade">
                                      <p:cBhvr>
                                        <p:cTn id="63" dur="420"/>
                                        <p:tgtEl>
                                          <p:spTgt spid="24"/>
                                        </p:tgtEl>
                                      </p:cBhvr>
                                    </p:animEffect>
                                  </p:childTnLst>
                                </p:cTn>
                              </p:par>
                              <p:par>
                                <p:cTn id="64" presetID="42"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 calcmode="lin" valueType="num">
                                      <p:cBhvr additive="base">
                                        <p:cTn id="66" dur="420" decel="60000" fill="hold"/>
                                        <p:tgtEl>
                                          <p:spTgt spid="25"/>
                                        </p:tgtEl>
                                        <p:attrNameLst>
                                          <p:attrName>ppt_y</p:attrName>
                                        </p:attrNameLst>
                                      </p:cBhvr>
                                      <p:tavLst>
                                        <p:tav tm="0">
                                          <p:val>
                                            <p:strVal val="#ppt_y+.014"/>
                                          </p:val>
                                        </p:tav>
                                        <p:tav tm="100000">
                                          <p:val>
                                            <p:strVal val="#ppt_y"/>
                                          </p:val>
                                        </p:tav>
                                      </p:tavLst>
                                    </p:anim>
                                    <p:animEffect transition="in" filter="fade">
                                      <p:cBhvr>
                                        <p:cTn id="67" dur="42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090D"/>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0607040" cy="274320"/>
          </a:xfrm>
          <a:prstGeom prst="rect">
            <a:avLst/>
          </a:prstGeom>
          <a:noFill/>
        </p:spPr>
        <p:txBody>
          <a:bodyPr wrap="square" lIns="0" tIns="0" rIns="0" bIns="0" anchor="t">
            <a:spAutoFit/>
          </a:bodyPr>
          <a:lstStyle/>
          <a:p>
            <a:pPr algn="l">
              <a:lnSpc>
                <a:spcPct val="105000"/>
              </a:lnSpc>
            </a:pPr>
            <a:r>
              <a:rPr sz="1200" b="1" spc="260">
                <a:solidFill>
                  <a:srgbClr val="75EDBB"/>
                </a:solidFill>
                <a:latin typeface="Helvetica Neue"/>
                <a:ea typeface="Helvetica Neue"/>
                <a:cs typeface="Helvetica Neue"/>
              </a:rPr>
              <a:t>COMPATIBILITY</a:t>
            </a:r>
          </a:p>
        </p:txBody>
      </p:sp>
      <p:sp>
        <p:nvSpPr>
          <p:cNvPr id="3" name="TextBox 2"/>
          <p:cNvSpPr txBox="1"/>
          <p:nvPr/>
        </p:nvSpPr>
        <p:spPr>
          <a:xfrm>
            <a:off x="566928" y="585216"/>
            <a:ext cx="10789920" cy="731520"/>
          </a:xfrm>
          <a:prstGeom prst="rect">
            <a:avLst/>
          </a:prstGeom>
          <a:noFill/>
        </p:spPr>
        <p:txBody>
          <a:bodyPr wrap="square" lIns="0" tIns="0" rIns="0" bIns="0" anchor="ctr">
            <a:spAutoFit/>
          </a:bodyPr>
          <a:lstStyle/>
          <a:p>
            <a:pPr algn="l">
              <a:lnSpc>
                <a:spcPct val="95000"/>
              </a:lnSpc>
            </a:pPr>
            <a:r>
              <a:rPr sz="3800" b="0">
                <a:solidFill>
                  <a:srgbClr val="F3F6FA"/>
                </a:solidFill>
                <a:latin typeface="Avenir Next"/>
                <a:ea typeface="Avenir Next"/>
                <a:cs typeface="Avenir Next"/>
              </a:rPr>
              <a:t>Version the model and harness together</a:t>
            </a:r>
          </a:p>
        </p:txBody>
      </p:sp>
      <p:sp>
        <p:nvSpPr>
          <p:cNvPr id="4" name="TextBox 3"/>
          <p:cNvSpPr txBox="1"/>
          <p:nvPr/>
        </p:nvSpPr>
        <p:spPr>
          <a:xfrm>
            <a:off x="566928" y="1335024"/>
            <a:ext cx="9692640" cy="384048"/>
          </a:xfrm>
          <a:prstGeom prst="rect">
            <a:avLst/>
          </a:prstGeom>
          <a:noFill/>
        </p:spPr>
        <p:txBody>
          <a:bodyPr wrap="square" lIns="0" tIns="0" rIns="0" bIns="0" anchor="t">
            <a:spAutoFit/>
          </a:bodyPr>
          <a:lstStyle/>
          <a:p>
            <a:pPr algn="l">
              <a:lnSpc>
                <a:spcPct val="105000"/>
              </a:lnSpc>
            </a:pPr>
            <a:r>
              <a:rPr sz="1900" b="0">
                <a:solidFill>
                  <a:srgbClr val="B2BDCD"/>
                </a:solidFill>
                <a:latin typeface="Helvetica Neue"/>
                <a:ea typeface="Helvetica Neue"/>
                <a:cs typeface="Helvetica Neue"/>
              </a:rPr>
              <a:t>What you ship is the pair and its checks, not the model alone.</a:t>
            </a:r>
          </a:p>
        </p:txBody>
      </p:sp>
      <p:sp>
        <p:nvSpPr>
          <p:cNvPr id="5" name="Rounded Rectangle 4"/>
          <p:cNvSpPr/>
          <p:nvPr/>
        </p:nvSpPr>
        <p:spPr>
          <a:xfrm>
            <a:off x="566928" y="1874519"/>
            <a:ext cx="4846320" cy="3337560"/>
          </a:xfrm>
          <a:prstGeom prst="roundRect">
            <a:avLst>
              <a:gd name="adj" fmla="val 10958"/>
            </a:avLst>
          </a:prstGeom>
          <a:solidFill>
            <a:srgbClr val="0A0D13"/>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41248" y="2057400"/>
            <a:ext cx="4297680" cy="256032"/>
          </a:xfrm>
          <a:prstGeom prst="rect">
            <a:avLst/>
          </a:prstGeom>
          <a:noFill/>
        </p:spPr>
        <p:txBody>
          <a:bodyPr wrap="square" lIns="0" tIns="0" rIns="0" bIns="0" anchor="t">
            <a:spAutoFit/>
          </a:bodyPr>
          <a:lstStyle/>
          <a:p>
            <a:pPr algn="l">
              <a:lnSpc>
                <a:spcPct val="105000"/>
              </a:lnSpc>
            </a:pPr>
            <a:r>
              <a:rPr sz="1200" b="1" spc="160">
                <a:solidFill>
                  <a:srgbClr val="75EDBB"/>
                </a:solidFill>
                <a:latin typeface="Helvetica Neue"/>
                <a:ea typeface="Helvetica Neue"/>
                <a:cs typeface="Helvetica Neue"/>
              </a:rPr>
              <a:t>ONE DEPLOYABLE SETUP</a:t>
            </a:r>
          </a:p>
        </p:txBody>
      </p:sp>
      <p:sp>
        <p:nvSpPr>
          <p:cNvPr id="7" name="b01-fade-deployable-unit"/>
          <p:cNvSpPr/>
          <p:nvPr/>
        </p:nvSpPr>
        <p:spPr>
          <a:xfrm>
            <a:off x="841248" y="2450592"/>
            <a:ext cx="4297680" cy="603504"/>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b01-fade-deployable-unit"/>
          <p:cNvSpPr txBox="1"/>
          <p:nvPr/>
        </p:nvSpPr>
        <p:spPr>
          <a:xfrm>
            <a:off x="1024128" y="2450592"/>
            <a:ext cx="3931920" cy="603504"/>
          </a:xfrm>
          <a:prstGeom prst="rect">
            <a:avLst/>
          </a:prstGeom>
          <a:noFill/>
        </p:spPr>
        <p:txBody>
          <a:bodyPr wrap="square" lIns="0" tIns="0" rIns="0" bIns="0" anchor="ctr">
            <a:spAutoFit/>
          </a:bodyPr>
          <a:lstStyle/>
          <a:p>
            <a:pPr algn="l">
              <a:lnSpc>
                <a:spcPct val="105000"/>
              </a:lnSpc>
            </a:pPr>
            <a:r>
              <a:rPr sz="1500" b="0">
                <a:solidFill>
                  <a:srgbClr val="F3F6FA"/>
                </a:solidFill>
                <a:latin typeface="Helvetica Neue"/>
                <a:ea typeface="Helvetica Neue"/>
                <a:cs typeface="Helvetica Neue"/>
              </a:rPr>
              <a:t>Model version and reasoning effort</a:t>
            </a:r>
          </a:p>
        </p:txBody>
      </p:sp>
      <p:sp>
        <p:nvSpPr>
          <p:cNvPr id="9" name="b01-fade-deployable-unit"/>
          <p:cNvSpPr/>
          <p:nvPr/>
        </p:nvSpPr>
        <p:spPr>
          <a:xfrm>
            <a:off x="841248" y="3127248"/>
            <a:ext cx="4297680" cy="603504"/>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b01-fade-deployable-unit"/>
          <p:cNvSpPr txBox="1"/>
          <p:nvPr/>
        </p:nvSpPr>
        <p:spPr>
          <a:xfrm>
            <a:off x="1024128" y="3127248"/>
            <a:ext cx="3931920" cy="603504"/>
          </a:xfrm>
          <a:prstGeom prst="rect">
            <a:avLst/>
          </a:prstGeom>
          <a:noFill/>
        </p:spPr>
        <p:txBody>
          <a:bodyPr wrap="square" lIns="0" tIns="0" rIns="0" bIns="0" anchor="ctr">
            <a:spAutoFit/>
          </a:bodyPr>
          <a:lstStyle/>
          <a:p>
            <a:pPr algn="l">
              <a:lnSpc>
                <a:spcPct val="105000"/>
              </a:lnSpc>
            </a:pPr>
            <a:r>
              <a:rPr sz="1500" b="0">
                <a:solidFill>
                  <a:srgbClr val="F3F6FA"/>
                </a:solidFill>
                <a:latin typeface="Helvetica Neue"/>
                <a:ea typeface="Helvetica Neue"/>
                <a:cs typeface="Helvetica Neue"/>
              </a:rPr>
              <a:t>Instructions, tools and skills</a:t>
            </a:r>
          </a:p>
        </p:txBody>
      </p:sp>
      <p:sp>
        <p:nvSpPr>
          <p:cNvPr id="11" name="b01-fade-deployable-unit"/>
          <p:cNvSpPr/>
          <p:nvPr/>
        </p:nvSpPr>
        <p:spPr>
          <a:xfrm>
            <a:off x="841248" y="3803904"/>
            <a:ext cx="4297680" cy="603504"/>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b01-fade-deployable-unit"/>
          <p:cNvSpPr txBox="1"/>
          <p:nvPr/>
        </p:nvSpPr>
        <p:spPr>
          <a:xfrm>
            <a:off x="1024128" y="3803904"/>
            <a:ext cx="3931920" cy="603504"/>
          </a:xfrm>
          <a:prstGeom prst="rect">
            <a:avLst/>
          </a:prstGeom>
          <a:noFill/>
        </p:spPr>
        <p:txBody>
          <a:bodyPr wrap="square" lIns="0" tIns="0" rIns="0" bIns="0" anchor="ctr">
            <a:spAutoFit/>
          </a:bodyPr>
          <a:lstStyle/>
          <a:p>
            <a:pPr algn="l">
              <a:lnSpc>
                <a:spcPct val="105000"/>
              </a:lnSpc>
            </a:pPr>
            <a:r>
              <a:rPr sz="1500" b="0">
                <a:solidFill>
                  <a:srgbClr val="F3F6FA"/>
                </a:solidFill>
                <a:latin typeface="Helvetica Neue"/>
                <a:ea typeface="Helvetica Neue"/>
                <a:cs typeface="Helvetica Neue"/>
              </a:rPr>
              <a:t>Budgets and permissions</a:t>
            </a:r>
          </a:p>
        </p:txBody>
      </p:sp>
      <p:sp>
        <p:nvSpPr>
          <p:cNvPr id="13" name="b01-fade-deployable-unit"/>
          <p:cNvSpPr/>
          <p:nvPr/>
        </p:nvSpPr>
        <p:spPr>
          <a:xfrm>
            <a:off x="841248" y="4480560"/>
            <a:ext cx="4297680" cy="603504"/>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b01-fade-deployable-unit"/>
          <p:cNvSpPr txBox="1"/>
          <p:nvPr/>
        </p:nvSpPr>
        <p:spPr>
          <a:xfrm>
            <a:off x="1024128" y="4480560"/>
            <a:ext cx="3931920" cy="603504"/>
          </a:xfrm>
          <a:prstGeom prst="rect">
            <a:avLst/>
          </a:prstGeom>
          <a:noFill/>
        </p:spPr>
        <p:txBody>
          <a:bodyPr wrap="square" lIns="0" tIns="0" rIns="0" bIns="0" anchor="ctr">
            <a:spAutoFit/>
          </a:bodyPr>
          <a:lstStyle/>
          <a:p>
            <a:pPr algn="l">
              <a:lnSpc>
                <a:spcPct val="105000"/>
              </a:lnSpc>
            </a:pPr>
            <a:r>
              <a:rPr sz="1500" b="0">
                <a:solidFill>
                  <a:srgbClr val="F3F6FA"/>
                </a:solidFill>
                <a:latin typeface="Helvetica Neue"/>
                <a:ea typeface="Helvetica Neue"/>
                <a:cs typeface="Helvetica Neue"/>
              </a:rPr>
              <a:t>Tests and acceptance checks</a:t>
            </a:r>
          </a:p>
        </p:txBody>
      </p:sp>
      <p:sp>
        <p:nvSpPr>
          <p:cNvPr id="15" name="b02-wipe-replay-flow"/>
          <p:cNvSpPr/>
          <p:nvPr/>
        </p:nvSpPr>
        <p:spPr>
          <a:xfrm>
            <a:off x="5870448" y="2148840"/>
            <a:ext cx="5760720" cy="82296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b02-wipe-replay-flow"/>
          <p:cNvSpPr txBox="1"/>
          <p:nvPr/>
        </p:nvSpPr>
        <p:spPr>
          <a:xfrm>
            <a:off x="6144768" y="2276856"/>
            <a:ext cx="5212080" cy="274320"/>
          </a:xfrm>
          <a:prstGeom prst="rect">
            <a:avLst/>
          </a:prstGeom>
          <a:noFill/>
        </p:spPr>
        <p:txBody>
          <a:bodyPr wrap="square" lIns="0" tIns="0" rIns="0" bIns="0" anchor="t">
            <a:spAutoFit/>
          </a:bodyPr>
          <a:lstStyle/>
          <a:p>
            <a:pPr algn="l">
              <a:lnSpc>
                <a:spcPct val="105000"/>
              </a:lnSpc>
            </a:pPr>
            <a:r>
              <a:rPr sz="1700" b="1">
                <a:solidFill>
                  <a:srgbClr val="A99AFF"/>
                </a:solidFill>
                <a:latin typeface="Helvetica Neue"/>
                <a:ea typeface="Helvetica Neue"/>
                <a:cs typeface="Helvetica Neue"/>
              </a:rPr>
              <a:t>Something changes</a:t>
            </a:r>
          </a:p>
        </p:txBody>
      </p:sp>
      <p:sp>
        <p:nvSpPr>
          <p:cNvPr id="17" name="b02-wipe-replay-flow"/>
          <p:cNvSpPr txBox="1"/>
          <p:nvPr/>
        </p:nvSpPr>
        <p:spPr>
          <a:xfrm>
            <a:off x="6144768" y="2587752"/>
            <a:ext cx="5212080" cy="256032"/>
          </a:xfrm>
          <a:prstGeom prst="rect">
            <a:avLst/>
          </a:prstGeom>
          <a:noFill/>
        </p:spPr>
        <p:txBody>
          <a:bodyPr wrap="square" lIns="0" tIns="0" rIns="0" bIns="0" anchor="t">
            <a:spAutoFit/>
          </a:bodyPr>
          <a:lstStyle/>
          <a:p>
            <a:pPr algn="l">
              <a:lnSpc>
                <a:spcPct val="105000"/>
              </a:lnSpc>
            </a:pPr>
            <a:r>
              <a:rPr sz="1400" b="0">
                <a:solidFill>
                  <a:srgbClr val="B2BDCD"/>
                </a:solidFill>
                <a:latin typeface="Helvetica Neue"/>
                <a:ea typeface="Helvetica Neue"/>
                <a:cs typeface="Helvetica Neue"/>
              </a:rPr>
              <a:t>a new model version, or an updated extension</a:t>
            </a:r>
          </a:p>
        </p:txBody>
      </p:sp>
      <p:sp>
        <p:nvSpPr>
          <p:cNvPr id="18" name="b02-wipe-replay-flow"/>
          <p:cNvSpPr/>
          <p:nvPr/>
        </p:nvSpPr>
        <p:spPr>
          <a:xfrm>
            <a:off x="8750808" y="2971800"/>
            <a:ext cx="0" cy="27432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b02-wipe-replay-flow"/>
          <p:cNvSpPr/>
          <p:nvPr/>
        </p:nvSpPr>
        <p:spPr>
          <a:xfrm>
            <a:off x="5870448" y="3246120"/>
            <a:ext cx="5760720" cy="82296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b02-wipe-replay-flow"/>
          <p:cNvSpPr txBox="1"/>
          <p:nvPr/>
        </p:nvSpPr>
        <p:spPr>
          <a:xfrm>
            <a:off x="6144768" y="3374136"/>
            <a:ext cx="5212080" cy="274320"/>
          </a:xfrm>
          <a:prstGeom prst="rect">
            <a:avLst/>
          </a:prstGeom>
          <a:noFill/>
        </p:spPr>
        <p:txBody>
          <a:bodyPr wrap="square" lIns="0" tIns="0" rIns="0" bIns="0" anchor="t">
            <a:spAutoFit/>
          </a:bodyPr>
          <a:lstStyle/>
          <a:p>
            <a:pPr algn="l">
              <a:lnSpc>
                <a:spcPct val="105000"/>
              </a:lnSpc>
            </a:pPr>
            <a:r>
              <a:rPr sz="1700" b="1">
                <a:solidFill>
                  <a:srgbClr val="75EDBB"/>
                </a:solidFill>
                <a:latin typeface="Helvetica Neue"/>
                <a:ea typeface="Helvetica Neue"/>
                <a:cs typeface="Helvetica Neue"/>
              </a:rPr>
              <a:t>Replay the same acceptance checks</a:t>
            </a:r>
          </a:p>
        </p:txBody>
      </p:sp>
      <p:sp>
        <p:nvSpPr>
          <p:cNvPr id="21" name="b02-wipe-replay-flow"/>
          <p:cNvSpPr txBox="1"/>
          <p:nvPr/>
        </p:nvSpPr>
        <p:spPr>
          <a:xfrm>
            <a:off x="6144768" y="3685031"/>
            <a:ext cx="5212080" cy="256032"/>
          </a:xfrm>
          <a:prstGeom prst="rect">
            <a:avLst/>
          </a:prstGeom>
          <a:noFill/>
        </p:spPr>
        <p:txBody>
          <a:bodyPr wrap="square" lIns="0" tIns="0" rIns="0" bIns="0" anchor="t">
            <a:spAutoFit/>
          </a:bodyPr>
          <a:lstStyle/>
          <a:p>
            <a:pPr algn="l">
              <a:lnSpc>
                <a:spcPct val="105000"/>
              </a:lnSpc>
            </a:pPr>
            <a:r>
              <a:rPr sz="1400" b="0">
                <a:solidFill>
                  <a:srgbClr val="B2BDCD"/>
                </a:solidFill>
                <a:latin typeface="Helvetica Neue"/>
                <a:ea typeface="Helvetica Neue"/>
                <a:cs typeface="Helvetica Neue"/>
              </a:rPr>
              <a:t>the ones that defined done before the change</a:t>
            </a:r>
          </a:p>
        </p:txBody>
      </p:sp>
      <p:sp>
        <p:nvSpPr>
          <p:cNvPr id="22" name="b02-wipe-replay-flow"/>
          <p:cNvSpPr/>
          <p:nvPr/>
        </p:nvSpPr>
        <p:spPr>
          <a:xfrm>
            <a:off x="8750808" y="4069080"/>
            <a:ext cx="0" cy="27432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b02-wipe-replay-flow"/>
          <p:cNvSpPr/>
          <p:nvPr/>
        </p:nvSpPr>
        <p:spPr>
          <a:xfrm>
            <a:off x="5870448" y="4343400"/>
            <a:ext cx="5760720" cy="82296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b02-wipe-replay-flow"/>
          <p:cNvSpPr txBox="1"/>
          <p:nvPr/>
        </p:nvSpPr>
        <p:spPr>
          <a:xfrm>
            <a:off x="6144768" y="4471416"/>
            <a:ext cx="5212080" cy="274320"/>
          </a:xfrm>
          <a:prstGeom prst="rect">
            <a:avLst/>
          </a:prstGeom>
          <a:noFill/>
        </p:spPr>
        <p:txBody>
          <a:bodyPr wrap="square" lIns="0" tIns="0" rIns="0" bIns="0" anchor="t">
            <a:spAutoFit/>
          </a:bodyPr>
          <a:lstStyle/>
          <a:p>
            <a:pPr algn="l">
              <a:lnSpc>
                <a:spcPct val="105000"/>
              </a:lnSpc>
            </a:pPr>
            <a:r>
              <a:rPr sz="1700" b="1">
                <a:solidFill>
                  <a:srgbClr val="FFCA83"/>
                </a:solidFill>
                <a:latin typeface="Helvetica Neue"/>
                <a:ea typeface="Helvetica Neue"/>
                <a:cs typeface="Helvetica Neue"/>
              </a:rPr>
              <a:t>Keep or remove the workaround</a:t>
            </a:r>
          </a:p>
        </p:txBody>
      </p:sp>
      <p:sp>
        <p:nvSpPr>
          <p:cNvPr id="25" name="b02-wipe-replay-flow"/>
          <p:cNvSpPr txBox="1"/>
          <p:nvPr/>
        </p:nvSpPr>
        <p:spPr>
          <a:xfrm>
            <a:off x="6144768" y="4782312"/>
            <a:ext cx="5212080" cy="256032"/>
          </a:xfrm>
          <a:prstGeom prst="rect">
            <a:avLst/>
          </a:prstGeom>
          <a:noFill/>
        </p:spPr>
        <p:txBody>
          <a:bodyPr wrap="square" lIns="0" tIns="0" rIns="0" bIns="0" anchor="t">
            <a:spAutoFit/>
          </a:bodyPr>
          <a:lstStyle/>
          <a:p>
            <a:pPr algn="l">
              <a:lnSpc>
                <a:spcPct val="105000"/>
              </a:lnSpc>
            </a:pPr>
            <a:r>
              <a:rPr sz="1400" b="0">
                <a:solidFill>
                  <a:srgbClr val="B2BDCD"/>
                </a:solidFill>
                <a:latin typeface="Helvetica Neue"/>
                <a:ea typeface="Helvetica Neue"/>
                <a:cs typeface="Helvetica Neue"/>
              </a:rPr>
              <a:t>evidence decides, not habit</a:t>
            </a:r>
          </a:p>
        </p:txBody>
      </p:sp>
      <p:sp>
        <p:nvSpPr>
          <p:cNvPr id="26" name="b03-rise-compatibility-rule"/>
          <p:cNvSpPr/>
          <p:nvPr/>
        </p:nvSpPr>
        <p:spPr>
          <a:xfrm>
            <a:off x="566928" y="5532120"/>
            <a:ext cx="11064240" cy="56692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b03-rise-compatibility-rule"/>
          <p:cNvSpPr txBox="1"/>
          <p:nvPr/>
        </p:nvSpPr>
        <p:spPr>
          <a:xfrm>
            <a:off x="841247" y="5532120"/>
            <a:ext cx="10515600" cy="566928"/>
          </a:xfrm>
          <a:prstGeom prst="rect">
            <a:avLst/>
          </a:prstGeom>
          <a:noFill/>
        </p:spPr>
        <p:txBody>
          <a:bodyPr wrap="square" lIns="0" tIns="0" rIns="0" bIns="0" anchor="ctr">
            <a:spAutoFit/>
          </a:bodyPr>
          <a:lstStyle/>
          <a:p>
            <a:pPr algn="l">
              <a:lnSpc>
                <a:spcPct val="105000"/>
              </a:lnSpc>
            </a:pPr>
            <a:r>
              <a:rPr sz="1800" b="0">
                <a:solidFill>
                  <a:srgbClr val="F3F6FA"/>
                </a:solidFill>
                <a:latin typeface="Helvetica Neue"/>
                <a:ea typeface="Helvetica Neue"/>
                <a:cs typeface="Helvetica Neue"/>
              </a:rPr>
              <a:t>A workaround keeps its place only while a check still shows it is needed.</a:t>
            </a:r>
          </a:p>
        </p:txBody>
      </p:sp>
      <p:sp>
        <p:nvSpPr>
          <p:cNvPr id="28" name="TextBox 27"/>
          <p:cNvSpPr txBox="1"/>
          <p:nvPr/>
        </p:nvSpPr>
        <p:spPr>
          <a:xfrm>
            <a:off x="566928" y="6391656"/>
            <a:ext cx="8961120" cy="274320"/>
          </a:xfrm>
          <a:prstGeom prst="rect">
            <a:avLst/>
          </a:prstGeom>
          <a:noFill/>
        </p:spPr>
        <p:txBody>
          <a:bodyPr wrap="square" lIns="0" tIns="0" rIns="0" bIns="0" anchor="ctr">
            <a:spAutoFit/>
          </a:bodyPr>
          <a:lstStyle/>
          <a:p>
            <a:pPr algn="l">
              <a:lnSpc>
                <a:spcPct val="105000"/>
              </a:lnSpc>
            </a:pPr>
            <a:r>
              <a:rPr sz="1100" b="0">
                <a:solidFill>
                  <a:srgbClr val="6F7B8D"/>
                </a:solidFill>
                <a:latin typeface="Helvetica Neue"/>
                <a:ea typeface="Helvetica Neue"/>
                <a:cs typeface="Helvetica Neue"/>
              </a:rPr>
              <a:t>Vendor-reported example and sources are in the notes. No rankings and no measured table on this slide.</a:t>
            </a:r>
          </a:p>
        </p:txBody>
      </p:sp>
      <p:sp>
        <p:nvSpPr>
          <p:cNvPr id="29" name="TextBox 28"/>
          <p:cNvSpPr txBox="1"/>
          <p:nvPr/>
        </p:nvSpPr>
        <p:spPr>
          <a:xfrm>
            <a:off x="9692640" y="6391656"/>
            <a:ext cx="1929384" cy="274320"/>
          </a:xfrm>
          <a:prstGeom prst="rect">
            <a:avLst/>
          </a:prstGeom>
          <a:noFill/>
        </p:spPr>
        <p:txBody>
          <a:bodyPr wrap="square" lIns="0" tIns="0" rIns="0" bIns="0" anchor="ctr">
            <a:spAutoFit/>
          </a:bodyPr>
          <a:lstStyle/>
          <a:p>
            <a:pPr algn="r">
              <a:lnSpc>
                <a:spcPct val="105000"/>
              </a:lnSpc>
            </a:pPr>
            <a:r>
              <a:rPr sz="1100" b="0">
                <a:solidFill>
                  <a:srgbClr val="6F7B8D"/>
                </a:solidFill>
                <a:latin typeface="Helvetica Neue"/>
                <a:ea typeface="Helvetica Neue"/>
                <a:cs typeface="Helvetica Neue"/>
              </a:rPr>
              <a:t>19 / 20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2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2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2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2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2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20"/>
                                        <p:tgtEl>
                                          <p:spTgt spid="15"/>
                                        </p:tgtEl>
                                      </p:cBhvr>
                                    </p:animEffect>
                                  </p:childTnLst>
                                </p:cTn>
                              </p:par>
                              <p:par>
                                <p:cTn id="34" presetID="10"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20"/>
                                        <p:tgtEl>
                                          <p:spTgt spid="16"/>
                                        </p:tgtEl>
                                      </p:cBhvr>
                                    </p:animEffect>
                                  </p:childTnLst>
                                </p:cTn>
                              </p:par>
                              <p:par>
                                <p:cTn id="37" presetID="10"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20"/>
                                        <p:tgtEl>
                                          <p:spTgt spid="17"/>
                                        </p:tgtEl>
                                      </p:cBhvr>
                                    </p:animEffect>
                                  </p:childTnLst>
                                </p:cTn>
                              </p:par>
                              <p:par>
                                <p:cTn id="40" presetID="10"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20"/>
                                        <p:tgtEl>
                                          <p:spTgt spid="18"/>
                                        </p:tgtEl>
                                      </p:cBhvr>
                                    </p:animEffect>
                                  </p:childTnLst>
                                </p:cTn>
                              </p:par>
                              <p:par>
                                <p:cTn id="43" presetID="10"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20"/>
                                        <p:tgtEl>
                                          <p:spTgt spid="19"/>
                                        </p:tgtEl>
                                      </p:cBhvr>
                                    </p:animEffect>
                                  </p:childTnLst>
                                </p:cTn>
                              </p:par>
                              <p:par>
                                <p:cTn id="46" presetID="10" presetClass="entr" presetSubtype="0"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20"/>
                                        <p:tgtEl>
                                          <p:spTgt spid="20"/>
                                        </p:tgtEl>
                                      </p:cBhvr>
                                    </p:animEffect>
                                  </p:childTnLst>
                                </p:cTn>
                              </p:par>
                              <p:par>
                                <p:cTn id="49" presetID="10"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20"/>
                                        <p:tgtEl>
                                          <p:spTgt spid="21"/>
                                        </p:tgtEl>
                                      </p:cBhvr>
                                    </p:animEffect>
                                  </p:childTnLst>
                                </p:cTn>
                              </p:par>
                              <p:par>
                                <p:cTn id="52" presetID="10" presetClass="entr" presetSubtype="0"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420"/>
                                        <p:tgtEl>
                                          <p:spTgt spid="22"/>
                                        </p:tgtEl>
                                      </p:cBhvr>
                                    </p:animEffect>
                                  </p:childTnLst>
                                </p:cTn>
                              </p:par>
                              <p:par>
                                <p:cTn id="55" presetID="10"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420"/>
                                        <p:tgtEl>
                                          <p:spTgt spid="23"/>
                                        </p:tgtEl>
                                      </p:cBhvr>
                                    </p:animEffect>
                                  </p:childTnLst>
                                </p:cTn>
                              </p:par>
                              <p:par>
                                <p:cTn id="58" presetID="10" presetClass="entr" presetSubtype="0" fill="hold"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420"/>
                                        <p:tgtEl>
                                          <p:spTgt spid="24"/>
                                        </p:tgtEl>
                                      </p:cBhvr>
                                    </p:animEffect>
                                  </p:childTnLst>
                                </p:cTn>
                              </p:par>
                              <p:par>
                                <p:cTn id="61" presetID="10"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20"/>
                                        <p:tgtEl>
                                          <p:spTgt spid="26"/>
                                        </p:tgtEl>
                                      </p:cBhvr>
                                    </p:animEffect>
                                  </p:childTnLst>
                                </p:cTn>
                              </p:par>
                              <p:par>
                                <p:cTn id="69" presetID="10" presetClass="entr" presetSubtype="0" fill="hold"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7090D"/>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0607040" cy="274320"/>
          </a:xfrm>
          <a:prstGeom prst="rect">
            <a:avLst/>
          </a:prstGeom>
          <a:noFill/>
        </p:spPr>
        <p:txBody>
          <a:bodyPr wrap="square" lIns="0" tIns="0" rIns="0" bIns="0" anchor="t">
            <a:spAutoFit/>
          </a:bodyPr>
          <a:lstStyle/>
          <a:p>
            <a:pPr algn="l">
              <a:lnSpc>
                <a:spcPct val="105000"/>
              </a:lnSpc>
            </a:pPr>
            <a:r>
              <a:rPr sz="1200" b="1" spc="260">
                <a:solidFill>
                  <a:srgbClr val="75EDBB"/>
                </a:solidFill>
                <a:latin typeface="Helvetica Neue"/>
                <a:ea typeface="Helvetica Neue"/>
                <a:cs typeface="Helvetica Neue"/>
              </a:rPr>
              <a:t>LIVE DEMO</a:t>
            </a:r>
          </a:p>
        </p:txBody>
      </p:sp>
      <p:sp>
        <p:nvSpPr>
          <p:cNvPr id="3" name="TextBox 2"/>
          <p:cNvSpPr txBox="1"/>
          <p:nvPr/>
        </p:nvSpPr>
        <p:spPr>
          <a:xfrm>
            <a:off x="566928" y="585216"/>
            <a:ext cx="10789920" cy="731520"/>
          </a:xfrm>
          <a:prstGeom prst="rect">
            <a:avLst/>
          </a:prstGeom>
          <a:noFill/>
        </p:spPr>
        <p:txBody>
          <a:bodyPr wrap="square" lIns="0" tIns="0" rIns="0" bIns="0" anchor="ctr">
            <a:spAutoFit/>
          </a:bodyPr>
          <a:lstStyle/>
          <a:p>
            <a:pPr algn="l">
              <a:lnSpc>
                <a:spcPct val="95000"/>
              </a:lnSpc>
            </a:pPr>
            <a:r>
              <a:rPr sz="3800" b="0">
                <a:solidFill>
                  <a:srgbClr val="F3F6FA"/>
                </a:solidFill>
                <a:latin typeface="Avenir Next"/>
                <a:ea typeface="Avenir Next"/>
                <a:cs typeface="Avenir Next"/>
              </a:rPr>
              <a:t>One feature. Two ways to work.</a:t>
            </a:r>
          </a:p>
        </p:txBody>
      </p:sp>
      <p:sp>
        <p:nvSpPr>
          <p:cNvPr id="4" name="TextBox 3"/>
          <p:cNvSpPr txBox="1"/>
          <p:nvPr/>
        </p:nvSpPr>
        <p:spPr>
          <a:xfrm>
            <a:off x="566928" y="1335024"/>
            <a:ext cx="9692640" cy="283667"/>
          </a:xfrm>
          <a:prstGeom prst="rect">
            <a:avLst/>
          </a:prstGeom>
          <a:noFill/>
        </p:spPr>
        <p:txBody>
          <a:bodyPr wrap="square" lIns="0" tIns="0" rIns="0" bIns="0" anchor="t">
            <a:spAutoFit/>
          </a:bodyPr>
          <a:lstStyle/>
          <a:p>
            <a:pPr algn="l">
              <a:lnSpc>
                <a:spcPct val="105000"/>
              </a:lnSpc>
            </a:pPr>
            <a:r>
              <a:rPr sz="1900" b="0" dirty="0">
                <a:solidFill>
                  <a:srgbClr val="B2BDCD"/>
                </a:solidFill>
                <a:latin typeface="Helvetica Neue"/>
                <a:ea typeface="Helvetica Neue"/>
                <a:cs typeface="Helvetica Neue"/>
              </a:rPr>
              <a:t>Same model, same harness, same commit, same written spec. Separate work trees</a:t>
            </a:r>
          </a:p>
        </p:txBody>
      </p:sp>
      <p:sp>
        <p:nvSpPr>
          <p:cNvPr id="5" name="Rounded Rectangle 4"/>
          <p:cNvSpPr/>
          <p:nvPr/>
        </p:nvSpPr>
        <p:spPr>
          <a:xfrm>
            <a:off x="566928" y="1810512"/>
            <a:ext cx="11064240" cy="56692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41248" y="1810512"/>
            <a:ext cx="8046720" cy="566928"/>
          </a:xfrm>
          <a:prstGeom prst="rect">
            <a:avLst/>
          </a:prstGeom>
          <a:noFill/>
        </p:spPr>
        <p:txBody>
          <a:bodyPr wrap="square" lIns="0" tIns="0" rIns="0" bIns="0" anchor="ctr">
            <a:spAutoFit/>
          </a:bodyPr>
          <a:lstStyle/>
          <a:p>
            <a:pPr algn="l">
              <a:lnSpc>
                <a:spcPct val="105000"/>
              </a:lnSpc>
            </a:pPr>
            <a:r>
              <a:rPr sz="1500" b="0">
                <a:solidFill>
                  <a:srgbClr val="F3F6FA"/>
                </a:solidFill>
                <a:latin typeface="Menlo"/>
                <a:ea typeface="Menlo"/>
                <a:cs typeface="Menlo"/>
              </a:rPr>
              <a:t>Add the overdue-invoices feature. Make it work and check it.</a:t>
            </a:r>
          </a:p>
        </p:txBody>
      </p:sp>
      <p:sp>
        <p:nvSpPr>
          <p:cNvPr id="7" name="TextBox 6"/>
          <p:cNvSpPr txBox="1"/>
          <p:nvPr/>
        </p:nvSpPr>
        <p:spPr>
          <a:xfrm>
            <a:off x="8961120" y="1810512"/>
            <a:ext cx="2395728" cy="566928"/>
          </a:xfrm>
          <a:prstGeom prst="rect">
            <a:avLst/>
          </a:prstGeom>
          <a:noFill/>
        </p:spPr>
        <p:txBody>
          <a:bodyPr wrap="square" lIns="0" tIns="0" rIns="0" bIns="0" anchor="ctr">
            <a:spAutoFit/>
          </a:bodyPr>
          <a:lstStyle/>
          <a:p>
            <a:pPr algn="r">
              <a:lnSpc>
                <a:spcPct val="105000"/>
              </a:lnSpc>
            </a:pPr>
            <a:r>
              <a:rPr sz="1100" b="0">
                <a:solidFill>
                  <a:srgbClr val="6F7B8D"/>
                </a:solidFill>
                <a:latin typeface="Helvetica Neue"/>
                <a:ea typeface="Helvetica Neue"/>
                <a:cs typeface="Helvetica Neue"/>
              </a:rPr>
              <a:t>the same prompt in both runs</a:t>
            </a:r>
          </a:p>
        </p:txBody>
      </p:sp>
      <p:sp>
        <p:nvSpPr>
          <p:cNvPr id="8" name="Rounded Rectangle 7"/>
          <p:cNvSpPr/>
          <p:nvPr/>
        </p:nvSpPr>
        <p:spPr>
          <a:xfrm>
            <a:off x="566928" y="2560320"/>
            <a:ext cx="5394960" cy="1920240"/>
          </a:xfrm>
          <a:prstGeom prst="roundRect">
            <a:avLst>
              <a:gd name="adj" fmla="val 15294"/>
            </a:avLst>
          </a:prstGeom>
          <a:solidFill>
            <a:srgbClr val="0A0D13"/>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41248" y="2743200"/>
            <a:ext cx="4846320" cy="256032"/>
          </a:xfrm>
          <a:prstGeom prst="rect">
            <a:avLst/>
          </a:prstGeom>
          <a:noFill/>
        </p:spPr>
        <p:txBody>
          <a:bodyPr wrap="square" lIns="0" tIns="0" rIns="0" bIns="0" anchor="t">
            <a:spAutoFit/>
          </a:bodyPr>
          <a:lstStyle/>
          <a:p>
            <a:pPr algn="l">
              <a:lnSpc>
                <a:spcPct val="105000"/>
              </a:lnSpc>
            </a:pPr>
            <a:r>
              <a:rPr sz="1200" b="1" spc="160">
                <a:solidFill>
                  <a:srgbClr val="A99AFF"/>
                </a:solidFill>
                <a:latin typeface="Helvetica Neue"/>
                <a:ea typeface="Helvetica Neue"/>
                <a:cs typeface="Helvetica Neue"/>
              </a:rPr>
              <a:t>RUN A  ·  VIBE CODING</a:t>
            </a:r>
          </a:p>
        </p:txBody>
      </p:sp>
      <p:sp>
        <p:nvSpPr>
          <p:cNvPr id="10" name="Rounded Rectangle 9"/>
          <p:cNvSpPr/>
          <p:nvPr/>
        </p:nvSpPr>
        <p:spPr>
          <a:xfrm>
            <a:off x="6236208" y="2560320"/>
            <a:ext cx="5394960" cy="1920240"/>
          </a:xfrm>
          <a:prstGeom prst="roundRect">
            <a:avLst>
              <a:gd name="adj" fmla="val 15294"/>
            </a:avLst>
          </a:prstGeom>
          <a:solidFill>
            <a:srgbClr val="0A0D13"/>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510528" y="2743200"/>
            <a:ext cx="4846320" cy="256032"/>
          </a:xfrm>
          <a:prstGeom prst="rect">
            <a:avLst/>
          </a:prstGeom>
          <a:noFill/>
        </p:spPr>
        <p:txBody>
          <a:bodyPr wrap="square" lIns="0" tIns="0" rIns="0" bIns="0" anchor="t">
            <a:spAutoFit/>
          </a:bodyPr>
          <a:lstStyle/>
          <a:p>
            <a:pPr algn="l">
              <a:lnSpc>
                <a:spcPct val="105000"/>
              </a:lnSpc>
            </a:pPr>
            <a:r>
              <a:rPr sz="1200" b="1" spc="160">
                <a:solidFill>
                  <a:srgbClr val="75EDBB"/>
                </a:solidFill>
                <a:latin typeface="Helvetica Neue"/>
                <a:ea typeface="Helvetica Neue"/>
                <a:cs typeface="Helvetica Neue"/>
              </a:rPr>
              <a:t>RUN B  ·  PREPARED SETUP</a:t>
            </a:r>
          </a:p>
        </p:txBody>
      </p:sp>
      <p:sp>
        <p:nvSpPr>
          <p:cNvPr id="12" name="b01-fade-run-a"/>
          <p:cNvSpPr txBox="1"/>
          <p:nvPr/>
        </p:nvSpPr>
        <p:spPr>
          <a:xfrm>
            <a:off x="841248" y="3127248"/>
            <a:ext cx="4846320" cy="365760"/>
          </a:xfrm>
          <a:prstGeom prst="rect">
            <a:avLst/>
          </a:prstGeom>
          <a:noFill/>
        </p:spPr>
        <p:txBody>
          <a:bodyPr wrap="square" lIns="0" tIns="0" rIns="0" bIns="0" anchor="ctr">
            <a:spAutoFit/>
          </a:bodyPr>
          <a:lstStyle/>
          <a:p>
            <a:pPr algn="l">
              <a:lnSpc>
                <a:spcPct val="105000"/>
              </a:lnSpc>
            </a:pPr>
            <a:r>
              <a:rPr sz="1600" b="0">
                <a:solidFill>
                  <a:srgbClr val="F3F6FA"/>
                </a:solidFill>
                <a:latin typeface="Helvetica Neue"/>
                <a:ea typeface="Helvetica Neue"/>
                <a:cs typeface="Helvetica Neue"/>
              </a:rPr>
              <a:t>Short prompt, then run it</a:t>
            </a:r>
          </a:p>
        </p:txBody>
      </p:sp>
      <p:sp>
        <p:nvSpPr>
          <p:cNvPr id="13" name="b01-fade-run-a"/>
          <p:cNvSpPr txBox="1"/>
          <p:nvPr/>
        </p:nvSpPr>
        <p:spPr>
          <a:xfrm>
            <a:off x="841248" y="3529584"/>
            <a:ext cx="4846320" cy="365760"/>
          </a:xfrm>
          <a:prstGeom prst="rect">
            <a:avLst/>
          </a:prstGeom>
          <a:noFill/>
        </p:spPr>
        <p:txBody>
          <a:bodyPr wrap="square" lIns="0" tIns="0" rIns="0" bIns="0" anchor="ctr">
            <a:spAutoFit/>
          </a:bodyPr>
          <a:lstStyle/>
          <a:p>
            <a:pPr algn="l">
              <a:lnSpc>
                <a:spcPct val="105000"/>
              </a:lnSpc>
            </a:pPr>
            <a:r>
              <a:rPr sz="1600" b="0">
                <a:solidFill>
                  <a:srgbClr val="F3F6FA"/>
                </a:solidFill>
                <a:latin typeface="Helvetica Neue"/>
                <a:ea typeface="Helvetica Neue"/>
                <a:cs typeface="Helvetica Neue"/>
              </a:rPr>
              <a:t>Read the errors that come back</a:t>
            </a:r>
          </a:p>
        </p:txBody>
      </p:sp>
      <p:sp>
        <p:nvSpPr>
          <p:cNvPr id="14" name="b01-fade-run-a"/>
          <p:cNvSpPr txBox="1"/>
          <p:nvPr/>
        </p:nvSpPr>
        <p:spPr>
          <a:xfrm>
            <a:off x="841248" y="3931920"/>
            <a:ext cx="4846320" cy="365760"/>
          </a:xfrm>
          <a:prstGeom prst="rect">
            <a:avLst/>
          </a:prstGeom>
          <a:noFill/>
        </p:spPr>
        <p:txBody>
          <a:bodyPr wrap="square" lIns="0" tIns="0" rIns="0" bIns="0" anchor="ctr">
            <a:spAutoFit/>
          </a:bodyPr>
          <a:lstStyle/>
          <a:p>
            <a:pPr algn="l">
              <a:lnSpc>
                <a:spcPct val="105000"/>
              </a:lnSpc>
            </a:pPr>
            <a:r>
              <a:rPr sz="1600" b="0">
                <a:solidFill>
                  <a:srgbClr val="F3F6FA"/>
                </a:solidFill>
                <a:latin typeface="Helvetica Neue"/>
                <a:ea typeface="Helvetica Neue"/>
                <a:cs typeface="Helvetica Neue"/>
              </a:rPr>
              <a:t>Follow-ups until the checks pass</a:t>
            </a:r>
          </a:p>
        </p:txBody>
      </p:sp>
      <p:sp>
        <p:nvSpPr>
          <p:cNvPr id="15" name="b02-fade-run-b"/>
          <p:cNvSpPr txBox="1"/>
          <p:nvPr/>
        </p:nvSpPr>
        <p:spPr>
          <a:xfrm>
            <a:off x="6510528" y="3127248"/>
            <a:ext cx="4846320" cy="365760"/>
          </a:xfrm>
          <a:prstGeom prst="rect">
            <a:avLst/>
          </a:prstGeom>
          <a:noFill/>
        </p:spPr>
        <p:txBody>
          <a:bodyPr wrap="square" lIns="0" tIns="0" rIns="0" bIns="0" anchor="ctr">
            <a:spAutoFit/>
          </a:bodyPr>
          <a:lstStyle/>
          <a:p>
            <a:pPr algn="l">
              <a:lnSpc>
                <a:spcPct val="105000"/>
              </a:lnSpc>
            </a:pPr>
            <a:r>
              <a:rPr sz="1600" b="0">
                <a:solidFill>
                  <a:srgbClr val="F3F6FA"/>
                </a:solidFill>
                <a:latin typeface="Helvetica Neue"/>
                <a:ea typeface="Helvetica Neue"/>
                <a:cs typeface="Helvetica Neue"/>
              </a:rPr>
              <a:t>Same prompt plus AGENTS.md</a:t>
            </a:r>
          </a:p>
        </p:txBody>
      </p:sp>
      <p:sp>
        <p:nvSpPr>
          <p:cNvPr id="16" name="b02-fade-run-b"/>
          <p:cNvSpPr txBox="1"/>
          <p:nvPr/>
        </p:nvSpPr>
        <p:spPr>
          <a:xfrm>
            <a:off x="6510528" y="3529584"/>
            <a:ext cx="4846320" cy="365760"/>
          </a:xfrm>
          <a:prstGeom prst="rect">
            <a:avLst/>
          </a:prstGeom>
          <a:noFill/>
        </p:spPr>
        <p:txBody>
          <a:bodyPr wrap="square" lIns="0" tIns="0" rIns="0" bIns="0" anchor="ctr">
            <a:spAutoFit/>
          </a:bodyPr>
          <a:lstStyle/>
          <a:p>
            <a:pPr algn="l">
              <a:lnSpc>
                <a:spcPct val="105000"/>
              </a:lnSpc>
            </a:pPr>
            <a:r>
              <a:rPr sz="1600" b="0">
                <a:solidFill>
                  <a:srgbClr val="F3F6FA"/>
                </a:solidFill>
                <a:latin typeface="Helvetica Neue"/>
                <a:ea typeface="Helvetica Neue"/>
                <a:cs typeface="Helvetica Neue"/>
              </a:rPr>
              <a:t>Fast tests after each change</a:t>
            </a:r>
          </a:p>
        </p:txBody>
      </p:sp>
      <p:sp>
        <p:nvSpPr>
          <p:cNvPr id="17" name="b02-fade-run-b"/>
          <p:cNvSpPr txBox="1"/>
          <p:nvPr/>
        </p:nvSpPr>
        <p:spPr>
          <a:xfrm>
            <a:off x="6510528" y="3931920"/>
            <a:ext cx="4846320" cy="365760"/>
          </a:xfrm>
          <a:prstGeom prst="rect">
            <a:avLst/>
          </a:prstGeom>
          <a:noFill/>
        </p:spPr>
        <p:txBody>
          <a:bodyPr wrap="square" lIns="0" tIns="0" rIns="0" bIns="0" anchor="ctr">
            <a:spAutoFit/>
          </a:bodyPr>
          <a:lstStyle/>
          <a:p>
            <a:pPr algn="l">
              <a:lnSpc>
                <a:spcPct val="105000"/>
              </a:lnSpc>
            </a:pPr>
            <a:r>
              <a:rPr sz="1600" b="0">
                <a:solidFill>
                  <a:srgbClr val="F3F6FA"/>
                </a:solidFill>
                <a:latin typeface="Helvetica Neue"/>
                <a:ea typeface="Helvetica Neue"/>
                <a:cs typeface="Helvetica Neue"/>
              </a:rPr>
              <a:t>TWTTY only if the loop stalls</a:t>
            </a:r>
          </a:p>
        </p:txBody>
      </p:sp>
      <p:sp>
        <p:nvSpPr>
          <p:cNvPr id="18" name="b03-rise-finish-line"/>
          <p:cNvSpPr/>
          <p:nvPr/>
        </p:nvSpPr>
        <p:spPr>
          <a:xfrm>
            <a:off x="566928" y="4617720"/>
            <a:ext cx="11064240" cy="566928"/>
          </a:xfrm>
          <a:prstGeom prst="roundRect">
            <a:avLst>
              <a:gd name="adj" fmla="val 15294"/>
            </a:avLst>
          </a:prstGeom>
          <a:solidFill>
            <a:srgbClr val="0E1219"/>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b03-rise-finish-line"/>
          <p:cNvSpPr txBox="1"/>
          <p:nvPr/>
        </p:nvSpPr>
        <p:spPr>
          <a:xfrm>
            <a:off x="566928" y="4617720"/>
            <a:ext cx="11064240" cy="566928"/>
          </a:xfrm>
          <a:prstGeom prst="rect">
            <a:avLst/>
          </a:prstGeom>
          <a:noFill/>
        </p:spPr>
        <p:txBody>
          <a:bodyPr wrap="square" lIns="0" tIns="0" rIns="0" bIns="0" anchor="ctr">
            <a:spAutoFit/>
          </a:bodyPr>
          <a:lstStyle/>
          <a:p>
            <a:pPr algn="ctr">
              <a:lnSpc>
                <a:spcPct val="105000"/>
              </a:lnSpc>
            </a:pPr>
            <a:r>
              <a:rPr sz="1700" b="1">
                <a:solidFill>
                  <a:srgbClr val="75EDBB"/>
                </a:solidFill>
                <a:latin typeface="Helvetica Neue"/>
                <a:ea typeface="Helvetica Neue"/>
                <a:cs typeface="Helvetica Neue"/>
              </a:rPr>
              <a:t>Same finish line</a:t>
            </a:r>
            <a:r>
              <a:rPr sz="1700" b="0">
                <a:solidFill>
                  <a:srgbClr val="F3F6FA"/>
                </a:solidFill>
                <a:latin typeface="Helvetica Neue"/>
                <a:ea typeface="Helvetica Neue"/>
                <a:cs typeface="Helvetica Neue"/>
              </a:rPr>
              <a:t>   full tests + feature checks + an HTTP check</a:t>
            </a:r>
          </a:p>
        </p:txBody>
      </p:sp>
      <p:sp>
        <p:nvSpPr>
          <p:cNvPr id="20" name="b03-rise-finish-line"/>
          <p:cNvSpPr/>
          <p:nvPr/>
        </p:nvSpPr>
        <p:spPr>
          <a:xfrm>
            <a:off x="566928" y="5376672"/>
            <a:ext cx="3566160" cy="65836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b03-rise-finish-line"/>
          <p:cNvSpPr txBox="1"/>
          <p:nvPr/>
        </p:nvSpPr>
        <p:spPr>
          <a:xfrm>
            <a:off x="566928" y="5376672"/>
            <a:ext cx="3566160" cy="658368"/>
          </a:xfrm>
          <a:prstGeom prst="rect">
            <a:avLst/>
          </a:prstGeom>
          <a:noFill/>
        </p:spPr>
        <p:txBody>
          <a:bodyPr wrap="square" lIns="0" tIns="0" rIns="0" bIns="0" anchor="ctr">
            <a:spAutoFit/>
          </a:bodyPr>
          <a:lstStyle/>
          <a:p>
            <a:pPr algn="ctr">
              <a:lnSpc>
                <a:spcPct val="105000"/>
              </a:lnSpc>
            </a:pPr>
            <a:r>
              <a:rPr sz="1400" b="1">
                <a:solidFill>
                  <a:srgbClr val="F3F6FA"/>
                </a:solidFill>
                <a:latin typeface="Helvetica Neue"/>
                <a:ea typeface="Helvetica Neue"/>
                <a:cs typeface="Helvetica Neue"/>
              </a:rPr>
              <a:t>Time to pass</a:t>
            </a:r>
            <a:r>
              <a:rPr sz="1200" b="0">
                <a:solidFill>
                  <a:srgbClr val="6F7B8D"/>
                </a:solidFill>
                <a:latin typeface="Helvetica Neue"/>
                <a:ea typeface="Helvetica Neue"/>
                <a:cs typeface="Helvetica Neue"/>
              </a:rPr>
              <a:t>    A · B recorded live</a:t>
            </a:r>
          </a:p>
        </p:txBody>
      </p:sp>
      <p:sp>
        <p:nvSpPr>
          <p:cNvPr id="22" name="b03-rise-finish-line"/>
          <p:cNvSpPr/>
          <p:nvPr/>
        </p:nvSpPr>
        <p:spPr>
          <a:xfrm>
            <a:off x="4315968" y="5376672"/>
            <a:ext cx="3566160" cy="65836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b03-rise-finish-line"/>
          <p:cNvSpPr txBox="1"/>
          <p:nvPr/>
        </p:nvSpPr>
        <p:spPr>
          <a:xfrm>
            <a:off x="4315968" y="5376672"/>
            <a:ext cx="3566160" cy="658368"/>
          </a:xfrm>
          <a:prstGeom prst="rect">
            <a:avLst/>
          </a:prstGeom>
          <a:noFill/>
        </p:spPr>
        <p:txBody>
          <a:bodyPr wrap="square" lIns="0" tIns="0" rIns="0" bIns="0" anchor="ctr">
            <a:spAutoFit/>
          </a:bodyPr>
          <a:lstStyle/>
          <a:p>
            <a:pPr algn="ctr">
              <a:lnSpc>
                <a:spcPct val="105000"/>
              </a:lnSpc>
            </a:pPr>
            <a:r>
              <a:rPr sz="1400" b="1">
                <a:solidFill>
                  <a:srgbClr val="F3F6FA"/>
                </a:solidFill>
                <a:latin typeface="Helvetica Neue"/>
                <a:ea typeface="Helvetica Neue"/>
                <a:cs typeface="Helvetica Neue"/>
              </a:rPr>
              <a:t>Session cost</a:t>
            </a:r>
            <a:r>
              <a:rPr sz="1200" b="0">
                <a:solidFill>
                  <a:srgbClr val="6F7B8D"/>
                </a:solidFill>
                <a:latin typeface="Helvetica Neue"/>
                <a:ea typeface="Helvetica Neue"/>
                <a:cs typeface="Helvetica Neue"/>
              </a:rPr>
              <a:t>    A · B recorded live</a:t>
            </a:r>
          </a:p>
        </p:txBody>
      </p:sp>
      <p:sp>
        <p:nvSpPr>
          <p:cNvPr id="24" name="b03-rise-finish-line"/>
          <p:cNvSpPr/>
          <p:nvPr/>
        </p:nvSpPr>
        <p:spPr>
          <a:xfrm>
            <a:off x="8065007" y="5376672"/>
            <a:ext cx="3566160" cy="65836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b03-rise-finish-line"/>
          <p:cNvSpPr txBox="1"/>
          <p:nvPr/>
        </p:nvSpPr>
        <p:spPr>
          <a:xfrm>
            <a:off x="8065007" y="5376672"/>
            <a:ext cx="3566160" cy="658368"/>
          </a:xfrm>
          <a:prstGeom prst="rect">
            <a:avLst/>
          </a:prstGeom>
          <a:noFill/>
        </p:spPr>
        <p:txBody>
          <a:bodyPr wrap="square" lIns="0" tIns="0" rIns="0" bIns="0" anchor="ctr">
            <a:spAutoFit/>
          </a:bodyPr>
          <a:lstStyle/>
          <a:p>
            <a:pPr algn="ctr">
              <a:lnSpc>
                <a:spcPct val="105000"/>
              </a:lnSpc>
            </a:pPr>
            <a:r>
              <a:rPr sz="1400" b="1">
                <a:solidFill>
                  <a:srgbClr val="F3F6FA"/>
                </a:solidFill>
                <a:latin typeface="Helvetica Neue"/>
                <a:ea typeface="Helvetica Neue"/>
                <a:cs typeface="Helvetica Neue"/>
              </a:rPr>
              <a:t>Correction rounds</a:t>
            </a:r>
            <a:r>
              <a:rPr sz="1200" b="0">
                <a:solidFill>
                  <a:srgbClr val="6F7B8D"/>
                </a:solidFill>
                <a:latin typeface="Helvetica Neue"/>
                <a:ea typeface="Helvetica Neue"/>
                <a:cs typeface="Helvetica Neue"/>
              </a:rPr>
              <a:t>    A · B recorded live</a:t>
            </a:r>
          </a:p>
        </p:txBody>
      </p:sp>
      <p:sp>
        <p:nvSpPr>
          <p:cNvPr id="26" name="TextBox 25"/>
          <p:cNvSpPr txBox="1"/>
          <p:nvPr/>
        </p:nvSpPr>
        <p:spPr>
          <a:xfrm>
            <a:off x="566928" y="6391656"/>
            <a:ext cx="8961120" cy="274320"/>
          </a:xfrm>
          <a:prstGeom prst="rect">
            <a:avLst/>
          </a:prstGeom>
          <a:noFill/>
        </p:spPr>
        <p:txBody>
          <a:bodyPr wrap="square" lIns="0" tIns="0" rIns="0" bIns="0" anchor="ctr">
            <a:spAutoFit/>
          </a:bodyPr>
          <a:lstStyle/>
          <a:p>
            <a:pPr algn="l">
              <a:lnSpc>
                <a:spcPct val="105000"/>
              </a:lnSpc>
            </a:pPr>
            <a:r>
              <a:rPr sz="1100" b="0">
                <a:solidFill>
                  <a:srgbClr val="6F7B8D"/>
                </a:solidFill>
                <a:latin typeface="Helvetica Neue"/>
                <a:ea typeface="Helvetica Neue"/>
                <a:cs typeface="Helvetica Neue"/>
              </a:rPr>
              <a:t>Setup is counted separately. Better preparation is the hypothesis being tested, not a promise; A can win.</a:t>
            </a:r>
          </a:p>
        </p:txBody>
      </p:sp>
      <p:sp>
        <p:nvSpPr>
          <p:cNvPr id="27" name="TextBox 26"/>
          <p:cNvSpPr txBox="1"/>
          <p:nvPr/>
        </p:nvSpPr>
        <p:spPr>
          <a:xfrm>
            <a:off x="9692640" y="6391656"/>
            <a:ext cx="1929384" cy="274320"/>
          </a:xfrm>
          <a:prstGeom prst="rect">
            <a:avLst/>
          </a:prstGeom>
          <a:noFill/>
        </p:spPr>
        <p:txBody>
          <a:bodyPr wrap="square" lIns="0" tIns="0" rIns="0" bIns="0" anchor="ctr">
            <a:spAutoFit/>
          </a:bodyPr>
          <a:lstStyle/>
          <a:p>
            <a:pPr algn="r">
              <a:lnSpc>
                <a:spcPct val="105000"/>
              </a:lnSpc>
            </a:pPr>
            <a:r>
              <a:rPr sz="1100" b="0">
                <a:solidFill>
                  <a:srgbClr val="6F7B8D"/>
                </a:solidFill>
                <a:latin typeface="Helvetica Neue"/>
                <a:ea typeface="Helvetica Neue"/>
                <a:cs typeface="Helvetica Neue"/>
              </a:rPr>
              <a:t>20 / 20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2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2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2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2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2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2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20"/>
                                        <p:tgtEl>
                                          <p:spTgt spid="19"/>
                                        </p:tgtEl>
                                      </p:cBhvr>
                                    </p:animEffect>
                                  </p:childTnLst>
                                </p:cTn>
                              </p:par>
                              <p:par>
                                <p:cTn id="33" presetID="10"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2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2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childTnLst>
                                </p:cTn>
                              </p:par>
                              <p:par>
                                <p:cTn id="42" presetID="10" presetClass="entr" presetSubtype="0"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2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20"/>
                                        <p:tgtEl>
                                          <p:spTgt spid="24"/>
                                        </p:tgtEl>
                                      </p:cBhvr>
                                    </p:animEffect>
                                  </p:childTnLst>
                                </p:cTn>
                              </p:par>
                              <p:par>
                                <p:cTn id="48" presetID="10" presetClass="entr" presetSubtype="0"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2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34AB759-B06F-F748-9510-DED162A6DE6A}">
  <we:reference id="WA200010001" version="1.0.0.1" store="Omex" storeType="OMEX"/>
  <we:alternateReferences>
    <we:reference id="WA200010001" version="1.0.0.1" store="WA200010001" storeType="OMEX"/>
  </we:alternateReferences>
  <we:properties>
    <we:property name="claude.fileId" value="&quot;e82e5230-3082-4a2e-93f5-deb1b424baff&quot;"/>
  </we:properties>
  <we:bindings/>
  <we:snapshot xmlns:r="http://schemas.openxmlformats.org/officeDocument/2006/relationships"/>
</we:webextension>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46</TotalTime>
  <Words>9077</Words>
  <Application>Microsoft Macintosh PowerPoint</Application>
  <PresentationFormat>Widescreen</PresentationFormat>
  <Paragraphs>537</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Avenir Next</vt:lpstr>
      <vt:lpstr>Helvetica Neue</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 and Science of Vibe Coding</dc:title>
  <dc:subject>Token economy, spec-driven development and an efficient SDLC</dc:subject>
  <dc:creator>Sepehr Pakbaz</dc:creator>
  <cp:lastModifiedBy>Sepehr Pakbaz</cp:lastModifiedBy>
  <cp:revision>12</cp:revision>
  <dcterms:created xsi:type="dcterms:W3CDTF">2026-09-18T21:24:12Z</dcterms:created>
  <dcterms:modified xsi:type="dcterms:W3CDTF">2026-09-19T06:56:10Z</dcterms:modified>
</cp:coreProperties>
</file>